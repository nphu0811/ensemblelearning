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HỌC VIỆN CÔNG NGHỆ BƯU CHÍNH VIỄN THÔNG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#01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109728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sp>
        <p:nvSpPr>
          <p:cNvPr id="7" name="PTIT red margin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"/>
          <p:cNvCxnSpPr/>
          <p:nvPr/>
        </p:nvCxnSpPr>
        <p:spPr>
          <a:xfrm>
            <a:off x="182880" y="36576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"/>
          <p:cNvCxnSpPr/>
          <p:nvPr/>
        </p:nvCxnSpPr>
        <p:spPr>
          <a:xfrm>
            <a:off x="182880" y="77724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"/>
          <p:cNvCxnSpPr/>
          <p:nvPr/>
        </p:nvCxnSpPr>
        <p:spPr>
          <a:xfrm>
            <a:off x="182880" y="118872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"/>
          <p:cNvCxnSpPr/>
          <p:nvPr/>
        </p:nvCxnSpPr>
        <p:spPr>
          <a:xfrm>
            <a:off x="182880" y="160020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"/>
          <p:cNvCxnSpPr/>
          <p:nvPr/>
        </p:nvCxnSpPr>
        <p:spPr>
          <a:xfrm>
            <a:off x="182880" y="201168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"/>
          <p:cNvCxnSpPr/>
          <p:nvPr/>
        </p:nvCxnSpPr>
        <p:spPr>
          <a:xfrm>
            <a:off x="182880" y="242316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"/>
          <p:cNvCxnSpPr/>
          <p:nvPr/>
        </p:nvCxnSpPr>
        <p:spPr>
          <a:xfrm>
            <a:off x="182880" y="283464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"/>
          <p:cNvCxnSpPr/>
          <p:nvPr/>
        </p:nvCxnSpPr>
        <p:spPr>
          <a:xfrm>
            <a:off x="182880" y="324612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"/>
          <p:cNvCxnSpPr/>
          <p:nvPr/>
        </p:nvCxnSpPr>
        <p:spPr>
          <a:xfrm>
            <a:off x="182880" y="365760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"/>
          <p:cNvCxnSpPr/>
          <p:nvPr/>
        </p:nvCxnSpPr>
        <p:spPr>
          <a:xfrm>
            <a:off x="182880" y="406908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"/>
          <p:cNvCxnSpPr/>
          <p:nvPr/>
        </p:nvCxnSpPr>
        <p:spPr>
          <a:xfrm>
            <a:off x="182880" y="448056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"/>
          <p:cNvCxnSpPr/>
          <p:nvPr/>
        </p:nvCxnSpPr>
        <p:spPr>
          <a:xfrm>
            <a:off x="182880" y="489204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"/>
          <p:cNvCxnSpPr/>
          <p:nvPr/>
        </p:nvCxnSpPr>
        <p:spPr>
          <a:xfrm>
            <a:off x="182880" y="530352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"/>
          <p:cNvCxnSpPr/>
          <p:nvPr/>
        </p:nvCxnSpPr>
        <p:spPr>
          <a:xfrm>
            <a:off x="182880" y="571500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"/>
          <p:cNvCxnSpPr/>
          <p:nvPr/>
        </p:nvCxnSpPr>
        <p:spPr>
          <a:xfrm>
            <a:off x="182880" y="612648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"/>
          <p:cNvCxnSpPr/>
          <p:nvPr/>
        </p:nvCxnSpPr>
        <p:spPr>
          <a:xfrm>
            <a:off x="182880" y="6537960"/>
            <a:ext cx="2057400" cy="0"/>
          </a:xfrm>
          <a:prstGeom prst="line">
            <a:avLst/>
          </a:prstGeom>
          <a:ln w="635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0080"/>
            <a:ext cx="1234440" cy="1234440"/>
          </a:xfrm>
          <a:prstGeom prst="rect">
            <a:avLst/>
          </a:prstGeom>
        </p:spPr>
      </p:pic>
      <p:sp>
        <p:nvSpPr>
          <p:cNvPr id="25" name="Academy header"/>
          <p:cNvSpPr txBox="1"/>
          <p:nvPr/>
        </p:nvSpPr>
        <p:spPr>
          <a:xfrm>
            <a:off x="2834640" y="694944"/>
            <a:ext cx="8869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62629"/>
                </a:solidFill>
                <a:latin typeface="Liberation Sans"/>
              </a:defRPr>
            </a:pPr>
            <a:r>
              <a:t>PTIT / HỌC VIỆN CÔNG NGHỆ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62629"/>
                </a:solidFill>
                <a:latin typeface="Liberation Sans"/>
              </a:defRPr>
            </a:pPr>
            <a:r>
              <a:t>BƯU CHÍNH VIỄN THÔNG</a:t>
            </a:r>
          </a:p>
        </p:txBody>
      </p:sp>
      <p:sp>
        <p:nvSpPr>
          <p:cNvPr id="26" name="Research hero"/>
          <p:cNvSpPr txBox="1"/>
          <p:nvPr/>
        </p:nvSpPr>
        <p:spPr>
          <a:xfrm>
            <a:off x="2743200" y="1764792"/>
            <a:ext cx="8869680" cy="2880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700" b="1">
                <a:solidFill>
                  <a:srgbClr val="14192A"/>
                </a:solidFill>
                <a:latin typeface="Liberation Sans"/>
              </a:defRPr>
            </a:pPr>
            <a:r>
              <a:t>ENSEMBLE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700" b="1">
                <a:solidFill>
                  <a:srgbClr val="14192A"/>
                </a:solidFill>
                <a:latin typeface="Liberation Sans"/>
              </a:defRPr>
            </a:pPr>
            <a:r>
              <a:t>LEARNING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700" b="1">
                <a:solidFill>
                  <a:srgbClr val="14192A"/>
                </a:solidFill>
                <a:latin typeface="Liberation Sans"/>
              </a:defRPr>
            </a:pPr>
            <a:r>
              <a:t>/ NETWORK IDS</a:t>
            </a:r>
          </a:p>
        </p:txBody>
      </p:sp>
      <p:sp>
        <p:nvSpPr>
          <p:cNvPr id="27" name="Shape"/>
          <p:cNvSpPr/>
          <p:nvPr/>
        </p:nvSpPr>
        <p:spPr>
          <a:xfrm>
            <a:off x="2770632" y="4837176"/>
            <a:ext cx="6995160" cy="45720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fficial topic"/>
          <p:cNvSpPr txBox="1"/>
          <p:nvPr/>
        </p:nvSpPr>
        <p:spPr>
          <a:xfrm>
            <a:off x="2770632" y="5102352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192A"/>
                </a:solidFill>
                <a:latin typeface="Liberation Sans"/>
              </a:defRPr>
            </a:pPr>
            <a:r>
              <a:t>Nghiên cứu Ensemble Learning cho bài toán phát hiện xâm nhập mạng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2779776" y="582472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78195"/>
                </a:solidFill>
                <a:latin typeface="Liberation Sans"/>
              </a:defRPr>
            </a:pPr>
            <a:r>
              <a:t>GVHD  TS. LÊ NGỌC HIẾU   •   LỚP E23CQCE01-N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2779776" y="6144768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4192A"/>
                </a:solidFill>
                <a:latin typeface="Liberation Sans"/>
              </a:defRPr>
            </a:pPr>
            <a:r>
              <a:t>Dương Ngọc Phú · Phạm Thế Vỹ · Vũ Văn Kiên · Lê Hoàng Nguyên Quân</a:t>
            </a:r>
          </a:p>
        </p:txBody>
      </p:sp>
      <p:sp>
        <p:nvSpPr>
          <p:cNvPr id="31" name="Animated marker 1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1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1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1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1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1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1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1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nimated marker 1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nimated marker 1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nimated marker 1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nimated marker 1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nimated marker 1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nimated marker 1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15000" decel="15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accel="15000" decel="1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0" presetClass="entr" presetSubtype="0" repeatCount="4000" accel="15000" decel="15000" fill="hold" grpId="1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54000001 0.00000000 E" pathEditMode="relative">
                                      <p:cBhvr from="" to="">
                                        <p:cTn id="14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15000" decel="15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entr" presetSubtype="0" repeatCount="4000" accel="15000" decel="15000" fill="hold" grpId="1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54000001 0.00000000 E" pathEditMode="relative">
                                      <p:cBhvr from="" to="">
                                        <p:cTn id="20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" presetClass="entr" presetSubtype="8" accel="15000" decel="15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8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8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accel="15000" decel="1500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entr" presetSubtype="0" repeatCount="4000" accel="15000" decel="15000" fill="hold" grpId="1" nodeType="withEffect">
                                  <p:stCondLst>
                                    <p:cond delay="47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54000001 0.00000000 E" pathEditMode="relative">
                                      <p:cBhvr from="" to="">
                                        <p:cTn id="30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entr" presetSubtype="0" repeatCount="3000" accel="15000" decel="15000" autoRev="1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10" presetClass="exit" presetSubtype="0" accel="15000" decel="15000" fill="hold" grpId="2" nodeType="withEffect">
                                  <p:stCondLst>
                                    <p:cond delay="13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accel="15000" decel="15000" fill="hold" grpId="2" nodeType="withEffect">
                                  <p:stCondLst>
                                    <p:cond delay="149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accel="15000" decel="15000" fill="hold" grpId="2" nodeType="withEffect">
                                  <p:stCondLst>
                                    <p:cond delay="16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5EE"/>
                </a:solidFill>
                <a:latin typeface="Liberation Sans"/>
              </a:defRPr>
            </a:pPr>
            <a:r>
              <a:t>CÂU HỎI NGHIÊN CỨU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5EE"/>
                </a:solidFill>
                <a:latin typeface="Liberation Sans"/>
              </a:defRPr>
            </a:pPr>
            <a:r>
              <a:t>#02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2194560" cy="36576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5EE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Shape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ro title"/>
          <p:cNvSpPr txBox="1"/>
          <p:nvPr/>
        </p:nvSpPr>
        <p:spPr>
          <a:xfrm>
            <a:off x="658368" y="1536192"/>
            <a:ext cx="106984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800" b="1">
                <a:solidFill>
                  <a:srgbClr val="F8F5EE"/>
                </a:solidFill>
                <a:latin typeface="Liberation Sans"/>
              </a:defRPr>
            </a:pPr>
            <a:r>
              <a:t>ÍT CẢNH BÁO.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800" b="1">
                <a:solidFill>
                  <a:srgbClr val="F8F5EE"/>
                </a:solidFill>
                <a:latin typeface="Liberation Sans"/>
              </a:defRPr>
            </a:pPr>
            <a:r>
              <a:t>AN TOÀN HƠN?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49808" y="4754880"/>
            <a:ext cx="97840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EC4D2"/>
                </a:solidFill>
                <a:latin typeface="Liberation Sans"/>
              </a:defRPr>
            </a:pPr>
            <a:r>
              <a:t>Giảm báo động giả có đồng nghĩa giảm tấn công bị bỏ sót?</a:t>
            </a:r>
          </a:p>
        </p:txBody>
      </p:sp>
      <p:sp>
        <p:nvSpPr>
          <p:cNvPr id="11" name="Open question circle"/>
          <p:cNvSpPr/>
          <p:nvPr/>
        </p:nvSpPr>
        <p:spPr>
          <a:xfrm>
            <a:off x="9601200" y="2176272"/>
            <a:ext cx="1600200" cy="1600200"/>
          </a:xfrm>
          <a:prstGeom prst="ellipse">
            <a:avLst/>
          </a:prstGeom>
          <a:noFill/>
          <a:ln w="20320">
            <a:solidFill>
              <a:srgbClr val="1E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uestion mark"/>
          <p:cNvSpPr txBox="1"/>
          <p:nvPr/>
        </p:nvSpPr>
        <p:spPr>
          <a:xfrm>
            <a:off x="9948672" y="2404872"/>
            <a:ext cx="914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100" b="1">
                <a:solidFill>
                  <a:srgbClr val="C7F877"/>
                </a:solidFill>
                <a:latin typeface="Liberation Sans"/>
              </a:defRPr>
            </a:pPr>
            <a:r>
              <a:t>?</a:t>
            </a:r>
          </a:p>
        </p:txBody>
      </p:sp>
      <p:cxnSp>
        <p:nvCxnSpPr>
          <p:cNvPr id="13" name="Connector"/>
          <p:cNvCxnSpPr/>
          <p:nvPr/>
        </p:nvCxnSpPr>
        <p:spPr>
          <a:xfrm>
            <a:off x="822960" y="5687568"/>
            <a:ext cx="45720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"/>
          <p:cNvCxnSpPr/>
          <p:nvPr/>
        </p:nvCxnSpPr>
        <p:spPr>
          <a:xfrm>
            <a:off x="1033272" y="5687568"/>
            <a:ext cx="54864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"/>
          <p:cNvCxnSpPr/>
          <p:nvPr/>
        </p:nvCxnSpPr>
        <p:spPr>
          <a:xfrm>
            <a:off x="1243584" y="5687568"/>
            <a:ext cx="64008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"/>
          <p:cNvCxnSpPr/>
          <p:nvPr/>
        </p:nvCxnSpPr>
        <p:spPr>
          <a:xfrm>
            <a:off x="1453896" y="5687568"/>
            <a:ext cx="73152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"/>
          <p:cNvCxnSpPr/>
          <p:nvPr/>
        </p:nvCxnSpPr>
        <p:spPr>
          <a:xfrm>
            <a:off x="1664208" y="5687568"/>
            <a:ext cx="82296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"/>
          <p:cNvCxnSpPr/>
          <p:nvPr/>
        </p:nvCxnSpPr>
        <p:spPr>
          <a:xfrm>
            <a:off x="1874520" y="5687568"/>
            <a:ext cx="91440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"/>
          <p:cNvCxnSpPr/>
          <p:nvPr/>
        </p:nvCxnSpPr>
        <p:spPr>
          <a:xfrm>
            <a:off x="2084832" y="5687568"/>
            <a:ext cx="100583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"/>
          <p:cNvCxnSpPr/>
          <p:nvPr/>
        </p:nvCxnSpPr>
        <p:spPr>
          <a:xfrm>
            <a:off x="2295144" y="5687568"/>
            <a:ext cx="109728" cy="0"/>
          </a:xfrm>
          <a:prstGeom prst="line">
            <a:avLst/>
          </a:prstGeom>
          <a:ln w="254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nimated marker 2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2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2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2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2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2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2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2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2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2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2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2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2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2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accel="15000" decel="15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accel="15000" decel="15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01 / PROBLEM &amp; DATA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#03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329184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594360" y="804672"/>
            <a:ext cx="97840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4192A"/>
                </a:solidFill>
                <a:latin typeface="Liberation Sans"/>
              </a:defRPr>
            </a:pPr>
            <a:r>
              <a:t>MỘT BỘ DỮ LIỆU.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4192A"/>
                </a:solidFill>
                <a:latin typeface="Liberation Sans"/>
              </a:defRPr>
            </a:pPr>
            <a:r>
              <a:t>HAI NHÃN.</a:t>
            </a:r>
          </a:p>
        </p:txBody>
      </p:sp>
      <p:sp>
        <p:nvSpPr>
          <p:cNvPr id="9" name="TRAIN number"/>
          <p:cNvSpPr txBox="1"/>
          <p:nvPr/>
        </p:nvSpPr>
        <p:spPr>
          <a:xfrm>
            <a:off x="685800" y="2862072"/>
            <a:ext cx="548640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600" b="1">
                <a:solidFill>
                  <a:srgbClr val="E62629"/>
                </a:solidFill>
                <a:latin typeface="Liberation Sans"/>
              </a:defRPr>
            </a:pPr>
            <a:r>
              <a:t>175.341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04088" y="4050791"/>
            <a:ext cx="42062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78195"/>
                </a:solidFill>
                <a:latin typeface="Liberation Sans"/>
              </a:defRPr>
            </a:pPr>
            <a:r>
              <a:t>TRAIN / official</a:t>
            </a:r>
          </a:p>
        </p:txBody>
      </p:sp>
      <p:sp>
        <p:nvSpPr>
          <p:cNvPr id="11" name="TEST number"/>
          <p:cNvSpPr txBox="1"/>
          <p:nvPr/>
        </p:nvSpPr>
        <p:spPr>
          <a:xfrm>
            <a:off x="6400800" y="2862072"/>
            <a:ext cx="530352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14192A"/>
                </a:solidFill>
                <a:latin typeface="Liberation Sans"/>
              </a:defRPr>
            </a:pPr>
            <a:r>
              <a:t>82.332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419088" y="4050791"/>
            <a:ext cx="42062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78195"/>
                </a:solidFill>
                <a:latin typeface="Liberation Sans"/>
              </a:defRPr>
            </a:pPr>
            <a:r>
              <a:t>TEST / official</a:t>
            </a:r>
          </a:p>
        </p:txBody>
      </p:sp>
      <p:cxnSp>
        <p:nvCxnSpPr>
          <p:cNvPr id="13" name="Connector"/>
          <p:cNvCxnSpPr/>
          <p:nvPr/>
        </p:nvCxnSpPr>
        <p:spPr>
          <a:xfrm>
            <a:off x="6044184" y="2834640"/>
            <a:ext cx="0" cy="1810512"/>
          </a:xfrm>
          <a:prstGeom prst="line">
            <a:avLst/>
          </a:prstGeom>
          <a:ln w="2540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hape"/>
          <p:cNvSpPr/>
          <p:nvPr/>
        </p:nvSpPr>
        <p:spPr>
          <a:xfrm>
            <a:off x="676656" y="5047488"/>
            <a:ext cx="2880360" cy="56692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859536" y="5148072"/>
            <a:ext cx="257860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8F5EE"/>
                </a:solidFill>
                <a:latin typeface="Liberation Sans"/>
              </a:defRPr>
            </a:pPr>
            <a:r>
              <a:t>42 PREDICTORS</a:t>
            </a:r>
          </a:p>
        </p:txBody>
      </p:sp>
      <p:sp>
        <p:nvSpPr>
          <p:cNvPr id="16" name="Shape"/>
          <p:cNvSpPr/>
          <p:nvPr/>
        </p:nvSpPr>
        <p:spPr>
          <a:xfrm>
            <a:off x="3767328" y="5047488"/>
            <a:ext cx="2971800" cy="56692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3959352" y="5148072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192A"/>
                </a:solidFill>
                <a:latin typeface="Liberation Sans"/>
              </a:defRPr>
            </a:pPr>
            <a:r>
              <a:t>NORMAL / 0</a:t>
            </a:r>
          </a:p>
        </p:txBody>
      </p:sp>
      <p:sp>
        <p:nvSpPr>
          <p:cNvPr id="18" name="Shape"/>
          <p:cNvSpPr/>
          <p:nvPr/>
        </p:nvSpPr>
        <p:spPr>
          <a:xfrm>
            <a:off x="6940296" y="5047488"/>
            <a:ext cx="2926080" cy="566928"/>
          </a:xfrm>
          <a:prstGeom prst="round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7159752" y="5148072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192A"/>
                </a:solidFill>
                <a:latin typeface="Liberation Sans"/>
              </a:defRPr>
            </a:pPr>
            <a:r>
              <a:t>ATTACK / 1</a:t>
            </a:r>
          </a:p>
        </p:txBody>
      </p:sp>
      <p:sp>
        <p:nvSpPr>
          <p:cNvPr id="20" name="Animated marker 3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3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3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3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3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3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3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3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3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3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3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3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3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3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5000" decel="1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5000" decel="15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accel="15000" decel="15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accel="15000" decel="15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15000" decel="15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15000" decel="15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accel="15000" decel="15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15000" decel="15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15000" decel="15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15000" decel="15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15000" decel="15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accel="15000" decel="15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accel="15000" decel="1500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accel="15000" decel="1500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15000" decel="1500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0" presetClass="entr" presetSubtype="0" repeatCount="4000" accel="15000" decel="15000" fill="hold" grpId="1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1000001 -0.17333333 E" pathEditMode="relative">
                                      <p:cBhvr from="" to="">
                                        <p:cTn id="52" dur="1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accel="15000" decel="15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15000" decel="1500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15000" decel="1500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entr" presetSubtype="0" repeatCount="4000" accel="15000" decel="15000" fill="hold" grpId="1" nodeType="withEffect">
                                  <p:stCondLst>
                                    <p:cond delay="4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1000001 0.00000000 E" pathEditMode="relative">
                                      <p:cBhvr from="" to="">
                                        <p:cTn id="64" dur="1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entr" presetSubtype="0" repeatCount="4000" accel="15000" decel="15000" fill="hold" grpId="1" nodeType="withEffect">
                                  <p:stCondLst>
                                    <p:cond delay="45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1000001 -0.17333333 E" pathEditMode="relative">
                                      <p:cBhvr from="" to="">
                                        <p:cTn id="67" dur="1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accel="15000" decel="1500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15000" decel="1500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0" presetClass="entr" presetSubtype="0" repeatCount="4000" accel="15000" decel="15000" fill="hold" grpId="1" nodeType="withEffect">
                                  <p:stCondLst>
                                    <p:cond delay="49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1000001 0.17333333 E" pathEditMode="relative">
                                      <p:cBhvr from="" to="">
                                        <p:cTn id="76" dur="1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entr" presetSubtype="0" repeatCount="4000" accel="15000" decel="15000" fill="hold" grpId="1" nodeType="withEffect">
                                  <p:stCondLst>
                                    <p:cond delay="50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1000001 0.00000000 E" pathEditMode="relative">
                                      <p:cBhvr from="" to="">
                                        <p:cTn id="79" dur="1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accel="15000" decel="15000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entr" presetSubtype="0" repeatCount="4000" accel="15000" decel="15000" fill="hold" grpId="1" nodeType="withEffect">
                                  <p:stCondLst>
                                    <p:cond delay="55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1000001 0.17333333 E" pathEditMode="relative">
                                      <p:cBhvr from="" to="">
                                        <p:cTn id="85" dur="1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22" presetClass="entr" presetSubtype="8" accel="15000" decel="1500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15000" decel="15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accel="15000" decel="1500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15000" decel="1500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15000" decel="1500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0" presetClass="entr" presetSubtype="0" repeatCount="6000" accel="15000" decel="15000" fill="hold" grpId="1" nodeType="withEffect">
                                  <p:stCondLst>
                                    <p:cond delay="91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0500000 -0.14666667 E" pathEditMode="relative">
                                      <p:cBhvr from="" to="">
                                        <p:cTn id="103" dur="1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0" presetClass="exit" presetSubtype="0" accel="15000" decel="15000" fill="hold" grpId="2" nodeType="withEffect">
                                  <p:stCondLst>
                                    <p:cond delay="9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1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accel="15000" decel="15000" fill="hold" grpId="0" nodeType="withEffect">
                                  <p:stCondLst>
                                    <p:cond delay="9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xit" presetSubtype="0" accel="15000" decel="15000" fill="hold" grpId="2" nodeType="withEffect">
                                  <p:stCondLst>
                                    <p:cond delay="9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accel="15000" decel="15000" fill="hold" grpId="2" nodeType="withEffect">
                                  <p:stCondLst>
                                    <p:cond delay="9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0" presetClass="entr" presetSubtype="0" repeatCount="6000" accel="15000" decel="15000" fill="hold" grpId="1" nodeType="withEffect">
                                  <p:stCondLst>
                                    <p:cond delay="97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0500000 0.14000000 E" pathEditMode="relative">
                                      <p:cBhvr from="" to="">
                                        <p:cTn id="118" dur="1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10" presetClass="exit" presetSubtype="0" accel="15000" decel="15000" fill="hold" grpId="2" nodeType="withEffect">
                                  <p:stCondLst>
                                    <p:cond delay="10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accel="15000" decel="15000" fill="hold" grpId="2" nodeType="withEffect">
                                  <p:stCondLst>
                                    <p:cond delay="102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1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accel="15000" decel="15000" fill="hold" grpId="2" nodeType="withEffect">
                                  <p:stCondLst>
                                    <p:cond delay="10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accel="15000" decel="15000" fill="hold" grpId="2" nodeType="withEffect">
                                  <p:stCondLst>
                                    <p:cond delay="169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accel="15000" decel="15000" fill="hold" grpId="2" nodeType="withEffect">
                                  <p:stCondLst>
                                    <p:cond delay="17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1" grpId="0" animBg="1"/>
      <p:bldP spid="12" grpId="0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7" grpId="0" animBg="1"/>
      <p:bldP spid="18" grpId="0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  <p:bldP spid="23" grpId="0" animBg="1"/>
      <p:bldP spid="24" grpId="0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31" grpId="0"/>
      <p:bldP spid="32" grpId="0" animBg="1"/>
      <p:bldP spid="32" grpId="1" animBg="1"/>
      <p:bldP spid="32" grpId="2" animBg="1"/>
      <p:bldP spid="34" grpId="0"/>
      <p:bldP spid="35" grpId="0" animBg="1"/>
      <p:bldP spid="35" grpId="1" animBg="1"/>
      <p:bldP spid="35" grpId="2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02 / HOW WE TESTED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#04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438912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548640" y="850392"/>
            <a:ext cx="87782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14192A"/>
                </a:solidFill>
                <a:latin typeface="Liberation Sans"/>
              </a:defRPr>
            </a:pPr>
            <a:r>
              <a:t>TỪ FLOW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14192A"/>
                </a:solidFill>
                <a:latin typeface="Liberation Sans"/>
              </a:defRPr>
            </a:pPr>
            <a:r>
              <a:t>ĐẾN QUYẾT ĐỊNH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12648" y="2487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78195"/>
                </a:solidFill>
                <a:latin typeface="Liberation Sans"/>
              </a:defRPr>
            </a:pPr>
            <a:r>
              <a:t>FIT: OOF ở tầng kết hợp  /  INFERENCE: mô hình đã huấn luyện</a:t>
            </a:r>
          </a:p>
        </p:txBody>
      </p:sp>
      <p:sp>
        <p:nvSpPr>
          <p:cNvPr id="10" name="Pipeline 1"/>
          <p:cNvSpPr/>
          <p:nvPr/>
        </p:nvSpPr>
        <p:spPr>
          <a:xfrm>
            <a:off x="525780" y="3529584"/>
            <a:ext cx="1508760" cy="84124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peline label 0"/>
          <p:cNvSpPr txBox="1"/>
          <p:nvPr/>
        </p:nvSpPr>
        <p:spPr>
          <a:xfrm>
            <a:off x="617219" y="3675887"/>
            <a:ext cx="1325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5EE"/>
                </a:solidFill>
                <a:latin typeface="Liberation Sans"/>
              </a:defRPr>
            </a:pPr>
            <a:r>
              <a:t>FLOW</a:t>
            </a:r>
          </a:p>
        </p:txBody>
      </p:sp>
      <p:sp>
        <p:nvSpPr>
          <p:cNvPr id="12" name="Pipeline 2"/>
          <p:cNvSpPr/>
          <p:nvPr/>
        </p:nvSpPr>
        <p:spPr>
          <a:xfrm>
            <a:off x="2560320" y="3529584"/>
            <a:ext cx="2194560" cy="84124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peline label 1"/>
          <p:cNvSpPr txBox="1"/>
          <p:nvPr/>
        </p:nvSpPr>
        <p:spPr>
          <a:xfrm>
            <a:off x="2651760" y="3675887"/>
            <a:ext cx="20116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5EE"/>
                </a:solidFill>
                <a:latin typeface="Liberation Sans"/>
              </a:defRPr>
            </a:pPr>
            <a:r>
              <a:t>42 FEATURE</a:t>
            </a:r>
          </a:p>
        </p:txBody>
      </p:sp>
      <p:cxnSp>
        <p:nvCxnSpPr>
          <p:cNvPr id="14" name="Pipe 1"/>
          <p:cNvCxnSpPr/>
          <p:nvPr/>
        </p:nvCxnSpPr>
        <p:spPr>
          <a:xfrm>
            <a:off x="2144268" y="3931920"/>
            <a:ext cx="306323" cy="0"/>
          </a:xfrm>
          <a:prstGeom prst="line">
            <a:avLst/>
          </a:prstGeom>
          <a:ln w="38100">
            <a:solidFill>
              <a:srgbClr val="1E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ipeline 3"/>
          <p:cNvSpPr/>
          <p:nvPr/>
        </p:nvSpPr>
        <p:spPr>
          <a:xfrm>
            <a:off x="5509260" y="3529584"/>
            <a:ext cx="2606040" cy="841248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peline label 2"/>
          <p:cNvSpPr txBox="1"/>
          <p:nvPr/>
        </p:nvSpPr>
        <p:spPr>
          <a:xfrm>
            <a:off x="5600700" y="3675887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5EE"/>
                </a:solidFill>
                <a:latin typeface="Liberation Sans"/>
              </a:defRPr>
            </a:pPr>
            <a:r>
              <a:t>BASE LEARNERS</a:t>
            </a:r>
          </a:p>
        </p:txBody>
      </p:sp>
      <p:cxnSp>
        <p:nvCxnSpPr>
          <p:cNvPr id="17" name="Pipe 2"/>
          <p:cNvCxnSpPr/>
          <p:nvPr/>
        </p:nvCxnSpPr>
        <p:spPr>
          <a:xfrm>
            <a:off x="4864608" y="3931920"/>
            <a:ext cx="534924" cy="0"/>
          </a:xfrm>
          <a:prstGeom prst="line">
            <a:avLst/>
          </a:prstGeom>
          <a:ln w="38100">
            <a:solidFill>
              <a:srgbClr val="1E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ipeline 4"/>
          <p:cNvSpPr/>
          <p:nvPr/>
        </p:nvSpPr>
        <p:spPr>
          <a:xfrm>
            <a:off x="9121140" y="3529584"/>
            <a:ext cx="2240280" cy="841248"/>
          </a:xfrm>
          <a:prstGeom prst="round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ipeline label 3"/>
          <p:cNvSpPr txBox="1"/>
          <p:nvPr/>
        </p:nvSpPr>
        <p:spPr>
          <a:xfrm>
            <a:off x="9212580" y="3675887"/>
            <a:ext cx="2057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5EE"/>
                </a:solidFill>
                <a:latin typeface="Liberation Sans"/>
              </a:defRPr>
            </a:pPr>
            <a:r>
              <a:t>NORMAL / ATTACK</a:t>
            </a:r>
          </a:p>
        </p:txBody>
      </p:sp>
      <p:cxnSp>
        <p:nvCxnSpPr>
          <p:cNvPr id="20" name="Pipe 3"/>
          <p:cNvCxnSpPr/>
          <p:nvPr/>
        </p:nvCxnSpPr>
        <p:spPr>
          <a:xfrm>
            <a:off x="8225027" y="3931920"/>
            <a:ext cx="786385" cy="0"/>
          </a:xfrm>
          <a:prstGeom prst="line">
            <a:avLst/>
          </a:prstGeom>
          <a:ln w="38100">
            <a:solidFill>
              <a:srgbClr val="1E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"/>
          <p:cNvSpPr txBox="1"/>
          <p:nvPr/>
        </p:nvSpPr>
        <p:spPr>
          <a:xfrm>
            <a:off x="5303520" y="480060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5E9E"/>
                </a:solidFill>
                <a:latin typeface="Liberation Sans"/>
              </a:defRPr>
            </a:pPr>
            <a:r>
              <a:t>LOGISTIC REGRESSION  /  DECISION TREE  /  RANDOM FOREST</a:t>
            </a:r>
          </a:p>
        </p:txBody>
      </p:sp>
      <p:sp>
        <p:nvSpPr>
          <p:cNvPr id="22" name="Shape"/>
          <p:cNvSpPr/>
          <p:nvPr/>
        </p:nvSpPr>
        <p:spPr>
          <a:xfrm>
            <a:off x="6281928" y="5532120"/>
            <a:ext cx="3429000" cy="420624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6473952" y="5577840"/>
            <a:ext cx="30723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OOF → META LEARNER (LR)</a:t>
            </a:r>
          </a:p>
        </p:txBody>
      </p:sp>
      <p:sp>
        <p:nvSpPr>
          <p:cNvPr id="24" name="Flow point"/>
          <p:cNvSpPr/>
          <p:nvPr/>
        </p:nvSpPr>
        <p:spPr>
          <a:xfrm>
            <a:off x="2798064" y="3108960"/>
            <a:ext cx="91440" cy="9144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low point"/>
          <p:cNvSpPr/>
          <p:nvPr/>
        </p:nvSpPr>
        <p:spPr>
          <a:xfrm>
            <a:off x="3099816" y="3108960"/>
            <a:ext cx="91440" cy="9144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low point"/>
          <p:cNvSpPr/>
          <p:nvPr/>
        </p:nvSpPr>
        <p:spPr>
          <a:xfrm>
            <a:off x="3401568" y="3108960"/>
            <a:ext cx="91440" cy="9144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low point"/>
          <p:cNvSpPr/>
          <p:nvPr/>
        </p:nvSpPr>
        <p:spPr>
          <a:xfrm>
            <a:off x="3703320" y="3108960"/>
            <a:ext cx="91440" cy="9144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low point"/>
          <p:cNvSpPr/>
          <p:nvPr/>
        </p:nvSpPr>
        <p:spPr>
          <a:xfrm>
            <a:off x="4005072" y="3108960"/>
            <a:ext cx="91440" cy="9144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low point"/>
          <p:cNvSpPr/>
          <p:nvPr/>
        </p:nvSpPr>
        <p:spPr>
          <a:xfrm>
            <a:off x="4306824" y="3108960"/>
            <a:ext cx="91440" cy="9144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low point"/>
          <p:cNvSpPr/>
          <p:nvPr/>
        </p:nvSpPr>
        <p:spPr>
          <a:xfrm>
            <a:off x="4608576" y="3108960"/>
            <a:ext cx="91440" cy="9144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low point"/>
          <p:cNvSpPr/>
          <p:nvPr/>
        </p:nvSpPr>
        <p:spPr>
          <a:xfrm>
            <a:off x="4910328" y="3108960"/>
            <a:ext cx="91440" cy="91440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4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4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4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4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4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4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4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nimated marker 4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nimated marker 4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nimated marker 4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nimated marker 4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nimated marker 4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nimated marker 4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nimated marker 4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accel="15000" decel="15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accel="15000" decel="15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5000" decel="15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accel="15000" decel="15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accel="15000" decel="15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15000" decel="15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15000" decel="15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15000" decel="15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accel="15000" decel="1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accel="15000" decel="1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15000" decel="15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15000" decel="15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15000" decel="15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15000" decel="15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accel="15000" decel="15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accel="15000" decel="15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15000" decel="15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15000" decel="15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accel="15000" decel="15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accel="15000" decel="15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15000" decel="15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15000" decel="1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15000" decel="1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15000" decel="15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accel="15000" decel="15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accel="15000" decel="15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15000" decel="1500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accel="15000" decel="1500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accel="15000" decel="15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accel="15000" decel="15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accel="15000" decel="15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15000" decel="1500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15000" decel="1500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accel="15000" decel="15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accel="15000" decel="15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accel="15000" decel="15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accel="15000" decel="1500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accel="15000" decel="1500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accel="15000" decel="1500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accel="15000" decel="1500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accel="15000" decel="15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accel="15000" decel="1500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15000" decel="15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0" presetClass="entr" presetSubtype="0" repeatCount="5000" accel="15000" decel="15000" fill="hold" grpId="1" nodeType="withEffect">
                                  <p:stCondLst>
                                    <p:cond delay="51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40500001 0.12666667 E" pathEditMode="relative">
                                      <p:cBhvr from="" to="">
                                        <p:cTn id="136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10" presetClass="entr" presetSubtype="0" accel="15000" decel="15000" fill="hold" grpId="0" nodeType="withEffect">
                                  <p:stCondLst>
                                    <p:cond delay="52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0" presetClass="entr" presetSubtype="0" repeatCount="5000" accel="15000" decel="15000" fill="hold" grpId="1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8125001 0.08666667 E" pathEditMode="relative">
                                      <p:cBhvr from="" to="">
                                        <p:cTn id="142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10" presetClass="entr" presetSubtype="0" accel="15000" decel="15000" fill="hold" grpId="0" nodeType="withEffect">
                                  <p:stCondLst>
                                    <p:cond delay="55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0" presetClass="entr" presetSubtype="0" repeatCount="5000" accel="15000" decel="15000" fill="hold" grpId="1" nodeType="withEffect">
                                  <p:stCondLst>
                                    <p:cond delay="568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5750000 0.12666667 E" pathEditMode="relative">
                                      <p:cBhvr from="" to="">
                                        <p:cTn id="148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10" presetClass="entr" presetSubtype="0" accel="15000" decel="15000" fill="hold" grpId="0" nodeType="withEffect">
                                  <p:stCondLst>
                                    <p:cond delay="58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0" presetClass="entr" presetSubtype="0" repeatCount="5000" accel="15000" decel="15000" fill="hold" grpId="1" nodeType="withEffect">
                                  <p:stCondLst>
                                    <p:cond delay="5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3375000 0.08666667 E" pathEditMode="relative">
                                      <p:cBhvr from="" to="">
                                        <p:cTn id="154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accel="15000" decel="15000" fill="hold" grpId="0" nodeType="withEffect">
                                  <p:stCondLst>
                                    <p:cond delay="61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0" presetClass="entr" presetSubtype="0" repeatCount="5000" accel="15000" decel="15000" fill="hold" grpId="1" nodeType="withEffect">
                                  <p:stCondLst>
                                    <p:cond delay="624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-0.09000000 0.12666667 E" pathEditMode="relative">
                                      <p:cBhvr from="" to="">
                                        <p:cTn id="160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10" presetClass="entr" presetSubtype="0" accel="15000" decel="15000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0" presetClass="entr" presetSubtype="0" repeatCount="5000" accel="15000" decel="15000" fill="hold" grpId="1" nodeType="withEffect">
                                  <p:stCondLst>
                                    <p:cond delay="652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-0.21375001 0.08666667 E" pathEditMode="relative">
                                      <p:cBhvr from="" to="">
                                        <p:cTn id="166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10" presetClass="entr" presetSubtype="0" accel="15000" decel="15000" fill="hold" grpId="0" nodeType="withEffect">
                                  <p:stCondLst>
                                    <p:cond delay="66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0" presetClass="entr" presetSubtype="0" repeatCount="5000" accel="15000" decel="15000" fill="hold" grpId="1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-0.33750001 0.12666667 E" pathEditMode="relative">
                                      <p:cBhvr from="" to="">
                                        <p:cTn id="172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10" presetClass="exit" presetSubtype="0" accel="15000" decel="15000" fill="hold" grpId="2" nodeType="withEffect">
                                  <p:stCondLst>
                                    <p:cond delay="14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accel="15000" decel="15000" fill="hold" grpId="2" nodeType="withEffect">
                                  <p:stCondLst>
                                    <p:cond delay="14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1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accel="15000" decel="15000" fill="hold" grpId="2" nodeType="withEffect">
                                  <p:stCondLst>
                                    <p:cond delay="146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1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accel="15000" decel="15000" fill="hold" grpId="2" nodeType="withEffect">
                                  <p:stCondLst>
                                    <p:cond delay="149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1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accel="15000" decel="15000" fill="hold" grpId="2" nodeType="withEffect">
                                  <p:stCondLst>
                                    <p:cond delay="152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1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accel="15000" decel="15000" fill="hold" grpId="2" nodeType="withEffect">
                                  <p:stCondLst>
                                    <p:cond delay="15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1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accel="15000" decel="15000" fill="hold" grpId="2" nodeType="withEffect">
                                  <p:stCondLst>
                                    <p:cond delay="15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1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2" grpId="1" animBg="1"/>
      <p:bldP spid="12" grpId="2" animBg="1"/>
      <p:bldP spid="15" grpId="0" animBg="1"/>
      <p:bldP spid="16" grpId="0" animBg="1"/>
      <p:bldP spid="17" grpId="0" animBg="1"/>
      <p:bldP spid="19" grpId="0" animBg="1"/>
      <p:bldP spid="19" grpId="1" animBg="1"/>
      <p:bldP spid="19" grpId="2" animBg="1"/>
      <p:bldP spid="22" grpId="0" animBg="1"/>
      <p:bldP spid="23" grpId="0" animBg="1"/>
      <p:bldP spid="24" grpId="0" animBg="1"/>
      <p:bldP spid="26" grpId="0" animBg="1"/>
      <p:bldP spid="26" grpId="1" animBg="1"/>
      <p:bldP spid="26" grpId="2" animBg="1"/>
      <p:bldP spid="29" grpId="0" animBg="1"/>
      <p:bldP spid="30" grpId="0" animBg="1"/>
      <p:bldP spid="31" grpId="0" animBg="1"/>
      <p:bldP spid="33" grpId="0" animBg="1"/>
      <p:bldP spid="33" grpId="1" animBg="1"/>
      <p:bldP spid="33" grpId="2" animBg="1"/>
      <p:bldP spid="36" grpId="0" animBg="1"/>
      <p:bldP spid="37" grpId="0" animBg="1"/>
      <p:bldP spid="38" grpId="0" animBg="1"/>
      <p:bldP spid="40" grpId="0" animBg="1"/>
      <p:bldP spid="40" grpId="1" animBg="1"/>
      <p:bldP spid="40" grpId="2" animBg="1"/>
      <p:bldP spid="43" grpId="0" animBg="1"/>
      <p:bldP spid="44" grpId="0" animBg="1"/>
      <p:bldP spid="45" grpId="0" animBg="1"/>
      <p:bldP spid="47" grpId="0" animBg="1"/>
      <p:bldP spid="47" grpId="1" animBg="1"/>
      <p:bldP spid="47" grpId="2" animBg="1"/>
      <p:bldP spid="50" grpId="0" animBg="1"/>
      <p:bldP spid="51" grpId="0" animBg="1"/>
      <p:bldP spid="52" grpId="0" animBg="1"/>
      <p:bldP spid="54" grpId="0" animBg="1"/>
      <p:bldP spid="54" grpId="1" animBg="1"/>
      <p:bldP spid="54" grpId="2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5EE"/>
                </a:solidFill>
                <a:latin typeface="Liberation Sans"/>
              </a:defRPr>
            </a:pPr>
            <a:r>
              <a:t>03 / WHAT MATTERS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5EE"/>
                </a:solidFill>
                <a:latin typeface="Liberation Sans"/>
              </a:defRPr>
            </a:pPr>
            <a:r>
              <a:t>#05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5486400" cy="36576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5EE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40080" y="914400"/>
            <a:ext cx="9601200" cy="1773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900" b="1">
                <a:solidFill>
                  <a:srgbClr val="F8F5EE"/>
                </a:solidFill>
                <a:latin typeface="Liberation Sans"/>
              </a:defRPr>
            </a:pPr>
            <a:r>
              <a:t>ĐÚNG NHIỀU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900" b="1">
                <a:solidFill>
                  <a:srgbClr val="F8F5EE"/>
                </a:solidFill>
                <a:latin typeface="Liberation Sans"/>
              </a:defRPr>
            </a:pPr>
            <a:r>
              <a:t>CHƯA ĐỦ.</a:t>
            </a:r>
          </a:p>
        </p:txBody>
      </p:sp>
      <p:sp>
        <p:nvSpPr>
          <p:cNvPr id="9" name="Shape"/>
          <p:cNvSpPr/>
          <p:nvPr/>
        </p:nvSpPr>
        <p:spPr>
          <a:xfrm>
            <a:off x="658368" y="3108960"/>
            <a:ext cx="5184648" cy="157276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914400" y="331927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192A"/>
                </a:solidFill>
                <a:latin typeface="Liberation Sans"/>
              </a:defRPr>
            </a:pPr>
            <a:r>
              <a:t>FP  /  FALSE POSITIVE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14400" y="3895344"/>
            <a:ext cx="4617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BÌNH THƯỜNG → TẤN CÔNG</a:t>
            </a:r>
          </a:p>
        </p:txBody>
      </p:sp>
      <p:sp>
        <p:nvSpPr>
          <p:cNvPr id="12" name="Shape"/>
          <p:cNvSpPr/>
          <p:nvPr/>
        </p:nvSpPr>
        <p:spPr>
          <a:xfrm>
            <a:off x="6035040" y="3108960"/>
            <a:ext cx="5294376" cy="1572768"/>
          </a:xfrm>
          <a:prstGeom prst="round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6263640" y="3319272"/>
            <a:ext cx="4846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192A"/>
                </a:solidFill>
                <a:latin typeface="Liberation Sans"/>
              </a:defRPr>
            </a:pPr>
            <a:r>
              <a:t>FN  /  FALSE NEGATIVE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63640" y="3895344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TẤN CÔNG → BÌNH THƯỜNG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68680" y="51663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8F5EE"/>
                </a:solidFill>
                <a:latin typeface="Liberation Sans"/>
              </a:defRPr>
            </a:pPr>
            <a:r>
              <a:t>MACRO-F1     ·     MCC     ·     FPR     ·     FNR</a:t>
            </a:r>
          </a:p>
        </p:txBody>
      </p:sp>
      <p:sp>
        <p:nvSpPr>
          <p:cNvPr id="16" name="Animated marker 5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ated marker 5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nimated marker 5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nimated marker 5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ated marker 5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5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5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5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5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5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5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5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5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5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5000" decel="15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5000" decel="15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5000" decel="15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5000" decel="15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15000" decel="15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15000" decel="1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accel="15000" decel="15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accel="15000" decel="15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15000" decel="15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accel="15000" decel="1500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15000" decel="15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15000" decel="15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15000" decel="15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15000" decel="15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entr" presetSubtype="0" repeatCount="6000" accel="15000" decel="15000" fill="hold" grpId="1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33000001 0.14000000 E" pathEditMode="relative">
                                      <p:cBhvr from="" to="">
                                        <p:cTn id="4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15000" decel="1500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entr" presetSubtype="0" repeatCount="6000" accel="15000" decel="15000" fill="hold" grpId="1" nodeType="withEffect">
                                  <p:stCondLst>
                                    <p:cond delay="36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33000001 -0.02000000 E" pathEditMode="relative">
                                      <p:cBhvr from="" to="">
                                        <p:cTn id="5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accel="15000" decel="15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0" presetClass="entr" presetSubtype="0" repeatCount="6000" accel="15000" decel="15000" fill="hold" grpId="1" nodeType="withEffect">
                                  <p:stCondLst>
                                    <p:cond delay="4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33000001 -0.18000000 E" pathEditMode="relative">
                                      <p:cBhvr from="" to="">
                                        <p:cTn id="6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22" presetClass="entr" presetSubtype="8" accel="15000" decel="15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15000" decel="1500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15000" decel="15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0" presetClass="entr" presetSubtype="0" repeatCount="5000" accel="15000" decel="15000" fill="hold" grpId="1" nodeType="withEffect">
                                  <p:stCondLst>
                                    <p:cond delay="7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5750000 0.00000000 E" pathEditMode="relative">
                                      <p:cBhvr from="" to="">
                                        <p:cTn id="7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0" presetClass="exit" presetSubtype="0" accel="15000" decel="15000" fill="hold" grpId="2" nodeType="withEffect">
                                  <p:stCondLst>
                                    <p:cond delay="15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accel="15000" decel="15000" fill="hold" grpId="2" nodeType="withEffect">
                                  <p:stCondLst>
                                    <p:cond delay="15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accel="15000" decel="15000" fill="hold" grpId="2" nodeType="withEffect">
                                  <p:stCondLst>
                                    <p:cond delay="16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accel="15000" decel="15000" fill="hold" grpId="2" nodeType="withEffect">
                                  <p:stCondLst>
                                    <p:cond delay="17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/>
      <p:bldP spid="11" grpId="0" animBg="1"/>
      <p:bldP spid="11" grpId="1" animBg="1"/>
      <p:bldP spid="11" grpId="2" animBg="1"/>
      <p:bldP spid="12" grpId="0" animBg="1"/>
      <p:bldP spid="13" grpId="0"/>
      <p:bldP spid="15" grpId="0"/>
      <p:bldP spid="16" grpId="0" animBg="1"/>
      <p:bldP spid="16" grpId="1" animBg="1"/>
      <p:bldP spid="16" grpId="2" animBg="1"/>
      <p:bldP spid="17" grpId="0" animBg="1"/>
      <p:bldP spid="18" grpId="0"/>
      <p:bldP spid="20" grpId="0"/>
      <p:bldP spid="21" grpId="0" animBg="1"/>
      <p:bldP spid="21" grpId="1" animBg="1"/>
      <p:bldP spid="21" grpId="2" animBg="1"/>
      <p:bldP spid="22" grpId="0" animBg="1"/>
      <p:bldP spid="25" grpId="0"/>
      <p:bldP spid="26" grpId="0" animBg="1"/>
      <p:bldP spid="26" grpId="1" animBg="1"/>
      <p:bldP spid="26" grpId="2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A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04 / OFFICIAL TEST · 82.332 MẪU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#06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658368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585216" y="740664"/>
            <a:ext cx="1069848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300" b="1">
                <a:solidFill>
                  <a:srgbClr val="14192A"/>
                </a:solidFill>
                <a:latin typeface="Liberation Sans"/>
              </a:defRPr>
            </a:pPr>
            <a:r>
              <a:t>GIẢM 142 FP.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300" b="1">
                <a:solidFill>
                  <a:srgbClr val="14192A"/>
                </a:solidFill>
                <a:latin typeface="Liberation Sans"/>
              </a:defRPr>
            </a:pPr>
            <a:r>
              <a:t>TĂNG 118 FN.</a:t>
            </a:r>
          </a:p>
        </p:txBody>
      </p:sp>
      <p:sp>
        <p:nvSpPr>
          <p:cNvPr id="9" name="Shape"/>
          <p:cNvSpPr/>
          <p:nvPr/>
        </p:nvSpPr>
        <p:spPr>
          <a:xfrm>
            <a:off x="640080" y="3136392"/>
            <a:ext cx="5120640" cy="1920240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duction FP"/>
          <p:cNvSpPr txBox="1"/>
          <p:nvPr/>
        </p:nvSpPr>
        <p:spPr>
          <a:xfrm>
            <a:off x="960120" y="3337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1EC4D2"/>
                </a:solidFill>
                <a:latin typeface="Liberation Sans"/>
              </a:defRPr>
            </a:pPr>
            <a:r>
              <a:t>−142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87552" y="43434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8F5EE"/>
                </a:solidFill>
                <a:latin typeface="Liberation Sans"/>
              </a:defRPr>
            </a:pPr>
            <a:r>
              <a:t>FALSE POSITIVE</a:t>
            </a:r>
          </a:p>
        </p:txBody>
      </p:sp>
      <p:sp>
        <p:nvSpPr>
          <p:cNvPr id="12" name="Shape"/>
          <p:cNvSpPr/>
          <p:nvPr/>
        </p:nvSpPr>
        <p:spPr>
          <a:xfrm>
            <a:off x="6035040" y="3136392"/>
            <a:ext cx="5440680" cy="1920240"/>
          </a:xfrm>
          <a:prstGeom prst="round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ncrease FN"/>
          <p:cNvSpPr txBox="1"/>
          <p:nvPr/>
        </p:nvSpPr>
        <p:spPr>
          <a:xfrm>
            <a:off x="6409944" y="333756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E62629"/>
                </a:solidFill>
                <a:latin typeface="Liberation Sans"/>
              </a:defRPr>
            </a:pPr>
            <a:r>
              <a:t>+118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446520" y="43434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192A"/>
                </a:solidFill>
                <a:latin typeface="Liberation Sans"/>
              </a:defRPr>
            </a:pPr>
            <a:r>
              <a:t>FALSE NEGATIVE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22376" y="533095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192A"/>
                </a:solidFill>
                <a:latin typeface="Liberation Sans"/>
              </a:defRPr>
            </a:pPr>
            <a:r>
              <a:t>Macro-F1    RF42 0,863343    /    Stacking42 0,863840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22376" y="58247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CI hiệu số chứa 0  •  Không đủ bằng chứng Stacking vượt trội</a:t>
            </a:r>
          </a:p>
        </p:txBody>
      </p:sp>
      <p:sp>
        <p:nvSpPr>
          <p:cNvPr id="17" name="Animated marker 6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nimated marker 6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nimated marker 6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ated marker 6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6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6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6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6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6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6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6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6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6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6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15000" decel="15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accel="15000" decel="15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accel="15000" decel="15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accel="15000" decel="1500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accel="15000" decel="1500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accel="15000" decel="1500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0" presetClass="entr" presetSubtype="0" repeatCount="3000" accel="15000" decel="15000" fill="hold" grpId="1" nodeType="withEffect">
                                  <p:stCondLst>
                                    <p:cond delay="10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52875001 0.00000000 E" pathEditMode="relative">
                                      <p:cBhvr from="" to=""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accel="15000" decel="1500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0" presetClass="entr" presetSubtype="0" repeatCount="3000" accel="15000" decel="15000" fill="hold" grpId="1" nodeType="withEffect">
                                  <p:stCondLst>
                                    <p:cond delay="12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52875001 0.00000000 E" pathEditMode="relative">
                                      <p:cBhvr from="" to="">
                                        <p:cTn id="3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xit" presetSubtype="0" accel="15000" decel="15000" fill="hold" grpId="2" nodeType="withEffect">
                                  <p:stCondLst>
                                    <p:cond delay="16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accel="15000" decel="15000" fill="hold" grpId="2" nodeType="withEffect">
                                  <p:stCondLst>
                                    <p:cond delay="18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/>
      <p:bldP spid="12" grpId="0" animBg="1"/>
      <p:bldP spid="13" grpId="0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05 / WHY P21?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#07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768096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621792" y="73152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500" b="1">
                <a:solidFill>
                  <a:srgbClr val="14192A"/>
                </a:solidFill>
                <a:latin typeface="Liberation Sans"/>
              </a:defRPr>
            </a:pPr>
            <a:r>
              <a:t>ĐỐI CHỨNG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500" b="1">
                <a:solidFill>
                  <a:srgbClr val="14192A"/>
                </a:solidFill>
                <a:latin typeface="Liberation Sans"/>
              </a:defRPr>
            </a:pPr>
            <a:r>
              <a:t>CÔNG BẰNG HƠN.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67512" y="2697480"/>
            <a:ext cx="1069848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62629"/>
                </a:solidFill>
                <a:latin typeface="Liberation Sans"/>
              </a:defRPr>
            </a:pPr>
            <a:r>
              <a:t>TRAIN-ONLY · POST-HOC · KHÔNG PHẢI 5 TEST ĐỘC LẬP</a:t>
            </a:r>
          </a:p>
        </p:txBody>
      </p:sp>
      <p:sp>
        <p:nvSpPr>
          <p:cNvPr id="10" name="Seed 1"/>
          <p:cNvSpPr/>
          <p:nvPr/>
        </p:nvSpPr>
        <p:spPr>
          <a:xfrm>
            <a:off x="100584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ed label 1"/>
          <p:cNvSpPr txBox="1"/>
          <p:nvPr/>
        </p:nvSpPr>
        <p:spPr>
          <a:xfrm>
            <a:off x="117043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2529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sp>
        <p:nvSpPr>
          <p:cNvPr id="13" name="Seed 2"/>
          <p:cNvSpPr/>
          <p:nvPr/>
        </p:nvSpPr>
        <p:spPr>
          <a:xfrm>
            <a:off x="315468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ed label 2"/>
          <p:cNvSpPr txBox="1"/>
          <p:nvPr/>
        </p:nvSpPr>
        <p:spPr>
          <a:xfrm>
            <a:off x="331927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37413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sp>
        <p:nvSpPr>
          <p:cNvPr id="16" name="Seed 3"/>
          <p:cNvSpPr/>
          <p:nvPr/>
        </p:nvSpPr>
        <p:spPr>
          <a:xfrm>
            <a:off x="530352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ed label 3"/>
          <p:cNvSpPr txBox="1"/>
          <p:nvPr/>
        </p:nvSpPr>
        <p:spPr>
          <a:xfrm>
            <a:off x="546811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52297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sp>
        <p:nvSpPr>
          <p:cNvPr id="19" name="Seed 4"/>
          <p:cNvSpPr/>
          <p:nvPr/>
        </p:nvSpPr>
        <p:spPr>
          <a:xfrm>
            <a:off x="745236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ed label 4"/>
          <p:cNvSpPr txBox="1"/>
          <p:nvPr/>
        </p:nvSpPr>
        <p:spPr>
          <a:xfrm>
            <a:off x="761695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767181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sp>
        <p:nvSpPr>
          <p:cNvPr id="22" name="Seed 5"/>
          <p:cNvSpPr/>
          <p:nvPr/>
        </p:nvSpPr>
        <p:spPr>
          <a:xfrm>
            <a:off x="9601200" y="3794760"/>
            <a:ext cx="1005840" cy="1005840"/>
          </a:xfrm>
          <a:prstGeom prst="ellipse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eed label 5"/>
          <p:cNvSpPr txBox="1"/>
          <p:nvPr/>
        </p:nvSpPr>
        <p:spPr>
          <a:xfrm>
            <a:off x="9765792" y="3986784"/>
            <a:ext cx="685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8F5EE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9820656" y="4901184"/>
            <a:ext cx="594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FIT</a:t>
            </a:r>
          </a:p>
        </p:txBody>
      </p:sp>
      <p:cxnSp>
        <p:nvCxnSpPr>
          <p:cNvPr id="25" name="Connector"/>
          <p:cNvCxnSpPr/>
          <p:nvPr/>
        </p:nvCxnSpPr>
        <p:spPr>
          <a:xfrm>
            <a:off x="1399032" y="5504688"/>
            <a:ext cx="9189720" cy="0"/>
          </a:xfrm>
          <a:prstGeom prst="line">
            <a:avLst/>
          </a:prstGeom>
          <a:ln w="508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"/>
          <p:cNvSpPr/>
          <p:nvPr/>
        </p:nvSpPr>
        <p:spPr>
          <a:xfrm>
            <a:off x="3218688" y="5614416"/>
            <a:ext cx="5486400" cy="47548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3419856" y="569671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4192A"/>
                </a:solidFill>
                <a:latin typeface="Liberation Sans"/>
              </a:defRPr>
            </a:pPr>
            <a:r>
              <a:t>35.069 DÒNG VALIDATION CHUNG</a:t>
            </a:r>
          </a:p>
        </p:txBody>
      </p:sp>
      <p:sp>
        <p:nvSpPr>
          <p:cNvPr id="28" name="Animated marker 7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7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7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7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7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7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7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7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7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7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nimated marker 7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nimated marker 7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nimated marker 7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nimated marker 7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5000" decel="15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5000" decel="1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5000" decel="1500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5000" decel="15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15000" decel="1500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15000" decel="15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accel="15000" decel="15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15000" decel="15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15000" decel="15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15000" decel="15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15000" decel="1500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15000" decel="1500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0" presetClass="entr" presetSubtype="0" accel="15000" decel="15000" fill="hold" grpId="1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9750000 0.12266667 E" pathEditMode="relative">
                                      <p:cBhvr from="" to="">
                                        <p:cTn id="43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accel="15000" decel="1500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15000" decel="15000" fill="hold" grpId="0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15000" decel="1500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accel="15000" decel="1500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accel="15000" decel="15000" fill="hold" grpId="2" nodeType="withEffect">
                                  <p:stCondLst>
                                    <p:cond delay="4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accel="15000" decel="15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15000" decel="15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0" presetClass="entr" presetSubtype="0" repeatCount="6000" accel="15000" decel="15000" autoRev="1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7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11000" y="111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10" presetClass="entr" presetSubtype="0" accel="15000" decel="1500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15000" decel="1500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0" presetClass="entr" presetSubtype="0" accel="15000" decel="15000" fill="hold" grpId="1" nodeType="withEffect">
                                  <p:stCondLst>
                                    <p:cond delay="52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9750000 0.06266667 E" pathEditMode="relative">
                                      <p:cBhvr from="" to="">
                                        <p:cTn id="76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accel="15000" decel="1500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accel="15000" decel="15000" fill="hold" grpId="0" nodeType="withEffect">
                                  <p:stCondLst>
                                    <p:cond delay="54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accel="15000" decel="1500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accel="15000" decel="15000" fill="hold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xit" presetSubtype="0" accel="15000" decel="15000" fill="hold" grpId="2" nodeType="withEffect">
                                  <p:stCondLst>
                                    <p:cond delay="6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accel="15000" decel="1500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15000" decel="15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15000" decel="15000" fill="hold" grpId="0" nodeType="withEffect">
                                  <p:stCondLst>
                                    <p:cond delay="7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15000" decel="15000" fill="hold" grpId="0" nodeType="withEffect">
                                  <p:stCondLst>
                                    <p:cond delay="71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0" presetClass="entr" presetSubtype="0" accel="15000" decel="15000" fill="hold" grpId="1" nodeType="withEffect">
                                  <p:stCondLst>
                                    <p:cond delay="72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9750000 0.00266667 E" pathEditMode="relative">
                                      <p:cBhvr from="" to="">
                                        <p:cTn id="106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ntr" presetSubtype="0" accel="15000" decel="1500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accel="15000" decel="15000" fill="hold" grpId="0" nodeType="withEffect">
                                  <p:stCondLst>
                                    <p:cond delay="7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accel="15000" decel="15000" fill="hold" grpId="0" nodeType="withEffect">
                                  <p:stCondLst>
                                    <p:cond delay="7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accel="15000" decel="15000" fill="hold" nodeType="withEffect">
                                  <p:stCondLst>
                                    <p:cond delay="8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xit" presetSubtype="0" accel="15000" decel="15000" fill="hold" grpId="2" nodeType="withEffect">
                                  <p:stCondLst>
                                    <p:cond delay="8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ntr" presetSubtype="0" accel="15000" decel="1500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accel="15000" decel="1500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accel="15000" decel="15000" fill="hold" grpId="0" nodeType="withEffect">
                                  <p:stCondLst>
                                    <p:cond delay="9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15000" decel="15000" fill="hold" grpId="0" nodeType="withEffect">
                                  <p:stCondLst>
                                    <p:cond delay="91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0" presetClass="entr" presetSubtype="0" accel="15000" decel="15000" fill="hold" grpId="1" nodeType="withEffect">
                                  <p:stCondLst>
                                    <p:cond delay="92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9750000 -0.05733333 E" pathEditMode="relative">
                                      <p:cBhvr from="" to="">
                                        <p:cTn id="136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10" presetClass="entr" presetSubtype="0" accel="15000" decel="15000" fill="hold" grpId="0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accel="15000" decel="15000" fill="hold" grpId="0" nodeType="withEffect">
                                  <p:stCondLst>
                                    <p:cond delay="94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accel="15000" decel="15000" fill="hold" grpId="0" nodeType="withEffect">
                                  <p:stCondLst>
                                    <p:cond delay="9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accel="15000" decel="15000" fill="hold" nodeType="withEffect">
                                  <p:stCondLst>
                                    <p:cond delay="104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xit" presetSubtype="0" accel="15000" decel="15000" fill="hold" grpId="2" nodeType="withEffect">
                                  <p:stCondLst>
                                    <p:cond delay="10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ntr" presetSubtype="0" accel="15000" decel="15000" fill="hold" grpId="0" nodeType="withEffect">
                                  <p:stCondLst>
                                    <p:cond delay="11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0" presetClass="entr" presetSubtype="0" accel="15000" decel="15000" fill="hold" grpId="1" nodeType="withEffect">
                                  <p:stCondLst>
                                    <p:cond delay="112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9750000 -0.11733333 E" pathEditMode="relative">
                                      <p:cBhvr from="" to="">
                                        <p:cTn id="157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10" presetClass="exit" presetSubtype="0" accel="15000" decel="15000" fill="hold" grpId="2" nodeType="withEffect">
                                  <p:stCondLst>
                                    <p:cond delay="12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8" grpId="1" animBg="1"/>
      <p:bldP spid="18" grpId="2" animBg="1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6" grpId="1" animBg="1"/>
      <p:bldP spid="26" grpId="2" animBg="1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4" grpId="1" animBg="1"/>
      <p:bldP spid="34" grpId="2" animBg="1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2" grpId="1" animBg="1"/>
      <p:bldP spid="42" grpId="2" animBg="1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0" grpId="1" animBg="1"/>
      <p:bldP spid="50" grpId="2" animBg="1"/>
      <p:bldP spid="51" grpId="0" animBg="1"/>
      <p:bldP spid="51" grpId="1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06 / CONTROLLED EVIDENCE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#08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877824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Hero title"/>
          <p:cNvSpPr txBox="1"/>
          <p:nvPr/>
        </p:nvSpPr>
        <p:spPr>
          <a:xfrm>
            <a:off x="585216" y="694944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14192A"/>
                </a:solidFill>
                <a:latin typeface="Liberation Sans"/>
              </a:defRPr>
            </a:pPr>
            <a:r>
              <a:t>CHẤT LƯỢNG.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14192A"/>
                </a:solidFill>
                <a:latin typeface="Liberation Sans"/>
              </a:defRPr>
            </a:pPr>
            <a:r>
              <a:t>CHI PHÍ. SAI SỐ.</a:t>
            </a:r>
          </a:p>
        </p:txBody>
      </p:sp>
      <p:sp>
        <p:nvSpPr>
          <p:cNvPr id="9" name="Shape"/>
          <p:cNvSpPr/>
          <p:nvPr/>
        </p:nvSpPr>
        <p:spPr>
          <a:xfrm>
            <a:off x="658368" y="2926080"/>
            <a:ext cx="3675887" cy="1298448"/>
          </a:xfrm>
          <a:prstGeom prst="round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841247" y="30906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4192A"/>
                </a:solidFill>
                <a:latin typeface="Liberation Sans"/>
              </a:defRPr>
            </a:pPr>
            <a:r>
              <a:t>RF42-LITE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13816" y="354787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4192A"/>
                </a:solidFill>
                <a:latin typeface="Liberation Sans"/>
              </a:defRPr>
            </a:pPr>
            <a:r>
              <a:t>0,945220</a:t>
            </a:r>
          </a:p>
        </p:txBody>
      </p:sp>
      <p:sp>
        <p:nvSpPr>
          <p:cNvPr id="12" name="Shape"/>
          <p:cNvSpPr/>
          <p:nvPr/>
        </p:nvSpPr>
        <p:spPr>
          <a:xfrm>
            <a:off x="4517136" y="2926080"/>
            <a:ext cx="3675887" cy="1298448"/>
          </a:xfrm>
          <a:prstGeom prst="roundRect">
            <a:avLst/>
          </a:prstGeom>
          <a:solidFill>
            <a:srgbClr val="86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4700016" y="30906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4192A"/>
                </a:solidFill>
                <a:latin typeface="Liberation Sans"/>
              </a:defRPr>
            </a:pPr>
            <a:r>
              <a:t>STACKING-LITE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72583" y="354787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4192A"/>
                </a:solidFill>
                <a:latin typeface="Liberation Sans"/>
              </a:defRPr>
            </a:pPr>
            <a:r>
              <a:t>0,944731</a:t>
            </a:r>
          </a:p>
        </p:txBody>
      </p:sp>
      <p:sp>
        <p:nvSpPr>
          <p:cNvPr id="15" name="Shape"/>
          <p:cNvSpPr/>
          <p:nvPr/>
        </p:nvSpPr>
        <p:spPr>
          <a:xfrm>
            <a:off x="8375904" y="2926080"/>
            <a:ext cx="3675887" cy="1298448"/>
          </a:xfrm>
          <a:prstGeom prst="round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8558784" y="30906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4192A"/>
                </a:solidFill>
                <a:latin typeface="Liberation Sans"/>
              </a:defRPr>
            </a:pPr>
            <a:r>
              <a:t>RF17-LITE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531352" y="354787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4192A"/>
                </a:solidFill>
                <a:latin typeface="Liberation Sans"/>
              </a:defRPr>
            </a:pPr>
            <a:r>
              <a:t>0,936751</a:t>
            </a:r>
          </a:p>
        </p:txBody>
      </p:sp>
      <p:sp>
        <p:nvSpPr>
          <p:cNvPr id="18" name="Shape"/>
          <p:cNvSpPr/>
          <p:nvPr/>
        </p:nvSpPr>
        <p:spPr>
          <a:xfrm>
            <a:off x="676656" y="4736592"/>
            <a:ext cx="6839712" cy="1170432"/>
          </a:xfrm>
          <a:prstGeom prst="roundRect">
            <a:avLst/>
          </a:prstGeom>
          <a:solidFill>
            <a:srgbClr val="141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32688" y="4910328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5EE"/>
                </a:solidFill>
                <a:latin typeface="Liberation Sans"/>
              </a:defRPr>
            </a:pPr>
            <a:r>
              <a:t>SELECTOR + RF17 FIT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14400" y="5276088"/>
            <a:ext cx="5989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7F877"/>
                </a:solidFill>
                <a:latin typeface="Liberation Sans"/>
              </a:defRPr>
            </a:pPr>
            <a:r>
              <a:t>309,850s   &gt;   RF42 FIT 241,119s</a:t>
            </a:r>
          </a:p>
        </p:txBody>
      </p:sp>
      <p:sp>
        <p:nvSpPr>
          <p:cNvPr id="21" name="Shape"/>
          <p:cNvSpPr/>
          <p:nvPr/>
        </p:nvSpPr>
        <p:spPr>
          <a:xfrm>
            <a:off x="7735824" y="4736592"/>
            <a:ext cx="3712463" cy="1170432"/>
          </a:xfrm>
          <a:prstGeom prst="roundRect">
            <a:avLst/>
          </a:prstGeom>
          <a:solidFill>
            <a:srgbClr val="E8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7955279" y="4882896"/>
            <a:ext cx="32826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2629"/>
                </a:solidFill>
                <a:latin typeface="Liberation Sans"/>
              </a:defRPr>
            </a:pPr>
            <a:r>
              <a:t>BALANCING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7946136" y="5248656"/>
            <a:ext cx="319125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4192A"/>
                </a:solidFill>
                <a:latin typeface="Liberation Sans"/>
              </a:defRPr>
            </a:pPr>
            <a:r>
              <a:t>FPR ↓    FNR ↑</a:t>
            </a:r>
          </a:p>
        </p:txBody>
      </p:sp>
      <p:sp>
        <p:nvSpPr>
          <p:cNvPr id="24" name="Animated marker 8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8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8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8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8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imated marker 8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nimated marker 8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nimated marker 8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nimated marker 8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nimated marker 8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nimated marker 8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nimated marker 8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nimated marker 8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imated marker 8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5000" decel="1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5000" decel="15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accel="15000" decel="15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5000" decel="15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entr" presetSubtype="0" accel="15000" decel="15000" fill="hold" grpId="1" nodeType="withEffect">
                                  <p:stCondLst>
                                    <p:cond delay="5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-0.16809813 -0.14543213 E" pathEditMode="relative">
                                      <p:cBhvr from="" to="">
                                        <p:cTn id="19" dur="1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15000" decel="1500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15000" decel="15000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accel="15000" decel="15000" fill="hold" grpId="2" nodeType="withEffect">
                                  <p:stCondLst>
                                    <p:cond delay="6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accel="15000" decel="1500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15000" decel="1500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entr" presetSubtype="0" accel="15000" decel="15000" fill="hold" grpId="1" nodeType="withEffect">
                                  <p:stCondLst>
                                    <p:cond delay="10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-0.11734782 -0.09500547 E" pathEditMode="relative">
                                      <p:cBhvr from="" to="">
                                        <p:cTn id="37" dur="1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accel="15000" decel="15000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15000" decel="15000" fill="hold" grpId="0" nodeType="withEffect">
                                  <p:stCondLst>
                                    <p:cond delay="1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accel="15000" decel="15000" fill="hold" grpId="2" nodeType="withEffect">
                                  <p:stCondLst>
                                    <p:cond delay="11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0" grpId="0" animBg="1"/>
      <p:bldP spid="20" grpId="1" animBg="1"/>
      <p:bldP spid="20" grpId="2" animBg="1"/>
      <p:bldP spid="21" grpId="0" animBg="1"/>
      <p:bldP spid="22" grpId="0"/>
      <p:bldP spid="24" grpId="0" animBg="1"/>
      <p:bldP spid="24" grpId="1" animBg="1"/>
      <p:bldP spid="24" grpId="2" animBg="1"/>
      <p:bldP spid="25" grpId="0" animBg="1"/>
      <p:bldP spid="26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5EE"/>
                </a:solidFill>
                <a:latin typeface="Liberation Sans"/>
              </a:defRPr>
            </a:pPr>
            <a:r>
              <a:t>07 / CONCLUSION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5EE"/>
                </a:solidFill>
                <a:latin typeface="Liberation Sans"/>
              </a:defRPr>
            </a:pPr>
            <a:r>
              <a:t>#09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9875520" cy="36576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5EE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sp>
        <p:nvSpPr>
          <p:cNvPr id="8" name="Shape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ro title"/>
          <p:cNvSpPr txBox="1"/>
          <p:nvPr/>
        </p:nvSpPr>
        <p:spPr>
          <a:xfrm>
            <a:off x="594360" y="950976"/>
            <a:ext cx="10881360" cy="2331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F8F5EE"/>
                </a:solidFill>
                <a:latin typeface="Liberation Sans"/>
              </a:defRPr>
            </a:pPr>
            <a:r>
              <a:t>KHÔNG CÓ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F8F5EE"/>
                </a:solidFill>
                <a:latin typeface="Liberation Sans"/>
              </a:defRPr>
            </a:pPr>
            <a:r>
              <a:t>MÔ HÌNH TỐT NHẤT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F8F5EE"/>
                </a:solidFill>
                <a:latin typeface="Liberation Sans"/>
              </a:defRPr>
            </a:pPr>
            <a:r>
              <a:t>CHO MỌI LỖI.</a:t>
            </a:r>
          </a:p>
        </p:txBody>
      </p:sp>
      <p:cxnSp>
        <p:nvCxnSpPr>
          <p:cNvPr id="10" name="Connector"/>
          <p:cNvCxnSpPr/>
          <p:nvPr/>
        </p:nvCxnSpPr>
        <p:spPr>
          <a:xfrm>
            <a:off x="658368" y="4050791"/>
            <a:ext cx="10680192" cy="0"/>
          </a:xfrm>
          <a:prstGeom prst="line">
            <a:avLst/>
          </a:prstGeom>
          <a:ln w="50800">
            <a:solidFill>
              <a:srgbClr val="FF6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"/>
          <p:cNvSpPr txBox="1"/>
          <p:nvPr/>
        </p:nvSpPr>
        <p:spPr>
          <a:xfrm>
            <a:off x="731520" y="4599432"/>
            <a:ext cx="35661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5EE"/>
                </a:solidFill>
                <a:latin typeface="Liberation Sans"/>
              </a:defRPr>
            </a:pPr>
            <a:r>
              <a:t>MÔ HÌNH ĐƠN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17136" y="4599432"/>
            <a:ext cx="35661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C4D2"/>
                </a:solidFill>
                <a:latin typeface="Liberation Sans"/>
              </a:defRPr>
            </a:pPr>
            <a:r>
              <a:t>CƠ CHẾ ENSEMBLE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302752" y="4599432"/>
            <a:ext cx="35661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5EE"/>
                </a:solidFill>
                <a:latin typeface="Liberation Sans"/>
              </a:defRPr>
            </a:pPr>
            <a:r>
              <a:t>CHI PHÍ LỖI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68096" y="5660136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5CBD5"/>
                </a:solidFill>
                <a:latin typeface="Liberation Sans"/>
              </a:defRPr>
            </a:pPr>
            <a:r>
              <a:t>Đối chứng có kiểm soát • Công khai giới hạn</a:t>
            </a:r>
          </a:p>
        </p:txBody>
      </p:sp>
      <p:sp>
        <p:nvSpPr>
          <p:cNvPr id="15" name="Animated marker 9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ated marker 9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ated marker 9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nimated marker 9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nimated marker 9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ated marker 9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9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9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9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9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9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9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nimated marker 9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nimated marker 9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accel="15000" decel="15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5000" decel="15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entr" presetSubtype="0" repeatCount="5000" accel="15000" decel="15000" fill="hold" grpId="1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5500001 0.00000000 E" pathEditMode="relative">
                                      <p:cBhvr from="" to="">
                                        <p:cTn id="1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accel="15000" decel="1500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entr" presetSubtype="0" repeatCount="5000" accel="15000" decel="15000" fill="hold" grpId="1" nodeType="withEffect">
                                  <p:stCondLst>
                                    <p:cond delay="5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5500001 0.00000000 E" pathEditMode="relative">
                                      <p:cBhvr from="" to="">
                                        <p:cTn id="1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accel="15000" decel="1500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15000" decel="15000" fill="hold" grpId="0" nodeType="withEffect">
                                  <p:stCondLst>
                                    <p:cond delay="7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entr" presetSubtype="0" repeatCount="5000" accel="15000" decel="15000" fill="hold" grpId="1" nodeType="withEffect">
                                  <p:stCondLst>
                                    <p:cond delay="7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25500001 0.00000000 E" pathEditMode="relative">
                                      <p:cBhvr from="" to="">
                                        <p:cTn id="2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22" presetClass="entr" presetSubtype="8" accel="15000" decel="1500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accel="15000" decel="15000" fill="hold" grpId="2" nodeType="withEffect">
                                  <p:stCondLst>
                                    <p:cond delay="13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accel="15000" decel="15000" fill="hold" grpId="0" nodeType="with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accel="15000" decel="15000" fill="hold" grpId="2" nodeType="withEffect">
                                  <p:stCondLst>
                                    <p:cond delay="154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accel="15000" decel="15000" fill="hold" grpId="2" nodeType="withEffect">
                                  <p:stCondLst>
                                    <p:cond delay="17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3504" y="32004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4192A"/>
                </a:solidFill>
                <a:latin typeface="Liberation Sans"/>
              </a:defRPr>
            </a:pPr>
            <a:r>
              <a:t>08 / NEXT STEP</a:t>
            </a:r>
          </a:p>
        </p:txBody>
      </p:sp>
      <p:sp>
        <p:nvSpPr>
          <p:cNvPr id="3" name="Scene counter"/>
          <p:cNvSpPr txBox="1"/>
          <p:nvPr/>
        </p:nvSpPr>
        <p:spPr>
          <a:xfrm>
            <a:off x="10789920" y="283464"/>
            <a:ext cx="777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192A"/>
                </a:solidFill>
                <a:latin typeface="Liberation Sans"/>
              </a:defRPr>
            </a:pPr>
            <a:r>
              <a:t>#10</a:t>
            </a:r>
          </a:p>
        </p:txBody>
      </p:sp>
      <p:sp>
        <p:nvSpPr>
          <p:cNvPr id="4" name="Progress track"/>
          <p:cNvSpPr/>
          <p:nvPr/>
        </p:nvSpPr>
        <p:spPr>
          <a:xfrm>
            <a:off x="594360" y="6487668"/>
            <a:ext cx="10972800" cy="1371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gress position"/>
          <p:cNvSpPr/>
          <p:nvPr/>
        </p:nvSpPr>
        <p:spPr>
          <a:xfrm>
            <a:off x="594360" y="6487668"/>
            <a:ext cx="10972800" cy="3657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ning footer"/>
          <p:cNvSpPr txBox="1"/>
          <p:nvPr/>
        </p:nvSpPr>
        <p:spPr>
          <a:xfrm>
            <a:off x="594360" y="6565392"/>
            <a:ext cx="73152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192A"/>
                </a:solidFill>
                <a:latin typeface="Liberation Sans"/>
              </a:defRPr>
            </a:pPr>
            <a:r>
              <a:t>NCKH  /  ENSEMBLE IDS  /  UNSW-NB15</a:t>
            </a:r>
          </a:p>
        </p:txBody>
      </p:sp>
      <p:pic>
        <p:nvPicPr>
          <p:cNvPr id="7" name="Picture 6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658368"/>
            <a:ext cx="438912" cy="438912"/>
          </a:xfrm>
          <a:prstGeom prst="rect">
            <a:avLst/>
          </a:prstGeom>
        </p:spPr>
      </p:pic>
      <p:pic>
        <p:nvPicPr>
          <p:cNvPr id="8" name="Picture 7" descr="Logo_PTIT_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444752" cy="1444752"/>
          </a:xfrm>
          <a:prstGeom prst="rect">
            <a:avLst/>
          </a:prstGeom>
        </p:spPr>
      </p:pic>
      <p:sp>
        <p:nvSpPr>
          <p:cNvPr id="9" name="Hero title"/>
          <p:cNvSpPr txBox="1"/>
          <p:nvPr/>
        </p:nvSpPr>
        <p:spPr>
          <a:xfrm>
            <a:off x="2468880" y="1920240"/>
            <a:ext cx="9052560" cy="2148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4192A"/>
                </a:solidFill>
                <a:latin typeface="Liberation Sans"/>
              </a:defRPr>
            </a:pPr>
            <a:r>
              <a:t>XIN CẢM ƠN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4192A"/>
                </a:solidFill>
                <a:latin typeface="Liberation Sans"/>
              </a:defRPr>
            </a:pPr>
            <a:r>
              <a:t>QUÝ THẦY CÔ.</a:t>
            </a:r>
          </a:p>
        </p:txBody>
      </p:sp>
      <p:sp>
        <p:nvSpPr>
          <p:cNvPr id="10" name="Shape"/>
          <p:cNvSpPr/>
          <p:nvPr/>
        </p:nvSpPr>
        <p:spPr>
          <a:xfrm>
            <a:off x="2496312" y="4261104"/>
            <a:ext cx="7891272" cy="65836"/>
          </a:xfrm>
          <a:prstGeom prst="rect">
            <a:avLst/>
          </a:prstGeom>
          <a:solidFill>
            <a:srgbClr val="E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514600" y="4700016"/>
            <a:ext cx="8366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5E9E"/>
                </a:solidFill>
                <a:latin typeface="Liberation Sans"/>
              </a:defRPr>
            </a:pPr>
            <a:r>
              <a:t>BƯỚC TIẾP: DỮ LIỆU MỚI  ·  THEO THỜI GIAN/PHIÊN  ·  CHI PHÍ SOC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2532888" y="5751576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192A"/>
                </a:solidFill>
                <a:latin typeface="Liberation Sans"/>
              </a:defRPr>
            </a:pPr>
            <a:r>
              <a:t>GVHD: TS. LÊ NGỌC HIẾU</a:t>
            </a:r>
          </a:p>
        </p:txBody>
      </p:sp>
      <p:sp>
        <p:nvSpPr>
          <p:cNvPr id="13" name="Animated marker 10-0"/>
          <p:cNvSpPr/>
          <p:nvPr/>
        </p:nvSpPr>
        <p:spPr>
          <a:xfrm>
            <a:off x="9418320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nimated marker 10-1"/>
          <p:cNvSpPr/>
          <p:nvPr/>
        </p:nvSpPr>
        <p:spPr>
          <a:xfrm>
            <a:off x="9710928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nimated marker 10-2"/>
          <p:cNvSpPr/>
          <p:nvPr/>
        </p:nvSpPr>
        <p:spPr>
          <a:xfrm>
            <a:off x="10003536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imated marker 10-3"/>
          <p:cNvSpPr/>
          <p:nvPr/>
        </p:nvSpPr>
        <p:spPr>
          <a:xfrm>
            <a:off x="10296144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nimated marker 10-4"/>
          <p:cNvSpPr/>
          <p:nvPr/>
        </p:nvSpPr>
        <p:spPr>
          <a:xfrm>
            <a:off x="10588752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nimated marker 10-5"/>
          <p:cNvSpPr/>
          <p:nvPr/>
        </p:nvSpPr>
        <p:spPr>
          <a:xfrm>
            <a:off x="10881360" y="5925312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nimated marker 10-6"/>
          <p:cNvSpPr/>
          <p:nvPr/>
        </p:nvSpPr>
        <p:spPr>
          <a:xfrm>
            <a:off x="11173968" y="5925312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nimated marker 10-7"/>
          <p:cNvSpPr/>
          <p:nvPr/>
        </p:nvSpPr>
        <p:spPr>
          <a:xfrm>
            <a:off x="9418320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nimated marker 10-8"/>
          <p:cNvSpPr/>
          <p:nvPr/>
        </p:nvSpPr>
        <p:spPr>
          <a:xfrm>
            <a:off x="971092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nimated marker 10-9"/>
          <p:cNvSpPr/>
          <p:nvPr/>
        </p:nvSpPr>
        <p:spPr>
          <a:xfrm>
            <a:off x="10003536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nimated marker 10-10"/>
          <p:cNvSpPr/>
          <p:nvPr/>
        </p:nvSpPr>
        <p:spPr>
          <a:xfrm>
            <a:off x="10296144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nimated marker 10-11"/>
          <p:cNvSpPr/>
          <p:nvPr/>
        </p:nvSpPr>
        <p:spPr>
          <a:xfrm>
            <a:off x="10588752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nimated marker 10-12"/>
          <p:cNvSpPr/>
          <p:nvPr/>
        </p:nvSpPr>
        <p:spPr>
          <a:xfrm>
            <a:off x="10881360" y="6181344"/>
            <a:ext cx="73152" cy="73152"/>
          </a:xfrm>
          <a:prstGeom prst="ellipse">
            <a:avLst/>
          </a:prstGeom>
          <a:solidFill>
            <a:srgbClr val="FF6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nimated marker 10-13"/>
          <p:cNvSpPr/>
          <p:nvPr/>
        </p:nvSpPr>
        <p:spPr>
          <a:xfrm>
            <a:off x="11173968" y="6181344"/>
            <a:ext cx="73152" cy="73152"/>
          </a:xfrm>
          <a:prstGeom prst="ellipse">
            <a:avLst/>
          </a:prstGeom>
          <a:solidFill>
            <a:srgbClr val="1E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accel="15000" decel="15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5000" decel="15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accel="15000" decel="1500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5000" decel="15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accel="15000" decel="15000" fill="hold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accel="15000" decel="1500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15000" decel="15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accel="15000" decel="1500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15000" decel="15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accel="15000" decel="1500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15000" decel="15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accel="15000" decel="15000" fill="hold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15000" decel="15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accel="15000" decel="1500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accel="15000" decel="1500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15000" decel="15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accel="15000" decel="15000" fill="hold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0" presetClass="entr" presetSubtype="0" repeatCount="3000" accel="15000" decel="15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8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accel="15000" decel="1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accel="15000" decel="1500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15000" decel="15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accel="15000" decel="1500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0" presetClass="entr" presetSubtype="0" repeatCount="3000" accel="15000" decel="15000" autoRev="1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3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10" presetClass="entr" presetSubtype="0" accel="15000" decel="15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accel="15000" decel="1500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0" presetClass="entr" presetSubtype="0" repeatCount="3000" accel="15000" decel="15000" autoRev="1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2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10" presetClass="entr" presetSubtype="0" accel="15000" decel="15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0" presetClass="entr" presetSubtype="0" repeatCount="3000" accel="15000" decel="15000" autoRev="1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8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0" presetClass="entr" presetSubtype="0" repeatCount="3000" accel="15000" decel="15000" autoRev="1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1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10" presetClass="entr" presetSubtype="0" accel="15000" decel="15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accel="15000" decel="15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15000" decel="15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accel="15000" decel="15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0" presetClass="entr" presetSubtype="0" repeatCount="3000" accel="15000" decel="1500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6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0" presetClass="entr" presetSubtype="0" repeatCount="7000" accel="15000" decel="15000" fill="hold" grpId="1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6750000 -0.16000000 E" pathEditMode="relative">
                                      <p:cBhvr from="" to="">
                                        <p:cTn id="109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0" presetClass="entr" presetSubtype="0" repeatCount="7000" accel="15000" decel="15000" fill="hold" grpId="1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9500000 -0.02666667 E" pathEditMode="relative">
                                      <p:cBhvr from="" to="">
                                        <p:cTn id="112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0" presetClass="entr" presetSubtype="0" repeatCount="7000" accel="15000" decel="15000" fill="hold" grpId="1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4250000 -0.13333333 E" pathEditMode="relative">
                                      <p:cBhvr from="" to="">
                                        <p:cTn id="115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0" presetClass="entr" presetSubtype="0" repeatCount="7000" accel="15000" decel="15000" fill="hold" grpId="1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7500000 -0.20000000 E" pathEditMode="relative">
                                      <p:cBhvr from="" to="">
                                        <p:cTn id="118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0" presetClass="entr" presetSubtype="0" repeatCount="3000" accel="15000" decel="15000" autoRev="1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1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22" presetID="0" presetClass="entr" presetSubtype="0" repeatCount="3000" accel="15000" decel="15000" autoRev="1" fill="hold" grpId="1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4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0" presetClass="entr" presetSubtype="0" repeatCount="3000" accel="15000" decel="15000" autoRev="1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7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10" presetClass="entr" presetSubtype="0" accel="15000" decel="15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accel="15000" decel="15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accel="15000" decel="15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0" presetClass="entr" presetSubtype="0" repeatCount="3000" accel="15000" decel="15000" autoRev="1" fill="hold" grpId="1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9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0" presetClass="entr" presetSubtype="0" repeatCount="7000" accel="15000" decel="15000" fill="hold" grpId="1" nodeType="withEffect">
                                  <p:stCondLst>
                                    <p:cond delay="23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9750000 0.22666667 E" pathEditMode="relative">
                                      <p:cBhvr from="" to="">
                                        <p:cTn id="142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entr" presetSubtype="0" repeatCount="7000" accel="15000" decel="15000" fill="hold" grpId="1" nodeType="withEffect">
                                  <p:stCondLst>
                                    <p:cond delay="237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5000000 -0.05333333 E" pathEditMode="relative">
                                      <p:cBhvr from="" to="">
                                        <p:cTn id="145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0" presetClass="entr" presetSubtype="0" repeatCount="7000" accel="15000" decel="15000" fill="hold" grpId="1" nodeType="withEffect">
                                  <p:stCondLst>
                                    <p:cond delay="237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8000000 0.13333333 E" pathEditMode="relative">
                                      <p:cBhvr from="" to="">
                                        <p:cTn id="148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0" presetClass="entr" presetSubtype="0" repeatCount="3000" accel="15000" decel="15000" autoRev="1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1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10" presetClass="entr" presetSubtype="0" accel="15000" decel="15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accel="15000" decel="15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accel="15000" decel="15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0" presetClass="entr" presetSubtype="0" repeatCount="7000" accel="15000" decel="15000" fill="hold" grpId="1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3500000 0.12000000 E" pathEditMode="relative">
                                      <p:cBhvr from="" to="">
                                        <p:cTn id="163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0" presetClass="entr" presetSubtype="0" repeatCount="7000" accel="15000" decel="15000" fill="hold" grpId="1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7250000 -0.14666667 E" pathEditMode="relative">
                                      <p:cBhvr from="" to="">
                                        <p:cTn id="166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0" presetClass="entr" presetSubtype="0" repeatCount="7000" accel="15000" decel="15000" fill="hold" grpId="1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8000000 0.10666667 E" pathEditMode="relative">
                                      <p:cBhvr from="" to="">
                                        <p:cTn id="169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accel="15000" decel="15000" fill="hold" grpId="0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accel="15000" decel="15000" fill="hold" grpId="0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accel="15000" decel="15000" fill="hold" grpId="0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0" presetClass="entr" presetSubtype="0" repeatCount="7000" accel="15000" decel="15000" fill="hold" grpId="1" nodeType="withEffect">
                                  <p:stCondLst>
                                    <p:cond delay="347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0500000 -0.26666667 E" pathEditMode="relative">
                                      <p:cBhvr from="" to="">
                                        <p:cTn id="181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0" presetClass="entr" presetSubtype="0" repeatCount="7000" accel="15000" decel="15000" fill="hold" grpId="1" nodeType="withEffect">
                                  <p:stCondLst>
                                    <p:cond delay="347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1250000 0.14666667 E" pathEditMode="relative">
                                      <p:cBhvr from="" to="">
                                        <p:cTn id="184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0" presetClass="entr" presetSubtype="0" repeatCount="7000" accel="15000" decel="15000" fill="hold" grpId="1" nodeType="withEffect">
                                  <p:stCondLst>
                                    <p:cond delay="347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14250000 -0.16000000 E" pathEditMode="relative">
                                      <p:cBhvr from="" to="">
                                        <p:cTn id="187" dur="2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10" presetClass="entr" presetSubtype="0" accel="15000" decel="15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accel="15000" decel="1500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xit" presetSubtype="0" accel="15000" decel="15000" fill="hold" grpId="2" nodeType="withEffect">
                                  <p:stCondLst>
                                    <p:cond delay="16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xit" presetSubtype="0" accel="15000" decel="15000" fill="hold" grpId="2" nodeType="withEffect">
                                  <p:stCondLst>
                                    <p:cond delay="16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1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xit" presetSubtype="0" accel="15000" decel="15000" fill="hold" grpId="2" nodeType="withEffect">
                                  <p:stCondLst>
                                    <p:cond delay="16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1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xit" presetSubtype="0" accel="15000" decel="15000" fill="hold" grpId="2" nodeType="withEffect">
                                  <p:stCondLst>
                                    <p:cond delay="16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1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accel="15000" decel="15000" fill="hold" grpId="2" nodeType="withEffect">
                                  <p:stCondLst>
                                    <p:cond delay="1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1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xit" presetSubtype="0" accel="15000" decel="15000" fill="hold" grpId="2" nodeType="withEffect">
                                  <p:stCondLst>
                                    <p:cond delay="1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1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0" presetClass="exit" presetSubtype="0" accel="15000" decel="15000" fill="hold" grpId="2" nodeType="withEffect">
                                  <p:stCondLst>
                                    <p:cond delay="1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1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xit" presetSubtype="0" accel="15000" decel="15000" fill="hold" grpId="2" nodeType="withEffect">
                                  <p:stCondLst>
                                    <p:cond delay="17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0" presetClass="exit" presetSubtype="0" accel="15000" decel="15000" fill="hold" grpId="2" nodeType="withEffect">
                                  <p:stCondLst>
                                    <p:cond delay="17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xit" presetSubtype="0" accel="15000" decel="15000" fill="hold" grpId="2" nodeType="withEffect">
                                  <p:stCondLst>
                                    <p:cond delay="17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1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accel="15000" decel="15000" fill="hold" grpId="2" nodeType="withEffect">
                                  <p:stCondLst>
                                    <p:cond delay="18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1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accel="15000" decel="15000" fill="hold" grpId="2" nodeType="withEffect">
                                  <p:stCondLst>
                                    <p:cond delay="18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1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accel="15000" decel="15000" fill="hold" grpId="2" nodeType="withEffect">
                                  <p:stCondLst>
                                    <p:cond delay="18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1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/>
      <p:bldP spid="4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