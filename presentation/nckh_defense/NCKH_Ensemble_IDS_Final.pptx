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20"/>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88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1 · KEYFRAME 1 · 20 giây (bao gồm chuyển vào)</a:t>
            </a:r>
          </a:p>
          <a:p>
            <a:r>
              <a:t>Kính thưa hội đồng, điều gì nguy hiểm hơn một cảnh báo giả? Đó có thể là một cuộc tấn công bị bỏ sót. Với đề tài này, nhóm chúng em nghiên cứu cách kết hợp mô hình, và kiểm tra cái giá của từng loại sai lầm.</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2 · KEYFRAME 2 · 20 giây (bao gồm chuyển vào)</a:t>
            </a:r>
          </a:p>
          <a:p>
            <a:r>
              <a:t>Bài toán của nhóm là phân loại một bản ghi lưu lượng thành bình thường hoặc tấn công. Câu hỏi chính là: kết hợp nhiều mô hình có cải thiện kết quả so với một mô hình mạnh như Random Forest, hay chỉ chuyển sai số từ loại này sang loại khác?</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2 · KEYFRAME 3 · 20 giây (bao gồm chuyển vào)</a:t>
            </a:r>
          </a:p>
          <a:p>
            <a:r>
              <a:t>Nhóm dùng bộ dữ liệu UNSW, với hơn một trăm bảy mươi lăm nghìn dòng huấn luyện và hơn tám mươi hai nghìn dòng kiểm thử chính thức. Báo cáo có kết quả lịch sử và thực nghiệm bổ sung P hai mươi mốt. Hai phần này phải được đọc riêng vì dùng tập đánh giá khác nhau.</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3 · KEYFRAME 4 · 10 giây (bao gồm chuyển vào)</a:t>
            </a:r>
          </a:p>
          <a:p>
            <a:r>
              <a:t>Đây là quy trình xử lý dữ liệu và đánh giá ngoại tuyến trong mã nguồn. Một dòng minh họa đại diện cho một bản ghi lưu lượng.</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3 · KEYFRAME 5 · 15 giây (bao gồm chuyển vào)</a:t>
            </a:r>
          </a:p>
          <a:p>
            <a:r>
              <a:t>Nhóm loại mã định danh, nhãn và nhóm tấn công khỏi đầu vào. Còn bốn mươi hai đặc trưng gốc. Biến phân loại được mã hóa; nhánh hồi quy logistic có bước chuẩn hóa.</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3 · KEYFRAME 6 · 15 giây (bao gồm chuyển vào)</a:t>
            </a:r>
          </a:p>
          <a:p>
            <a:r>
              <a:t>Bản ghi đi đến hồi quy logistic, cây quyết định và Random Forest. Các phép biến đổi có tham số phải học từ phần dữ liệu huấn luyện tương ứng. Không học từ tập kiểm thử.</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3 · KEYFRAME 7 · 15 giây (bao gồm chuyển vào)</a:t>
            </a:r>
          </a:p>
          <a:p>
            <a:r>
              <a:t>Đầu ra là quyết định bình thường hoặc tấn công, với ngưỡng đã khóa. Báo tấn công cho lưu lượng bình thường là cảnh báo giả. Cho một cuộc tấn công đi qua là bỏ sót.</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4 · KEYFRAME 8 · 18 giây (bao gồm chuyển vào)</a:t>
            </a:r>
          </a:p>
          <a:p>
            <a:r>
              <a:t>Random Forest kết hợp nhiều cây quyết định, được học từ các mẫu và tập đặc trưng ngẫu nhiên. Vì vậy, nhóm không so ensemble với một mô hình đơn yếu. Mốc đối chiếu chính đã là một phương pháp ensemble, có khả năng mô tả quan hệ phi tuyến.</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4 · KEYFRAME 9 · 18 giây (bao gồm chuyển vào)</a:t>
            </a:r>
          </a:p>
          <a:p>
            <a:r>
              <a:t>Với Voting, ba mô hình cùng dự đoán. Hard Voting lấy đa số phiếu; Soft Voting lấy trung bình xác suất. Hồi quy logistic, cây quyết định và rừng ngẫu nhiên có cách học khác nhau, nhưng khác nhau chưa bảo đảm kết hợp tốt hơn.</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4 · KEYFRAME 10 · 19 giây (bao gồm chuyển vào)</a:t>
            </a:r>
          </a:p>
          <a:p>
            <a:r>
              <a:t>Stacking thêm một tầng hồi quy logistic để học cách kết hợp. Tầng này học từ dự đoán ngoài fold: mỗi dòng được dự đoán bởi mô hình cơ sở chưa học dòng đó. Đây là điểm khác với học lại từ chính dự đoán trên dữ liệu đã huấn luyện.</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5 · KEYFRAME 11 · 20 giây (bao gồm chuyển vào)</a:t>
            </a:r>
          </a:p>
          <a:p>
            <a:r>
              <a:t>Trên tập kiểm thử chính thức, Macro F một của Stacking và Random Forest đều xấp xỉ không phẩy tám sáu ba. Stacking nhỉnh hơn rất ít về chỉ số này, nhưng chỉ số tương quan MCC lại thấp hơn một chút. Vì vậy chưa có cơ sở nói Stacking vượt trội.</a:t>
            </a:r>
          </a:p>
          <a:p>
            <a:endParaRPr/>
          </a:p>
          <a:p>
            <a:r>
              <a:t>Animation: tự chạy theo timing; bấm tay vẫn được. Dừng 1 giây cuối keyframe; không đọc số thập phân dài.</a:t>
            </a:r>
          </a:p>
          <a:p>
            <a:r>
              <a:t>Nguồn: P9 final_metrics.csv · official TEST, 82.332 dòng · ngưỡng 0,5.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5 · KEYFRAME 12 · 18 giây (bao gồm chuyển vào)</a:t>
            </a:r>
          </a:p>
          <a:p>
            <a:r>
              <a:t>Hãy tách kết quả thành các lỗi cụ thể trên cùng tập kiểm thử. Random Forest có mười nghìn không trăm lẻ ba cảnh báo giả. Stacking còn chín nghìn tám trăm sáu mươi mốt. Như vậy, số cảnh báo giả giảm một trăm bốn mươi hai.</a:t>
            </a:r>
          </a:p>
          <a:p>
            <a:endParaRPr/>
          </a:p>
          <a:p>
            <a:r>
              <a:t>Animation: tự chạy theo timing; bấm tay vẫn được. Dừng 1 giây cuối keyframe; không đọc số thập phân dài.</a:t>
            </a:r>
          </a:p>
          <a:p>
            <a:r>
              <a:t>Nguồn: P9 final_metrics.csv · official TEST, 82.332 dòng · ngưỡng 0,5.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5 · KEYFRAME 13 · 17 giây (bao gồm chuyển vào)</a:t>
            </a:r>
          </a:p>
          <a:p>
            <a:r>
              <a:t>Đồng thời, số tấn công bị bỏ sót tăng từ bảy trăm ba mươi bốn lên tám trăm năm mươi hai. Tức là tăng một trăm mười tám. Lợi ích giảm cảnh báo giả đi kèm một tổn thất mà một con số tổng hợp dễ che khuất.</a:t>
            </a:r>
          </a:p>
          <a:p>
            <a:endParaRPr/>
          </a:p>
          <a:p>
            <a:r>
              <a:t>Animation: tự chạy theo timing; bấm tay vẫn được. Dừng 1 giây cuối keyframe; không đọc số thập phân dài.</a:t>
            </a:r>
          </a:p>
          <a:p>
            <a:r>
              <a:t>Nguồn: P9 final_metrics.csv · official TEST, 82.332 dòng · ngưỡng 0,5.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5 · KEYFRAME 14 · 15 giây (bao gồm chuyển vào)</a:t>
            </a:r>
          </a:p>
          <a:p>
            <a:r>
              <a:t>Khoảng tin cậy của chênh lệch Macro F một và MCC chứa số không. Bằng chứng lịch sử cho thấy một đánh đổi lỗi, chưa chứng minh Stacking tốt hơn Random Forest một cách rõ ràng.</a:t>
            </a:r>
          </a:p>
          <a:p>
            <a:endParaRPr/>
          </a:p>
          <a:p>
            <a:r>
              <a:t>Animation: tự chạy theo timing; bấm tay vẫn được. Dừng 1 giây cuối keyframe; không đọc số thập phân dài.</a:t>
            </a:r>
          </a:p>
          <a:p>
            <a:r>
              <a:t>Nguồn: P9 final_metrics.csv · official TEST, 82.332 dòng · ngưỡng 0,5.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6 · KEYFRAME 15 · 20 giây (bao gồm chuyển vào)</a:t>
            </a:r>
          </a:p>
          <a:p>
            <a:r>
              <a:t>Để kiểm tra các yếu tố cụ thể, nhóm bổ sung năm cấu hình đối chứng qua năm seed huấn luyện. Mỗi seed dùng sáu mươi nghìn dòng học, cùng một tập validation tách theo nhóm vector trùng. Đây là thực nghiệm hậu nghiệm trên TRAIN, không phải tập kiểm thử bên ngoài mới.</a:t>
            </a:r>
          </a:p>
          <a:p>
            <a:endParaRPr/>
          </a:p>
          <a:p>
            <a:r>
              <a:t>Animation: tự chạy theo timing; bấm tay vẫn được. Dừng 1 giây cuối keyframe; không đọc số thập phân dài.</a:t>
            </a:r>
          </a:p>
          <a:p>
            <a:r>
              <a:t>Nguồn: P21 aggregate.json · hậu nghiệm trên TRAIN; cùng validation qua 5 FIT seed.</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6 · KEYFRAME 16 · 18 giây (bao gồm chuyển vào)</a:t>
            </a:r>
          </a:p>
          <a:p>
            <a:r>
              <a:t>Macro F một trung bình của Random Forest Lite cao hơn Stacking Lite một chút. Năm seed mô tả biến thiên huấn luyện trên cùng validation cố định. Đây không phải năm tập kiểm thử độc lập hay bằng chứng tổng quát hóa ra mạng mới.</a:t>
            </a:r>
          </a:p>
          <a:p>
            <a:endParaRPr/>
          </a:p>
          <a:p>
            <a:r>
              <a:t>Animation: tự chạy theo timing; bấm tay vẫn được. Dừng 1 giây cuối keyframe; không đọc số thập phân dài.</a:t>
            </a:r>
          </a:p>
          <a:p>
            <a:r>
              <a:t>Nguồn: P21 aggregate.json · hậu nghiệm trên TRAIN; cùng validation qua 5 FIT seed.</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6 · KEYFRAME 17 · 17 giây (bao gồm chuyển vào)</a:t>
            </a:r>
          </a:p>
          <a:p>
            <a:r>
              <a:t>Với mười bảy đặc trưng, riêng bước học rừng nhanh hơn. Nhưng nếu cộng bước chọn đặc trưng, tổng thời gian đo được là khoảng ba trăm mười giây, cao hơn khoảng hai trăm bốn mươi mốt giây của rừng bốn mươi hai đặc trưng. Chỉ số dự đoán cũng giảm.</a:t>
            </a:r>
          </a:p>
          <a:p>
            <a:endParaRPr/>
          </a:p>
          <a:p>
            <a:r>
              <a:t>Animation: tự chạy theo timing; bấm tay vẫn được. Dừng 1 giây cuối keyframe; không đọc số thập phân dài.</a:t>
            </a:r>
          </a:p>
          <a:p>
            <a:r>
              <a:t>Nguồn: P21 aggregate.json · hậu nghiệm trên TRAIN; cùng validation qua 5 FIT seed.</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7 · KEYFRAME 18 · 20 giây (bao gồm chuyển vào)</a:t>
            </a:r>
          </a:p>
          <a:p>
            <a:r>
              <a:t>Trong P hai mươi mốt, tăng trọng số lớp và lấy mẫu bổ sung đều giảm tỷ lệ cảnh báo giả, nhưng tăng tỷ lệ bỏ sót. Lớp bình thường mới là lớp ít mẫu trong TRAIN này. Vì vậy, cân bằng lớp không tự động đồng nghĩa với phát hiện tấn công tốt hơn.</a:t>
            </a:r>
          </a:p>
          <a:p>
            <a:endParaRPr/>
          </a:p>
          <a:p>
            <a:r>
              <a:t>Animation: tự chạy theo timing; bấm tay vẫn được. Dừng 1 giây cuối keyframe; không đọc số thập phân dài.</a:t>
            </a:r>
          </a:p>
          <a:p>
            <a:r>
              <a:t>Nguồn: P21 aggregate.json · hậu nghiệm trên TRAIN; cùng validation qua 5 FIT seed.</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7 · KEYFRAME 19 · 20 giây (bao gồm chuyển vào)</a:t>
            </a:r>
          </a:p>
          <a:p>
            <a:r>
              <a:t>Nếu quy chi phí một cảnh báo giả bằng một đơn vị, và gọi r là chi phí một lần bỏ sót, hai mô hình lịch sử hòa nhau khi r khoảng một phẩy hai. Đây chỉ là phân tích giả định trên dự đoán cố định, không phải giá thiệt hại của một hệ thống thực.</a:t>
            </a:r>
          </a:p>
          <a:p>
            <a:endParaRPr/>
          </a:p>
          <a:p>
            <a:r>
              <a:t>Animation: tự chạy theo timing; bấm tay vẫn được. Dừng 1 giây cuối keyframe; không đọc số thập phân dài.</a:t>
            </a:r>
          </a:p>
          <a:p>
            <a:r>
              <a:t>Nguồn: V6 §5.1 / P9 confusion counts · phân tích chi phí giả định cho đúng 2 mô hình.</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CẢNH 8 · KEYFRAME 20 · 25 giây (bao gồm chuyển vào)</a:t>
            </a:r>
          </a:p>
          <a:p>
            <a:r>
              <a:t>Đóng góp của nhóm là đối chiếu có truy vết, thực nghiệm kiểm soát và phân tích đánh đổi lỗi, không phải một thuật toán mới. Giới hạn còn có sai lệch chọn đặc trưng lịch sử và thiếu kiểm chứng trên mạng ngoài. Kết luận của nhóm: thêm mô hình chỉ có ý nghĩa khi lợi ích phù hợp với mục tiêu bảo vệ. Nhóm xin cảm ơn hội đồng.</a:t>
            </a:r>
          </a:p>
          <a:p>
            <a:endParaRPr/>
          </a:p>
          <a:p>
            <a:r>
              <a:t>Animation: tự chạy theo timing; bấm tay vẫn được. Dừng 1 giây cuối keyframe; không đọc số thập phân dài.</a:t>
            </a:r>
          </a:p>
          <a:p>
            <a:r>
              <a:t>Nguồn: báo cáo V6, chương 3–5.</a:t>
            </a:r>
          </a:p>
          <a:p>
            <a:r>
              <a:t>Truy vết chi tiết: Scientific_Evidence_Map.md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có phát minh thuật toán mới không?</a:t>
            </a:r>
          </a:p>
          <a:p>
            <a:r>
              <a:t>Không. Đóng góp trong phạm vi đề tài là benchmark có truy vết, kiểm toán hạn chế, P21 matched và phân tích chi phí lỗi. Không tuyên bố mới trên toàn lĩnh vực.</a:t>
            </a:r>
          </a:p>
          <a:p>
            <a:r>
              <a:t>Nguồn: V6 §3.1, §5.3–5.5; P21 aggregate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Vì sao chọn LR, DT và RF; AdaBoost ở đâu?</a:t>
            </a:r>
          </a:p>
          <a:p>
            <a:r>
              <a:t>LR làm mốc tuyến tính; DT học quy tắc phi tuyến; RF giảm phương sai bằng nhiều cây. AdaBoost là đối chiếu boosting ở development. Hard/Soft Voting không hơn RF về Macro-F1 development; không mang Voting thành kết quả TEST cuối.</a:t>
            </a:r>
          </a:p>
          <a:p>
            <a:r>
              <a:t>Nguồn: src/models/run_unsw_ensemble_phase7_2.py; V6 §3.3, §4.5</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Vì sao dùng UNSW-NB15?</a:t>
            </a:r>
          </a:p>
          <a:p>
            <a:r>
              <a:t>Có nhãn nhị phân và official split phù hợp đối chiếu tái lập. Giữ nguyên 175.341 TRAIN / 82.332 TEST. Kết quả chỉ thuộc benchmark; cần validation theo thời gian hoặc nguồn mạng khác trước khi khái quát.</a:t>
            </a:r>
          </a:p>
          <a:p>
            <a:r>
              <a:t>Nguồn: V6 §2.1, §2.5–2.6, §3.1</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Quy trình có hoàn toàn tránh leakage không?</a:t>
            </a:r>
          </a:p>
          <a:p>
            <a:r>
              <a:t>Không tuyên bố tuyệt đối. Preprocessing trong pipeline; meta LR học dự đoán OOF; TEST không dùng tuning. Tuy nhiên stable17 lịch sử chọn trên toàn TRAIN trước CV và meta tuning chưa hoàn toàn nested, có selection optimism. P21 chọn trong FIT và inner grouped CV; không sửa hồi tố lịch sử.</a:t>
            </a:r>
          </a:p>
          <a:p>
            <a:r>
              <a:t>Nguồn: V6 §3.2–3.6; tools/p21_science_core.py</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P21 có phải external TEST mới không?</a:t>
            </a:r>
          </a:p>
          <a:p>
            <a:r>
              <a:t>Không. Hậu nghiệm trên official TRAIN; mỗi seed dùng 60.000 FIT source rows, validation 35.069 dòng (11.200 Normal / 23.869 Attack). Group theo vector 42 predictor trùng chính xác; không chứng minh độc lập session/time. SD có điều kiện trên validation này.</a:t>
            </a:r>
          </a:p>
          <a:p>
            <a:r>
              <a:t>Nguồn: P21 aggregate.json; V6 §3.6, §4.7</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Selection hoạt động thế nào và có rẻ hơn?</a:t>
            </a:r>
          </a:p>
          <a:p>
            <a:r>
              <a:t>P21 chọn stable17 từ FIT qua MI/L1/ExtraTrees, 5 selector seed; 14 biến chung trong 5 bộ. RF17 model fit 84,600 s; selector 225,250 s; cộng 309,850 s, so RF42 fit 241,119 s. Chưa phải chi phí end-to-end. RF17 lịch sử đổi cả số cây và min leaf, không phải FS-only ablation.</a:t>
            </a:r>
          </a:p>
          <a:p>
            <a:r>
              <a:t>Nguồn: V6 §3.2–3.3, §4.7.3; tools/p21_selector_core.py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OOF được dùng ở đâu?</a:t>
            </a:r>
          </a:p>
          <a:p>
            <a:r>
              <a:t>Hard: đa số nhãn; Soft: trung bình xác suất. Stacking: LR meta học xác suất OOF của LR/DT/RF; passthrough=False. Khi dự đoán, base learner fit lại trên phần train rồi đưa xác suất cho meta. OOF cần giữ cả preprocessing trong fold.</a:t>
            </a:r>
          </a:p>
          <a:p>
            <a:r>
              <a:t>Nguồn: src/models/run_unsw_phase9_final_holdout.py:283–508; tools/p21_science_core.py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Vì sao không chỉ dùng Accuracy?</a:t>
            </a:r>
          </a:p>
          <a:p>
            <a:r>
              <a:t>Macro-F1 cho hai lớp trọng số bằng nhau; MCC dùng cả TN/FP/FN/TP. Precision Attack = TP/(TP+FP); Recall = TP/(TP+FN). FPR = FP/(TN+FP); FNR = FN/(TP+FN). Attack là lớp dương. Accuracy che được lỗi khi phân bố lớp đổi.</a:t>
            </a:r>
          </a:p>
          <a:p>
            <a:r>
              <a:t>Nguồn: V6 §3.4; final_metrics.csv</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Vì sao không nói hai mô hình tương đương?</a:t>
            </a:r>
          </a:p>
          <a:p>
            <a:r>
              <a:t>CI 95% paired bootstrap của chênh Macro-F1/MCC chứa 0: chưa thấy khác biệt rõ theo phép đo đó. Không phải kiểm định tương đương. McNemar đo đúng/sai tổng thể, không trực tiếp Macro-F1. Bootstrap hàng dữ liệu không ước lượng biến thiên huấn luyện.</a:t>
            </a:r>
          </a:p>
          <a:p>
            <a:r>
              <a:t>Nguồn: V6 §3.4, §4.2, §5.1</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Khi nào RF42 tốt hơn Stacking42?</a:t>
            </a:r>
          </a:p>
          <a:p>
            <a:r>
              <a:t>Trên official TEST cố định, L = FP + r FN, ΔL(Stack−RF)=−142+118r. Khi r&gt;142/118≈1,2034, RF42 có L thấp hơn Stacking42 trong đúng cặp này. Chưa suy ra RF42 tối ưu hơn mọi mô hình hoặc chi phí SOC thực.</a:t>
            </a:r>
          </a:p>
          <a:p>
            <a:r>
              <a:t>Nguồn: V6 §5.1; final_metrics.csv</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Tại sao balanced làm tăng FNR?</a:t>
            </a:r>
          </a:p>
          <a:p>
            <a:r>
              <a:t>Normal là lớp ít mẫu trong TRAIN. P21 class_weight=balanced ưu tiên Normal hơn nên giảm FPR, tăng FNR quan sát được. A2−A0: −3,1643 đpp FPR / +1,7881 đpp FNR; oversample: −2,2089 / +1,1680 đpp. Không chọn lại ngưỡng từ kết quả này.</a:t>
            </a:r>
          </a:p>
          <a:p>
            <a:r>
              <a:t>Nguồn: V6 §4.7.4; P21 aggregate.json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Nhóm đã triển khai IDS mạng thật chưa?</a:t>
            </a:r>
          </a:p>
          <a:p>
            <a:r>
              <a:t>Chưa. Mã hiện là pipeline offline. P15 tái dựng theo cấu hình, không chứng minh bitwise artifact lịch sử. Chưa đo traffic mới, drift, tải phục vụ hay tổn thất SOC. Cần đánh giá ngoài, calibration/threshold trên train-validation mới và đo latency toàn pipeline.</a:t>
            </a:r>
          </a:p>
          <a:p>
            <a:r>
              <a:t>Nguồn: V6 §3.5, §5.4–5.5</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1.xml"/><Relationship Id="rId3" Type="http://schemas.openxmlformats.org/officeDocument/2006/relationships/slide" Target="slide21.xml"/><Relationship Id="rId7" Type="http://schemas.openxmlformats.org/officeDocument/2006/relationships/slide" Target="slide25.xml"/><Relationship Id="rId12" Type="http://schemas.openxmlformats.org/officeDocument/2006/relationships/slide" Target="slide30.xm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slide" Target="slide24.xml"/><Relationship Id="rId11" Type="http://schemas.openxmlformats.org/officeDocument/2006/relationships/slide" Target="slide29.xml"/><Relationship Id="rId5" Type="http://schemas.openxmlformats.org/officeDocument/2006/relationships/slide" Target="slide23.xml"/><Relationship Id="rId10" Type="http://schemas.openxmlformats.org/officeDocument/2006/relationships/slide" Target="slide28.xml"/><Relationship Id="rId4" Type="http://schemas.openxmlformats.org/officeDocument/2006/relationships/slide" Target="slide22.xml"/><Relationship Id="rId9" Type="http://schemas.openxmlformats.org/officeDocument/2006/relationships/slide" Target="slide27.xml"/><Relationship Id="rId14" Type="http://schemas.openxmlformats.org/officeDocument/2006/relationships/slide" Target="slide32.xml"/></Relationships>
</file>

<file path=ppt/slides/_rels/slide21.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title"/>
          <p:cNvSpPr txBox="1"/>
          <p:nvPr/>
        </p:nvSpPr>
        <p:spPr>
          <a:xfrm>
            <a:off x="548640" y="502920"/>
            <a:ext cx="11064240" cy="1173480"/>
          </a:xfrm>
          <a:prstGeom prst="rect">
            <a:avLst/>
          </a:prstGeom>
          <a:noFill/>
        </p:spPr>
        <p:txBody>
          <a:bodyPr wrap="square" lIns="0" tIns="0" rIns="0" bIns="0">
            <a:spAutoFit/>
          </a:bodyPr>
          <a:lstStyle/>
          <a:p>
            <a:pPr>
              <a:spcAft>
                <a:spcPts val="500"/>
              </a:spcAft>
              <a:defRPr sz="3600" b="1">
                <a:solidFill>
                  <a:srgbClr val="0D3560"/>
                </a:solidFill>
                <a:latin typeface="Aptos"/>
              </a:defRPr>
            </a:pPr>
            <a:r>
              <a:t>Một cảnh báo ít hơn.</a:t>
            </a:r>
          </a:p>
          <a:p>
            <a:pPr>
              <a:spcAft>
                <a:spcPts val="500"/>
              </a:spcAft>
              <a:defRPr sz="3600" b="1">
                <a:solidFill>
                  <a:srgbClr val="0D3560"/>
                </a:solidFill>
                <a:latin typeface="Aptos"/>
              </a:defRPr>
            </a:pPr>
            <a:r>
              <a:t>Một rủi ro lớn hơn?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01</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51206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594360" y="2011680"/>
            <a:ext cx="7772400" cy="746760"/>
          </a:xfrm>
          <a:prstGeom prst="rect">
            <a:avLst/>
          </a:prstGeom>
          <a:noFill/>
        </p:spPr>
        <p:txBody>
          <a:bodyPr wrap="square" lIns="0" tIns="0" rIns="0" bIns="0">
            <a:spAutoFit/>
          </a:bodyPr>
          <a:lstStyle/>
          <a:p>
            <a:pPr>
              <a:spcAft>
                <a:spcPts val="500"/>
              </a:spcAft>
              <a:defRPr sz="2200" b="1">
                <a:solidFill>
                  <a:srgbClr val="1769AA"/>
                </a:solidFill>
                <a:latin typeface="Aptos"/>
              </a:defRPr>
            </a:pPr>
            <a:r>
              <a:t>NGHIÊN CỨU ENSEMBLE LEARNING</a:t>
            </a:r>
          </a:p>
          <a:p>
            <a:pPr>
              <a:spcAft>
                <a:spcPts val="500"/>
              </a:spcAft>
              <a:defRPr sz="2200" b="1">
                <a:solidFill>
                  <a:srgbClr val="1769AA"/>
                </a:solidFill>
                <a:latin typeface="Aptos"/>
              </a:defRPr>
            </a:pPr>
            <a:r>
              <a:t>CHO PHÁT HIỆN XÂM NHẬP MẠNG</a:t>
            </a:r>
          </a:p>
        </p:txBody>
      </p:sp>
      <p:sp>
        <p:nvSpPr>
          <p:cNvPr id="16" name="Text 15"/>
          <p:cNvSpPr txBox="1"/>
          <p:nvPr/>
        </p:nvSpPr>
        <p:spPr>
          <a:xfrm>
            <a:off x="594360" y="3246120"/>
            <a:ext cx="7772400" cy="594360"/>
          </a:xfrm>
          <a:prstGeom prst="rect">
            <a:avLst/>
          </a:prstGeom>
          <a:noFill/>
        </p:spPr>
        <p:txBody>
          <a:bodyPr wrap="square" lIns="0" tIns="0" rIns="0" bIns="0">
            <a:spAutoFit/>
          </a:bodyPr>
          <a:lstStyle/>
          <a:p>
            <a:pPr>
              <a:spcAft>
                <a:spcPts val="500"/>
              </a:spcAft>
              <a:defRPr sz="3000" b="1">
                <a:solidFill>
                  <a:srgbClr val="0D3560"/>
                </a:solidFill>
                <a:latin typeface="Aptos"/>
              </a:defRPr>
            </a:pPr>
            <a:r>
              <a:t>Cái giá của từng loại sai lầm</a:t>
            </a:r>
          </a:p>
        </p:txBody>
      </p:sp>
      <p:cxnSp>
        <p:nvCxnSpPr>
          <p:cNvPr id="17" name="Connector 16"/>
          <p:cNvCxnSpPr/>
          <p:nvPr/>
        </p:nvCxnSpPr>
        <p:spPr>
          <a:xfrm>
            <a:off x="8412480" y="3520440"/>
            <a:ext cx="960120" cy="0"/>
          </a:xfrm>
          <a:prstGeom prst="line">
            <a:avLst/>
          </a:prstGeom>
          <a:ln w="381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9418320" y="2468880"/>
            <a:ext cx="1097280" cy="1051560"/>
          </a:xfrm>
          <a:prstGeom prst="line">
            <a:avLst/>
          </a:prstGeom>
          <a:ln w="381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18320" y="3520440"/>
            <a:ext cx="1097280" cy="1051560"/>
          </a:xfrm>
          <a:prstGeom prst="line">
            <a:avLst/>
          </a:prstGeom>
          <a:ln w="38100">
            <a:solidFill>
              <a:srgbClr val="B65B29"/>
            </a:solidFill>
            <a:tailEnd type="triangle"/>
          </a:ln>
        </p:spPr>
        <p:style>
          <a:lnRef idx="2">
            <a:schemeClr val="accent1"/>
          </a:lnRef>
          <a:fillRef idx="0">
            <a:schemeClr val="accent1"/>
          </a:fillRef>
          <a:effectRef idx="1">
            <a:schemeClr val="accent1"/>
          </a:effectRef>
          <a:fontRef idx="minor">
            <a:schemeClr val="tx1"/>
          </a:fontRef>
        </p:style>
      </p:cxnSp>
      <p:sp>
        <p:nvSpPr>
          <p:cNvPr id="20" name="!!actor-hook-flow"/>
          <p:cNvSpPr/>
          <p:nvPr/>
        </p:nvSpPr>
        <p:spPr>
          <a:xfrm>
            <a:off x="8229600" y="3401568"/>
            <a:ext cx="237744" cy="23774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 20"/>
          <p:cNvSpPr txBox="1"/>
          <p:nvPr/>
        </p:nvSpPr>
        <p:spPr>
          <a:xfrm>
            <a:off x="10607040" y="2212848"/>
            <a:ext cx="914400" cy="500379"/>
          </a:xfrm>
          <a:prstGeom prst="rect">
            <a:avLst/>
          </a:prstGeom>
          <a:noFill/>
        </p:spPr>
        <p:txBody>
          <a:bodyPr wrap="square" lIns="0" tIns="0" rIns="0" bIns="0">
            <a:spAutoFit/>
          </a:bodyPr>
          <a:lstStyle/>
          <a:p>
            <a:pPr>
              <a:spcAft>
                <a:spcPts val="500"/>
              </a:spcAft>
              <a:defRPr sz="3200" b="1">
                <a:solidFill>
                  <a:srgbClr val="1769AA"/>
                </a:solidFill>
                <a:latin typeface="Aptos"/>
              </a:defRPr>
            </a:pPr>
            <a:r>
              <a:t>FP</a:t>
            </a:r>
          </a:p>
        </p:txBody>
      </p:sp>
      <p:sp>
        <p:nvSpPr>
          <p:cNvPr id="22" name="Text 21"/>
          <p:cNvSpPr txBox="1"/>
          <p:nvPr/>
        </p:nvSpPr>
        <p:spPr>
          <a:xfrm>
            <a:off x="10607040" y="4407408"/>
            <a:ext cx="914400" cy="500379"/>
          </a:xfrm>
          <a:prstGeom prst="rect">
            <a:avLst/>
          </a:prstGeom>
          <a:noFill/>
        </p:spPr>
        <p:txBody>
          <a:bodyPr wrap="square" lIns="0" tIns="0" rIns="0" bIns="0">
            <a:spAutoFit/>
          </a:bodyPr>
          <a:lstStyle/>
          <a:p>
            <a:pPr>
              <a:spcAft>
                <a:spcPts val="500"/>
              </a:spcAft>
              <a:defRPr sz="3200" b="1">
                <a:solidFill>
                  <a:srgbClr val="B65B29"/>
                </a:solidFill>
                <a:latin typeface="Aptos"/>
              </a:defRPr>
            </a:pPr>
            <a:r>
              <a:t>FN</a:t>
            </a:r>
          </a:p>
        </p:txBody>
      </p:sp>
      <p:sp>
        <p:nvSpPr>
          <p:cNvPr id="23" name="Text 22"/>
          <p:cNvSpPr txBox="1"/>
          <p:nvPr/>
        </p:nvSpPr>
        <p:spPr>
          <a:xfrm>
            <a:off x="594360" y="5166360"/>
            <a:ext cx="10881360" cy="365760"/>
          </a:xfrm>
          <a:prstGeom prst="rect">
            <a:avLst/>
          </a:prstGeom>
          <a:noFill/>
        </p:spPr>
        <p:txBody>
          <a:bodyPr wrap="square" lIns="0" tIns="0" rIns="0" bIns="0">
            <a:spAutoFit/>
          </a:bodyPr>
          <a:lstStyle/>
          <a:p>
            <a:pPr>
              <a:spcAft>
                <a:spcPts val="500"/>
              </a:spcAft>
              <a:defRPr sz="1600" b="0">
                <a:solidFill>
                  <a:srgbClr val="526A81"/>
                </a:solidFill>
                <a:latin typeface="Aptos"/>
              </a:defRPr>
            </a:pPr>
            <a:r>
              <a:t>Dương Ngọc Phú · Phạm Thế Vỹ · Vũ Văn Kiên · Lê Hoàng Nguyên Quân</a:t>
            </a:r>
          </a:p>
        </p:txBody>
      </p:sp>
      <p:sp>
        <p:nvSpPr>
          <p:cNvPr id="24" name="Text 23"/>
          <p:cNvSpPr txBox="1"/>
          <p:nvPr/>
        </p:nvSpPr>
        <p:spPr>
          <a:xfrm>
            <a:off x="594360" y="5596128"/>
            <a:ext cx="10881360" cy="274320"/>
          </a:xfrm>
          <a:prstGeom prst="rect">
            <a:avLst/>
          </a:prstGeom>
          <a:noFill/>
        </p:spPr>
        <p:txBody>
          <a:bodyPr wrap="square" lIns="0" tIns="0" rIns="0" bIns="0">
            <a:spAutoFit/>
          </a:bodyPr>
          <a:lstStyle/>
          <a:p>
            <a:pPr>
              <a:spcAft>
                <a:spcPts val="500"/>
              </a:spcAft>
              <a:defRPr sz="1500" b="0">
                <a:solidFill>
                  <a:srgbClr val="526A81"/>
                </a:solidFill>
                <a:latin typeface="Aptos"/>
              </a:defRPr>
            </a:pPr>
            <a:r>
              <a:t>GVHD: TS. Lê Ngọc Hiếu   |   PTIT cơ sở TP.HCM   |   2026</a:t>
            </a:r>
          </a:p>
        </p:txBody>
      </p:sp>
    </p:spTree>
  </p:cSld>
  <p:clrMapOvr>
    <a:masterClrMapping/>
  </p:clrMapOvr>
  <mc:AlternateContent xmlns:mc="http://schemas.openxmlformats.org/markup-compatibility/2006">
    <mc:Choice xmlns:p14="http://schemas.microsoft.com/office/powerpoint/2010/main" Requires="p14">
      <p:transition spd="med" p14:dur="550" advTm="20000"/>
    </mc:Choice>
    <mc:Fallback>
      <p:transition spd="med" advTm="20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2-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Kết hợp mô hình có giúp IDS tốt hơn?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02</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2066543"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2651760"/>
            <a:ext cx="2926080" cy="960120"/>
          </a:xfrm>
          <a:prstGeom prst="rect">
            <a:avLst/>
          </a:prstGeom>
          <a:noFill/>
        </p:spPr>
        <p:txBody>
          <a:bodyPr wrap="square" lIns="0" tIns="0" rIns="0" bIns="0">
            <a:spAutoFit/>
          </a:bodyPr>
          <a:lstStyle/>
          <a:p>
            <a:pPr>
              <a:spcAft>
                <a:spcPts val="500"/>
              </a:spcAft>
              <a:defRPr sz="2800" b="1">
                <a:solidFill>
                  <a:srgbClr val="1769AA"/>
                </a:solidFill>
                <a:latin typeface="Aptos"/>
              </a:defRPr>
            </a:pPr>
            <a:r>
              <a:t>Bản ghi</a:t>
            </a:r>
          </a:p>
          <a:p>
            <a:pPr>
              <a:spcAft>
                <a:spcPts val="500"/>
              </a:spcAft>
              <a:defRPr sz="2800" b="1">
                <a:solidFill>
                  <a:srgbClr val="1769AA"/>
                </a:solidFill>
                <a:latin typeface="Aptos"/>
              </a:defRPr>
            </a:pPr>
            <a:r>
              <a:t>lưu lượng</a:t>
            </a:r>
          </a:p>
        </p:txBody>
      </p:sp>
      <p:sp>
        <p:nvSpPr>
          <p:cNvPr id="16" name="!!actor-ids"/>
          <p:cNvSpPr/>
          <p:nvPr/>
        </p:nvSpPr>
        <p:spPr>
          <a:xfrm>
            <a:off x="4206240" y="2788920"/>
            <a:ext cx="2834640" cy="96012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ctor-ids-text"/>
          <p:cNvSpPr txBox="1"/>
          <p:nvPr/>
        </p:nvSpPr>
        <p:spPr>
          <a:xfrm>
            <a:off x="4315968" y="2926079"/>
            <a:ext cx="2615184" cy="795528"/>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Mô hình IDS</a:t>
            </a:r>
          </a:p>
        </p:txBody>
      </p:sp>
      <p:cxnSp>
        <p:nvCxnSpPr>
          <p:cNvPr id="18" name="Connector 17"/>
          <p:cNvCxnSpPr/>
          <p:nvPr/>
        </p:nvCxnSpPr>
        <p:spPr>
          <a:xfrm>
            <a:off x="3063240" y="3246120"/>
            <a:ext cx="1051560" cy="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132320" y="2423160"/>
            <a:ext cx="1188720" cy="82296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132320" y="3246120"/>
            <a:ext cx="1188720" cy="59436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21" name="Text 20"/>
          <p:cNvSpPr txBox="1"/>
          <p:nvPr/>
        </p:nvSpPr>
        <p:spPr>
          <a:xfrm>
            <a:off x="8595360" y="2148840"/>
            <a:ext cx="2743200" cy="594360"/>
          </a:xfrm>
          <a:prstGeom prst="rect">
            <a:avLst/>
          </a:prstGeom>
          <a:noFill/>
        </p:spPr>
        <p:txBody>
          <a:bodyPr wrap="square" lIns="0" tIns="0" rIns="0" bIns="0">
            <a:spAutoFit/>
          </a:bodyPr>
          <a:lstStyle/>
          <a:p>
            <a:pPr>
              <a:spcAft>
                <a:spcPts val="500"/>
              </a:spcAft>
              <a:defRPr sz="3200" b="1">
                <a:solidFill>
                  <a:srgbClr val="1769AA"/>
                </a:solidFill>
                <a:latin typeface="Aptos"/>
              </a:defRPr>
            </a:pPr>
            <a:r>
              <a:t>Normal</a:t>
            </a:r>
          </a:p>
        </p:txBody>
      </p:sp>
      <p:sp>
        <p:nvSpPr>
          <p:cNvPr id="22" name="Text 21"/>
          <p:cNvSpPr txBox="1"/>
          <p:nvPr/>
        </p:nvSpPr>
        <p:spPr>
          <a:xfrm>
            <a:off x="8595360" y="3566160"/>
            <a:ext cx="2743200" cy="594360"/>
          </a:xfrm>
          <a:prstGeom prst="rect">
            <a:avLst/>
          </a:prstGeom>
          <a:noFill/>
        </p:spPr>
        <p:txBody>
          <a:bodyPr wrap="square" lIns="0" tIns="0" rIns="0" bIns="0">
            <a:spAutoFit/>
          </a:bodyPr>
          <a:lstStyle/>
          <a:p>
            <a:pPr>
              <a:spcAft>
                <a:spcPts val="500"/>
              </a:spcAft>
              <a:defRPr sz="3200" b="1">
                <a:solidFill>
                  <a:srgbClr val="B65B29"/>
                </a:solidFill>
                <a:latin typeface="Aptos"/>
              </a:defRPr>
            </a:pPr>
            <a:r>
              <a:t>Attack</a:t>
            </a:r>
          </a:p>
        </p:txBody>
      </p:sp>
      <p:sp>
        <p:nvSpPr>
          <p:cNvPr id="23" name="Text 22"/>
          <p:cNvSpPr txBox="1"/>
          <p:nvPr/>
        </p:nvSpPr>
        <p:spPr>
          <a:xfrm>
            <a:off x="914400" y="4389120"/>
            <a:ext cx="10332720" cy="1051560"/>
          </a:xfrm>
          <a:prstGeom prst="rect">
            <a:avLst/>
          </a:prstGeom>
          <a:noFill/>
        </p:spPr>
        <p:txBody>
          <a:bodyPr wrap="square" lIns="0" tIns="0" rIns="0" bIns="0">
            <a:spAutoFit/>
          </a:bodyPr>
          <a:lstStyle/>
          <a:p>
            <a:pPr algn="ctr">
              <a:spcAft>
                <a:spcPts val="500"/>
              </a:spcAft>
              <a:defRPr sz="3000" b="1">
                <a:solidFill>
                  <a:srgbClr val="0D3560"/>
                </a:solidFill>
                <a:latin typeface="Aptos"/>
              </a:defRPr>
            </a:pPr>
            <a:r>
              <a:t>Tốt hơn về chất lượng dự đoán,</a:t>
            </a:r>
          </a:p>
          <a:p>
            <a:pPr algn="ctr">
              <a:spcAft>
                <a:spcPts val="500"/>
              </a:spcAft>
              <a:defRPr sz="3000" b="1">
                <a:solidFill>
                  <a:srgbClr val="0D3560"/>
                </a:solidFill>
                <a:latin typeface="Aptos"/>
              </a:defRPr>
            </a:pPr>
            <a:r>
              <a:t>hay chỉ chuyển sai số?</a:t>
            </a:r>
          </a:p>
        </p:txBody>
      </p:sp>
    </p:spTree>
  </p:cSld>
  <p:clrMapOvr>
    <a:masterClrMapping/>
  </p:clrMapOvr>
  <mc:AlternateContent xmlns:mc="http://schemas.openxmlformats.org/markup-compatibility/2006">
    <mc:Choice xmlns:p14="http://schemas.microsoft.com/office/powerpoint/2010/main" Requires="p14">
      <p:transition spd="med" p14:dur="550" advTm="19450">
        <p:fade thruBlk="1"/>
      </p:transition>
    </mc:Choice>
    <mc:Fallback>
      <p:transition spd="med" advTm="19450">
        <p:fade thruBlk="1"/>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3-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Một benchmark. Hai phạm vi bằng chứng.</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03</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2066543"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2057400"/>
            <a:ext cx="5120640" cy="988059"/>
          </a:xfrm>
          <a:prstGeom prst="rect">
            <a:avLst/>
          </a:prstGeom>
          <a:noFill/>
        </p:spPr>
        <p:txBody>
          <a:bodyPr wrap="square" lIns="0" tIns="0" rIns="0" bIns="0">
            <a:spAutoFit/>
          </a:bodyPr>
          <a:lstStyle/>
          <a:p>
            <a:pPr>
              <a:spcAft>
                <a:spcPts val="500"/>
              </a:spcAft>
              <a:defRPr sz="6400" b="1">
                <a:solidFill>
                  <a:srgbClr val="1769AA"/>
                </a:solidFill>
                <a:latin typeface="Aptos"/>
              </a:defRPr>
            </a:pPr>
            <a:r>
              <a:t>175.341</a:t>
            </a:r>
          </a:p>
        </p:txBody>
      </p:sp>
      <p:sp>
        <p:nvSpPr>
          <p:cNvPr id="16" name="Text 15"/>
          <p:cNvSpPr txBox="1"/>
          <p:nvPr/>
        </p:nvSpPr>
        <p:spPr>
          <a:xfrm>
            <a:off x="822960" y="3017520"/>
            <a:ext cx="4937760" cy="457200"/>
          </a:xfrm>
          <a:prstGeom prst="rect">
            <a:avLst/>
          </a:prstGeom>
          <a:noFill/>
        </p:spPr>
        <p:txBody>
          <a:bodyPr wrap="square" lIns="0" tIns="0" rIns="0" bIns="0">
            <a:spAutoFit/>
          </a:bodyPr>
          <a:lstStyle/>
          <a:p>
            <a:pPr>
              <a:spcAft>
                <a:spcPts val="500"/>
              </a:spcAft>
              <a:defRPr sz="2300" b="0">
                <a:solidFill>
                  <a:srgbClr val="0D3560"/>
                </a:solidFill>
                <a:latin typeface="Aptos"/>
              </a:defRPr>
            </a:pPr>
            <a:r>
              <a:t>dòng official TRAIN</a:t>
            </a:r>
          </a:p>
        </p:txBody>
      </p:sp>
      <p:sp>
        <p:nvSpPr>
          <p:cNvPr id="17" name="Text 16"/>
          <p:cNvSpPr txBox="1"/>
          <p:nvPr/>
        </p:nvSpPr>
        <p:spPr>
          <a:xfrm>
            <a:off x="6446520" y="2057400"/>
            <a:ext cx="5120640" cy="988059"/>
          </a:xfrm>
          <a:prstGeom prst="rect">
            <a:avLst/>
          </a:prstGeom>
          <a:noFill/>
        </p:spPr>
        <p:txBody>
          <a:bodyPr wrap="square" lIns="0" tIns="0" rIns="0" bIns="0">
            <a:spAutoFit/>
          </a:bodyPr>
          <a:lstStyle/>
          <a:p>
            <a:pPr>
              <a:spcAft>
                <a:spcPts val="500"/>
              </a:spcAft>
              <a:defRPr sz="6400" b="1">
                <a:solidFill>
                  <a:srgbClr val="0D3560"/>
                </a:solidFill>
                <a:latin typeface="Aptos"/>
              </a:defRPr>
            </a:pPr>
            <a:r>
              <a:t>82.332</a:t>
            </a:r>
          </a:p>
        </p:txBody>
      </p:sp>
      <p:sp>
        <p:nvSpPr>
          <p:cNvPr id="18" name="Text 17"/>
          <p:cNvSpPr txBox="1"/>
          <p:nvPr/>
        </p:nvSpPr>
        <p:spPr>
          <a:xfrm>
            <a:off x="6492240" y="3017520"/>
            <a:ext cx="4937760" cy="457200"/>
          </a:xfrm>
          <a:prstGeom prst="rect">
            <a:avLst/>
          </a:prstGeom>
          <a:noFill/>
        </p:spPr>
        <p:txBody>
          <a:bodyPr wrap="square" lIns="0" tIns="0" rIns="0" bIns="0">
            <a:spAutoFit/>
          </a:bodyPr>
          <a:lstStyle/>
          <a:p>
            <a:pPr>
              <a:spcAft>
                <a:spcPts val="500"/>
              </a:spcAft>
              <a:defRPr sz="2300" b="0">
                <a:solidFill>
                  <a:srgbClr val="0D3560"/>
                </a:solidFill>
                <a:latin typeface="Aptos"/>
              </a:defRPr>
            </a:pPr>
            <a:r>
              <a:t>dòng official TEST</a:t>
            </a:r>
          </a:p>
        </p:txBody>
      </p:sp>
      <p:sp>
        <p:nvSpPr>
          <p:cNvPr id="19" name="Rectangle 18"/>
          <p:cNvSpPr/>
          <p:nvPr/>
        </p:nvSpPr>
        <p:spPr>
          <a:xfrm>
            <a:off x="777240" y="4160520"/>
            <a:ext cx="5029200" cy="123444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46520" y="4160520"/>
            <a:ext cx="5029200" cy="123444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 20"/>
          <p:cNvSpPr txBox="1"/>
          <p:nvPr/>
        </p:nvSpPr>
        <p:spPr>
          <a:xfrm>
            <a:off x="960120" y="4370832"/>
            <a:ext cx="4663440" cy="868680"/>
          </a:xfrm>
          <a:prstGeom prst="rect">
            <a:avLst/>
          </a:prstGeom>
          <a:noFill/>
        </p:spPr>
        <p:txBody>
          <a:bodyPr wrap="square" lIns="0" tIns="0" rIns="0" bIns="0">
            <a:spAutoFit/>
          </a:bodyPr>
          <a:lstStyle/>
          <a:p>
            <a:pPr>
              <a:spcAft>
                <a:spcPts val="500"/>
              </a:spcAft>
              <a:defRPr sz="2100" b="1">
                <a:solidFill>
                  <a:srgbClr val="1769AA"/>
                </a:solidFill>
                <a:latin typeface="Aptos"/>
              </a:defRPr>
            </a:pPr>
            <a:r>
              <a:t>P21 · nội bộ TRAIN</a:t>
            </a:r>
          </a:p>
          <a:p>
            <a:pPr>
              <a:spcAft>
                <a:spcPts val="500"/>
              </a:spcAft>
              <a:defRPr sz="2100" b="1">
                <a:solidFill>
                  <a:srgbClr val="1769AA"/>
                </a:solidFill>
                <a:latin typeface="Aptos"/>
              </a:defRPr>
            </a:pPr>
            <a:r>
              <a:t>Đối chứng bổ sung, hậu nghiệm</a:t>
            </a:r>
          </a:p>
        </p:txBody>
      </p:sp>
      <p:sp>
        <p:nvSpPr>
          <p:cNvPr id="22" name="Text 21"/>
          <p:cNvSpPr txBox="1"/>
          <p:nvPr/>
        </p:nvSpPr>
        <p:spPr>
          <a:xfrm>
            <a:off x="6629400" y="4370832"/>
            <a:ext cx="4663440" cy="868680"/>
          </a:xfrm>
          <a:prstGeom prst="rect">
            <a:avLst/>
          </a:prstGeom>
          <a:noFill/>
        </p:spPr>
        <p:txBody>
          <a:bodyPr wrap="square" lIns="0" tIns="0" rIns="0" bIns="0">
            <a:spAutoFit/>
          </a:bodyPr>
          <a:lstStyle/>
          <a:p>
            <a:pPr>
              <a:spcAft>
                <a:spcPts val="500"/>
              </a:spcAft>
              <a:defRPr sz="2100" b="1">
                <a:solidFill>
                  <a:srgbClr val="0D3560"/>
                </a:solidFill>
                <a:latin typeface="Aptos"/>
              </a:defRPr>
            </a:pPr>
            <a:r>
              <a:t>Kết quả lịch sử</a:t>
            </a:r>
          </a:p>
          <a:p>
            <a:pPr>
              <a:spcAft>
                <a:spcPts val="500"/>
              </a:spcAft>
              <a:defRPr sz="2100" b="1">
                <a:solidFill>
                  <a:srgbClr val="0D3560"/>
                </a:solidFill>
                <a:latin typeface="Aptos"/>
              </a:defRPr>
            </a:pPr>
            <a:r>
              <a:t>Đánh giá candidate đã khóa</a:t>
            </a:r>
          </a:p>
        </p:txBody>
      </p:sp>
      <p:sp>
        <p:nvSpPr>
          <p:cNvPr id="23" name="Text 22"/>
          <p:cNvSpPr txBox="1"/>
          <p:nvPr/>
        </p:nvSpPr>
        <p:spPr>
          <a:xfrm>
            <a:off x="822960" y="5577840"/>
            <a:ext cx="10607040" cy="320040"/>
          </a:xfrm>
          <a:prstGeom prst="rect">
            <a:avLst/>
          </a:prstGeom>
          <a:noFill/>
        </p:spPr>
        <p:txBody>
          <a:bodyPr wrap="square" lIns="0" tIns="0" rIns="0" bIns="0">
            <a:spAutoFit/>
          </a:bodyPr>
          <a:lstStyle/>
          <a:p>
            <a:pPr>
              <a:spcAft>
                <a:spcPts val="500"/>
              </a:spcAft>
              <a:defRPr sz="1800" b="0">
                <a:solidFill>
                  <a:srgbClr val="526A81"/>
                </a:solidFill>
                <a:latin typeface="Aptos"/>
              </a:defRPr>
            </a:pPr>
            <a:r>
              <a:t>Không so trực tiếp các mức điểm giữa hai tập đánh giá.</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9100">
        <p159:morph option="byObject"/>
      </p:transition>
    </mc:Choice>
    <mc:Fallback>
      <p:transition spd="slow" advTm="191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4-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Mỗi bản ghi đi qua một pipeline rõ ràng</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04</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36210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actor-pipe-edge-0"/>
          <p:cNvCxnSpPr/>
          <p:nvPr/>
        </p:nvCxnSpPr>
        <p:spPr>
          <a:xfrm>
            <a:off x="2441448" y="3172968"/>
            <a:ext cx="34747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cxnSp>
        <p:nvCxnSpPr>
          <p:cNvPr id="16" name="!!actor-pipe-edge-1"/>
          <p:cNvCxnSpPr/>
          <p:nvPr/>
        </p:nvCxnSpPr>
        <p:spPr>
          <a:xfrm>
            <a:off x="4681728" y="3172968"/>
            <a:ext cx="34747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cxnSp>
        <p:nvCxnSpPr>
          <p:cNvPr id="17" name="!!actor-pipe-edge-2"/>
          <p:cNvCxnSpPr/>
          <p:nvPr/>
        </p:nvCxnSpPr>
        <p:spPr>
          <a:xfrm>
            <a:off x="6922008" y="3172968"/>
            <a:ext cx="34747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cxnSp>
        <p:nvCxnSpPr>
          <p:cNvPr id="18" name="!!actor-pipe-edge-3"/>
          <p:cNvCxnSpPr/>
          <p:nvPr/>
        </p:nvCxnSpPr>
        <p:spPr>
          <a:xfrm>
            <a:off x="9162288" y="3172968"/>
            <a:ext cx="43891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sp>
        <p:nvSpPr>
          <p:cNvPr id="19" name="!!actor-pipe-0"/>
          <p:cNvSpPr/>
          <p:nvPr/>
        </p:nvSpPr>
        <p:spPr>
          <a:xfrm>
            <a:off x="59436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ctor-pipe-label-0"/>
          <p:cNvSpPr txBox="1"/>
          <p:nvPr/>
        </p:nvSpPr>
        <p:spPr>
          <a:xfrm>
            <a:off x="66751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Bản ghi</a:t>
            </a:r>
          </a:p>
          <a:p>
            <a:pPr algn="ctr">
              <a:spcAft>
                <a:spcPts val="500"/>
              </a:spcAft>
              <a:defRPr sz="1800" b="1">
                <a:solidFill>
                  <a:srgbClr val="FFFFFF"/>
                </a:solidFill>
                <a:latin typeface="Aptos"/>
              </a:defRPr>
            </a:pPr>
            <a:r>
              <a:t>lưu lượng</a:t>
            </a:r>
          </a:p>
        </p:txBody>
      </p:sp>
      <p:sp>
        <p:nvSpPr>
          <p:cNvPr id="21" name="!!actor-pipe-1"/>
          <p:cNvSpPr/>
          <p:nvPr/>
        </p:nvSpPr>
        <p:spPr>
          <a:xfrm>
            <a:off x="2834640" y="2743200"/>
            <a:ext cx="1847088" cy="91440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ctor-pipe-label-1"/>
          <p:cNvSpPr txBox="1"/>
          <p:nvPr/>
        </p:nvSpPr>
        <p:spPr>
          <a:xfrm>
            <a:off x="2907792" y="2898648"/>
            <a:ext cx="1700784" cy="685800"/>
          </a:xfrm>
          <a:prstGeom prst="rect">
            <a:avLst/>
          </a:prstGeom>
          <a:noFill/>
        </p:spPr>
        <p:txBody>
          <a:bodyPr wrap="square" lIns="0" tIns="0" rIns="0" bIns="0">
            <a:spAutoFit/>
          </a:bodyPr>
          <a:lstStyle/>
          <a:p>
            <a:pPr algn="ctr">
              <a:spcAft>
                <a:spcPts val="500"/>
              </a:spcAft>
              <a:defRPr sz="1800" b="1">
                <a:solidFill>
                  <a:srgbClr val="526A81"/>
                </a:solidFill>
                <a:latin typeface="Aptos"/>
              </a:defRPr>
            </a:pPr>
            <a:r>
              <a:t>Đặc trưng</a:t>
            </a:r>
          </a:p>
          <a:p>
            <a:pPr algn="ctr">
              <a:spcAft>
                <a:spcPts val="500"/>
              </a:spcAft>
              <a:defRPr sz="1800" b="1">
                <a:solidFill>
                  <a:srgbClr val="526A81"/>
                </a:solidFill>
                <a:latin typeface="Aptos"/>
              </a:defRPr>
            </a:pPr>
            <a:r>
              <a:t>42 / 17 biến</a:t>
            </a:r>
          </a:p>
        </p:txBody>
      </p:sp>
      <p:sp>
        <p:nvSpPr>
          <p:cNvPr id="23" name="!!actor-pipe-2"/>
          <p:cNvSpPr/>
          <p:nvPr/>
        </p:nvSpPr>
        <p:spPr>
          <a:xfrm>
            <a:off x="5074920" y="2743200"/>
            <a:ext cx="1847088" cy="91440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actor-pipe-label-2"/>
          <p:cNvSpPr txBox="1"/>
          <p:nvPr/>
        </p:nvSpPr>
        <p:spPr>
          <a:xfrm>
            <a:off x="5148072" y="2898648"/>
            <a:ext cx="1700784" cy="685800"/>
          </a:xfrm>
          <a:prstGeom prst="rect">
            <a:avLst/>
          </a:prstGeom>
          <a:noFill/>
        </p:spPr>
        <p:txBody>
          <a:bodyPr wrap="square" lIns="0" tIns="0" rIns="0" bIns="0">
            <a:spAutoFit/>
          </a:bodyPr>
          <a:lstStyle/>
          <a:p>
            <a:pPr algn="ctr">
              <a:spcAft>
                <a:spcPts val="500"/>
              </a:spcAft>
              <a:defRPr sz="1800" b="1">
                <a:solidFill>
                  <a:srgbClr val="526A81"/>
                </a:solidFill>
                <a:latin typeface="Aptos"/>
              </a:defRPr>
            </a:pPr>
            <a:r>
              <a:t>LR · DT · RF</a:t>
            </a:r>
          </a:p>
        </p:txBody>
      </p:sp>
      <p:sp>
        <p:nvSpPr>
          <p:cNvPr id="25" name="!!actor-pipe-3"/>
          <p:cNvSpPr/>
          <p:nvPr/>
        </p:nvSpPr>
        <p:spPr>
          <a:xfrm>
            <a:off x="7315200" y="2743200"/>
            <a:ext cx="1847088" cy="91440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actor-pipe-label-3"/>
          <p:cNvSpPr txBox="1"/>
          <p:nvPr/>
        </p:nvSpPr>
        <p:spPr>
          <a:xfrm>
            <a:off x="7388352" y="2898648"/>
            <a:ext cx="1700784" cy="685800"/>
          </a:xfrm>
          <a:prstGeom prst="rect">
            <a:avLst/>
          </a:prstGeom>
          <a:noFill/>
        </p:spPr>
        <p:txBody>
          <a:bodyPr wrap="square" lIns="0" tIns="0" rIns="0" bIns="0">
            <a:spAutoFit/>
          </a:bodyPr>
          <a:lstStyle/>
          <a:p>
            <a:pPr algn="ctr">
              <a:spcAft>
                <a:spcPts val="500"/>
              </a:spcAft>
              <a:defRPr sz="1800" b="1">
                <a:solidFill>
                  <a:srgbClr val="526A81"/>
                </a:solidFill>
                <a:latin typeface="Aptos"/>
              </a:defRPr>
            </a:pPr>
            <a:r>
              <a:t>Kết hợp</a:t>
            </a:r>
          </a:p>
          <a:p>
            <a:pPr algn="ctr">
              <a:spcAft>
                <a:spcPts val="500"/>
              </a:spcAft>
              <a:defRPr sz="1800" b="1">
                <a:solidFill>
                  <a:srgbClr val="526A81"/>
                </a:solidFill>
                <a:latin typeface="Aptos"/>
              </a:defRPr>
            </a:pPr>
            <a:r>
              <a:t>Voting / Stack</a:t>
            </a:r>
          </a:p>
        </p:txBody>
      </p:sp>
      <p:sp>
        <p:nvSpPr>
          <p:cNvPr id="27" name="!!actor-pipe-4"/>
          <p:cNvSpPr/>
          <p:nvPr/>
        </p:nvSpPr>
        <p:spPr>
          <a:xfrm>
            <a:off x="9646920" y="2743200"/>
            <a:ext cx="1847088" cy="91440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ctor-pipe-label-4"/>
          <p:cNvSpPr txBox="1"/>
          <p:nvPr/>
        </p:nvSpPr>
        <p:spPr>
          <a:xfrm>
            <a:off x="9720072" y="2898648"/>
            <a:ext cx="1700784" cy="685800"/>
          </a:xfrm>
          <a:prstGeom prst="rect">
            <a:avLst/>
          </a:prstGeom>
          <a:noFill/>
        </p:spPr>
        <p:txBody>
          <a:bodyPr wrap="square" lIns="0" tIns="0" rIns="0" bIns="0">
            <a:spAutoFit/>
          </a:bodyPr>
          <a:lstStyle/>
          <a:p>
            <a:pPr algn="ctr">
              <a:spcAft>
                <a:spcPts val="500"/>
              </a:spcAft>
              <a:defRPr sz="1800" b="1">
                <a:solidFill>
                  <a:srgbClr val="526A81"/>
                </a:solidFill>
                <a:latin typeface="Aptos"/>
              </a:defRPr>
            </a:pPr>
            <a:r>
              <a:t>Normal</a:t>
            </a:r>
          </a:p>
          <a:p>
            <a:pPr algn="ctr">
              <a:spcAft>
                <a:spcPts val="500"/>
              </a:spcAft>
              <a:defRPr sz="1800" b="1">
                <a:solidFill>
                  <a:srgbClr val="526A81"/>
                </a:solidFill>
                <a:latin typeface="Aptos"/>
              </a:defRPr>
            </a:pPr>
            <a:r>
              <a:t>hoặc Attack</a:t>
            </a:r>
          </a:p>
        </p:txBody>
      </p:sp>
      <p:sp>
        <p:nvSpPr>
          <p:cNvPr id="29" name="!!actor-flow-record"/>
          <p:cNvSpPr/>
          <p:nvPr/>
        </p:nvSpPr>
        <p:spPr>
          <a:xfrm>
            <a:off x="731520" y="2185416"/>
            <a:ext cx="219456" cy="219456"/>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actor-flow-pointer"/>
          <p:cNvCxnSpPr/>
          <p:nvPr/>
        </p:nvCxnSpPr>
        <p:spPr>
          <a:xfrm>
            <a:off x="841248" y="2404872"/>
            <a:ext cx="0" cy="283464"/>
          </a:xfrm>
          <a:prstGeom prst="line">
            <a:avLst/>
          </a:prstGeom>
          <a:ln w="25400">
            <a:solidFill>
              <a:srgbClr val="139DCB"/>
            </a:solidFill>
            <a:tailEnd type="triangle"/>
          </a:ln>
        </p:spPr>
        <p:style>
          <a:lnRef idx="2">
            <a:schemeClr val="accent1"/>
          </a:lnRef>
          <a:fillRef idx="0">
            <a:schemeClr val="accent1"/>
          </a:fillRef>
          <a:effectRef idx="1">
            <a:schemeClr val="accent1"/>
          </a:effectRef>
          <a:fontRef idx="minor">
            <a:schemeClr val="tx1"/>
          </a:fontRef>
        </p:style>
      </p:cxnSp>
      <p:sp>
        <p:nvSpPr>
          <p:cNvPr id="31" name="Text 30"/>
          <p:cNvSpPr txBox="1"/>
          <p:nvPr/>
        </p:nvSpPr>
        <p:spPr>
          <a:xfrm>
            <a:off x="640080" y="4251960"/>
            <a:ext cx="10881360" cy="548640"/>
          </a:xfrm>
          <a:prstGeom prst="rect">
            <a:avLst/>
          </a:prstGeom>
          <a:noFill/>
        </p:spPr>
        <p:txBody>
          <a:bodyPr wrap="square" lIns="0" tIns="0" rIns="0" bIns="0">
            <a:spAutoFit/>
          </a:bodyPr>
          <a:lstStyle/>
          <a:p>
            <a:pPr>
              <a:spcAft>
                <a:spcPts val="500"/>
              </a:spcAft>
              <a:defRPr sz="2400" b="1">
                <a:solidFill>
                  <a:srgbClr val="0D3560"/>
                </a:solidFill>
                <a:latin typeface="Aptos"/>
              </a:defRPr>
            </a:pPr>
            <a:r>
              <a:t>Dữ liệu flow đã được trích xuất trong UNSW-NB15</a:t>
            </a:r>
          </a:p>
        </p:txBody>
      </p:sp>
      <p:sp>
        <p:nvSpPr>
          <p:cNvPr id="32" name="Text 31"/>
          <p:cNvSpPr txBox="1"/>
          <p:nvPr/>
        </p:nvSpPr>
        <p:spPr>
          <a:xfrm>
            <a:off x="640080" y="4983480"/>
            <a:ext cx="10881360" cy="457200"/>
          </a:xfrm>
          <a:prstGeom prst="rect">
            <a:avLst/>
          </a:prstGeom>
          <a:noFill/>
        </p:spPr>
        <p:txBody>
          <a:bodyPr wrap="square" lIns="0" tIns="0" rIns="0" bIns="0">
            <a:spAutoFit/>
          </a:bodyPr>
          <a:lstStyle/>
          <a:p>
            <a:pPr>
              <a:spcAft>
                <a:spcPts val="500"/>
              </a:spcAft>
              <a:defRPr sz="1800" b="0">
                <a:solidFill>
                  <a:srgbClr val="526A81"/>
                </a:solidFill>
                <a:latin typeface="Aptos"/>
              </a:defRPr>
            </a:pPr>
            <a:r>
              <a:t>Minh họa một bản ghi • Pipeline offline, chưa phải IDS bắt gói trực tiếp</a:t>
            </a:r>
          </a:p>
        </p:txBody>
      </p:sp>
    </p:spTree>
  </p:cSld>
  <p:clrMapOvr>
    <a:masterClrMapping/>
  </p:clrMapOvr>
  <mc:AlternateContent xmlns:mc="http://schemas.openxmlformats.org/markup-compatibility/2006">
    <mc:Choice xmlns:p14="http://schemas.microsoft.com/office/powerpoint/2010/main" Requires="p14">
      <p:transition spd="med" p14:dur="550" advTm="9450">
        <p:fade thruBlk="1"/>
      </p:transition>
    </mc:Choice>
    <mc:Fallback>
      <p:transition spd="med" advTm="9450">
        <p:fade thruBlk="1"/>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5-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Chỉ giữ thông tin dùng để dự đoán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05</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36210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actor-pipe-edge-0"/>
          <p:cNvCxnSpPr/>
          <p:nvPr/>
        </p:nvCxnSpPr>
        <p:spPr>
          <a:xfrm>
            <a:off x="2441448" y="3172968"/>
            <a:ext cx="347472" cy="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6" name="!!actor-pipe-edge-1"/>
          <p:cNvCxnSpPr/>
          <p:nvPr/>
        </p:nvCxnSpPr>
        <p:spPr>
          <a:xfrm>
            <a:off x="4681728" y="3172968"/>
            <a:ext cx="34747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cxnSp>
        <p:nvCxnSpPr>
          <p:cNvPr id="17" name="!!actor-pipe-edge-2"/>
          <p:cNvCxnSpPr/>
          <p:nvPr/>
        </p:nvCxnSpPr>
        <p:spPr>
          <a:xfrm>
            <a:off x="6922008" y="3172968"/>
            <a:ext cx="34747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cxnSp>
        <p:nvCxnSpPr>
          <p:cNvPr id="18" name="!!actor-pipe-edge-3"/>
          <p:cNvCxnSpPr/>
          <p:nvPr/>
        </p:nvCxnSpPr>
        <p:spPr>
          <a:xfrm>
            <a:off x="9162288" y="3172968"/>
            <a:ext cx="43891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sp>
        <p:nvSpPr>
          <p:cNvPr id="19" name="!!actor-pipe-0"/>
          <p:cNvSpPr/>
          <p:nvPr/>
        </p:nvSpPr>
        <p:spPr>
          <a:xfrm>
            <a:off x="59436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ctor-pipe-label-0"/>
          <p:cNvSpPr txBox="1"/>
          <p:nvPr/>
        </p:nvSpPr>
        <p:spPr>
          <a:xfrm>
            <a:off x="66751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Bản ghi</a:t>
            </a:r>
          </a:p>
          <a:p>
            <a:pPr algn="ctr">
              <a:spcAft>
                <a:spcPts val="500"/>
              </a:spcAft>
              <a:defRPr sz="1800" b="1">
                <a:solidFill>
                  <a:srgbClr val="FFFFFF"/>
                </a:solidFill>
                <a:latin typeface="Aptos"/>
              </a:defRPr>
            </a:pPr>
            <a:r>
              <a:t>lưu lượng</a:t>
            </a:r>
          </a:p>
        </p:txBody>
      </p:sp>
      <p:sp>
        <p:nvSpPr>
          <p:cNvPr id="21" name="!!actor-pipe-1"/>
          <p:cNvSpPr/>
          <p:nvPr/>
        </p:nvSpPr>
        <p:spPr>
          <a:xfrm>
            <a:off x="283464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ctor-pipe-label-1"/>
          <p:cNvSpPr txBox="1"/>
          <p:nvPr/>
        </p:nvSpPr>
        <p:spPr>
          <a:xfrm>
            <a:off x="290779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Đặc trưng</a:t>
            </a:r>
          </a:p>
          <a:p>
            <a:pPr algn="ctr">
              <a:spcAft>
                <a:spcPts val="500"/>
              </a:spcAft>
              <a:defRPr sz="1800" b="1">
                <a:solidFill>
                  <a:srgbClr val="FFFFFF"/>
                </a:solidFill>
                <a:latin typeface="Aptos"/>
              </a:defRPr>
            </a:pPr>
            <a:r>
              <a:t>42 / 17 biến</a:t>
            </a:r>
          </a:p>
        </p:txBody>
      </p:sp>
      <p:sp>
        <p:nvSpPr>
          <p:cNvPr id="23" name="!!actor-pipe-2"/>
          <p:cNvSpPr/>
          <p:nvPr/>
        </p:nvSpPr>
        <p:spPr>
          <a:xfrm>
            <a:off x="5074920" y="2743200"/>
            <a:ext cx="1847088" cy="91440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actor-pipe-label-2"/>
          <p:cNvSpPr txBox="1"/>
          <p:nvPr/>
        </p:nvSpPr>
        <p:spPr>
          <a:xfrm>
            <a:off x="5148072" y="2898648"/>
            <a:ext cx="1700784" cy="685800"/>
          </a:xfrm>
          <a:prstGeom prst="rect">
            <a:avLst/>
          </a:prstGeom>
          <a:noFill/>
        </p:spPr>
        <p:txBody>
          <a:bodyPr wrap="square" lIns="0" tIns="0" rIns="0" bIns="0">
            <a:spAutoFit/>
          </a:bodyPr>
          <a:lstStyle/>
          <a:p>
            <a:pPr algn="ctr">
              <a:spcAft>
                <a:spcPts val="500"/>
              </a:spcAft>
              <a:defRPr sz="1800" b="1">
                <a:solidFill>
                  <a:srgbClr val="526A81"/>
                </a:solidFill>
                <a:latin typeface="Aptos"/>
              </a:defRPr>
            </a:pPr>
            <a:r>
              <a:t>LR · DT · RF</a:t>
            </a:r>
          </a:p>
        </p:txBody>
      </p:sp>
      <p:sp>
        <p:nvSpPr>
          <p:cNvPr id="25" name="!!actor-pipe-3"/>
          <p:cNvSpPr/>
          <p:nvPr/>
        </p:nvSpPr>
        <p:spPr>
          <a:xfrm>
            <a:off x="7315200" y="2743200"/>
            <a:ext cx="1847088" cy="91440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actor-pipe-label-3"/>
          <p:cNvSpPr txBox="1"/>
          <p:nvPr/>
        </p:nvSpPr>
        <p:spPr>
          <a:xfrm>
            <a:off x="7388352" y="2898648"/>
            <a:ext cx="1700784" cy="685800"/>
          </a:xfrm>
          <a:prstGeom prst="rect">
            <a:avLst/>
          </a:prstGeom>
          <a:noFill/>
        </p:spPr>
        <p:txBody>
          <a:bodyPr wrap="square" lIns="0" tIns="0" rIns="0" bIns="0">
            <a:spAutoFit/>
          </a:bodyPr>
          <a:lstStyle/>
          <a:p>
            <a:pPr algn="ctr">
              <a:spcAft>
                <a:spcPts val="500"/>
              </a:spcAft>
              <a:defRPr sz="1800" b="1">
                <a:solidFill>
                  <a:srgbClr val="526A81"/>
                </a:solidFill>
                <a:latin typeface="Aptos"/>
              </a:defRPr>
            </a:pPr>
            <a:r>
              <a:t>Kết hợp</a:t>
            </a:r>
          </a:p>
          <a:p>
            <a:pPr algn="ctr">
              <a:spcAft>
                <a:spcPts val="500"/>
              </a:spcAft>
              <a:defRPr sz="1800" b="1">
                <a:solidFill>
                  <a:srgbClr val="526A81"/>
                </a:solidFill>
                <a:latin typeface="Aptos"/>
              </a:defRPr>
            </a:pPr>
            <a:r>
              <a:t>Voting / Stack</a:t>
            </a:r>
          </a:p>
        </p:txBody>
      </p:sp>
      <p:sp>
        <p:nvSpPr>
          <p:cNvPr id="27" name="!!actor-pipe-4"/>
          <p:cNvSpPr/>
          <p:nvPr/>
        </p:nvSpPr>
        <p:spPr>
          <a:xfrm>
            <a:off x="9646920" y="2743200"/>
            <a:ext cx="1847088" cy="91440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ctor-pipe-label-4"/>
          <p:cNvSpPr txBox="1"/>
          <p:nvPr/>
        </p:nvSpPr>
        <p:spPr>
          <a:xfrm>
            <a:off x="9720072" y="2898648"/>
            <a:ext cx="1700784" cy="685800"/>
          </a:xfrm>
          <a:prstGeom prst="rect">
            <a:avLst/>
          </a:prstGeom>
          <a:noFill/>
        </p:spPr>
        <p:txBody>
          <a:bodyPr wrap="square" lIns="0" tIns="0" rIns="0" bIns="0">
            <a:spAutoFit/>
          </a:bodyPr>
          <a:lstStyle/>
          <a:p>
            <a:pPr algn="ctr">
              <a:spcAft>
                <a:spcPts val="500"/>
              </a:spcAft>
              <a:defRPr sz="1800" b="1">
                <a:solidFill>
                  <a:srgbClr val="526A81"/>
                </a:solidFill>
                <a:latin typeface="Aptos"/>
              </a:defRPr>
            </a:pPr>
            <a:r>
              <a:t>Normal</a:t>
            </a:r>
          </a:p>
          <a:p>
            <a:pPr algn="ctr">
              <a:spcAft>
                <a:spcPts val="500"/>
              </a:spcAft>
              <a:defRPr sz="1800" b="1">
                <a:solidFill>
                  <a:srgbClr val="526A81"/>
                </a:solidFill>
                <a:latin typeface="Aptos"/>
              </a:defRPr>
            </a:pPr>
            <a:r>
              <a:t>hoặc Attack</a:t>
            </a:r>
          </a:p>
        </p:txBody>
      </p:sp>
      <p:sp>
        <p:nvSpPr>
          <p:cNvPr id="29" name="!!actor-flow-record"/>
          <p:cNvSpPr/>
          <p:nvPr/>
        </p:nvSpPr>
        <p:spPr>
          <a:xfrm>
            <a:off x="3383280" y="2185416"/>
            <a:ext cx="219456" cy="219456"/>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actor-flow-pointer"/>
          <p:cNvCxnSpPr/>
          <p:nvPr/>
        </p:nvCxnSpPr>
        <p:spPr>
          <a:xfrm>
            <a:off x="3493008" y="2404872"/>
            <a:ext cx="0" cy="283464"/>
          </a:xfrm>
          <a:prstGeom prst="line">
            <a:avLst/>
          </a:prstGeom>
          <a:ln w="25400">
            <a:solidFill>
              <a:srgbClr val="139DCB"/>
            </a:solidFill>
            <a:tailEnd type="triangle"/>
          </a:ln>
        </p:spPr>
        <p:style>
          <a:lnRef idx="2">
            <a:schemeClr val="accent1"/>
          </a:lnRef>
          <a:fillRef idx="0">
            <a:schemeClr val="accent1"/>
          </a:fillRef>
          <a:effectRef idx="1">
            <a:schemeClr val="accent1"/>
          </a:effectRef>
          <a:fontRef idx="minor">
            <a:schemeClr val="tx1"/>
          </a:fontRef>
        </p:style>
      </p:cxnSp>
      <p:sp>
        <p:nvSpPr>
          <p:cNvPr id="31" name="Text 30"/>
          <p:cNvSpPr txBox="1"/>
          <p:nvPr/>
        </p:nvSpPr>
        <p:spPr>
          <a:xfrm>
            <a:off x="640080" y="4251960"/>
            <a:ext cx="10881360" cy="502920"/>
          </a:xfrm>
          <a:prstGeom prst="rect">
            <a:avLst/>
          </a:prstGeom>
          <a:noFill/>
        </p:spPr>
        <p:txBody>
          <a:bodyPr wrap="square" lIns="0" tIns="0" rIns="0" bIns="0">
            <a:spAutoFit/>
          </a:bodyPr>
          <a:lstStyle/>
          <a:p>
            <a:pPr>
              <a:spcAft>
                <a:spcPts val="500"/>
              </a:spcAft>
              <a:defRPr sz="2400" b="1">
                <a:solidFill>
                  <a:srgbClr val="0D3560"/>
                </a:solidFill>
                <a:latin typeface="Aptos"/>
              </a:defRPr>
            </a:pPr>
            <a:r>
              <a:t>Loại id, label, attack_cat khỏi predictor</a:t>
            </a:r>
          </a:p>
        </p:txBody>
      </p:sp>
      <p:sp>
        <p:nvSpPr>
          <p:cNvPr id="32" name="Text 31"/>
          <p:cNvSpPr txBox="1"/>
          <p:nvPr/>
        </p:nvSpPr>
        <p:spPr>
          <a:xfrm>
            <a:off x="640080" y="4983480"/>
            <a:ext cx="10881360" cy="457200"/>
          </a:xfrm>
          <a:prstGeom prst="rect">
            <a:avLst/>
          </a:prstGeom>
          <a:noFill/>
        </p:spPr>
        <p:txBody>
          <a:bodyPr wrap="square" lIns="0" tIns="0" rIns="0" bIns="0">
            <a:spAutoFit/>
          </a:bodyPr>
          <a:lstStyle/>
          <a:p>
            <a:pPr>
              <a:spcAft>
                <a:spcPts val="500"/>
              </a:spcAft>
              <a:defRPr sz="2000" b="0">
                <a:solidFill>
                  <a:srgbClr val="526A81"/>
                </a:solidFill>
                <a:latin typeface="Aptos"/>
              </a:defRPr>
            </a:pPr>
            <a:r>
              <a:t>One-hot: proto / service / state   •   Nhánh LR có chuẩn hóa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4100">
        <p159:morph option="byObject"/>
      </p:transition>
    </mc:Choice>
    <mc:Fallback>
      <p:transition spd="slow" advTm="141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6-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Các mô hình nhận cùng một bản ghi</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06</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36210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actor-pipe-edge-0"/>
          <p:cNvCxnSpPr/>
          <p:nvPr/>
        </p:nvCxnSpPr>
        <p:spPr>
          <a:xfrm>
            <a:off x="2441448" y="3172968"/>
            <a:ext cx="347472" cy="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6" name="!!actor-pipe-edge-1"/>
          <p:cNvCxnSpPr/>
          <p:nvPr/>
        </p:nvCxnSpPr>
        <p:spPr>
          <a:xfrm>
            <a:off x="4681728" y="3172968"/>
            <a:ext cx="347472" cy="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7" name="!!actor-pipe-edge-2"/>
          <p:cNvCxnSpPr/>
          <p:nvPr/>
        </p:nvCxnSpPr>
        <p:spPr>
          <a:xfrm>
            <a:off x="6922008" y="3172968"/>
            <a:ext cx="34747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cxnSp>
        <p:nvCxnSpPr>
          <p:cNvPr id="18" name="!!actor-pipe-edge-3"/>
          <p:cNvCxnSpPr/>
          <p:nvPr/>
        </p:nvCxnSpPr>
        <p:spPr>
          <a:xfrm>
            <a:off x="9162288" y="3172968"/>
            <a:ext cx="43891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sp>
        <p:nvSpPr>
          <p:cNvPr id="19" name="!!actor-pipe-0"/>
          <p:cNvSpPr/>
          <p:nvPr/>
        </p:nvSpPr>
        <p:spPr>
          <a:xfrm>
            <a:off x="59436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ctor-pipe-label-0"/>
          <p:cNvSpPr txBox="1"/>
          <p:nvPr/>
        </p:nvSpPr>
        <p:spPr>
          <a:xfrm>
            <a:off x="66751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Bản ghi</a:t>
            </a:r>
          </a:p>
          <a:p>
            <a:pPr algn="ctr">
              <a:spcAft>
                <a:spcPts val="500"/>
              </a:spcAft>
              <a:defRPr sz="1800" b="1">
                <a:solidFill>
                  <a:srgbClr val="FFFFFF"/>
                </a:solidFill>
                <a:latin typeface="Aptos"/>
              </a:defRPr>
            </a:pPr>
            <a:r>
              <a:t>lưu lượng</a:t>
            </a:r>
          </a:p>
        </p:txBody>
      </p:sp>
      <p:sp>
        <p:nvSpPr>
          <p:cNvPr id="21" name="!!actor-pipe-1"/>
          <p:cNvSpPr/>
          <p:nvPr/>
        </p:nvSpPr>
        <p:spPr>
          <a:xfrm>
            <a:off x="283464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ctor-pipe-label-1"/>
          <p:cNvSpPr txBox="1"/>
          <p:nvPr/>
        </p:nvSpPr>
        <p:spPr>
          <a:xfrm>
            <a:off x="290779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Đặc trưng</a:t>
            </a:r>
          </a:p>
          <a:p>
            <a:pPr algn="ctr">
              <a:spcAft>
                <a:spcPts val="500"/>
              </a:spcAft>
              <a:defRPr sz="1800" b="1">
                <a:solidFill>
                  <a:srgbClr val="FFFFFF"/>
                </a:solidFill>
                <a:latin typeface="Aptos"/>
              </a:defRPr>
            </a:pPr>
            <a:r>
              <a:t>42 / 17 biến</a:t>
            </a:r>
          </a:p>
        </p:txBody>
      </p:sp>
      <p:sp>
        <p:nvSpPr>
          <p:cNvPr id="23" name="!!actor-pipe-2"/>
          <p:cNvSpPr/>
          <p:nvPr/>
        </p:nvSpPr>
        <p:spPr>
          <a:xfrm>
            <a:off x="507492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actor-pipe-label-2"/>
          <p:cNvSpPr txBox="1"/>
          <p:nvPr/>
        </p:nvSpPr>
        <p:spPr>
          <a:xfrm>
            <a:off x="514807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LR · DT · RF</a:t>
            </a:r>
          </a:p>
        </p:txBody>
      </p:sp>
      <p:sp>
        <p:nvSpPr>
          <p:cNvPr id="25" name="!!actor-pipe-3"/>
          <p:cNvSpPr/>
          <p:nvPr/>
        </p:nvSpPr>
        <p:spPr>
          <a:xfrm>
            <a:off x="7315200" y="2743200"/>
            <a:ext cx="1847088" cy="91440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actor-pipe-label-3"/>
          <p:cNvSpPr txBox="1"/>
          <p:nvPr/>
        </p:nvSpPr>
        <p:spPr>
          <a:xfrm>
            <a:off x="7388352" y="2898648"/>
            <a:ext cx="1700784" cy="685800"/>
          </a:xfrm>
          <a:prstGeom prst="rect">
            <a:avLst/>
          </a:prstGeom>
          <a:noFill/>
        </p:spPr>
        <p:txBody>
          <a:bodyPr wrap="square" lIns="0" tIns="0" rIns="0" bIns="0">
            <a:spAutoFit/>
          </a:bodyPr>
          <a:lstStyle/>
          <a:p>
            <a:pPr algn="ctr">
              <a:spcAft>
                <a:spcPts val="500"/>
              </a:spcAft>
              <a:defRPr sz="1800" b="1">
                <a:solidFill>
                  <a:srgbClr val="526A81"/>
                </a:solidFill>
                <a:latin typeface="Aptos"/>
              </a:defRPr>
            </a:pPr>
            <a:r>
              <a:t>Kết hợp</a:t>
            </a:r>
          </a:p>
          <a:p>
            <a:pPr algn="ctr">
              <a:spcAft>
                <a:spcPts val="500"/>
              </a:spcAft>
              <a:defRPr sz="1800" b="1">
                <a:solidFill>
                  <a:srgbClr val="526A81"/>
                </a:solidFill>
                <a:latin typeface="Aptos"/>
              </a:defRPr>
            </a:pPr>
            <a:r>
              <a:t>Voting / Stack</a:t>
            </a:r>
          </a:p>
        </p:txBody>
      </p:sp>
      <p:sp>
        <p:nvSpPr>
          <p:cNvPr id="27" name="!!actor-pipe-4"/>
          <p:cNvSpPr/>
          <p:nvPr/>
        </p:nvSpPr>
        <p:spPr>
          <a:xfrm>
            <a:off x="9646920" y="2743200"/>
            <a:ext cx="1847088" cy="914400"/>
          </a:xfrm>
          <a:prstGeom prst="rect">
            <a:avLst/>
          </a:prstGeom>
          <a:solidFill>
            <a:srgbClr val="EF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ctor-pipe-label-4"/>
          <p:cNvSpPr txBox="1"/>
          <p:nvPr/>
        </p:nvSpPr>
        <p:spPr>
          <a:xfrm>
            <a:off x="9720072" y="2898648"/>
            <a:ext cx="1700784" cy="685800"/>
          </a:xfrm>
          <a:prstGeom prst="rect">
            <a:avLst/>
          </a:prstGeom>
          <a:noFill/>
        </p:spPr>
        <p:txBody>
          <a:bodyPr wrap="square" lIns="0" tIns="0" rIns="0" bIns="0">
            <a:spAutoFit/>
          </a:bodyPr>
          <a:lstStyle/>
          <a:p>
            <a:pPr algn="ctr">
              <a:spcAft>
                <a:spcPts val="500"/>
              </a:spcAft>
              <a:defRPr sz="1800" b="1">
                <a:solidFill>
                  <a:srgbClr val="526A81"/>
                </a:solidFill>
                <a:latin typeface="Aptos"/>
              </a:defRPr>
            </a:pPr>
            <a:r>
              <a:t>Normal</a:t>
            </a:r>
          </a:p>
          <a:p>
            <a:pPr algn="ctr">
              <a:spcAft>
                <a:spcPts val="500"/>
              </a:spcAft>
              <a:defRPr sz="1800" b="1">
                <a:solidFill>
                  <a:srgbClr val="526A81"/>
                </a:solidFill>
                <a:latin typeface="Aptos"/>
              </a:defRPr>
            </a:pPr>
            <a:r>
              <a:t>hoặc Attack</a:t>
            </a:r>
          </a:p>
        </p:txBody>
      </p:sp>
      <p:sp>
        <p:nvSpPr>
          <p:cNvPr id="29" name="!!actor-flow-record"/>
          <p:cNvSpPr/>
          <p:nvPr/>
        </p:nvSpPr>
        <p:spPr>
          <a:xfrm>
            <a:off x="5577840" y="2185416"/>
            <a:ext cx="219456" cy="219456"/>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actor-flow-pointer"/>
          <p:cNvCxnSpPr/>
          <p:nvPr/>
        </p:nvCxnSpPr>
        <p:spPr>
          <a:xfrm>
            <a:off x="5687568" y="2404872"/>
            <a:ext cx="0" cy="283464"/>
          </a:xfrm>
          <a:prstGeom prst="line">
            <a:avLst/>
          </a:prstGeom>
          <a:ln w="25400">
            <a:solidFill>
              <a:srgbClr val="139DCB"/>
            </a:solidFill>
            <a:tailEnd type="triangle"/>
          </a:ln>
        </p:spPr>
        <p:style>
          <a:lnRef idx="2">
            <a:schemeClr val="accent1"/>
          </a:lnRef>
          <a:fillRef idx="0">
            <a:schemeClr val="accent1"/>
          </a:fillRef>
          <a:effectRef idx="1">
            <a:schemeClr val="accent1"/>
          </a:effectRef>
          <a:fontRef idx="minor">
            <a:schemeClr val="tx1"/>
          </a:fontRef>
        </p:style>
      </p:cxnSp>
      <p:sp>
        <p:nvSpPr>
          <p:cNvPr id="31" name="Text 30"/>
          <p:cNvSpPr txBox="1"/>
          <p:nvPr/>
        </p:nvSpPr>
        <p:spPr>
          <a:xfrm>
            <a:off x="640080" y="4251960"/>
            <a:ext cx="10881360" cy="502920"/>
          </a:xfrm>
          <a:prstGeom prst="rect">
            <a:avLst/>
          </a:prstGeom>
          <a:noFill/>
        </p:spPr>
        <p:txBody>
          <a:bodyPr wrap="square" lIns="0" tIns="0" rIns="0" bIns="0">
            <a:spAutoFit/>
          </a:bodyPr>
          <a:lstStyle/>
          <a:p>
            <a:pPr>
              <a:spcAft>
                <a:spcPts val="500"/>
              </a:spcAft>
              <a:defRPr sz="2400" b="1">
                <a:solidFill>
                  <a:srgbClr val="0D3560"/>
                </a:solidFill>
                <a:latin typeface="Aptos"/>
              </a:defRPr>
            </a:pPr>
            <a:r>
              <a:t>Preprocessing được fit trong phần huấn luyện</a:t>
            </a:r>
          </a:p>
        </p:txBody>
      </p:sp>
      <p:sp>
        <p:nvSpPr>
          <p:cNvPr id="32" name="Text 31"/>
          <p:cNvSpPr txBox="1"/>
          <p:nvPr/>
        </p:nvSpPr>
        <p:spPr>
          <a:xfrm>
            <a:off x="640080" y="4937760"/>
            <a:ext cx="10881360" cy="594360"/>
          </a:xfrm>
          <a:prstGeom prst="rect">
            <a:avLst/>
          </a:prstGeom>
          <a:noFill/>
        </p:spPr>
        <p:txBody>
          <a:bodyPr wrap="square" lIns="0" tIns="0" rIns="0" bIns="0">
            <a:spAutoFit/>
          </a:bodyPr>
          <a:lstStyle/>
          <a:p>
            <a:pPr>
              <a:spcAft>
                <a:spcPts val="500"/>
              </a:spcAft>
              <a:defRPr sz="1800" b="0">
                <a:solidFill>
                  <a:srgbClr val="526A81"/>
                </a:solidFill>
                <a:latin typeface="Aptos"/>
              </a:defRPr>
            </a:pPr>
            <a:r>
              <a:t>Nhánh 17 biến lịch sử có selection bias trước CV; P21 chọn lại trong FIT.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4100">
        <p159:morph option="byObject"/>
      </p:transition>
    </mc:Choice>
    <mc:Fallback>
      <p:transition spd="slow" advTm="141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7-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Một quyết định tạo ra hai loại rủi ro</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07</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36210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actor-pipe-edge-0"/>
          <p:cNvCxnSpPr/>
          <p:nvPr/>
        </p:nvCxnSpPr>
        <p:spPr>
          <a:xfrm>
            <a:off x="2441448" y="3172968"/>
            <a:ext cx="347472" cy="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6" name="!!actor-pipe-edge-1"/>
          <p:cNvCxnSpPr/>
          <p:nvPr/>
        </p:nvCxnSpPr>
        <p:spPr>
          <a:xfrm>
            <a:off x="4681728" y="3172968"/>
            <a:ext cx="347472" cy="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7" name="!!actor-pipe-edge-2"/>
          <p:cNvCxnSpPr/>
          <p:nvPr/>
        </p:nvCxnSpPr>
        <p:spPr>
          <a:xfrm>
            <a:off x="6922008" y="3172968"/>
            <a:ext cx="347472" cy="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8" name="!!actor-pipe-edge-3"/>
          <p:cNvCxnSpPr/>
          <p:nvPr/>
        </p:nvCxnSpPr>
        <p:spPr>
          <a:xfrm>
            <a:off x="9162288" y="3172968"/>
            <a:ext cx="438912" cy="0"/>
          </a:xfrm>
          <a:prstGeom prst="line">
            <a:avLst/>
          </a:prstGeom>
          <a:ln w="25400">
            <a:solidFill>
              <a:srgbClr val="D6E7F5"/>
            </a:solidFill>
            <a:tailEnd type="triangle"/>
          </a:ln>
        </p:spPr>
        <p:style>
          <a:lnRef idx="2">
            <a:schemeClr val="accent1"/>
          </a:lnRef>
          <a:fillRef idx="0">
            <a:schemeClr val="accent1"/>
          </a:fillRef>
          <a:effectRef idx="1">
            <a:schemeClr val="accent1"/>
          </a:effectRef>
          <a:fontRef idx="minor">
            <a:schemeClr val="tx1"/>
          </a:fontRef>
        </p:style>
      </p:cxnSp>
      <p:sp>
        <p:nvSpPr>
          <p:cNvPr id="19" name="!!actor-pipe-0"/>
          <p:cNvSpPr/>
          <p:nvPr/>
        </p:nvSpPr>
        <p:spPr>
          <a:xfrm>
            <a:off x="59436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ctor-pipe-label-0"/>
          <p:cNvSpPr txBox="1"/>
          <p:nvPr/>
        </p:nvSpPr>
        <p:spPr>
          <a:xfrm>
            <a:off x="66751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Bản ghi</a:t>
            </a:r>
          </a:p>
          <a:p>
            <a:pPr algn="ctr">
              <a:spcAft>
                <a:spcPts val="500"/>
              </a:spcAft>
              <a:defRPr sz="1800" b="1">
                <a:solidFill>
                  <a:srgbClr val="FFFFFF"/>
                </a:solidFill>
                <a:latin typeface="Aptos"/>
              </a:defRPr>
            </a:pPr>
            <a:r>
              <a:t>lưu lượng</a:t>
            </a:r>
          </a:p>
        </p:txBody>
      </p:sp>
      <p:sp>
        <p:nvSpPr>
          <p:cNvPr id="21" name="!!actor-pipe-1"/>
          <p:cNvSpPr/>
          <p:nvPr/>
        </p:nvSpPr>
        <p:spPr>
          <a:xfrm>
            <a:off x="283464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ctor-pipe-label-1"/>
          <p:cNvSpPr txBox="1"/>
          <p:nvPr/>
        </p:nvSpPr>
        <p:spPr>
          <a:xfrm>
            <a:off x="290779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Đặc trưng</a:t>
            </a:r>
          </a:p>
          <a:p>
            <a:pPr algn="ctr">
              <a:spcAft>
                <a:spcPts val="500"/>
              </a:spcAft>
              <a:defRPr sz="1800" b="1">
                <a:solidFill>
                  <a:srgbClr val="FFFFFF"/>
                </a:solidFill>
                <a:latin typeface="Aptos"/>
              </a:defRPr>
            </a:pPr>
            <a:r>
              <a:t>42 / 17 biến</a:t>
            </a:r>
          </a:p>
        </p:txBody>
      </p:sp>
      <p:sp>
        <p:nvSpPr>
          <p:cNvPr id="23" name="!!actor-pipe-2"/>
          <p:cNvSpPr/>
          <p:nvPr/>
        </p:nvSpPr>
        <p:spPr>
          <a:xfrm>
            <a:off x="507492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actor-pipe-label-2"/>
          <p:cNvSpPr txBox="1"/>
          <p:nvPr/>
        </p:nvSpPr>
        <p:spPr>
          <a:xfrm>
            <a:off x="514807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LR · DT · RF</a:t>
            </a:r>
          </a:p>
        </p:txBody>
      </p:sp>
      <p:sp>
        <p:nvSpPr>
          <p:cNvPr id="25" name="!!actor-pipe-3"/>
          <p:cNvSpPr/>
          <p:nvPr/>
        </p:nvSpPr>
        <p:spPr>
          <a:xfrm>
            <a:off x="731520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actor-pipe-label-3"/>
          <p:cNvSpPr txBox="1"/>
          <p:nvPr/>
        </p:nvSpPr>
        <p:spPr>
          <a:xfrm>
            <a:off x="738835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Kết hợp</a:t>
            </a:r>
          </a:p>
          <a:p>
            <a:pPr algn="ctr">
              <a:spcAft>
                <a:spcPts val="500"/>
              </a:spcAft>
              <a:defRPr sz="1800" b="1">
                <a:solidFill>
                  <a:srgbClr val="FFFFFF"/>
                </a:solidFill>
                <a:latin typeface="Aptos"/>
              </a:defRPr>
            </a:pPr>
            <a:r>
              <a:t>Voting / Stack</a:t>
            </a:r>
          </a:p>
        </p:txBody>
      </p:sp>
      <p:sp>
        <p:nvSpPr>
          <p:cNvPr id="27" name="!!actor-pipe-4"/>
          <p:cNvSpPr/>
          <p:nvPr/>
        </p:nvSpPr>
        <p:spPr>
          <a:xfrm>
            <a:off x="9646920" y="2743200"/>
            <a:ext cx="1847088"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ctor-pipe-label-4"/>
          <p:cNvSpPr txBox="1"/>
          <p:nvPr/>
        </p:nvSpPr>
        <p:spPr>
          <a:xfrm>
            <a:off x="9720072" y="2898648"/>
            <a:ext cx="1700784" cy="685800"/>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Normal</a:t>
            </a:r>
          </a:p>
          <a:p>
            <a:pPr algn="ctr">
              <a:spcAft>
                <a:spcPts val="500"/>
              </a:spcAft>
              <a:defRPr sz="1800" b="1">
                <a:solidFill>
                  <a:srgbClr val="FFFFFF"/>
                </a:solidFill>
                <a:latin typeface="Aptos"/>
              </a:defRPr>
            </a:pPr>
            <a:r>
              <a:t>hoặc Attack</a:t>
            </a:r>
          </a:p>
        </p:txBody>
      </p:sp>
      <p:sp>
        <p:nvSpPr>
          <p:cNvPr id="29" name="!!actor-flow-record"/>
          <p:cNvSpPr/>
          <p:nvPr/>
        </p:nvSpPr>
        <p:spPr>
          <a:xfrm>
            <a:off x="10149840" y="2185416"/>
            <a:ext cx="219456" cy="219456"/>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actor-flow-pointer"/>
          <p:cNvCxnSpPr/>
          <p:nvPr/>
        </p:nvCxnSpPr>
        <p:spPr>
          <a:xfrm>
            <a:off x="10259567" y="2404872"/>
            <a:ext cx="0" cy="283464"/>
          </a:xfrm>
          <a:prstGeom prst="line">
            <a:avLst/>
          </a:prstGeom>
          <a:ln w="25400">
            <a:solidFill>
              <a:srgbClr val="139DCB"/>
            </a:solidFill>
            <a:tailEnd type="triangle"/>
          </a:ln>
        </p:spPr>
        <p:style>
          <a:lnRef idx="2">
            <a:schemeClr val="accent1"/>
          </a:lnRef>
          <a:fillRef idx="0">
            <a:schemeClr val="accent1"/>
          </a:fillRef>
          <a:effectRef idx="1">
            <a:schemeClr val="accent1"/>
          </a:effectRef>
          <a:fontRef idx="minor">
            <a:schemeClr val="tx1"/>
          </a:fontRef>
        </p:style>
      </p:cxnSp>
      <p:sp>
        <p:nvSpPr>
          <p:cNvPr id="31" name="Text 30"/>
          <p:cNvSpPr txBox="1"/>
          <p:nvPr/>
        </p:nvSpPr>
        <p:spPr>
          <a:xfrm>
            <a:off x="640080" y="4251960"/>
            <a:ext cx="10881360" cy="502920"/>
          </a:xfrm>
          <a:prstGeom prst="rect">
            <a:avLst/>
          </a:prstGeom>
          <a:noFill/>
        </p:spPr>
        <p:txBody>
          <a:bodyPr wrap="square" lIns="0" tIns="0" rIns="0" bIns="0">
            <a:spAutoFit/>
          </a:bodyPr>
          <a:lstStyle/>
          <a:p>
            <a:pPr>
              <a:spcAft>
                <a:spcPts val="500"/>
              </a:spcAft>
              <a:defRPr sz="2400" b="1">
                <a:solidFill>
                  <a:srgbClr val="0D3560"/>
                </a:solidFill>
                <a:latin typeface="Aptos"/>
              </a:defRPr>
            </a:pPr>
            <a:r>
              <a:t>Ngưỡng 0,5 đã khóa   →   Attack là lớp dương</a:t>
            </a:r>
          </a:p>
        </p:txBody>
      </p:sp>
      <p:sp>
        <p:nvSpPr>
          <p:cNvPr id="32" name="Text 31"/>
          <p:cNvSpPr txBox="1"/>
          <p:nvPr/>
        </p:nvSpPr>
        <p:spPr>
          <a:xfrm>
            <a:off x="640080" y="4983480"/>
            <a:ext cx="10881360" cy="457200"/>
          </a:xfrm>
          <a:prstGeom prst="rect">
            <a:avLst/>
          </a:prstGeom>
          <a:noFill/>
        </p:spPr>
        <p:txBody>
          <a:bodyPr wrap="square" lIns="0" tIns="0" rIns="0" bIns="0">
            <a:spAutoFit/>
          </a:bodyPr>
          <a:lstStyle/>
          <a:p>
            <a:pPr>
              <a:spcAft>
                <a:spcPts val="500"/>
              </a:spcAft>
              <a:defRPr sz="2200" b="0">
                <a:solidFill>
                  <a:srgbClr val="526A81"/>
                </a:solidFill>
                <a:latin typeface="Aptos"/>
              </a:defRPr>
            </a:pPr>
            <a:r>
              <a:t>FP: Normal → Attack                  FN: Attack → Normal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4100">
        <p159:morph option="byObject"/>
      </p:transition>
    </mc:Choice>
    <mc:Fallback>
      <p:transition spd="slow" advTm="141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8-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Random Forest đã là một ensemble mạnh</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08</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517550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ctor-tree0-0"/>
          <p:cNvSpPr/>
          <p:nvPr/>
        </p:nvSpPr>
        <p:spPr>
          <a:xfrm>
            <a:off x="1773936" y="2185416"/>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flipH="1">
            <a:off x="1426464"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17" name="!!actor-tree0-1"/>
          <p:cNvSpPr/>
          <p:nvPr/>
        </p:nvSpPr>
        <p:spPr>
          <a:xfrm>
            <a:off x="1371600"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1828800"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19" name="!!actor-tree0-2"/>
          <p:cNvSpPr/>
          <p:nvPr/>
        </p:nvSpPr>
        <p:spPr>
          <a:xfrm>
            <a:off x="2176272"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H="1">
            <a:off x="1205179" y="2692908"/>
            <a:ext cx="221285"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21" name="!!actor-tree0-3"/>
          <p:cNvSpPr/>
          <p:nvPr/>
        </p:nvSpPr>
        <p:spPr>
          <a:xfrm>
            <a:off x="1150315"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1426464"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23" name="!!actor-tree0-4"/>
          <p:cNvSpPr/>
          <p:nvPr/>
        </p:nvSpPr>
        <p:spPr>
          <a:xfrm>
            <a:off x="159288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flipH="1">
            <a:off x="2029968" y="2692908"/>
            <a:ext cx="201168"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25" name="!!actor-tree0-5"/>
          <p:cNvSpPr/>
          <p:nvPr/>
        </p:nvSpPr>
        <p:spPr>
          <a:xfrm>
            <a:off x="197510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2231136"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27" name="!!actor-tree0-6"/>
          <p:cNvSpPr/>
          <p:nvPr/>
        </p:nvSpPr>
        <p:spPr>
          <a:xfrm>
            <a:off x="2397556"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a:off x="1828800" y="3383280"/>
            <a:ext cx="3657600" cy="822960"/>
          </a:xfrm>
          <a:prstGeom prst="line">
            <a:avLst/>
          </a:prstGeom>
          <a:ln w="1905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29" name="!!actor-tree1-0"/>
          <p:cNvSpPr/>
          <p:nvPr/>
        </p:nvSpPr>
        <p:spPr>
          <a:xfrm>
            <a:off x="3602736" y="2185416"/>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H="1">
            <a:off x="3255264"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31" name="!!actor-tree1-1"/>
          <p:cNvSpPr/>
          <p:nvPr/>
        </p:nvSpPr>
        <p:spPr>
          <a:xfrm>
            <a:off x="3200400"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a:off x="3657600"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33" name="!!actor-tree1-2"/>
          <p:cNvSpPr/>
          <p:nvPr/>
        </p:nvSpPr>
        <p:spPr>
          <a:xfrm>
            <a:off x="4005072"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flipH="1">
            <a:off x="3033979" y="2692908"/>
            <a:ext cx="221285"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35" name="!!actor-tree1-3"/>
          <p:cNvSpPr/>
          <p:nvPr/>
        </p:nvSpPr>
        <p:spPr>
          <a:xfrm>
            <a:off x="2979115"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a:off x="3255264"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37" name="!!actor-tree1-4"/>
          <p:cNvSpPr/>
          <p:nvPr/>
        </p:nvSpPr>
        <p:spPr>
          <a:xfrm>
            <a:off x="342168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3858768" y="2692908"/>
            <a:ext cx="201168"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39" name="!!actor-tree1-5"/>
          <p:cNvSpPr/>
          <p:nvPr/>
        </p:nvSpPr>
        <p:spPr>
          <a:xfrm>
            <a:off x="380390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0" name="Connector 39"/>
          <p:cNvCxnSpPr/>
          <p:nvPr/>
        </p:nvCxnSpPr>
        <p:spPr>
          <a:xfrm>
            <a:off x="4059936"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41" name="!!actor-tree1-6"/>
          <p:cNvSpPr/>
          <p:nvPr/>
        </p:nvSpPr>
        <p:spPr>
          <a:xfrm>
            <a:off x="4226356"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a:off x="3657600" y="3383280"/>
            <a:ext cx="1828800" cy="822960"/>
          </a:xfrm>
          <a:prstGeom prst="line">
            <a:avLst/>
          </a:prstGeom>
          <a:ln w="1905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43" name="!!actor-tree2-0"/>
          <p:cNvSpPr/>
          <p:nvPr/>
        </p:nvSpPr>
        <p:spPr>
          <a:xfrm>
            <a:off x="5431536" y="2185416"/>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4" name="Connector 43"/>
          <p:cNvCxnSpPr/>
          <p:nvPr/>
        </p:nvCxnSpPr>
        <p:spPr>
          <a:xfrm flipH="1">
            <a:off x="5084064"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45" name="!!actor-tree2-1"/>
          <p:cNvSpPr/>
          <p:nvPr/>
        </p:nvSpPr>
        <p:spPr>
          <a:xfrm>
            <a:off x="5029200"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Connector 45"/>
          <p:cNvCxnSpPr/>
          <p:nvPr/>
        </p:nvCxnSpPr>
        <p:spPr>
          <a:xfrm>
            <a:off x="5486400"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47" name="!!actor-tree2-2"/>
          <p:cNvSpPr/>
          <p:nvPr/>
        </p:nvSpPr>
        <p:spPr>
          <a:xfrm>
            <a:off x="5833872"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H="1">
            <a:off x="4862779" y="2692908"/>
            <a:ext cx="221285"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49" name="!!actor-tree2-3"/>
          <p:cNvSpPr/>
          <p:nvPr/>
        </p:nvSpPr>
        <p:spPr>
          <a:xfrm>
            <a:off x="4807915"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a:off x="5084064"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51" name="!!actor-tree2-4"/>
          <p:cNvSpPr/>
          <p:nvPr/>
        </p:nvSpPr>
        <p:spPr>
          <a:xfrm>
            <a:off x="525048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flipH="1">
            <a:off x="5687568" y="2692908"/>
            <a:ext cx="201168"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53" name="!!actor-tree2-5"/>
          <p:cNvSpPr/>
          <p:nvPr/>
        </p:nvSpPr>
        <p:spPr>
          <a:xfrm>
            <a:off x="563270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a:off x="5888736"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55" name="!!actor-tree2-6"/>
          <p:cNvSpPr/>
          <p:nvPr/>
        </p:nvSpPr>
        <p:spPr>
          <a:xfrm>
            <a:off x="6055156"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6" name="Connector 55"/>
          <p:cNvCxnSpPr/>
          <p:nvPr/>
        </p:nvCxnSpPr>
        <p:spPr>
          <a:xfrm>
            <a:off x="5486400" y="3383280"/>
            <a:ext cx="0" cy="822960"/>
          </a:xfrm>
          <a:prstGeom prst="line">
            <a:avLst/>
          </a:prstGeom>
          <a:ln w="1905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57" name="!!actor-tree3-0"/>
          <p:cNvSpPr/>
          <p:nvPr/>
        </p:nvSpPr>
        <p:spPr>
          <a:xfrm>
            <a:off x="7260336" y="2185416"/>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8" name="Connector 57"/>
          <p:cNvCxnSpPr/>
          <p:nvPr/>
        </p:nvCxnSpPr>
        <p:spPr>
          <a:xfrm flipH="1">
            <a:off x="6912864"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59" name="!!actor-tree3-1"/>
          <p:cNvSpPr/>
          <p:nvPr/>
        </p:nvSpPr>
        <p:spPr>
          <a:xfrm>
            <a:off x="6858000"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7315200"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61" name="!!actor-tree3-2"/>
          <p:cNvSpPr/>
          <p:nvPr/>
        </p:nvSpPr>
        <p:spPr>
          <a:xfrm>
            <a:off x="7662671"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2" name="Connector 61"/>
          <p:cNvCxnSpPr/>
          <p:nvPr/>
        </p:nvCxnSpPr>
        <p:spPr>
          <a:xfrm flipH="1">
            <a:off x="6691579" y="2692908"/>
            <a:ext cx="221285"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63" name="!!actor-tree3-3"/>
          <p:cNvSpPr/>
          <p:nvPr/>
        </p:nvSpPr>
        <p:spPr>
          <a:xfrm>
            <a:off x="6636715"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4" name="Connector 63"/>
          <p:cNvCxnSpPr/>
          <p:nvPr/>
        </p:nvCxnSpPr>
        <p:spPr>
          <a:xfrm>
            <a:off x="6912864"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65" name="!!actor-tree3-4"/>
          <p:cNvSpPr/>
          <p:nvPr/>
        </p:nvSpPr>
        <p:spPr>
          <a:xfrm>
            <a:off x="707928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flipH="1">
            <a:off x="7516368" y="2692908"/>
            <a:ext cx="201168"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67" name="!!actor-tree3-5"/>
          <p:cNvSpPr/>
          <p:nvPr/>
        </p:nvSpPr>
        <p:spPr>
          <a:xfrm>
            <a:off x="746150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8" name="Connector 67"/>
          <p:cNvCxnSpPr/>
          <p:nvPr/>
        </p:nvCxnSpPr>
        <p:spPr>
          <a:xfrm>
            <a:off x="7717536"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69" name="!!actor-tree3-6"/>
          <p:cNvSpPr/>
          <p:nvPr/>
        </p:nvSpPr>
        <p:spPr>
          <a:xfrm>
            <a:off x="7883956"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0" name="Connector 69"/>
          <p:cNvCxnSpPr/>
          <p:nvPr/>
        </p:nvCxnSpPr>
        <p:spPr>
          <a:xfrm flipH="1">
            <a:off x="5486400" y="3383280"/>
            <a:ext cx="1828800" cy="822960"/>
          </a:xfrm>
          <a:prstGeom prst="line">
            <a:avLst/>
          </a:prstGeom>
          <a:ln w="1905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71" name="!!actor-tree4-0"/>
          <p:cNvSpPr/>
          <p:nvPr/>
        </p:nvSpPr>
        <p:spPr>
          <a:xfrm>
            <a:off x="9089136" y="2185416"/>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2" name="Connector 71"/>
          <p:cNvCxnSpPr/>
          <p:nvPr/>
        </p:nvCxnSpPr>
        <p:spPr>
          <a:xfrm flipH="1">
            <a:off x="8741664"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73" name="!!actor-tree4-1"/>
          <p:cNvSpPr/>
          <p:nvPr/>
        </p:nvSpPr>
        <p:spPr>
          <a:xfrm>
            <a:off x="8686800"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Connector 73"/>
          <p:cNvCxnSpPr/>
          <p:nvPr/>
        </p:nvCxnSpPr>
        <p:spPr>
          <a:xfrm>
            <a:off x="9144000" y="2240280"/>
            <a:ext cx="402336"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75" name="!!actor-tree4-2"/>
          <p:cNvSpPr/>
          <p:nvPr/>
        </p:nvSpPr>
        <p:spPr>
          <a:xfrm>
            <a:off x="9491472" y="2638044"/>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6" name="Connector 75"/>
          <p:cNvCxnSpPr/>
          <p:nvPr/>
        </p:nvCxnSpPr>
        <p:spPr>
          <a:xfrm flipH="1">
            <a:off x="8520379" y="2692908"/>
            <a:ext cx="221285"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77" name="!!actor-tree4-3"/>
          <p:cNvSpPr/>
          <p:nvPr/>
        </p:nvSpPr>
        <p:spPr>
          <a:xfrm>
            <a:off x="8465515"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Connector 77"/>
          <p:cNvCxnSpPr/>
          <p:nvPr/>
        </p:nvCxnSpPr>
        <p:spPr>
          <a:xfrm>
            <a:off x="8741664"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79" name="!!actor-tree4-4"/>
          <p:cNvSpPr/>
          <p:nvPr/>
        </p:nvSpPr>
        <p:spPr>
          <a:xfrm>
            <a:off x="890808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0" name="Connector 79"/>
          <p:cNvCxnSpPr/>
          <p:nvPr/>
        </p:nvCxnSpPr>
        <p:spPr>
          <a:xfrm flipH="1">
            <a:off x="9345168" y="2692908"/>
            <a:ext cx="201168"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81" name="!!actor-tree4-5"/>
          <p:cNvSpPr/>
          <p:nvPr/>
        </p:nvSpPr>
        <p:spPr>
          <a:xfrm>
            <a:off x="9290304"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2" name="Connector 81"/>
          <p:cNvCxnSpPr/>
          <p:nvPr/>
        </p:nvCxnSpPr>
        <p:spPr>
          <a:xfrm>
            <a:off x="9546336" y="2692908"/>
            <a:ext cx="221284" cy="452628"/>
          </a:xfrm>
          <a:prstGeom prst="line">
            <a:avLst/>
          </a:prstGeom>
          <a:ln w="19050">
            <a:solidFill>
              <a:srgbClr val="1769AA"/>
            </a:solidFill>
          </a:ln>
        </p:spPr>
        <p:style>
          <a:lnRef idx="2">
            <a:schemeClr val="accent1"/>
          </a:lnRef>
          <a:fillRef idx="0">
            <a:schemeClr val="accent1"/>
          </a:fillRef>
          <a:effectRef idx="1">
            <a:schemeClr val="accent1"/>
          </a:effectRef>
          <a:fontRef idx="minor">
            <a:schemeClr val="tx1"/>
          </a:fontRef>
        </p:style>
      </p:cxnSp>
      <p:sp>
        <p:nvSpPr>
          <p:cNvPr id="83" name="!!actor-tree4-6"/>
          <p:cNvSpPr/>
          <p:nvPr/>
        </p:nvSpPr>
        <p:spPr>
          <a:xfrm>
            <a:off x="9712756" y="3090672"/>
            <a:ext cx="109728" cy="109728"/>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4" name="Connector 83"/>
          <p:cNvCxnSpPr/>
          <p:nvPr/>
        </p:nvCxnSpPr>
        <p:spPr>
          <a:xfrm flipH="1">
            <a:off x="5486400" y="3383280"/>
            <a:ext cx="3657600" cy="822960"/>
          </a:xfrm>
          <a:prstGeom prst="line">
            <a:avLst/>
          </a:prstGeom>
          <a:ln w="1905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3977639" y="4297680"/>
            <a:ext cx="3017520" cy="73152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 85"/>
          <p:cNvSpPr txBox="1"/>
          <p:nvPr/>
        </p:nvSpPr>
        <p:spPr>
          <a:xfrm>
            <a:off x="4087368" y="4434840"/>
            <a:ext cx="2798063" cy="566928"/>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Tổng hợp nhiều cây</a:t>
            </a:r>
          </a:p>
        </p:txBody>
      </p:sp>
      <p:sp>
        <p:nvSpPr>
          <p:cNvPr id="87" name="Text 86"/>
          <p:cNvSpPr txBox="1"/>
          <p:nvPr/>
        </p:nvSpPr>
        <p:spPr>
          <a:xfrm>
            <a:off x="731520" y="5349240"/>
            <a:ext cx="10789920" cy="457200"/>
          </a:xfrm>
          <a:prstGeom prst="rect">
            <a:avLst/>
          </a:prstGeom>
          <a:noFill/>
        </p:spPr>
        <p:txBody>
          <a:bodyPr wrap="square" lIns="0" tIns="0" rIns="0" bIns="0">
            <a:spAutoFit/>
          </a:bodyPr>
          <a:lstStyle/>
          <a:p>
            <a:pPr>
              <a:spcAft>
                <a:spcPts val="500"/>
              </a:spcAft>
              <a:defRPr sz="2400" b="1">
                <a:solidFill>
                  <a:srgbClr val="0D3560"/>
                </a:solidFill>
                <a:latin typeface="Aptos"/>
              </a:defRPr>
            </a:pPr>
            <a:r>
              <a:t>Mốc RF42 lịch sử: 300 cây  •  42 predictor gốc</a:t>
            </a:r>
          </a:p>
        </p:txBody>
      </p:sp>
    </p:spTree>
  </p:cSld>
  <p:clrMapOvr>
    <a:masterClrMapping/>
  </p:clrMapOvr>
  <mc:AlternateContent xmlns:mc="http://schemas.openxmlformats.org/markup-compatibility/2006">
    <mc:Choice xmlns:p14="http://schemas.microsoft.com/office/powerpoint/2010/main" Requires="p14">
      <p:transition spd="med" p14:dur="550" advTm="17450">
        <p:fade thruBlk="1"/>
      </p:transition>
    </mc:Choice>
    <mc:Fallback>
      <p:transition spd="med" advTm="17450">
        <p:fade thruBlk="1"/>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9-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Voting tổng hợp phiếu hoặc xác suất</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09</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517550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640080" y="2834640"/>
            <a:ext cx="1828800" cy="457200"/>
          </a:xfrm>
          <a:prstGeom prst="rect">
            <a:avLst/>
          </a:prstGeom>
          <a:noFill/>
        </p:spPr>
        <p:txBody>
          <a:bodyPr wrap="square" lIns="0" tIns="0" rIns="0" bIns="0">
            <a:spAutoFit/>
          </a:bodyPr>
          <a:lstStyle/>
          <a:p>
            <a:pPr>
              <a:spcAft>
                <a:spcPts val="500"/>
              </a:spcAft>
              <a:defRPr sz="2200" b="1">
                <a:solidFill>
                  <a:srgbClr val="0D3560"/>
                </a:solidFill>
                <a:latin typeface="Aptos"/>
              </a:defRPr>
            </a:pPr>
            <a:r>
              <a:t>Cùng đầu vào</a:t>
            </a:r>
          </a:p>
        </p:txBody>
      </p:sp>
      <p:sp>
        <p:nvSpPr>
          <p:cNvPr id="16" name="!!actor-learner-0"/>
          <p:cNvSpPr/>
          <p:nvPr/>
        </p:nvSpPr>
        <p:spPr>
          <a:xfrm>
            <a:off x="3017520" y="1965960"/>
            <a:ext cx="2148840" cy="7772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ctor-learner-0-text"/>
          <p:cNvSpPr txBox="1"/>
          <p:nvPr/>
        </p:nvSpPr>
        <p:spPr>
          <a:xfrm>
            <a:off x="3127248" y="2103120"/>
            <a:ext cx="1929384" cy="624839"/>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Logistic</a:t>
            </a:r>
          </a:p>
          <a:p>
            <a:pPr algn="ctr">
              <a:spcAft>
                <a:spcPts val="500"/>
              </a:spcAft>
              <a:defRPr sz="1800" b="1">
                <a:solidFill>
                  <a:srgbClr val="FFFFFF"/>
                </a:solidFill>
                <a:latin typeface="Aptos"/>
              </a:defRPr>
            </a:pPr>
            <a:r>
              <a:t>Regression</a:t>
            </a:r>
          </a:p>
        </p:txBody>
      </p:sp>
      <p:cxnSp>
        <p:nvCxnSpPr>
          <p:cNvPr id="18" name="Connector 17"/>
          <p:cNvCxnSpPr/>
          <p:nvPr/>
        </p:nvCxnSpPr>
        <p:spPr>
          <a:xfrm flipV="1">
            <a:off x="2194560" y="2331720"/>
            <a:ext cx="731520" cy="777240"/>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257800" y="2377440"/>
            <a:ext cx="1143000" cy="804672"/>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20" name="!!actor-learner-1"/>
          <p:cNvSpPr/>
          <p:nvPr/>
        </p:nvSpPr>
        <p:spPr>
          <a:xfrm>
            <a:off x="3017520" y="2971800"/>
            <a:ext cx="2148840" cy="7772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ctor-learner-1-text"/>
          <p:cNvSpPr txBox="1"/>
          <p:nvPr/>
        </p:nvSpPr>
        <p:spPr>
          <a:xfrm>
            <a:off x="3127248" y="3108960"/>
            <a:ext cx="1929384" cy="624839"/>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Decision</a:t>
            </a:r>
          </a:p>
          <a:p>
            <a:pPr algn="ctr">
              <a:spcAft>
                <a:spcPts val="500"/>
              </a:spcAft>
              <a:defRPr sz="1800" b="1">
                <a:solidFill>
                  <a:srgbClr val="FFFFFF"/>
                </a:solidFill>
                <a:latin typeface="Aptos"/>
              </a:defRPr>
            </a:pPr>
            <a:r>
              <a:t>Tree</a:t>
            </a:r>
          </a:p>
        </p:txBody>
      </p:sp>
      <p:cxnSp>
        <p:nvCxnSpPr>
          <p:cNvPr id="22" name="Connector 21"/>
          <p:cNvCxnSpPr/>
          <p:nvPr/>
        </p:nvCxnSpPr>
        <p:spPr>
          <a:xfrm>
            <a:off x="2194560" y="3108960"/>
            <a:ext cx="731520" cy="228600"/>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257800" y="3182112"/>
            <a:ext cx="1143000" cy="201168"/>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24" name="!!actor-learner-2"/>
          <p:cNvSpPr/>
          <p:nvPr/>
        </p:nvSpPr>
        <p:spPr>
          <a:xfrm>
            <a:off x="3017520" y="3977639"/>
            <a:ext cx="2148840" cy="7772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actor-learner-2-text"/>
          <p:cNvSpPr txBox="1"/>
          <p:nvPr/>
        </p:nvSpPr>
        <p:spPr>
          <a:xfrm>
            <a:off x="3127248" y="4114800"/>
            <a:ext cx="1929384" cy="624839"/>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Random</a:t>
            </a:r>
          </a:p>
          <a:p>
            <a:pPr algn="ctr">
              <a:spcAft>
                <a:spcPts val="500"/>
              </a:spcAft>
              <a:defRPr sz="1800" b="1">
                <a:solidFill>
                  <a:srgbClr val="FFFFFF"/>
                </a:solidFill>
                <a:latin typeface="Aptos"/>
              </a:defRPr>
            </a:pPr>
            <a:r>
              <a:t>Forest</a:t>
            </a:r>
          </a:p>
        </p:txBody>
      </p:sp>
      <p:cxnSp>
        <p:nvCxnSpPr>
          <p:cNvPr id="26" name="Connector 25"/>
          <p:cNvCxnSpPr/>
          <p:nvPr/>
        </p:nvCxnSpPr>
        <p:spPr>
          <a:xfrm>
            <a:off x="2194560" y="3108960"/>
            <a:ext cx="731520" cy="1234440"/>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257800" y="3182112"/>
            <a:ext cx="1143000" cy="1207008"/>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28" name="!!actor-combiner"/>
          <p:cNvSpPr/>
          <p:nvPr/>
        </p:nvSpPr>
        <p:spPr>
          <a:xfrm>
            <a:off x="6400800" y="2743200"/>
            <a:ext cx="1874519"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ctor-combiner-text"/>
          <p:cNvSpPr txBox="1"/>
          <p:nvPr/>
        </p:nvSpPr>
        <p:spPr>
          <a:xfrm>
            <a:off x="6510528" y="2880360"/>
            <a:ext cx="1655063" cy="749808"/>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Luật gộp</a:t>
            </a:r>
          </a:p>
          <a:p>
            <a:pPr algn="ctr">
              <a:spcAft>
                <a:spcPts val="500"/>
              </a:spcAft>
              <a:defRPr sz="1800" b="1">
                <a:solidFill>
                  <a:srgbClr val="FFFFFF"/>
                </a:solidFill>
                <a:latin typeface="Aptos"/>
              </a:defRPr>
            </a:pPr>
            <a:r>
              <a:t>cố định</a:t>
            </a:r>
          </a:p>
        </p:txBody>
      </p:sp>
      <p:sp>
        <p:nvSpPr>
          <p:cNvPr id="30" name="Text 29"/>
          <p:cNvSpPr txBox="1"/>
          <p:nvPr/>
        </p:nvSpPr>
        <p:spPr>
          <a:xfrm>
            <a:off x="8732520" y="2606040"/>
            <a:ext cx="2743200" cy="1417320"/>
          </a:xfrm>
          <a:prstGeom prst="rect">
            <a:avLst/>
          </a:prstGeom>
          <a:noFill/>
        </p:spPr>
        <p:txBody>
          <a:bodyPr wrap="square" lIns="0" tIns="0" rIns="0" bIns="0">
            <a:spAutoFit/>
          </a:bodyPr>
          <a:lstStyle/>
          <a:p>
            <a:pPr>
              <a:spcAft>
                <a:spcPts val="500"/>
              </a:spcAft>
              <a:defRPr sz="2200" b="1">
                <a:solidFill>
                  <a:srgbClr val="0D3560"/>
                </a:solidFill>
                <a:latin typeface="Aptos"/>
              </a:defRPr>
            </a:pPr>
            <a:r>
              <a:t>Hard: đa số nhãn</a:t>
            </a:r>
          </a:p>
          <a:p>
            <a:pPr>
              <a:spcAft>
                <a:spcPts val="500"/>
              </a:spcAft>
              <a:defRPr sz="2200" b="1">
                <a:solidFill>
                  <a:srgbClr val="0D3560"/>
                </a:solidFill>
                <a:latin typeface="Aptos"/>
              </a:defRPr>
            </a:pPr>
            <a:r>
              <a:t>Soft: trung bình xác suất</a:t>
            </a:r>
          </a:p>
        </p:txBody>
      </p:sp>
      <p:sp>
        <p:nvSpPr>
          <p:cNvPr id="31" name="Text 30"/>
          <p:cNvSpPr txBox="1"/>
          <p:nvPr/>
        </p:nvSpPr>
        <p:spPr>
          <a:xfrm>
            <a:off x="640080" y="5257800"/>
            <a:ext cx="10789920" cy="502920"/>
          </a:xfrm>
          <a:prstGeom prst="rect">
            <a:avLst/>
          </a:prstGeom>
          <a:noFill/>
        </p:spPr>
        <p:txBody>
          <a:bodyPr wrap="square" lIns="0" tIns="0" rIns="0" bIns="0">
            <a:spAutoFit/>
          </a:bodyPr>
          <a:lstStyle/>
          <a:p>
            <a:pPr>
              <a:spcAft>
                <a:spcPts val="500"/>
              </a:spcAft>
              <a:defRPr sz="2200" b="0">
                <a:solidFill>
                  <a:srgbClr val="526A81"/>
                </a:solidFill>
                <a:latin typeface="Aptos"/>
              </a:defRPr>
            </a:pPr>
            <a:r>
              <a:t>Diversity về cách học chưa bảo đảm lợi ích khi gộp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7100">
        <p159:morph option="byObject"/>
      </p:transition>
    </mc:Choice>
    <mc:Fallback>
      <p:transition spd="slow" advTm="171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0-title"/>
          <p:cNvSpPr txBox="1"/>
          <p:nvPr/>
        </p:nvSpPr>
        <p:spPr>
          <a:xfrm>
            <a:off x="548640" y="502920"/>
            <a:ext cx="11064240" cy="1173480"/>
          </a:xfrm>
          <a:prstGeom prst="rect">
            <a:avLst/>
          </a:prstGeom>
          <a:noFill/>
        </p:spPr>
        <p:txBody>
          <a:bodyPr wrap="square" lIns="0" tIns="0" rIns="0" bIns="0">
            <a:spAutoFit/>
          </a:bodyPr>
          <a:lstStyle/>
          <a:p>
            <a:pPr>
              <a:spcAft>
                <a:spcPts val="500"/>
              </a:spcAft>
              <a:defRPr sz="3600" b="1">
                <a:solidFill>
                  <a:srgbClr val="0D3560"/>
                </a:solidFill>
                <a:latin typeface="Aptos"/>
              </a:defRPr>
            </a:pPr>
            <a:r>
              <a:t>Stacking học cách kết hợp</a:t>
            </a:r>
          </a:p>
          <a:p>
            <a:pPr>
              <a:spcAft>
                <a:spcPts val="500"/>
              </a:spcAft>
              <a:defRPr sz="3600" b="1">
                <a:solidFill>
                  <a:srgbClr val="0D3560"/>
                </a:solidFill>
                <a:latin typeface="Aptos"/>
              </a:defRPr>
            </a:pPr>
            <a:r>
              <a:t>từ dự đoán OOF</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10</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517550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640080" y="2834640"/>
            <a:ext cx="1828800" cy="457200"/>
          </a:xfrm>
          <a:prstGeom prst="rect">
            <a:avLst/>
          </a:prstGeom>
          <a:noFill/>
        </p:spPr>
        <p:txBody>
          <a:bodyPr wrap="square" lIns="0" tIns="0" rIns="0" bIns="0">
            <a:spAutoFit/>
          </a:bodyPr>
          <a:lstStyle/>
          <a:p>
            <a:pPr>
              <a:spcAft>
                <a:spcPts val="500"/>
              </a:spcAft>
              <a:defRPr sz="2200" b="1">
                <a:solidFill>
                  <a:srgbClr val="0D3560"/>
                </a:solidFill>
                <a:latin typeface="Aptos"/>
              </a:defRPr>
            </a:pPr>
            <a:r>
              <a:t>Cùng đầu vào</a:t>
            </a:r>
          </a:p>
        </p:txBody>
      </p:sp>
      <p:sp>
        <p:nvSpPr>
          <p:cNvPr id="16" name="!!actor-learner-0"/>
          <p:cNvSpPr/>
          <p:nvPr/>
        </p:nvSpPr>
        <p:spPr>
          <a:xfrm>
            <a:off x="3017520" y="1965960"/>
            <a:ext cx="2148840" cy="7772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ctor-learner-0-text"/>
          <p:cNvSpPr txBox="1"/>
          <p:nvPr/>
        </p:nvSpPr>
        <p:spPr>
          <a:xfrm>
            <a:off x="3127248" y="2103120"/>
            <a:ext cx="1929384" cy="624839"/>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Logistic</a:t>
            </a:r>
          </a:p>
          <a:p>
            <a:pPr algn="ctr">
              <a:spcAft>
                <a:spcPts val="500"/>
              </a:spcAft>
              <a:defRPr sz="1800" b="1">
                <a:solidFill>
                  <a:srgbClr val="FFFFFF"/>
                </a:solidFill>
                <a:latin typeface="Aptos"/>
              </a:defRPr>
            </a:pPr>
            <a:r>
              <a:t>Regression</a:t>
            </a:r>
          </a:p>
        </p:txBody>
      </p:sp>
      <p:cxnSp>
        <p:nvCxnSpPr>
          <p:cNvPr id="18" name="Connector 17"/>
          <p:cNvCxnSpPr/>
          <p:nvPr/>
        </p:nvCxnSpPr>
        <p:spPr>
          <a:xfrm flipV="1">
            <a:off x="2194560" y="2331720"/>
            <a:ext cx="731520" cy="777240"/>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257800" y="2377440"/>
            <a:ext cx="1143000" cy="804672"/>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20" name="!!actor-learner-1"/>
          <p:cNvSpPr/>
          <p:nvPr/>
        </p:nvSpPr>
        <p:spPr>
          <a:xfrm>
            <a:off x="3017520" y="2971800"/>
            <a:ext cx="2148840" cy="7772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ctor-learner-1-text"/>
          <p:cNvSpPr txBox="1"/>
          <p:nvPr/>
        </p:nvSpPr>
        <p:spPr>
          <a:xfrm>
            <a:off x="3127248" y="3108960"/>
            <a:ext cx="1929384" cy="624839"/>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Decision</a:t>
            </a:r>
          </a:p>
          <a:p>
            <a:pPr algn="ctr">
              <a:spcAft>
                <a:spcPts val="500"/>
              </a:spcAft>
              <a:defRPr sz="1800" b="1">
                <a:solidFill>
                  <a:srgbClr val="FFFFFF"/>
                </a:solidFill>
                <a:latin typeface="Aptos"/>
              </a:defRPr>
            </a:pPr>
            <a:r>
              <a:t>Tree</a:t>
            </a:r>
          </a:p>
        </p:txBody>
      </p:sp>
      <p:cxnSp>
        <p:nvCxnSpPr>
          <p:cNvPr id="22" name="Connector 21"/>
          <p:cNvCxnSpPr/>
          <p:nvPr/>
        </p:nvCxnSpPr>
        <p:spPr>
          <a:xfrm>
            <a:off x="2194560" y="3108960"/>
            <a:ext cx="731520" cy="228600"/>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257800" y="3182112"/>
            <a:ext cx="1143000" cy="201168"/>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24" name="!!actor-learner-2"/>
          <p:cNvSpPr/>
          <p:nvPr/>
        </p:nvSpPr>
        <p:spPr>
          <a:xfrm>
            <a:off x="3017520" y="3977639"/>
            <a:ext cx="2148840" cy="7772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actor-learner-2-text"/>
          <p:cNvSpPr txBox="1"/>
          <p:nvPr/>
        </p:nvSpPr>
        <p:spPr>
          <a:xfrm>
            <a:off x="3127248" y="4114800"/>
            <a:ext cx="1929384" cy="624839"/>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Random</a:t>
            </a:r>
          </a:p>
          <a:p>
            <a:pPr algn="ctr">
              <a:spcAft>
                <a:spcPts val="500"/>
              </a:spcAft>
              <a:defRPr sz="1800" b="1">
                <a:solidFill>
                  <a:srgbClr val="FFFFFF"/>
                </a:solidFill>
                <a:latin typeface="Aptos"/>
              </a:defRPr>
            </a:pPr>
            <a:r>
              <a:t>Forest</a:t>
            </a:r>
          </a:p>
        </p:txBody>
      </p:sp>
      <p:cxnSp>
        <p:nvCxnSpPr>
          <p:cNvPr id="26" name="Connector 25"/>
          <p:cNvCxnSpPr/>
          <p:nvPr/>
        </p:nvCxnSpPr>
        <p:spPr>
          <a:xfrm>
            <a:off x="2194560" y="3108960"/>
            <a:ext cx="731520" cy="1234440"/>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257800" y="3182112"/>
            <a:ext cx="1143000" cy="1207008"/>
          </a:xfrm>
          <a:prstGeom prst="line">
            <a:avLst/>
          </a:prstGeom>
          <a:ln w="2032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28" name="!!actor-combiner"/>
          <p:cNvSpPr/>
          <p:nvPr/>
        </p:nvSpPr>
        <p:spPr>
          <a:xfrm>
            <a:off x="6400800" y="2743200"/>
            <a:ext cx="1874519"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ctor-combiner-text"/>
          <p:cNvSpPr txBox="1"/>
          <p:nvPr/>
        </p:nvSpPr>
        <p:spPr>
          <a:xfrm>
            <a:off x="6510528" y="2880360"/>
            <a:ext cx="1655063" cy="749808"/>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LR tầng</a:t>
            </a:r>
          </a:p>
          <a:p>
            <a:pPr algn="ctr">
              <a:spcAft>
                <a:spcPts val="500"/>
              </a:spcAft>
              <a:defRPr sz="1800" b="1">
                <a:solidFill>
                  <a:srgbClr val="FFFFFF"/>
                </a:solidFill>
                <a:latin typeface="Aptos"/>
              </a:defRPr>
            </a:pPr>
            <a:r>
              <a:t>kết hợp</a:t>
            </a:r>
          </a:p>
        </p:txBody>
      </p:sp>
      <p:cxnSp>
        <p:nvCxnSpPr>
          <p:cNvPr id="30" name="Connector 29"/>
          <p:cNvCxnSpPr/>
          <p:nvPr/>
        </p:nvCxnSpPr>
        <p:spPr>
          <a:xfrm>
            <a:off x="8366760" y="3182112"/>
            <a:ext cx="777240" cy="0"/>
          </a:xfrm>
          <a:prstGeom prst="line">
            <a:avLst/>
          </a:prstGeom>
          <a:ln w="25400">
            <a:solidFill>
              <a:srgbClr val="1769AA"/>
            </a:solidFill>
            <a:tailEnd type="triangle"/>
          </a:ln>
        </p:spPr>
        <p:style>
          <a:lnRef idx="2">
            <a:schemeClr val="accent1"/>
          </a:lnRef>
          <a:fillRef idx="0">
            <a:schemeClr val="accent1"/>
          </a:fillRef>
          <a:effectRef idx="1">
            <a:schemeClr val="accent1"/>
          </a:effectRef>
          <a:fontRef idx="minor">
            <a:schemeClr val="tx1"/>
          </a:fontRef>
        </p:style>
      </p:cxnSp>
      <p:sp>
        <p:nvSpPr>
          <p:cNvPr id="31" name="!!actor-decision"/>
          <p:cNvSpPr/>
          <p:nvPr/>
        </p:nvSpPr>
        <p:spPr>
          <a:xfrm>
            <a:off x="9235440" y="2743200"/>
            <a:ext cx="2240280" cy="91440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actor-decision-text"/>
          <p:cNvSpPr txBox="1"/>
          <p:nvPr/>
        </p:nvSpPr>
        <p:spPr>
          <a:xfrm>
            <a:off x="9345167" y="2880360"/>
            <a:ext cx="2020824" cy="749808"/>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Normal /</a:t>
            </a:r>
          </a:p>
          <a:p>
            <a:pPr algn="ctr">
              <a:spcAft>
                <a:spcPts val="500"/>
              </a:spcAft>
              <a:defRPr sz="1800" b="1">
                <a:solidFill>
                  <a:srgbClr val="FFFFFF"/>
                </a:solidFill>
                <a:latin typeface="Aptos"/>
              </a:defRPr>
            </a:pPr>
            <a:r>
              <a:t>Attack</a:t>
            </a:r>
          </a:p>
        </p:txBody>
      </p:sp>
      <p:sp>
        <p:nvSpPr>
          <p:cNvPr id="33" name="Text 32"/>
          <p:cNvSpPr txBox="1"/>
          <p:nvPr/>
        </p:nvSpPr>
        <p:spPr>
          <a:xfrm>
            <a:off x="640080" y="1783080"/>
            <a:ext cx="2286000" cy="274320"/>
          </a:xfrm>
          <a:prstGeom prst="rect">
            <a:avLst/>
          </a:prstGeom>
          <a:noFill/>
        </p:spPr>
        <p:txBody>
          <a:bodyPr wrap="square" lIns="0" tIns="0" rIns="0" bIns="0">
            <a:spAutoFit/>
          </a:bodyPr>
          <a:lstStyle/>
          <a:p>
            <a:pPr>
              <a:spcAft>
                <a:spcPts val="500"/>
              </a:spcAft>
              <a:defRPr sz="1300" b="1">
                <a:solidFill>
                  <a:srgbClr val="1769AA"/>
                </a:solidFill>
                <a:latin typeface="Aptos"/>
              </a:defRPr>
            </a:pPr>
            <a:r>
              <a:t>HUẤN LUYỆN META</a:t>
            </a:r>
          </a:p>
        </p:txBody>
      </p:sp>
      <p:sp>
        <p:nvSpPr>
          <p:cNvPr id="34" name="Text 33"/>
          <p:cNvSpPr txBox="1"/>
          <p:nvPr/>
        </p:nvSpPr>
        <p:spPr>
          <a:xfrm>
            <a:off x="640080" y="5029200"/>
            <a:ext cx="10789920" cy="548640"/>
          </a:xfrm>
          <a:prstGeom prst="rect">
            <a:avLst/>
          </a:prstGeom>
          <a:noFill/>
        </p:spPr>
        <p:txBody>
          <a:bodyPr wrap="square" lIns="0" tIns="0" rIns="0" bIns="0">
            <a:spAutoFit/>
          </a:bodyPr>
          <a:lstStyle/>
          <a:p>
            <a:pPr>
              <a:spcAft>
                <a:spcPts val="500"/>
              </a:spcAft>
              <a:defRPr sz="2200" b="1">
                <a:solidFill>
                  <a:srgbClr val="0D3560"/>
                </a:solidFill>
                <a:latin typeface="Aptos"/>
              </a:defRPr>
            </a:pPr>
            <a:r>
              <a:t>Đầu vào meta = xác suất OOF; không dùng dự đoán in-sample</a:t>
            </a:r>
          </a:p>
        </p:txBody>
      </p:sp>
      <p:sp>
        <p:nvSpPr>
          <p:cNvPr id="35" name="Text 34"/>
          <p:cNvSpPr txBox="1"/>
          <p:nvPr/>
        </p:nvSpPr>
        <p:spPr>
          <a:xfrm>
            <a:off x="640080" y="5596128"/>
            <a:ext cx="10789920" cy="274320"/>
          </a:xfrm>
          <a:prstGeom prst="rect">
            <a:avLst/>
          </a:prstGeom>
          <a:noFill/>
        </p:spPr>
        <p:txBody>
          <a:bodyPr wrap="square" lIns="0" tIns="0" rIns="0" bIns="0">
            <a:spAutoFit/>
          </a:bodyPr>
          <a:lstStyle/>
          <a:p>
            <a:pPr>
              <a:spcAft>
                <a:spcPts val="500"/>
              </a:spcAft>
              <a:defRPr sz="1600" b="0">
                <a:solidFill>
                  <a:srgbClr val="526A81"/>
                </a:solidFill>
                <a:latin typeface="Aptos"/>
              </a:defRPr>
            </a:pPr>
            <a:r>
              <a:t>Khi suy luận: base learner đã fit lại → xác suất → meta LR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8100">
        <p159:morph option="byObject"/>
      </p:transition>
    </mc:Choice>
    <mc:Fallback>
      <p:transition spd="slow" advTm="181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1-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Official TEST: khoảng cách rất nhỏ</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P9 final_metrics.csv · official TEST, 82.332 dòng · ngưỡng 0,5.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11</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6729983"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4937760" cy="457200"/>
          </a:xfrm>
          <a:prstGeom prst="rect">
            <a:avLst/>
          </a:prstGeom>
          <a:noFill/>
        </p:spPr>
        <p:txBody>
          <a:bodyPr wrap="square" lIns="0" tIns="0" rIns="0" bIns="0">
            <a:spAutoFit/>
          </a:bodyPr>
          <a:lstStyle/>
          <a:p>
            <a:pPr>
              <a:spcAft>
                <a:spcPts val="500"/>
              </a:spcAft>
              <a:defRPr sz="2500" b="1">
                <a:solidFill>
                  <a:srgbClr val="526A81"/>
                </a:solidFill>
                <a:latin typeface="Aptos"/>
              </a:defRPr>
            </a:pPr>
            <a:r>
              <a:t>RF42</a:t>
            </a:r>
          </a:p>
        </p:txBody>
      </p:sp>
      <p:sp>
        <p:nvSpPr>
          <p:cNvPr id="16" name="Text 15"/>
          <p:cNvSpPr txBox="1"/>
          <p:nvPr/>
        </p:nvSpPr>
        <p:spPr>
          <a:xfrm>
            <a:off x="777240" y="2651760"/>
            <a:ext cx="5120640" cy="914400"/>
          </a:xfrm>
          <a:prstGeom prst="rect">
            <a:avLst/>
          </a:prstGeom>
          <a:noFill/>
        </p:spPr>
        <p:txBody>
          <a:bodyPr wrap="square" lIns="0" tIns="0" rIns="0" bIns="0">
            <a:spAutoFit/>
          </a:bodyPr>
          <a:lstStyle/>
          <a:p>
            <a:pPr>
              <a:spcAft>
                <a:spcPts val="500"/>
              </a:spcAft>
              <a:defRPr sz="5700" b="1">
                <a:solidFill>
                  <a:srgbClr val="1769AA"/>
                </a:solidFill>
                <a:latin typeface="Aptos"/>
              </a:defRPr>
            </a:pPr>
            <a:r>
              <a:t>0.863343</a:t>
            </a:r>
          </a:p>
        </p:txBody>
      </p:sp>
      <p:sp>
        <p:nvSpPr>
          <p:cNvPr id="17" name="Text 16"/>
          <p:cNvSpPr txBox="1"/>
          <p:nvPr/>
        </p:nvSpPr>
        <p:spPr>
          <a:xfrm>
            <a:off x="777240" y="3840480"/>
            <a:ext cx="5029200" cy="457200"/>
          </a:xfrm>
          <a:prstGeom prst="rect">
            <a:avLst/>
          </a:prstGeom>
          <a:noFill/>
        </p:spPr>
        <p:txBody>
          <a:bodyPr wrap="square" lIns="0" tIns="0" rIns="0" bIns="0">
            <a:spAutoFit/>
          </a:bodyPr>
          <a:lstStyle/>
          <a:p>
            <a:pPr>
              <a:spcAft>
                <a:spcPts val="500"/>
              </a:spcAft>
              <a:defRPr sz="2700" b="0">
                <a:solidFill>
                  <a:srgbClr val="0D3560"/>
                </a:solidFill>
                <a:latin typeface="Aptos"/>
              </a:defRPr>
            </a:pPr>
            <a:r>
              <a:t>MCC  0.750910</a:t>
            </a:r>
          </a:p>
        </p:txBody>
      </p:sp>
      <p:sp>
        <p:nvSpPr>
          <p:cNvPr id="18" name="Text 17"/>
          <p:cNvSpPr txBox="1"/>
          <p:nvPr/>
        </p:nvSpPr>
        <p:spPr>
          <a:xfrm>
            <a:off x="6537959" y="1920240"/>
            <a:ext cx="4937760" cy="457200"/>
          </a:xfrm>
          <a:prstGeom prst="rect">
            <a:avLst/>
          </a:prstGeom>
          <a:noFill/>
        </p:spPr>
        <p:txBody>
          <a:bodyPr wrap="square" lIns="0" tIns="0" rIns="0" bIns="0">
            <a:spAutoFit/>
          </a:bodyPr>
          <a:lstStyle/>
          <a:p>
            <a:pPr>
              <a:spcAft>
                <a:spcPts val="500"/>
              </a:spcAft>
              <a:defRPr sz="2500" b="1">
                <a:solidFill>
                  <a:srgbClr val="526A81"/>
                </a:solidFill>
                <a:latin typeface="Aptos"/>
              </a:defRPr>
            </a:pPr>
            <a:r>
              <a:t>Stacking42</a:t>
            </a:r>
          </a:p>
        </p:txBody>
      </p:sp>
      <p:sp>
        <p:nvSpPr>
          <p:cNvPr id="19" name="Text 18"/>
          <p:cNvSpPr txBox="1"/>
          <p:nvPr/>
        </p:nvSpPr>
        <p:spPr>
          <a:xfrm>
            <a:off x="6537959" y="2651760"/>
            <a:ext cx="5120640" cy="914400"/>
          </a:xfrm>
          <a:prstGeom prst="rect">
            <a:avLst/>
          </a:prstGeom>
          <a:noFill/>
        </p:spPr>
        <p:txBody>
          <a:bodyPr wrap="square" lIns="0" tIns="0" rIns="0" bIns="0">
            <a:spAutoFit/>
          </a:bodyPr>
          <a:lstStyle/>
          <a:p>
            <a:pPr>
              <a:spcAft>
                <a:spcPts val="500"/>
              </a:spcAft>
              <a:defRPr sz="5700" b="1">
                <a:solidFill>
                  <a:srgbClr val="0D3560"/>
                </a:solidFill>
                <a:latin typeface="Aptos"/>
              </a:defRPr>
            </a:pPr>
            <a:r>
              <a:t>0.863840</a:t>
            </a:r>
          </a:p>
        </p:txBody>
      </p:sp>
      <p:sp>
        <p:nvSpPr>
          <p:cNvPr id="20" name="Text 19"/>
          <p:cNvSpPr txBox="1"/>
          <p:nvPr/>
        </p:nvSpPr>
        <p:spPr>
          <a:xfrm>
            <a:off x="6537959" y="3840480"/>
            <a:ext cx="5029200" cy="457200"/>
          </a:xfrm>
          <a:prstGeom prst="rect">
            <a:avLst/>
          </a:prstGeom>
          <a:noFill/>
        </p:spPr>
        <p:txBody>
          <a:bodyPr wrap="square" lIns="0" tIns="0" rIns="0" bIns="0">
            <a:spAutoFit/>
          </a:bodyPr>
          <a:lstStyle/>
          <a:p>
            <a:pPr>
              <a:spcAft>
                <a:spcPts val="500"/>
              </a:spcAft>
              <a:defRPr sz="2700" b="0">
                <a:solidFill>
                  <a:srgbClr val="0D3560"/>
                </a:solidFill>
                <a:latin typeface="Aptos"/>
              </a:defRPr>
            </a:pPr>
            <a:r>
              <a:t>MCC  0.750497</a:t>
            </a:r>
          </a:p>
        </p:txBody>
      </p:sp>
      <p:sp>
        <p:nvSpPr>
          <p:cNvPr id="21" name="Text 20"/>
          <p:cNvSpPr txBox="1"/>
          <p:nvPr/>
        </p:nvSpPr>
        <p:spPr>
          <a:xfrm>
            <a:off x="777240" y="5029200"/>
            <a:ext cx="10789920" cy="548640"/>
          </a:xfrm>
          <a:prstGeom prst="rect">
            <a:avLst/>
          </a:prstGeom>
          <a:noFill/>
        </p:spPr>
        <p:txBody>
          <a:bodyPr wrap="square" lIns="0" tIns="0" rIns="0" bIns="0">
            <a:spAutoFit/>
          </a:bodyPr>
          <a:lstStyle/>
          <a:p>
            <a:pPr>
              <a:spcAft>
                <a:spcPts val="500"/>
              </a:spcAft>
              <a:defRPr sz="2900" b="1">
                <a:solidFill>
                  <a:srgbClr val="0D3560"/>
                </a:solidFill>
                <a:latin typeface="Aptos"/>
              </a:defRPr>
            </a:pPr>
            <a:r>
              <a:t>Macro-F1: Stacking − RF = +0,000497</a:t>
            </a:r>
          </a:p>
        </p:txBody>
      </p:sp>
      <p:sp>
        <p:nvSpPr>
          <p:cNvPr id="22" name="Text 21"/>
          <p:cNvSpPr txBox="1"/>
          <p:nvPr/>
        </p:nvSpPr>
        <p:spPr>
          <a:xfrm>
            <a:off x="777240" y="5623560"/>
            <a:ext cx="10789920" cy="320040"/>
          </a:xfrm>
          <a:prstGeom prst="rect">
            <a:avLst/>
          </a:prstGeom>
          <a:noFill/>
        </p:spPr>
        <p:txBody>
          <a:bodyPr wrap="square" lIns="0" tIns="0" rIns="0" bIns="0">
            <a:spAutoFit/>
          </a:bodyPr>
          <a:lstStyle/>
          <a:p>
            <a:pPr>
              <a:spcAft>
                <a:spcPts val="500"/>
              </a:spcAft>
              <a:defRPr sz="2000" b="0">
                <a:solidFill>
                  <a:srgbClr val="526A81"/>
                </a:solidFill>
                <a:latin typeface="Aptos"/>
              </a:defRPr>
            </a:pPr>
            <a:r>
              <a:t>MCC đi theo hướng ngược lại; không kết luận vượt trội.</a:t>
            </a:r>
          </a:p>
        </p:txBody>
      </p:sp>
    </p:spTree>
  </p:cSld>
  <p:clrMapOvr>
    <a:masterClrMapping/>
  </p:clrMapOvr>
  <mc:AlternateContent xmlns:mc="http://schemas.openxmlformats.org/markup-compatibility/2006">
    <mc:Choice xmlns:p14="http://schemas.microsoft.com/office/powerpoint/2010/main" Requires="p14">
      <p:transition spd="med" p14:dur="550" advTm="19450">
        <p:fade thruBlk="1"/>
      </p:transition>
    </mc:Choice>
    <mc:Fallback>
      <p:transition spd="med" advTm="19450">
        <p:fade thruBlk="1"/>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2-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Stacking giảm 142 cảnh báo giả…</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P9 final_metrics.csv · official TEST, 82.332 dòng · ngưỡng 0,5.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12</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6729983"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828800"/>
            <a:ext cx="4754880" cy="365760"/>
          </a:xfrm>
          <a:prstGeom prst="rect">
            <a:avLst/>
          </a:prstGeom>
          <a:noFill/>
        </p:spPr>
        <p:txBody>
          <a:bodyPr wrap="square" lIns="0" tIns="0" rIns="0" bIns="0">
            <a:spAutoFit/>
          </a:bodyPr>
          <a:lstStyle/>
          <a:p>
            <a:pPr>
              <a:spcAft>
                <a:spcPts val="500"/>
              </a:spcAft>
              <a:defRPr sz="1900" b="1">
                <a:solidFill>
                  <a:srgbClr val="1769AA"/>
                </a:solidFill>
                <a:latin typeface="Aptos"/>
              </a:defRPr>
            </a:pPr>
            <a:r>
              <a:t>CẢNH BÁO GIẢ · FP</a:t>
            </a:r>
          </a:p>
        </p:txBody>
      </p:sp>
      <p:sp>
        <p:nvSpPr>
          <p:cNvPr id="16" name="Text 15"/>
          <p:cNvSpPr txBox="1"/>
          <p:nvPr/>
        </p:nvSpPr>
        <p:spPr>
          <a:xfrm>
            <a:off x="777240" y="2377440"/>
            <a:ext cx="2377440" cy="329184"/>
          </a:xfrm>
          <a:prstGeom prst="rect">
            <a:avLst/>
          </a:prstGeom>
          <a:noFill/>
        </p:spPr>
        <p:txBody>
          <a:bodyPr wrap="square" lIns="0" tIns="0" rIns="0" bIns="0">
            <a:spAutoFit/>
          </a:bodyPr>
          <a:lstStyle/>
          <a:p>
            <a:pPr>
              <a:spcAft>
                <a:spcPts val="500"/>
              </a:spcAft>
              <a:defRPr sz="1800" b="0">
                <a:solidFill>
                  <a:srgbClr val="526A81"/>
                </a:solidFill>
                <a:latin typeface="Aptos"/>
              </a:defRPr>
            </a:pPr>
            <a:r>
              <a:t>RF42</a:t>
            </a:r>
          </a:p>
        </p:txBody>
      </p:sp>
      <p:sp>
        <p:nvSpPr>
          <p:cNvPr id="17" name="!!actor-fp-bar-0"/>
          <p:cNvSpPr/>
          <p:nvPr/>
        </p:nvSpPr>
        <p:spPr>
          <a:xfrm>
            <a:off x="777240" y="2788920"/>
            <a:ext cx="4323914" cy="3200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actor-fp-value-0"/>
          <p:cNvSpPr txBox="1"/>
          <p:nvPr/>
        </p:nvSpPr>
        <p:spPr>
          <a:xfrm>
            <a:off x="3154680" y="2322576"/>
            <a:ext cx="2377440" cy="411480"/>
          </a:xfrm>
          <a:prstGeom prst="rect">
            <a:avLst/>
          </a:prstGeom>
          <a:noFill/>
        </p:spPr>
        <p:txBody>
          <a:bodyPr wrap="square" lIns="0" tIns="0" rIns="0" bIns="0">
            <a:spAutoFit/>
          </a:bodyPr>
          <a:lstStyle/>
          <a:p>
            <a:pPr algn="r">
              <a:spcAft>
                <a:spcPts val="500"/>
              </a:spcAft>
              <a:defRPr sz="2300" b="1">
                <a:solidFill>
                  <a:srgbClr val="1769AA"/>
                </a:solidFill>
                <a:latin typeface="Aptos"/>
              </a:defRPr>
            </a:pPr>
            <a:r>
              <a:t>10.003</a:t>
            </a:r>
          </a:p>
        </p:txBody>
      </p:sp>
      <p:sp>
        <p:nvSpPr>
          <p:cNvPr id="19" name="Text 18"/>
          <p:cNvSpPr txBox="1"/>
          <p:nvPr/>
        </p:nvSpPr>
        <p:spPr>
          <a:xfrm>
            <a:off x="777240" y="3429000"/>
            <a:ext cx="2377440" cy="329184"/>
          </a:xfrm>
          <a:prstGeom prst="rect">
            <a:avLst/>
          </a:prstGeom>
          <a:noFill/>
        </p:spPr>
        <p:txBody>
          <a:bodyPr wrap="square" lIns="0" tIns="0" rIns="0" bIns="0">
            <a:spAutoFit/>
          </a:bodyPr>
          <a:lstStyle/>
          <a:p>
            <a:pPr>
              <a:spcAft>
                <a:spcPts val="500"/>
              </a:spcAft>
              <a:defRPr sz="1800" b="0">
                <a:solidFill>
                  <a:srgbClr val="526A81"/>
                </a:solidFill>
                <a:latin typeface="Aptos"/>
              </a:defRPr>
            </a:pPr>
            <a:r>
              <a:t>Stacking42</a:t>
            </a:r>
          </a:p>
        </p:txBody>
      </p:sp>
      <p:sp>
        <p:nvSpPr>
          <p:cNvPr id="20" name="!!actor-fp-bar-1"/>
          <p:cNvSpPr/>
          <p:nvPr/>
        </p:nvSpPr>
        <p:spPr>
          <a:xfrm>
            <a:off x="777240" y="3840480"/>
            <a:ext cx="4262533" cy="3200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ctor-fp-value-1"/>
          <p:cNvSpPr txBox="1"/>
          <p:nvPr/>
        </p:nvSpPr>
        <p:spPr>
          <a:xfrm>
            <a:off x="3154680" y="3374136"/>
            <a:ext cx="2377440" cy="411480"/>
          </a:xfrm>
          <a:prstGeom prst="rect">
            <a:avLst/>
          </a:prstGeom>
          <a:noFill/>
        </p:spPr>
        <p:txBody>
          <a:bodyPr wrap="square" lIns="0" tIns="0" rIns="0" bIns="0">
            <a:spAutoFit/>
          </a:bodyPr>
          <a:lstStyle/>
          <a:p>
            <a:pPr algn="r">
              <a:spcAft>
                <a:spcPts val="500"/>
              </a:spcAft>
              <a:defRPr sz="2300" b="1">
                <a:solidFill>
                  <a:srgbClr val="1769AA"/>
                </a:solidFill>
                <a:latin typeface="Aptos"/>
              </a:defRPr>
            </a:pPr>
            <a:r>
              <a:t>9.861</a:t>
            </a:r>
          </a:p>
        </p:txBody>
      </p:sp>
      <p:cxnSp>
        <p:nvCxnSpPr>
          <p:cNvPr id="22" name="Connector 21"/>
          <p:cNvCxnSpPr/>
          <p:nvPr/>
        </p:nvCxnSpPr>
        <p:spPr>
          <a:xfrm>
            <a:off x="777240" y="4709160"/>
            <a:ext cx="475488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23" name="Text 22"/>
          <p:cNvSpPr txBox="1"/>
          <p:nvPr/>
        </p:nvSpPr>
        <p:spPr>
          <a:xfrm>
            <a:off x="777240" y="4800600"/>
            <a:ext cx="457200" cy="228600"/>
          </a:xfrm>
          <a:prstGeom prst="rect">
            <a:avLst/>
          </a:prstGeom>
          <a:noFill/>
        </p:spPr>
        <p:txBody>
          <a:bodyPr wrap="square" lIns="0" tIns="0" rIns="0" bIns="0">
            <a:spAutoFit/>
          </a:bodyPr>
          <a:lstStyle/>
          <a:p>
            <a:pPr>
              <a:spcAft>
                <a:spcPts val="500"/>
              </a:spcAft>
              <a:defRPr sz="1200" b="0">
                <a:solidFill>
                  <a:srgbClr val="526A81"/>
                </a:solidFill>
                <a:latin typeface="Aptos"/>
              </a:defRPr>
            </a:pPr>
            <a:r>
              <a:t>0</a:t>
            </a:r>
          </a:p>
        </p:txBody>
      </p:sp>
      <p:sp>
        <p:nvSpPr>
          <p:cNvPr id="24" name="Text 23"/>
          <p:cNvSpPr txBox="1"/>
          <p:nvPr/>
        </p:nvSpPr>
        <p:spPr>
          <a:xfrm>
            <a:off x="4800600" y="4800600"/>
            <a:ext cx="731520" cy="228600"/>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11.000</a:t>
            </a:r>
          </a:p>
        </p:txBody>
      </p:sp>
      <p:sp>
        <p:nvSpPr>
          <p:cNvPr id="25" name="Text 24"/>
          <p:cNvSpPr txBox="1"/>
          <p:nvPr/>
        </p:nvSpPr>
        <p:spPr>
          <a:xfrm>
            <a:off x="6629400" y="1828800"/>
            <a:ext cx="4480560" cy="365760"/>
          </a:xfrm>
          <a:prstGeom prst="rect">
            <a:avLst/>
          </a:prstGeom>
          <a:noFill/>
        </p:spPr>
        <p:txBody>
          <a:bodyPr wrap="square" lIns="0" tIns="0" rIns="0" bIns="0">
            <a:spAutoFit/>
          </a:bodyPr>
          <a:lstStyle/>
          <a:p>
            <a:pPr>
              <a:spcAft>
                <a:spcPts val="500"/>
              </a:spcAft>
              <a:defRPr sz="1900" b="1">
                <a:solidFill>
                  <a:srgbClr val="B65B29"/>
                </a:solidFill>
                <a:latin typeface="Aptos"/>
              </a:defRPr>
            </a:pPr>
            <a:r>
              <a:t>BỎ SÓT · FN</a:t>
            </a:r>
          </a:p>
        </p:txBody>
      </p:sp>
      <p:sp>
        <p:nvSpPr>
          <p:cNvPr id="26" name="Text 25"/>
          <p:cNvSpPr txBox="1"/>
          <p:nvPr/>
        </p:nvSpPr>
        <p:spPr>
          <a:xfrm>
            <a:off x="6629400" y="2377440"/>
            <a:ext cx="2240280" cy="329184"/>
          </a:xfrm>
          <a:prstGeom prst="rect">
            <a:avLst/>
          </a:prstGeom>
          <a:noFill/>
        </p:spPr>
        <p:txBody>
          <a:bodyPr wrap="square" lIns="0" tIns="0" rIns="0" bIns="0">
            <a:spAutoFit/>
          </a:bodyPr>
          <a:lstStyle/>
          <a:p>
            <a:pPr>
              <a:spcAft>
                <a:spcPts val="500"/>
              </a:spcAft>
              <a:defRPr sz="1800" b="0">
                <a:solidFill>
                  <a:srgbClr val="526A81"/>
                </a:solidFill>
                <a:latin typeface="Aptos"/>
              </a:defRPr>
            </a:pPr>
            <a:r>
              <a:t>RF42</a:t>
            </a:r>
          </a:p>
        </p:txBody>
      </p:sp>
      <p:sp>
        <p:nvSpPr>
          <p:cNvPr id="27" name="!!actor-fn-bar-0"/>
          <p:cNvSpPr/>
          <p:nvPr/>
        </p:nvSpPr>
        <p:spPr>
          <a:xfrm>
            <a:off x="6629400" y="2788920"/>
            <a:ext cx="13716" cy="320040"/>
          </a:xfrm>
          <a:prstGeom prst="rect">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ctor-fn-value-0"/>
          <p:cNvSpPr txBox="1"/>
          <p:nvPr/>
        </p:nvSpPr>
        <p:spPr>
          <a:xfrm>
            <a:off x="8869680" y="2322576"/>
            <a:ext cx="2240280" cy="411480"/>
          </a:xfrm>
          <a:prstGeom prst="rect">
            <a:avLst/>
          </a:prstGeom>
          <a:noFill/>
        </p:spPr>
        <p:txBody>
          <a:bodyPr wrap="square" lIns="0" tIns="0" rIns="0" bIns="0">
            <a:spAutoFit/>
          </a:bodyPr>
          <a:lstStyle/>
          <a:p>
            <a:pPr algn="r">
              <a:spcAft>
                <a:spcPts val="500"/>
              </a:spcAft>
              <a:defRPr sz="2300" b="1">
                <a:solidFill>
                  <a:srgbClr val="526A81"/>
                </a:solidFill>
                <a:latin typeface="Aptos"/>
              </a:defRPr>
            </a:pPr>
            <a:r>
              <a:t>…</a:t>
            </a:r>
          </a:p>
        </p:txBody>
      </p:sp>
      <p:sp>
        <p:nvSpPr>
          <p:cNvPr id="29" name="Text 28"/>
          <p:cNvSpPr txBox="1"/>
          <p:nvPr/>
        </p:nvSpPr>
        <p:spPr>
          <a:xfrm>
            <a:off x="6629400" y="3429000"/>
            <a:ext cx="2240280" cy="329184"/>
          </a:xfrm>
          <a:prstGeom prst="rect">
            <a:avLst/>
          </a:prstGeom>
          <a:noFill/>
        </p:spPr>
        <p:txBody>
          <a:bodyPr wrap="square" lIns="0" tIns="0" rIns="0" bIns="0">
            <a:spAutoFit/>
          </a:bodyPr>
          <a:lstStyle/>
          <a:p>
            <a:pPr>
              <a:spcAft>
                <a:spcPts val="500"/>
              </a:spcAft>
              <a:defRPr sz="1800" b="0">
                <a:solidFill>
                  <a:srgbClr val="526A81"/>
                </a:solidFill>
                <a:latin typeface="Aptos"/>
              </a:defRPr>
            </a:pPr>
            <a:r>
              <a:t>Stacking42</a:t>
            </a:r>
          </a:p>
        </p:txBody>
      </p:sp>
      <p:sp>
        <p:nvSpPr>
          <p:cNvPr id="30" name="!!actor-fn-bar-1"/>
          <p:cNvSpPr/>
          <p:nvPr/>
        </p:nvSpPr>
        <p:spPr>
          <a:xfrm>
            <a:off x="6629400" y="3840480"/>
            <a:ext cx="13716" cy="320040"/>
          </a:xfrm>
          <a:prstGeom prst="rect">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actor-fn-value-1"/>
          <p:cNvSpPr txBox="1"/>
          <p:nvPr/>
        </p:nvSpPr>
        <p:spPr>
          <a:xfrm>
            <a:off x="8869680" y="3374136"/>
            <a:ext cx="2240280" cy="411480"/>
          </a:xfrm>
          <a:prstGeom prst="rect">
            <a:avLst/>
          </a:prstGeom>
          <a:noFill/>
        </p:spPr>
        <p:txBody>
          <a:bodyPr wrap="square" lIns="0" tIns="0" rIns="0" bIns="0">
            <a:spAutoFit/>
          </a:bodyPr>
          <a:lstStyle/>
          <a:p>
            <a:pPr algn="r">
              <a:spcAft>
                <a:spcPts val="500"/>
              </a:spcAft>
              <a:defRPr sz="2300" b="1">
                <a:solidFill>
                  <a:srgbClr val="526A81"/>
                </a:solidFill>
                <a:latin typeface="Aptos"/>
              </a:defRPr>
            </a:pPr>
            <a:r>
              <a:t>…</a:t>
            </a:r>
          </a:p>
        </p:txBody>
      </p:sp>
      <p:cxnSp>
        <p:nvCxnSpPr>
          <p:cNvPr id="32" name="Connector 31"/>
          <p:cNvCxnSpPr/>
          <p:nvPr/>
        </p:nvCxnSpPr>
        <p:spPr>
          <a:xfrm>
            <a:off x="6629400" y="4709160"/>
            <a:ext cx="448056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33" name="Text 32"/>
          <p:cNvSpPr txBox="1"/>
          <p:nvPr/>
        </p:nvSpPr>
        <p:spPr>
          <a:xfrm>
            <a:off x="6629400" y="4800600"/>
            <a:ext cx="457200" cy="228600"/>
          </a:xfrm>
          <a:prstGeom prst="rect">
            <a:avLst/>
          </a:prstGeom>
          <a:noFill/>
        </p:spPr>
        <p:txBody>
          <a:bodyPr wrap="square" lIns="0" tIns="0" rIns="0" bIns="0">
            <a:spAutoFit/>
          </a:bodyPr>
          <a:lstStyle/>
          <a:p>
            <a:pPr>
              <a:spcAft>
                <a:spcPts val="500"/>
              </a:spcAft>
              <a:defRPr sz="1200" b="0">
                <a:solidFill>
                  <a:srgbClr val="526A81"/>
                </a:solidFill>
                <a:latin typeface="Aptos"/>
              </a:defRPr>
            </a:pPr>
            <a:r>
              <a:t>0</a:t>
            </a:r>
          </a:p>
        </p:txBody>
      </p:sp>
      <p:sp>
        <p:nvSpPr>
          <p:cNvPr id="34" name="Text 33"/>
          <p:cNvSpPr txBox="1"/>
          <p:nvPr/>
        </p:nvSpPr>
        <p:spPr>
          <a:xfrm>
            <a:off x="10378440" y="4800600"/>
            <a:ext cx="731520" cy="228600"/>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1.000</a:t>
            </a:r>
          </a:p>
        </p:txBody>
      </p:sp>
      <p:sp>
        <p:nvSpPr>
          <p:cNvPr id="35" name="Text 34"/>
          <p:cNvSpPr txBox="1"/>
          <p:nvPr/>
        </p:nvSpPr>
        <p:spPr>
          <a:xfrm>
            <a:off x="777240" y="5349240"/>
            <a:ext cx="4572000" cy="548640"/>
          </a:xfrm>
          <a:prstGeom prst="rect">
            <a:avLst/>
          </a:prstGeom>
          <a:noFill/>
        </p:spPr>
        <p:txBody>
          <a:bodyPr wrap="square" lIns="0" tIns="0" rIns="0" bIns="0">
            <a:spAutoFit/>
          </a:bodyPr>
          <a:lstStyle/>
          <a:p>
            <a:pPr>
              <a:spcAft>
                <a:spcPts val="500"/>
              </a:spcAft>
              <a:defRPr sz="3400" b="1">
                <a:solidFill>
                  <a:srgbClr val="1769AA"/>
                </a:solidFill>
                <a:latin typeface="Aptos"/>
              </a:defRPr>
            </a:pPr>
            <a:r>
              <a:t>−142 FP</a:t>
            </a:r>
          </a:p>
        </p:txBody>
      </p:sp>
      <p:sp>
        <p:nvSpPr>
          <p:cNvPr id="36" name="Text 35"/>
          <p:cNvSpPr txBox="1"/>
          <p:nvPr/>
        </p:nvSpPr>
        <p:spPr>
          <a:xfrm>
            <a:off x="777240" y="5916168"/>
            <a:ext cx="10789920" cy="201168"/>
          </a:xfrm>
          <a:prstGeom prst="rect">
            <a:avLst/>
          </a:prstGeom>
          <a:noFill/>
        </p:spPr>
        <p:txBody>
          <a:bodyPr wrap="square" lIns="0" tIns="0" rIns="0" bIns="0">
            <a:spAutoFit/>
          </a:bodyPr>
          <a:lstStyle/>
          <a:p>
            <a:pPr>
              <a:spcAft>
                <a:spcPts val="500"/>
              </a:spcAft>
              <a:defRPr sz="1200" b="0">
                <a:solidFill>
                  <a:srgbClr val="526A81"/>
                </a:solidFill>
                <a:latin typeface="Aptos"/>
              </a:defRPr>
            </a:pPr>
            <a:r>
              <a:t>Hai trục dùng thang riêng; số liệu là số bản ghi trên cùng official TEST.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7100">
        <p159:morph option="byObject"/>
      </p:transition>
    </mc:Choice>
    <mc:Fallback>
      <p:transition spd="slow" advTm="171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3-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…nhưng bỏ sót thêm 118 tấn công</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P9 final_metrics.csv · official TEST, 82.332 dòng · ngưỡng 0,5.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13</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6729983"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828800"/>
            <a:ext cx="4754880" cy="365760"/>
          </a:xfrm>
          <a:prstGeom prst="rect">
            <a:avLst/>
          </a:prstGeom>
          <a:noFill/>
        </p:spPr>
        <p:txBody>
          <a:bodyPr wrap="square" lIns="0" tIns="0" rIns="0" bIns="0">
            <a:spAutoFit/>
          </a:bodyPr>
          <a:lstStyle/>
          <a:p>
            <a:pPr>
              <a:spcAft>
                <a:spcPts val="500"/>
              </a:spcAft>
              <a:defRPr sz="1900" b="1">
                <a:solidFill>
                  <a:srgbClr val="1769AA"/>
                </a:solidFill>
                <a:latin typeface="Aptos"/>
              </a:defRPr>
            </a:pPr>
            <a:r>
              <a:t>CẢNH BÁO GIẢ · FP</a:t>
            </a:r>
          </a:p>
        </p:txBody>
      </p:sp>
      <p:sp>
        <p:nvSpPr>
          <p:cNvPr id="16" name="Text 15"/>
          <p:cNvSpPr txBox="1"/>
          <p:nvPr/>
        </p:nvSpPr>
        <p:spPr>
          <a:xfrm>
            <a:off x="777240" y="2377440"/>
            <a:ext cx="2377440" cy="329184"/>
          </a:xfrm>
          <a:prstGeom prst="rect">
            <a:avLst/>
          </a:prstGeom>
          <a:noFill/>
        </p:spPr>
        <p:txBody>
          <a:bodyPr wrap="square" lIns="0" tIns="0" rIns="0" bIns="0">
            <a:spAutoFit/>
          </a:bodyPr>
          <a:lstStyle/>
          <a:p>
            <a:pPr>
              <a:spcAft>
                <a:spcPts val="500"/>
              </a:spcAft>
              <a:defRPr sz="1800" b="0">
                <a:solidFill>
                  <a:srgbClr val="526A81"/>
                </a:solidFill>
                <a:latin typeface="Aptos"/>
              </a:defRPr>
            </a:pPr>
            <a:r>
              <a:t>RF42</a:t>
            </a:r>
          </a:p>
        </p:txBody>
      </p:sp>
      <p:sp>
        <p:nvSpPr>
          <p:cNvPr id="17" name="!!actor-fp-bar-0"/>
          <p:cNvSpPr/>
          <p:nvPr/>
        </p:nvSpPr>
        <p:spPr>
          <a:xfrm>
            <a:off x="777240" y="2788920"/>
            <a:ext cx="4323914" cy="3200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actor-fp-value-0"/>
          <p:cNvSpPr txBox="1"/>
          <p:nvPr/>
        </p:nvSpPr>
        <p:spPr>
          <a:xfrm>
            <a:off x="3154680" y="2322576"/>
            <a:ext cx="2377440" cy="411480"/>
          </a:xfrm>
          <a:prstGeom prst="rect">
            <a:avLst/>
          </a:prstGeom>
          <a:noFill/>
        </p:spPr>
        <p:txBody>
          <a:bodyPr wrap="square" lIns="0" tIns="0" rIns="0" bIns="0">
            <a:spAutoFit/>
          </a:bodyPr>
          <a:lstStyle/>
          <a:p>
            <a:pPr algn="r">
              <a:spcAft>
                <a:spcPts val="500"/>
              </a:spcAft>
              <a:defRPr sz="2300" b="1">
                <a:solidFill>
                  <a:srgbClr val="1769AA"/>
                </a:solidFill>
                <a:latin typeface="Aptos"/>
              </a:defRPr>
            </a:pPr>
            <a:r>
              <a:t>10.003</a:t>
            </a:r>
          </a:p>
        </p:txBody>
      </p:sp>
      <p:sp>
        <p:nvSpPr>
          <p:cNvPr id="19" name="Text 18"/>
          <p:cNvSpPr txBox="1"/>
          <p:nvPr/>
        </p:nvSpPr>
        <p:spPr>
          <a:xfrm>
            <a:off x="777240" y="3429000"/>
            <a:ext cx="2377440" cy="329184"/>
          </a:xfrm>
          <a:prstGeom prst="rect">
            <a:avLst/>
          </a:prstGeom>
          <a:noFill/>
        </p:spPr>
        <p:txBody>
          <a:bodyPr wrap="square" lIns="0" tIns="0" rIns="0" bIns="0">
            <a:spAutoFit/>
          </a:bodyPr>
          <a:lstStyle/>
          <a:p>
            <a:pPr>
              <a:spcAft>
                <a:spcPts val="500"/>
              </a:spcAft>
              <a:defRPr sz="1800" b="0">
                <a:solidFill>
                  <a:srgbClr val="526A81"/>
                </a:solidFill>
                <a:latin typeface="Aptos"/>
              </a:defRPr>
            </a:pPr>
            <a:r>
              <a:t>Stacking42</a:t>
            </a:r>
          </a:p>
        </p:txBody>
      </p:sp>
      <p:sp>
        <p:nvSpPr>
          <p:cNvPr id="20" name="!!actor-fp-bar-1"/>
          <p:cNvSpPr/>
          <p:nvPr/>
        </p:nvSpPr>
        <p:spPr>
          <a:xfrm>
            <a:off x="777240" y="3840480"/>
            <a:ext cx="4262533" cy="3200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ctor-fp-value-1"/>
          <p:cNvSpPr txBox="1"/>
          <p:nvPr/>
        </p:nvSpPr>
        <p:spPr>
          <a:xfrm>
            <a:off x="3154680" y="3374136"/>
            <a:ext cx="2377440" cy="411480"/>
          </a:xfrm>
          <a:prstGeom prst="rect">
            <a:avLst/>
          </a:prstGeom>
          <a:noFill/>
        </p:spPr>
        <p:txBody>
          <a:bodyPr wrap="square" lIns="0" tIns="0" rIns="0" bIns="0">
            <a:spAutoFit/>
          </a:bodyPr>
          <a:lstStyle/>
          <a:p>
            <a:pPr algn="r">
              <a:spcAft>
                <a:spcPts val="500"/>
              </a:spcAft>
              <a:defRPr sz="2300" b="1">
                <a:solidFill>
                  <a:srgbClr val="1769AA"/>
                </a:solidFill>
                <a:latin typeface="Aptos"/>
              </a:defRPr>
            </a:pPr>
            <a:r>
              <a:t>9.861</a:t>
            </a:r>
          </a:p>
        </p:txBody>
      </p:sp>
      <p:cxnSp>
        <p:nvCxnSpPr>
          <p:cNvPr id="22" name="Connector 21"/>
          <p:cNvCxnSpPr/>
          <p:nvPr/>
        </p:nvCxnSpPr>
        <p:spPr>
          <a:xfrm>
            <a:off x="777240" y="4709160"/>
            <a:ext cx="475488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23" name="Text 22"/>
          <p:cNvSpPr txBox="1"/>
          <p:nvPr/>
        </p:nvSpPr>
        <p:spPr>
          <a:xfrm>
            <a:off x="777240" y="4800600"/>
            <a:ext cx="457200" cy="228600"/>
          </a:xfrm>
          <a:prstGeom prst="rect">
            <a:avLst/>
          </a:prstGeom>
          <a:noFill/>
        </p:spPr>
        <p:txBody>
          <a:bodyPr wrap="square" lIns="0" tIns="0" rIns="0" bIns="0">
            <a:spAutoFit/>
          </a:bodyPr>
          <a:lstStyle/>
          <a:p>
            <a:pPr>
              <a:spcAft>
                <a:spcPts val="500"/>
              </a:spcAft>
              <a:defRPr sz="1200" b="0">
                <a:solidFill>
                  <a:srgbClr val="526A81"/>
                </a:solidFill>
                <a:latin typeface="Aptos"/>
              </a:defRPr>
            </a:pPr>
            <a:r>
              <a:t>0</a:t>
            </a:r>
          </a:p>
        </p:txBody>
      </p:sp>
      <p:sp>
        <p:nvSpPr>
          <p:cNvPr id="24" name="Text 23"/>
          <p:cNvSpPr txBox="1"/>
          <p:nvPr/>
        </p:nvSpPr>
        <p:spPr>
          <a:xfrm>
            <a:off x="4800600" y="4800600"/>
            <a:ext cx="731520" cy="228600"/>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11.000</a:t>
            </a:r>
          </a:p>
        </p:txBody>
      </p:sp>
      <p:sp>
        <p:nvSpPr>
          <p:cNvPr id="25" name="Text 24"/>
          <p:cNvSpPr txBox="1"/>
          <p:nvPr/>
        </p:nvSpPr>
        <p:spPr>
          <a:xfrm>
            <a:off x="6629400" y="1828800"/>
            <a:ext cx="4480560" cy="365760"/>
          </a:xfrm>
          <a:prstGeom prst="rect">
            <a:avLst/>
          </a:prstGeom>
          <a:noFill/>
        </p:spPr>
        <p:txBody>
          <a:bodyPr wrap="square" lIns="0" tIns="0" rIns="0" bIns="0">
            <a:spAutoFit/>
          </a:bodyPr>
          <a:lstStyle/>
          <a:p>
            <a:pPr>
              <a:spcAft>
                <a:spcPts val="500"/>
              </a:spcAft>
              <a:defRPr sz="1900" b="1">
                <a:solidFill>
                  <a:srgbClr val="B65B29"/>
                </a:solidFill>
                <a:latin typeface="Aptos"/>
              </a:defRPr>
            </a:pPr>
            <a:r>
              <a:t>BỎ SÓT · FN</a:t>
            </a:r>
          </a:p>
        </p:txBody>
      </p:sp>
      <p:sp>
        <p:nvSpPr>
          <p:cNvPr id="26" name="Text 25"/>
          <p:cNvSpPr txBox="1"/>
          <p:nvPr/>
        </p:nvSpPr>
        <p:spPr>
          <a:xfrm>
            <a:off x="6629400" y="2377440"/>
            <a:ext cx="2240280" cy="329184"/>
          </a:xfrm>
          <a:prstGeom prst="rect">
            <a:avLst/>
          </a:prstGeom>
          <a:noFill/>
        </p:spPr>
        <p:txBody>
          <a:bodyPr wrap="square" lIns="0" tIns="0" rIns="0" bIns="0">
            <a:spAutoFit/>
          </a:bodyPr>
          <a:lstStyle/>
          <a:p>
            <a:pPr>
              <a:spcAft>
                <a:spcPts val="500"/>
              </a:spcAft>
              <a:defRPr sz="1800" b="0">
                <a:solidFill>
                  <a:srgbClr val="526A81"/>
                </a:solidFill>
                <a:latin typeface="Aptos"/>
              </a:defRPr>
            </a:pPr>
            <a:r>
              <a:t>RF42</a:t>
            </a:r>
          </a:p>
        </p:txBody>
      </p:sp>
      <p:sp>
        <p:nvSpPr>
          <p:cNvPr id="27" name="!!actor-fn-bar-0"/>
          <p:cNvSpPr/>
          <p:nvPr/>
        </p:nvSpPr>
        <p:spPr>
          <a:xfrm>
            <a:off x="6629400" y="2788920"/>
            <a:ext cx="3288731" cy="320040"/>
          </a:xfrm>
          <a:prstGeom prst="rect">
            <a:avLst/>
          </a:prstGeom>
          <a:solidFill>
            <a:srgbClr val="B65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ctor-fn-value-0"/>
          <p:cNvSpPr txBox="1"/>
          <p:nvPr/>
        </p:nvSpPr>
        <p:spPr>
          <a:xfrm>
            <a:off x="8869680" y="2322576"/>
            <a:ext cx="2240280" cy="411480"/>
          </a:xfrm>
          <a:prstGeom prst="rect">
            <a:avLst/>
          </a:prstGeom>
          <a:noFill/>
        </p:spPr>
        <p:txBody>
          <a:bodyPr wrap="square" lIns="0" tIns="0" rIns="0" bIns="0">
            <a:spAutoFit/>
          </a:bodyPr>
          <a:lstStyle/>
          <a:p>
            <a:pPr algn="r">
              <a:spcAft>
                <a:spcPts val="500"/>
              </a:spcAft>
              <a:defRPr sz="2300" b="1">
                <a:solidFill>
                  <a:srgbClr val="B65B29"/>
                </a:solidFill>
                <a:latin typeface="Aptos"/>
              </a:defRPr>
            </a:pPr>
            <a:r>
              <a:t>734</a:t>
            </a:r>
          </a:p>
        </p:txBody>
      </p:sp>
      <p:sp>
        <p:nvSpPr>
          <p:cNvPr id="29" name="Text 28"/>
          <p:cNvSpPr txBox="1"/>
          <p:nvPr/>
        </p:nvSpPr>
        <p:spPr>
          <a:xfrm>
            <a:off x="6629400" y="3429000"/>
            <a:ext cx="2240280" cy="329184"/>
          </a:xfrm>
          <a:prstGeom prst="rect">
            <a:avLst/>
          </a:prstGeom>
          <a:noFill/>
        </p:spPr>
        <p:txBody>
          <a:bodyPr wrap="square" lIns="0" tIns="0" rIns="0" bIns="0">
            <a:spAutoFit/>
          </a:bodyPr>
          <a:lstStyle/>
          <a:p>
            <a:pPr>
              <a:spcAft>
                <a:spcPts val="500"/>
              </a:spcAft>
              <a:defRPr sz="1800" b="0">
                <a:solidFill>
                  <a:srgbClr val="526A81"/>
                </a:solidFill>
                <a:latin typeface="Aptos"/>
              </a:defRPr>
            </a:pPr>
            <a:r>
              <a:t>Stacking42</a:t>
            </a:r>
          </a:p>
        </p:txBody>
      </p:sp>
      <p:sp>
        <p:nvSpPr>
          <p:cNvPr id="30" name="!!actor-fn-bar-1"/>
          <p:cNvSpPr/>
          <p:nvPr/>
        </p:nvSpPr>
        <p:spPr>
          <a:xfrm>
            <a:off x="6629400" y="3840480"/>
            <a:ext cx="3817437" cy="320040"/>
          </a:xfrm>
          <a:prstGeom prst="rect">
            <a:avLst/>
          </a:prstGeom>
          <a:solidFill>
            <a:srgbClr val="B65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actor-fn-value-1"/>
          <p:cNvSpPr txBox="1"/>
          <p:nvPr/>
        </p:nvSpPr>
        <p:spPr>
          <a:xfrm>
            <a:off x="8869680" y="3374136"/>
            <a:ext cx="2240280" cy="411480"/>
          </a:xfrm>
          <a:prstGeom prst="rect">
            <a:avLst/>
          </a:prstGeom>
          <a:noFill/>
        </p:spPr>
        <p:txBody>
          <a:bodyPr wrap="square" lIns="0" tIns="0" rIns="0" bIns="0">
            <a:spAutoFit/>
          </a:bodyPr>
          <a:lstStyle/>
          <a:p>
            <a:pPr algn="r">
              <a:spcAft>
                <a:spcPts val="500"/>
              </a:spcAft>
              <a:defRPr sz="2300" b="1">
                <a:solidFill>
                  <a:srgbClr val="B65B29"/>
                </a:solidFill>
                <a:latin typeface="Aptos"/>
              </a:defRPr>
            </a:pPr>
            <a:r>
              <a:t>852</a:t>
            </a:r>
          </a:p>
        </p:txBody>
      </p:sp>
      <p:cxnSp>
        <p:nvCxnSpPr>
          <p:cNvPr id="32" name="Connector 31"/>
          <p:cNvCxnSpPr/>
          <p:nvPr/>
        </p:nvCxnSpPr>
        <p:spPr>
          <a:xfrm>
            <a:off x="6629400" y="4709160"/>
            <a:ext cx="448056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33" name="Text 32"/>
          <p:cNvSpPr txBox="1"/>
          <p:nvPr/>
        </p:nvSpPr>
        <p:spPr>
          <a:xfrm>
            <a:off x="6629400" y="4800600"/>
            <a:ext cx="457200" cy="228600"/>
          </a:xfrm>
          <a:prstGeom prst="rect">
            <a:avLst/>
          </a:prstGeom>
          <a:noFill/>
        </p:spPr>
        <p:txBody>
          <a:bodyPr wrap="square" lIns="0" tIns="0" rIns="0" bIns="0">
            <a:spAutoFit/>
          </a:bodyPr>
          <a:lstStyle/>
          <a:p>
            <a:pPr>
              <a:spcAft>
                <a:spcPts val="500"/>
              </a:spcAft>
              <a:defRPr sz="1200" b="0">
                <a:solidFill>
                  <a:srgbClr val="526A81"/>
                </a:solidFill>
                <a:latin typeface="Aptos"/>
              </a:defRPr>
            </a:pPr>
            <a:r>
              <a:t>0</a:t>
            </a:r>
          </a:p>
        </p:txBody>
      </p:sp>
      <p:sp>
        <p:nvSpPr>
          <p:cNvPr id="34" name="Text 33"/>
          <p:cNvSpPr txBox="1"/>
          <p:nvPr/>
        </p:nvSpPr>
        <p:spPr>
          <a:xfrm>
            <a:off x="10378440" y="4800600"/>
            <a:ext cx="731520" cy="228600"/>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1.000</a:t>
            </a:r>
          </a:p>
        </p:txBody>
      </p:sp>
      <p:sp>
        <p:nvSpPr>
          <p:cNvPr id="35" name="Text 34"/>
          <p:cNvSpPr txBox="1"/>
          <p:nvPr/>
        </p:nvSpPr>
        <p:spPr>
          <a:xfrm>
            <a:off x="777240" y="5349240"/>
            <a:ext cx="4572000" cy="548640"/>
          </a:xfrm>
          <a:prstGeom prst="rect">
            <a:avLst/>
          </a:prstGeom>
          <a:noFill/>
        </p:spPr>
        <p:txBody>
          <a:bodyPr wrap="square" lIns="0" tIns="0" rIns="0" bIns="0">
            <a:spAutoFit/>
          </a:bodyPr>
          <a:lstStyle/>
          <a:p>
            <a:pPr>
              <a:spcAft>
                <a:spcPts val="500"/>
              </a:spcAft>
              <a:defRPr sz="3400" b="1">
                <a:solidFill>
                  <a:srgbClr val="1769AA"/>
                </a:solidFill>
                <a:latin typeface="Aptos"/>
              </a:defRPr>
            </a:pPr>
            <a:r>
              <a:t>−142 FP</a:t>
            </a:r>
          </a:p>
        </p:txBody>
      </p:sp>
      <p:sp>
        <p:nvSpPr>
          <p:cNvPr id="36" name="Text 35"/>
          <p:cNvSpPr txBox="1"/>
          <p:nvPr/>
        </p:nvSpPr>
        <p:spPr>
          <a:xfrm>
            <a:off x="6629400" y="5349240"/>
            <a:ext cx="4572000" cy="548640"/>
          </a:xfrm>
          <a:prstGeom prst="rect">
            <a:avLst/>
          </a:prstGeom>
          <a:noFill/>
        </p:spPr>
        <p:txBody>
          <a:bodyPr wrap="square" lIns="0" tIns="0" rIns="0" bIns="0">
            <a:spAutoFit/>
          </a:bodyPr>
          <a:lstStyle/>
          <a:p>
            <a:pPr>
              <a:spcAft>
                <a:spcPts val="500"/>
              </a:spcAft>
              <a:defRPr sz="3400" b="1">
                <a:solidFill>
                  <a:srgbClr val="B65B29"/>
                </a:solidFill>
                <a:latin typeface="Aptos"/>
              </a:defRPr>
            </a:pPr>
            <a:r>
              <a:t>+118 FN</a:t>
            </a:r>
          </a:p>
        </p:txBody>
      </p:sp>
      <p:sp>
        <p:nvSpPr>
          <p:cNvPr id="37" name="Text 36"/>
          <p:cNvSpPr txBox="1"/>
          <p:nvPr/>
        </p:nvSpPr>
        <p:spPr>
          <a:xfrm>
            <a:off x="777240" y="5916168"/>
            <a:ext cx="10789920" cy="201168"/>
          </a:xfrm>
          <a:prstGeom prst="rect">
            <a:avLst/>
          </a:prstGeom>
          <a:noFill/>
        </p:spPr>
        <p:txBody>
          <a:bodyPr wrap="square" lIns="0" tIns="0" rIns="0" bIns="0">
            <a:spAutoFit/>
          </a:bodyPr>
          <a:lstStyle/>
          <a:p>
            <a:pPr>
              <a:spcAft>
                <a:spcPts val="500"/>
              </a:spcAft>
              <a:defRPr sz="1200" b="0">
                <a:solidFill>
                  <a:srgbClr val="526A81"/>
                </a:solidFill>
                <a:latin typeface="Aptos"/>
              </a:defRPr>
            </a:pPr>
            <a:r>
              <a:t>Hai trục dùng thang riêng; số liệu là số bản ghi trên cùng official TEST.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6100">
        <p159:morph option="byObject"/>
      </p:transition>
    </mc:Choice>
    <mc:Fallback>
      <p:transition spd="slow" advTm="161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4-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Lợi thế tổng hợp chưa đủ thuyết phục</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P9 final_metrics.csv · official TEST, 82.332 dòng · ngưỡng 0,5.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14</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6729983"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2103120"/>
            <a:ext cx="5029200" cy="914400"/>
          </a:xfrm>
          <a:prstGeom prst="rect">
            <a:avLst/>
          </a:prstGeom>
          <a:noFill/>
        </p:spPr>
        <p:txBody>
          <a:bodyPr wrap="square" lIns="0" tIns="0" rIns="0" bIns="0">
            <a:spAutoFit/>
          </a:bodyPr>
          <a:lstStyle/>
          <a:p>
            <a:pPr>
              <a:spcAft>
                <a:spcPts val="500"/>
              </a:spcAft>
              <a:defRPr sz="5800" b="1">
                <a:solidFill>
                  <a:srgbClr val="1769AA"/>
                </a:solidFill>
                <a:latin typeface="Aptos"/>
              </a:defRPr>
            </a:pPr>
            <a:r>
              <a:t>−142 FP</a:t>
            </a:r>
          </a:p>
        </p:txBody>
      </p:sp>
      <p:sp>
        <p:nvSpPr>
          <p:cNvPr id="16" name="Text 15"/>
          <p:cNvSpPr txBox="1"/>
          <p:nvPr/>
        </p:nvSpPr>
        <p:spPr>
          <a:xfrm>
            <a:off x="6400800" y="2103120"/>
            <a:ext cx="5029200" cy="914400"/>
          </a:xfrm>
          <a:prstGeom prst="rect">
            <a:avLst/>
          </a:prstGeom>
          <a:noFill/>
        </p:spPr>
        <p:txBody>
          <a:bodyPr wrap="square" lIns="0" tIns="0" rIns="0" bIns="0">
            <a:spAutoFit/>
          </a:bodyPr>
          <a:lstStyle/>
          <a:p>
            <a:pPr>
              <a:spcAft>
                <a:spcPts val="500"/>
              </a:spcAft>
              <a:defRPr sz="5800" b="1">
                <a:solidFill>
                  <a:srgbClr val="B65B29"/>
                </a:solidFill>
                <a:latin typeface="Aptos"/>
              </a:defRPr>
            </a:pPr>
            <a:r>
              <a:t>+118 FN</a:t>
            </a:r>
          </a:p>
        </p:txBody>
      </p:sp>
      <p:sp>
        <p:nvSpPr>
          <p:cNvPr id="17" name="Text 16"/>
          <p:cNvSpPr txBox="1"/>
          <p:nvPr/>
        </p:nvSpPr>
        <p:spPr>
          <a:xfrm>
            <a:off x="777240" y="3794760"/>
            <a:ext cx="10698480" cy="685800"/>
          </a:xfrm>
          <a:prstGeom prst="rect">
            <a:avLst/>
          </a:prstGeom>
          <a:noFill/>
        </p:spPr>
        <p:txBody>
          <a:bodyPr wrap="square" lIns="0" tIns="0" rIns="0" bIns="0">
            <a:spAutoFit/>
          </a:bodyPr>
          <a:lstStyle/>
          <a:p>
            <a:pPr>
              <a:spcAft>
                <a:spcPts val="500"/>
              </a:spcAft>
              <a:defRPr sz="3000" b="1">
                <a:solidFill>
                  <a:srgbClr val="0D3560"/>
                </a:solidFill>
                <a:latin typeface="Aptos"/>
              </a:defRPr>
            </a:pPr>
            <a:r>
              <a:t>CI 95% của Δ Macro-F1 / Δ MCC đều chứa 0</a:t>
            </a:r>
          </a:p>
        </p:txBody>
      </p:sp>
      <p:sp>
        <p:nvSpPr>
          <p:cNvPr id="18" name="Text 17"/>
          <p:cNvSpPr txBox="1"/>
          <p:nvPr/>
        </p:nvSpPr>
        <p:spPr>
          <a:xfrm>
            <a:off x="777240" y="4800600"/>
            <a:ext cx="10698480" cy="914400"/>
          </a:xfrm>
          <a:prstGeom prst="rect">
            <a:avLst/>
          </a:prstGeom>
          <a:noFill/>
        </p:spPr>
        <p:txBody>
          <a:bodyPr wrap="square" lIns="0" tIns="0" rIns="0" bIns="0">
            <a:spAutoFit/>
          </a:bodyPr>
          <a:lstStyle/>
          <a:p>
            <a:pPr>
              <a:spcAft>
                <a:spcPts val="500"/>
              </a:spcAft>
              <a:defRPr sz="2400" b="0">
                <a:solidFill>
                  <a:srgbClr val="526A81"/>
                </a:solidFill>
                <a:latin typeface="Aptos"/>
              </a:defRPr>
            </a:pPr>
            <a:r>
              <a:t>Chưa thấy ưu thế rõ theo phép đo này.</a:t>
            </a:r>
          </a:p>
          <a:p>
            <a:pPr>
              <a:spcAft>
                <a:spcPts val="500"/>
              </a:spcAft>
              <a:defRPr sz="2400" b="0">
                <a:solidFill>
                  <a:srgbClr val="526A81"/>
                </a:solidFill>
                <a:latin typeface="Aptos"/>
              </a:defRPr>
            </a:pPr>
            <a:r>
              <a:t>Không đồng nghĩa hai mô hình tương đương.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4100">
        <p159:morph option="byObject"/>
      </p:transition>
    </mc:Choice>
    <mc:Fallback>
      <p:transition spd="slow" advTm="141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5-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P21: đối chứng matched trên TRAIN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P21 aggregate.json · hậu nghiệm trên TRAIN; cùng validation qua 5 FIT seed.</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15</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828446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2011680"/>
            <a:ext cx="4389120" cy="731520"/>
          </a:xfrm>
          <a:prstGeom prst="rect">
            <a:avLst/>
          </a:prstGeom>
          <a:noFill/>
        </p:spPr>
        <p:txBody>
          <a:bodyPr wrap="square" lIns="0" tIns="0" rIns="0" bIns="0">
            <a:spAutoFit/>
          </a:bodyPr>
          <a:lstStyle/>
          <a:p>
            <a:pPr>
              <a:spcAft>
                <a:spcPts val="500"/>
              </a:spcAft>
              <a:defRPr sz="4300" b="1">
                <a:solidFill>
                  <a:srgbClr val="1769AA"/>
                </a:solidFill>
                <a:latin typeface="Aptos"/>
              </a:defRPr>
            </a:pPr>
            <a:r>
              <a:t>5 FIT seed</a:t>
            </a:r>
          </a:p>
        </p:txBody>
      </p:sp>
      <p:sp>
        <p:nvSpPr>
          <p:cNvPr id="16" name="Text 15"/>
          <p:cNvSpPr txBox="1"/>
          <p:nvPr/>
        </p:nvSpPr>
        <p:spPr>
          <a:xfrm>
            <a:off x="6492240" y="2011680"/>
            <a:ext cx="5029200" cy="731520"/>
          </a:xfrm>
          <a:prstGeom prst="rect">
            <a:avLst/>
          </a:prstGeom>
          <a:noFill/>
        </p:spPr>
        <p:txBody>
          <a:bodyPr wrap="square" lIns="0" tIns="0" rIns="0" bIns="0">
            <a:spAutoFit/>
          </a:bodyPr>
          <a:lstStyle/>
          <a:p>
            <a:pPr>
              <a:spcAft>
                <a:spcPts val="500"/>
              </a:spcAft>
              <a:defRPr sz="4300" b="1">
                <a:solidFill>
                  <a:srgbClr val="0D3560"/>
                </a:solidFill>
                <a:latin typeface="Aptos"/>
              </a:defRPr>
            </a:pPr>
            <a:r>
              <a:t>1 validation</a:t>
            </a:r>
          </a:p>
        </p:txBody>
      </p:sp>
      <p:sp>
        <p:nvSpPr>
          <p:cNvPr id="17" name="!!actor-fit-seed-0"/>
          <p:cNvSpPr/>
          <p:nvPr/>
        </p:nvSpPr>
        <p:spPr>
          <a:xfrm>
            <a:off x="868680" y="3200400"/>
            <a:ext cx="365760" cy="365760"/>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1051560" y="3657600"/>
            <a:ext cx="534924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19" name="!!actor-fit-seed-1"/>
          <p:cNvSpPr/>
          <p:nvPr/>
        </p:nvSpPr>
        <p:spPr>
          <a:xfrm>
            <a:off x="1554480" y="3200400"/>
            <a:ext cx="365760" cy="365760"/>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1737360" y="3657600"/>
            <a:ext cx="466344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21" name="!!actor-fit-seed-2"/>
          <p:cNvSpPr/>
          <p:nvPr/>
        </p:nvSpPr>
        <p:spPr>
          <a:xfrm>
            <a:off x="2240280" y="3200400"/>
            <a:ext cx="365760" cy="365760"/>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2423160" y="3657600"/>
            <a:ext cx="397764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23" name="!!actor-fit-seed-3"/>
          <p:cNvSpPr/>
          <p:nvPr/>
        </p:nvSpPr>
        <p:spPr>
          <a:xfrm>
            <a:off x="2926080" y="3200400"/>
            <a:ext cx="365760" cy="365760"/>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3108960" y="3657600"/>
            <a:ext cx="329184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25" name="!!actor-fit-seed-4"/>
          <p:cNvSpPr/>
          <p:nvPr/>
        </p:nvSpPr>
        <p:spPr>
          <a:xfrm>
            <a:off x="3611880" y="3200400"/>
            <a:ext cx="365760" cy="365760"/>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3794760" y="3657600"/>
            <a:ext cx="260604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492240" y="3200400"/>
            <a:ext cx="4389120" cy="86868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 27"/>
          <p:cNvSpPr txBox="1"/>
          <p:nvPr/>
        </p:nvSpPr>
        <p:spPr>
          <a:xfrm>
            <a:off x="6601968" y="3337560"/>
            <a:ext cx="4169663" cy="704088"/>
          </a:xfrm>
          <a:prstGeom prst="rect">
            <a:avLst/>
          </a:prstGeom>
          <a:noFill/>
        </p:spPr>
        <p:txBody>
          <a:bodyPr wrap="square" lIns="0" tIns="0" rIns="0" bIns="0">
            <a:spAutoFit/>
          </a:bodyPr>
          <a:lstStyle/>
          <a:p>
            <a:pPr algn="ctr">
              <a:spcAft>
                <a:spcPts val="500"/>
              </a:spcAft>
              <a:defRPr sz="1800" b="1">
                <a:solidFill>
                  <a:srgbClr val="FFFFFF"/>
                </a:solidFill>
                <a:latin typeface="Aptos"/>
              </a:defRPr>
            </a:pPr>
            <a:r>
              <a:t>35.069 dòng cố định</a:t>
            </a:r>
          </a:p>
        </p:txBody>
      </p:sp>
      <p:sp>
        <p:nvSpPr>
          <p:cNvPr id="29" name="Text 28"/>
          <p:cNvSpPr txBox="1"/>
          <p:nvPr/>
        </p:nvSpPr>
        <p:spPr>
          <a:xfrm>
            <a:off x="822960" y="4206240"/>
            <a:ext cx="5029200" cy="457200"/>
          </a:xfrm>
          <a:prstGeom prst="rect">
            <a:avLst/>
          </a:prstGeom>
          <a:noFill/>
        </p:spPr>
        <p:txBody>
          <a:bodyPr wrap="square" lIns="0" tIns="0" rIns="0" bIns="0">
            <a:spAutoFit/>
          </a:bodyPr>
          <a:lstStyle/>
          <a:p>
            <a:pPr>
              <a:spcAft>
                <a:spcPts val="500"/>
              </a:spcAft>
              <a:defRPr sz="2300" b="1">
                <a:solidFill>
                  <a:srgbClr val="1769AA"/>
                </a:solidFill>
                <a:latin typeface="Aptos"/>
              </a:defRPr>
            </a:pPr>
            <a:r>
              <a:t>60.000 FIT rows / seed</a:t>
            </a:r>
          </a:p>
        </p:txBody>
      </p:sp>
      <p:sp>
        <p:nvSpPr>
          <p:cNvPr id="30" name="Text 29"/>
          <p:cNvSpPr txBox="1"/>
          <p:nvPr/>
        </p:nvSpPr>
        <p:spPr>
          <a:xfrm>
            <a:off x="822960" y="5029200"/>
            <a:ext cx="10698480" cy="594360"/>
          </a:xfrm>
          <a:prstGeom prst="rect">
            <a:avLst/>
          </a:prstGeom>
          <a:noFill/>
        </p:spPr>
        <p:txBody>
          <a:bodyPr wrap="square" lIns="0" tIns="0" rIns="0" bIns="0">
            <a:spAutoFit/>
          </a:bodyPr>
          <a:lstStyle/>
          <a:p>
            <a:pPr>
              <a:spcAft>
                <a:spcPts val="500"/>
              </a:spcAft>
              <a:defRPr sz="2400" b="1">
                <a:solidFill>
                  <a:srgbClr val="0D3560"/>
                </a:solidFill>
                <a:latin typeface="Aptos"/>
              </a:defRPr>
            </a:pPr>
            <a:r>
              <a:t>RF42 · RF17 · Balanced · Oversample · Stacking</a:t>
            </a:r>
          </a:p>
        </p:txBody>
      </p:sp>
      <p:sp>
        <p:nvSpPr>
          <p:cNvPr id="31" name="Text 30"/>
          <p:cNvSpPr txBox="1"/>
          <p:nvPr/>
        </p:nvSpPr>
        <p:spPr>
          <a:xfrm>
            <a:off x="822960" y="5614416"/>
            <a:ext cx="10698480" cy="365760"/>
          </a:xfrm>
          <a:prstGeom prst="rect">
            <a:avLst/>
          </a:prstGeom>
          <a:noFill/>
        </p:spPr>
        <p:txBody>
          <a:bodyPr wrap="square" lIns="0" tIns="0" rIns="0" bIns="0">
            <a:spAutoFit/>
          </a:bodyPr>
          <a:lstStyle/>
          <a:p>
            <a:pPr>
              <a:spcAft>
                <a:spcPts val="500"/>
              </a:spcAft>
              <a:defRPr sz="2000" b="0">
                <a:solidFill>
                  <a:srgbClr val="526A81"/>
                </a:solidFill>
                <a:latin typeface="Aptos"/>
              </a:defRPr>
            </a:pPr>
            <a:r>
              <a:t>Group theo vector trùng; không phải 5 TEST độc lập.</a:t>
            </a:r>
          </a:p>
        </p:txBody>
      </p:sp>
    </p:spTree>
  </p:cSld>
  <p:clrMapOvr>
    <a:masterClrMapping/>
  </p:clrMapOvr>
  <mc:AlternateContent xmlns:mc="http://schemas.openxmlformats.org/markup-compatibility/2006">
    <mc:Choice xmlns:p14="http://schemas.microsoft.com/office/powerpoint/2010/main" Requires="p14">
      <p:transition spd="med" p14:dur="550" advTm="19450">
        <p:fade thruBlk="1"/>
      </p:transition>
    </mc:Choice>
    <mc:Fallback>
      <p:transition spd="med" advTm="19450">
        <p:fade thruBlk="1"/>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6-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P21 chưa cho thấy Stacking-Lite tốt hơn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P21 aggregate.json · hậu nghiệm trên TRAIN; cùng validation qua 5 FIT seed.</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16</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828446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3063240" y="2011680"/>
            <a:ext cx="0" cy="315468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16" name="Text 15"/>
          <p:cNvSpPr txBox="1"/>
          <p:nvPr/>
        </p:nvSpPr>
        <p:spPr>
          <a:xfrm>
            <a:off x="2788920" y="5330952"/>
            <a:ext cx="73152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0.944</a:t>
            </a:r>
          </a:p>
        </p:txBody>
      </p:sp>
      <p:cxnSp>
        <p:nvCxnSpPr>
          <p:cNvPr id="17" name="Connector 16"/>
          <p:cNvCxnSpPr/>
          <p:nvPr/>
        </p:nvCxnSpPr>
        <p:spPr>
          <a:xfrm>
            <a:off x="6949440" y="2011680"/>
            <a:ext cx="0" cy="315468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18" name="Text 17"/>
          <p:cNvSpPr txBox="1"/>
          <p:nvPr/>
        </p:nvSpPr>
        <p:spPr>
          <a:xfrm>
            <a:off x="6675120" y="5330952"/>
            <a:ext cx="73152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0.945</a:t>
            </a:r>
          </a:p>
        </p:txBody>
      </p:sp>
      <p:cxnSp>
        <p:nvCxnSpPr>
          <p:cNvPr id="19" name="Connector 18"/>
          <p:cNvCxnSpPr/>
          <p:nvPr/>
        </p:nvCxnSpPr>
        <p:spPr>
          <a:xfrm>
            <a:off x="10835640" y="2011680"/>
            <a:ext cx="0" cy="315468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20" name="Text 19"/>
          <p:cNvSpPr txBox="1"/>
          <p:nvPr/>
        </p:nvSpPr>
        <p:spPr>
          <a:xfrm>
            <a:off x="10561319" y="5330952"/>
            <a:ext cx="73152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0.946</a:t>
            </a:r>
          </a:p>
        </p:txBody>
      </p:sp>
      <p:sp>
        <p:nvSpPr>
          <p:cNvPr id="21" name="Text 20"/>
          <p:cNvSpPr txBox="1"/>
          <p:nvPr/>
        </p:nvSpPr>
        <p:spPr>
          <a:xfrm>
            <a:off x="777240" y="2057400"/>
            <a:ext cx="1371600" cy="365760"/>
          </a:xfrm>
          <a:prstGeom prst="rect">
            <a:avLst/>
          </a:prstGeom>
          <a:noFill/>
        </p:spPr>
        <p:txBody>
          <a:bodyPr wrap="square" lIns="0" tIns="0" rIns="0" bIns="0">
            <a:spAutoFit/>
          </a:bodyPr>
          <a:lstStyle/>
          <a:p>
            <a:pPr>
              <a:spcAft>
                <a:spcPts val="500"/>
              </a:spcAft>
              <a:defRPr sz="1800" b="0">
                <a:solidFill>
                  <a:srgbClr val="526A81"/>
                </a:solidFill>
                <a:latin typeface="Aptos"/>
              </a:defRPr>
            </a:pPr>
            <a:r>
              <a:t>1103</a:t>
            </a:r>
          </a:p>
        </p:txBody>
      </p:sp>
      <p:cxnSp>
        <p:nvCxnSpPr>
          <p:cNvPr id="22" name="Connector 21"/>
          <p:cNvCxnSpPr/>
          <p:nvPr/>
        </p:nvCxnSpPr>
        <p:spPr>
          <a:xfrm>
            <a:off x="4788402" y="2148840"/>
            <a:ext cx="1155106" cy="0"/>
          </a:xfrm>
          <a:prstGeom prst="line">
            <a:avLst/>
          </a:prstGeom>
          <a:ln w="38100">
            <a:solidFill>
              <a:srgbClr val="D6E7F5"/>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884072" y="2089404"/>
            <a:ext cx="118872" cy="118872"/>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728966" y="2089404"/>
            <a:ext cx="118872" cy="118872"/>
          </a:xfrm>
          <a:prstGeom prst="ellipse">
            <a:avLst/>
          </a:prstGeom>
          <a:solidFill>
            <a:srgbClr val="B65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 24"/>
          <p:cNvSpPr txBox="1"/>
          <p:nvPr/>
        </p:nvSpPr>
        <p:spPr>
          <a:xfrm>
            <a:off x="777240" y="2660904"/>
            <a:ext cx="1371600" cy="365760"/>
          </a:xfrm>
          <a:prstGeom prst="rect">
            <a:avLst/>
          </a:prstGeom>
          <a:noFill/>
        </p:spPr>
        <p:txBody>
          <a:bodyPr wrap="square" lIns="0" tIns="0" rIns="0" bIns="0">
            <a:spAutoFit/>
          </a:bodyPr>
          <a:lstStyle/>
          <a:p>
            <a:pPr>
              <a:spcAft>
                <a:spcPts val="500"/>
              </a:spcAft>
              <a:defRPr sz="1800" b="0">
                <a:solidFill>
                  <a:srgbClr val="526A81"/>
                </a:solidFill>
                <a:latin typeface="Aptos"/>
              </a:defRPr>
            </a:pPr>
            <a:r>
              <a:t>2207</a:t>
            </a:r>
          </a:p>
        </p:txBody>
      </p:sp>
      <p:cxnSp>
        <p:nvCxnSpPr>
          <p:cNvPr id="26" name="Connector 25"/>
          <p:cNvCxnSpPr/>
          <p:nvPr/>
        </p:nvCxnSpPr>
        <p:spPr>
          <a:xfrm>
            <a:off x="5236481" y="2752344"/>
            <a:ext cx="4479262" cy="0"/>
          </a:xfrm>
          <a:prstGeom prst="line">
            <a:avLst/>
          </a:prstGeom>
          <a:ln w="38100">
            <a:solidFill>
              <a:srgbClr val="D6E7F5"/>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9656307" y="2692908"/>
            <a:ext cx="118872" cy="118872"/>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177045" y="2692908"/>
            <a:ext cx="118872" cy="118872"/>
          </a:xfrm>
          <a:prstGeom prst="ellipse">
            <a:avLst/>
          </a:prstGeom>
          <a:solidFill>
            <a:srgbClr val="B65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28"/>
          <p:cNvSpPr txBox="1"/>
          <p:nvPr/>
        </p:nvSpPr>
        <p:spPr>
          <a:xfrm>
            <a:off x="777240" y="3264408"/>
            <a:ext cx="1371600" cy="365760"/>
          </a:xfrm>
          <a:prstGeom prst="rect">
            <a:avLst/>
          </a:prstGeom>
          <a:noFill/>
        </p:spPr>
        <p:txBody>
          <a:bodyPr wrap="square" lIns="0" tIns="0" rIns="0" bIns="0">
            <a:spAutoFit/>
          </a:bodyPr>
          <a:lstStyle/>
          <a:p>
            <a:pPr>
              <a:spcAft>
                <a:spcPts val="500"/>
              </a:spcAft>
              <a:defRPr sz="1800" b="0">
                <a:solidFill>
                  <a:srgbClr val="526A81"/>
                </a:solidFill>
                <a:latin typeface="Aptos"/>
              </a:defRPr>
            </a:pPr>
            <a:r>
              <a:t>3301</a:t>
            </a:r>
          </a:p>
        </p:txBody>
      </p:sp>
      <p:cxnSp>
        <p:nvCxnSpPr>
          <p:cNvPr id="30" name="Connector 29"/>
          <p:cNvCxnSpPr/>
          <p:nvPr/>
        </p:nvCxnSpPr>
        <p:spPr>
          <a:xfrm>
            <a:off x="7255856" y="3355848"/>
            <a:ext cx="1816887" cy="0"/>
          </a:xfrm>
          <a:prstGeom prst="line">
            <a:avLst/>
          </a:prstGeom>
          <a:ln w="38100">
            <a:solidFill>
              <a:srgbClr val="D6E7F5"/>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013307" y="3296412"/>
            <a:ext cx="118872" cy="118872"/>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196420" y="3296412"/>
            <a:ext cx="118872" cy="118872"/>
          </a:xfrm>
          <a:prstGeom prst="ellipse">
            <a:avLst/>
          </a:prstGeom>
          <a:solidFill>
            <a:srgbClr val="B65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32"/>
          <p:cNvSpPr txBox="1"/>
          <p:nvPr/>
        </p:nvSpPr>
        <p:spPr>
          <a:xfrm>
            <a:off x="777240" y="3867912"/>
            <a:ext cx="1371600" cy="365760"/>
          </a:xfrm>
          <a:prstGeom prst="rect">
            <a:avLst/>
          </a:prstGeom>
          <a:noFill/>
        </p:spPr>
        <p:txBody>
          <a:bodyPr wrap="square" lIns="0" tIns="0" rIns="0" bIns="0">
            <a:spAutoFit/>
          </a:bodyPr>
          <a:lstStyle/>
          <a:p>
            <a:pPr>
              <a:spcAft>
                <a:spcPts val="500"/>
              </a:spcAft>
              <a:defRPr sz="1800" b="0">
                <a:solidFill>
                  <a:srgbClr val="526A81"/>
                </a:solidFill>
                <a:latin typeface="Aptos"/>
              </a:defRPr>
            </a:pPr>
            <a:r>
              <a:t>4409</a:t>
            </a:r>
          </a:p>
        </p:txBody>
      </p:sp>
      <p:cxnSp>
        <p:nvCxnSpPr>
          <p:cNvPr id="34" name="Connector 33"/>
          <p:cNvCxnSpPr/>
          <p:nvPr/>
        </p:nvCxnSpPr>
        <p:spPr>
          <a:xfrm>
            <a:off x="7260664" y="3959352"/>
            <a:ext cx="157554" cy="0"/>
          </a:xfrm>
          <a:prstGeom prst="line">
            <a:avLst/>
          </a:prstGeom>
          <a:ln w="38100">
            <a:solidFill>
              <a:srgbClr val="D6E7F5"/>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201228" y="3899915"/>
            <a:ext cx="118872" cy="118872"/>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358782" y="3899915"/>
            <a:ext cx="118872" cy="118872"/>
          </a:xfrm>
          <a:prstGeom prst="ellipse">
            <a:avLst/>
          </a:prstGeom>
          <a:solidFill>
            <a:srgbClr val="B65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36"/>
          <p:cNvSpPr txBox="1"/>
          <p:nvPr/>
        </p:nvSpPr>
        <p:spPr>
          <a:xfrm>
            <a:off x="777240" y="4471416"/>
            <a:ext cx="1371600" cy="365760"/>
          </a:xfrm>
          <a:prstGeom prst="rect">
            <a:avLst/>
          </a:prstGeom>
          <a:noFill/>
        </p:spPr>
        <p:txBody>
          <a:bodyPr wrap="square" lIns="0" tIns="0" rIns="0" bIns="0">
            <a:spAutoFit/>
          </a:bodyPr>
          <a:lstStyle/>
          <a:p>
            <a:pPr>
              <a:spcAft>
                <a:spcPts val="500"/>
              </a:spcAft>
              <a:defRPr sz="1800" b="0">
                <a:solidFill>
                  <a:srgbClr val="526A81"/>
                </a:solidFill>
                <a:latin typeface="Aptos"/>
              </a:defRPr>
            </a:pPr>
            <a:r>
              <a:t>5501</a:t>
            </a:r>
          </a:p>
        </p:txBody>
      </p:sp>
      <p:cxnSp>
        <p:nvCxnSpPr>
          <p:cNvPr id="38" name="Connector 37"/>
          <p:cNvCxnSpPr/>
          <p:nvPr/>
        </p:nvCxnSpPr>
        <p:spPr>
          <a:xfrm>
            <a:off x="4828096" y="4562856"/>
            <a:ext cx="2193874" cy="0"/>
          </a:xfrm>
          <a:prstGeom prst="line">
            <a:avLst/>
          </a:prstGeom>
          <a:ln w="38100">
            <a:solidFill>
              <a:srgbClr val="D6E7F5"/>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6962534" y="4503420"/>
            <a:ext cx="118872" cy="118872"/>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768660" y="4503420"/>
            <a:ext cx="118872" cy="118872"/>
          </a:xfrm>
          <a:prstGeom prst="ellipse">
            <a:avLst/>
          </a:prstGeom>
          <a:solidFill>
            <a:srgbClr val="B65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 40"/>
          <p:cNvSpPr txBox="1"/>
          <p:nvPr/>
        </p:nvSpPr>
        <p:spPr>
          <a:xfrm>
            <a:off x="777240" y="1627632"/>
            <a:ext cx="5303520" cy="365760"/>
          </a:xfrm>
          <a:prstGeom prst="rect">
            <a:avLst/>
          </a:prstGeom>
          <a:noFill/>
        </p:spPr>
        <p:txBody>
          <a:bodyPr wrap="square" lIns="0" tIns="0" rIns="0" bIns="0">
            <a:spAutoFit/>
          </a:bodyPr>
          <a:lstStyle/>
          <a:p>
            <a:pPr>
              <a:spcAft>
                <a:spcPts val="500"/>
              </a:spcAft>
              <a:defRPr sz="2100" b="1">
                <a:solidFill>
                  <a:srgbClr val="1769AA"/>
                </a:solidFill>
                <a:latin typeface="Aptos"/>
              </a:defRPr>
            </a:pPr>
            <a:r>
              <a:t>RF42-Lite  0,945220</a:t>
            </a:r>
          </a:p>
        </p:txBody>
      </p:sp>
      <p:sp>
        <p:nvSpPr>
          <p:cNvPr id="42" name="Text 41"/>
          <p:cNvSpPr txBox="1"/>
          <p:nvPr/>
        </p:nvSpPr>
        <p:spPr>
          <a:xfrm>
            <a:off x="6400800" y="1627632"/>
            <a:ext cx="5303520" cy="365760"/>
          </a:xfrm>
          <a:prstGeom prst="rect">
            <a:avLst/>
          </a:prstGeom>
          <a:noFill/>
        </p:spPr>
        <p:txBody>
          <a:bodyPr wrap="square" lIns="0" tIns="0" rIns="0" bIns="0">
            <a:spAutoFit/>
          </a:bodyPr>
          <a:lstStyle/>
          <a:p>
            <a:pPr>
              <a:spcAft>
                <a:spcPts val="500"/>
              </a:spcAft>
              <a:defRPr sz="2100" b="1">
                <a:solidFill>
                  <a:srgbClr val="B65B29"/>
                </a:solidFill>
                <a:latin typeface="Aptos"/>
              </a:defRPr>
            </a:pPr>
            <a:r>
              <a:t>Stacking-Lite  0,944731</a:t>
            </a:r>
          </a:p>
        </p:txBody>
      </p:sp>
      <p:sp>
        <p:nvSpPr>
          <p:cNvPr id="43" name="Text 42"/>
          <p:cNvSpPr txBox="1"/>
          <p:nvPr/>
        </p:nvSpPr>
        <p:spPr>
          <a:xfrm>
            <a:off x="777240" y="5806440"/>
            <a:ext cx="10881360" cy="228600"/>
          </a:xfrm>
          <a:prstGeom prst="rect">
            <a:avLst/>
          </a:prstGeom>
          <a:noFill/>
        </p:spPr>
        <p:txBody>
          <a:bodyPr wrap="square" lIns="0" tIns="0" rIns="0" bIns="0">
            <a:spAutoFit/>
          </a:bodyPr>
          <a:lstStyle/>
          <a:p>
            <a:pPr>
              <a:spcAft>
                <a:spcPts val="500"/>
              </a:spcAft>
              <a:defRPr sz="1400" b="0">
                <a:solidFill>
                  <a:srgbClr val="526A81"/>
                </a:solidFill>
                <a:latin typeface="Aptos"/>
              </a:defRPr>
            </a:pPr>
            <a:r>
              <a:t>Macro-F1 · trục rút gọn 0,944–0,946; đường nối cùng FIT seed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7100">
        <p159:morph option="byObject"/>
      </p:transition>
    </mc:Choice>
    <mc:Fallback>
      <p:transition spd="slow" advTm="171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7-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Ít đặc trưng chưa chắc ít chi phí hơn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P21 aggregate.json · hậu nghiệm trên TRAIN; cùng validation qua 5 FIT seed.</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17</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828446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2468879"/>
            <a:ext cx="2377440" cy="457200"/>
          </a:xfrm>
          <a:prstGeom prst="rect">
            <a:avLst/>
          </a:prstGeom>
          <a:noFill/>
        </p:spPr>
        <p:txBody>
          <a:bodyPr wrap="square" lIns="0" tIns="0" rIns="0" bIns="0">
            <a:spAutoFit/>
          </a:bodyPr>
          <a:lstStyle/>
          <a:p>
            <a:pPr>
              <a:spcAft>
                <a:spcPts val="500"/>
              </a:spcAft>
              <a:defRPr sz="2400" b="1">
                <a:solidFill>
                  <a:srgbClr val="0D3560"/>
                </a:solidFill>
                <a:latin typeface="Aptos"/>
              </a:defRPr>
            </a:pPr>
            <a:r>
              <a:t>RF42-Lite</a:t>
            </a:r>
          </a:p>
        </p:txBody>
      </p:sp>
      <p:sp>
        <p:nvSpPr>
          <p:cNvPr id="16" name="!!actor-cost-RF42-Lite-0"/>
          <p:cNvSpPr/>
          <p:nvPr/>
        </p:nvSpPr>
        <p:spPr>
          <a:xfrm>
            <a:off x="3291840" y="2423160"/>
            <a:ext cx="4787548" cy="5486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16"/>
          <p:cNvSpPr txBox="1"/>
          <p:nvPr/>
        </p:nvSpPr>
        <p:spPr>
          <a:xfrm>
            <a:off x="777240" y="3794759"/>
            <a:ext cx="2377440" cy="457200"/>
          </a:xfrm>
          <a:prstGeom prst="rect">
            <a:avLst/>
          </a:prstGeom>
          <a:noFill/>
        </p:spPr>
        <p:txBody>
          <a:bodyPr wrap="square" lIns="0" tIns="0" rIns="0" bIns="0">
            <a:spAutoFit/>
          </a:bodyPr>
          <a:lstStyle/>
          <a:p>
            <a:pPr>
              <a:spcAft>
                <a:spcPts val="500"/>
              </a:spcAft>
              <a:defRPr sz="2400" b="1">
                <a:solidFill>
                  <a:srgbClr val="0D3560"/>
                </a:solidFill>
                <a:latin typeface="Aptos"/>
              </a:defRPr>
            </a:pPr>
            <a:r>
              <a:t>RF17-Lite</a:t>
            </a:r>
          </a:p>
        </p:txBody>
      </p:sp>
      <p:sp>
        <p:nvSpPr>
          <p:cNvPr id="18" name="!!actor-cost-RF17-Lite-0"/>
          <p:cNvSpPr/>
          <p:nvPr/>
        </p:nvSpPr>
        <p:spPr>
          <a:xfrm>
            <a:off x="3291840" y="3749039"/>
            <a:ext cx="4472461" cy="548640"/>
          </a:xfrm>
          <a:prstGeom prst="rect">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actor-cost-RF17-Lite-1"/>
          <p:cNvSpPr/>
          <p:nvPr/>
        </p:nvSpPr>
        <p:spPr>
          <a:xfrm>
            <a:off x="7764301" y="3749039"/>
            <a:ext cx="1679778" cy="548640"/>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 19"/>
          <p:cNvSpPr txBox="1"/>
          <p:nvPr/>
        </p:nvSpPr>
        <p:spPr>
          <a:xfrm>
            <a:off x="8275320" y="3063240"/>
            <a:ext cx="2926080" cy="378460"/>
          </a:xfrm>
          <a:prstGeom prst="rect">
            <a:avLst/>
          </a:prstGeom>
          <a:noFill/>
        </p:spPr>
        <p:txBody>
          <a:bodyPr wrap="square" lIns="0" tIns="0" rIns="0" bIns="0">
            <a:spAutoFit/>
          </a:bodyPr>
          <a:lstStyle/>
          <a:p>
            <a:pPr>
              <a:spcAft>
                <a:spcPts val="500"/>
              </a:spcAft>
              <a:defRPr sz="2400" b="1">
                <a:solidFill>
                  <a:srgbClr val="1769AA"/>
                </a:solidFill>
                <a:latin typeface="Aptos"/>
              </a:defRPr>
            </a:pPr>
            <a:r>
              <a:t>241,119 s</a:t>
            </a:r>
          </a:p>
        </p:txBody>
      </p:sp>
      <p:sp>
        <p:nvSpPr>
          <p:cNvPr id="21" name="Text 20"/>
          <p:cNvSpPr txBox="1"/>
          <p:nvPr/>
        </p:nvSpPr>
        <p:spPr>
          <a:xfrm>
            <a:off x="777240" y="4800600"/>
            <a:ext cx="10881360" cy="548640"/>
          </a:xfrm>
          <a:prstGeom prst="rect">
            <a:avLst/>
          </a:prstGeom>
          <a:noFill/>
        </p:spPr>
        <p:txBody>
          <a:bodyPr wrap="square" lIns="0" tIns="0" rIns="0" bIns="0">
            <a:spAutoFit/>
          </a:bodyPr>
          <a:lstStyle/>
          <a:p>
            <a:pPr>
              <a:spcAft>
                <a:spcPts val="500"/>
              </a:spcAft>
              <a:defRPr sz="2600" b="1">
                <a:solidFill>
                  <a:srgbClr val="0D3560"/>
                </a:solidFill>
                <a:latin typeface="Aptos"/>
              </a:defRPr>
            </a:pPr>
            <a:r>
              <a:t>225,250 s chọn biến + 84,600 s fit = 309,850 s</a:t>
            </a:r>
          </a:p>
        </p:txBody>
      </p:sp>
      <p:sp>
        <p:nvSpPr>
          <p:cNvPr id="22" name="Text 21"/>
          <p:cNvSpPr txBox="1"/>
          <p:nvPr/>
        </p:nvSpPr>
        <p:spPr>
          <a:xfrm>
            <a:off x="777240" y="5577840"/>
            <a:ext cx="10881360" cy="365760"/>
          </a:xfrm>
          <a:prstGeom prst="rect">
            <a:avLst/>
          </a:prstGeom>
          <a:noFill/>
        </p:spPr>
        <p:txBody>
          <a:bodyPr wrap="square" lIns="0" tIns="0" rIns="0" bIns="0">
            <a:spAutoFit/>
          </a:bodyPr>
          <a:lstStyle/>
          <a:p>
            <a:pPr>
              <a:spcAft>
                <a:spcPts val="500"/>
              </a:spcAft>
              <a:defRPr sz="1700" b="0">
                <a:solidFill>
                  <a:srgbClr val="526A81"/>
                </a:solidFill>
                <a:latin typeface="Aptos"/>
              </a:defRPr>
            </a:pPr>
            <a:r>
              <a:t>Thời gian các lời gọi đã đo; chưa phải chi phí end-to-end. Macro-F1 RF17: 0,936751.</a:t>
            </a:r>
          </a:p>
        </p:txBody>
      </p:sp>
      <p:cxnSp>
        <p:nvCxnSpPr>
          <p:cNvPr id="23" name="Connector 22"/>
          <p:cNvCxnSpPr/>
          <p:nvPr/>
        </p:nvCxnSpPr>
        <p:spPr>
          <a:xfrm>
            <a:off x="3291840" y="4526280"/>
            <a:ext cx="6949440"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24" name="Text 23"/>
          <p:cNvSpPr txBox="1"/>
          <p:nvPr/>
        </p:nvSpPr>
        <p:spPr>
          <a:xfrm>
            <a:off x="3291840" y="4590288"/>
            <a:ext cx="914400" cy="182880"/>
          </a:xfrm>
          <a:prstGeom prst="rect">
            <a:avLst/>
          </a:prstGeom>
          <a:noFill/>
        </p:spPr>
        <p:txBody>
          <a:bodyPr wrap="square" lIns="0" tIns="0" rIns="0" bIns="0">
            <a:spAutoFit/>
          </a:bodyPr>
          <a:lstStyle/>
          <a:p>
            <a:pPr>
              <a:spcAft>
                <a:spcPts val="500"/>
              </a:spcAft>
              <a:defRPr sz="1100" b="0">
                <a:solidFill>
                  <a:srgbClr val="526A81"/>
                </a:solidFill>
                <a:latin typeface="Aptos"/>
              </a:defRPr>
            </a:pPr>
            <a:r>
              <a:t>0 s</a:t>
            </a:r>
          </a:p>
        </p:txBody>
      </p:sp>
      <p:sp>
        <p:nvSpPr>
          <p:cNvPr id="25" name="Text 24"/>
          <p:cNvSpPr txBox="1"/>
          <p:nvPr/>
        </p:nvSpPr>
        <p:spPr>
          <a:xfrm>
            <a:off x="9509759" y="4590288"/>
            <a:ext cx="914400" cy="182880"/>
          </a:xfrm>
          <a:prstGeom prst="rect">
            <a:avLst/>
          </a:prstGeom>
          <a:noFill/>
        </p:spPr>
        <p:txBody>
          <a:bodyPr wrap="square" lIns="0" tIns="0" rIns="0" bIns="0">
            <a:spAutoFit/>
          </a:bodyPr>
          <a:lstStyle/>
          <a:p>
            <a:pPr>
              <a:spcAft>
                <a:spcPts val="500"/>
              </a:spcAft>
              <a:defRPr sz="1100" b="0">
                <a:solidFill>
                  <a:srgbClr val="526A81"/>
                </a:solidFill>
                <a:latin typeface="Aptos"/>
              </a:defRPr>
            </a:pPr>
            <a:r>
              <a:t>350 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6100">
        <p159:morph option="byObject"/>
      </p:transition>
    </mc:Choice>
    <mc:Fallback>
      <p:transition spd="slow" advTm="161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8-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Giảm cảnh báo giả có thể tăng bỏ sót</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P21 aggregate.json · hậu nghiệm trên TRAIN; cùng validation qua 5 FIT seed.</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18</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983894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2148840" y="1965960"/>
            <a:ext cx="0" cy="3154680"/>
          </a:xfrm>
          <a:prstGeom prst="line">
            <a:avLst/>
          </a:prstGeom>
          <a:ln w="20320">
            <a:solidFill>
              <a:srgbClr val="1769A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48840" y="5120640"/>
            <a:ext cx="8503920" cy="0"/>
          </a:xfrm>
          <a:prstGeom prst="line">
            <a:avLst/>
          </a:prstGeom>
          <a:ln w="20320">
            <a:solidFill>
              <a:srgbClr val="1769AA"/>
            </a:solidFill>
          </a:ln>
        </p:spPr>
        <p:style>
          <a:lnRef idx="2">
            <a:schemeClr val="accent1"/>
          </a:lnRef>
          <a:fillRef idx="0">
            <a:schemeClr val="accent1"/>
          </a:fillRef>
          <a:effectRef idx="1">
            <a:schemeClr val="accent1"/>
          </a:effectRef>
          <a:fontRef idx="minor">
            <a:schemeClr val="tx1"/>
          </a:fontRef>
        </p:style>
      </p:cxnSp>
      <p:sp>
        <p:nvSpPr>
          <p:cNvPr id="17" name="Text 16"/>
          <p:cNvSpPr txBox="1"/>
          <p:nvPr/>
        </p:nvSpPr>
        <p:spPr>
          <a:xfrm>
            <a:off x="2057400" y="5257800"/>
            <a:ext cx="45720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0</a:t>
            </a:r>
          </a:p>
        </p:txBody>
      </p:sp>
      <p:sp>
        <p:nvSpPr>
          <p:cNvPr id="18" name="Text 17"/>
          <p:cNvSpPr txBox="1"/>
          <p:nvPr/>
        </p:nvSpPr>
        <p:spPr>
          <a:xfrm>
            <a:off x="4770120" y="5257800"/>
            <a:ext cx="45720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4</a:t>
            </a:r>
          </a:p>
        </p:txBody>
      </p:sp>
      <p:sp>
        <p:nvSpPr>
          <p:cNvPr id="19" name="Text 18"/>
          <p:cNvSpPr txBox="1"/>
          <p:nvPr/>
        </p:nvSpPr>
        <p:spPr>
          <a:xfrm>
            <a:off x="7482840" y="5257800"/>
            <a:ext cx="45720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8</a:t>
            </a:r>
          </a:p>
        </p:txBody>
      </p:sp>
      <p:sp>
        <p:nvSpPr>
          <p:cNvPr id="20" name="Text 19"/>
          <p:cNvSpPr txBox="1"/>
          <p:nvPr/>
        </p:nvSpPr>
        <p:spPr>
          <a:xfrm>
            <a:off x="10195560" y="5257800"/>
            <a:ext cx="45720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12</a:t>
            </a:r>
          </a:p>
        </p:txBody>
      </p:sp>
      <p:sp>
        <p:nvSpPr>
          <p:cNvPr id="21" name="Text 20"/>
          <p:cNvSpPr txBox="1"/>
          <p:nvPr/>
        </p:nvSpPr>
        <p:spPr>
          <a:xfrm>
            <a:off x="1691640" y="5029200"/>
            <a:ext cx="36576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0</a:t>
            </a:r>
          </a:p>
        </p:txBody>
      </p:sp>
      <p:sp>
        <p:nvSpPr>
          <p:cNvPr id="22" name="Text 21"/>
          <p:cNvSpPr txBox="1"/>
          <p:nvPr/>
        </p:nvSpPr>
        <p:spPr>
          <a:xfrm>
            <a:off x="1691640" y="3895344"/>
            <a:ext cx="36576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2</a:t>
            </a:r>
          </a:p>
        </p:txBody>
      </p:sp>
      <p:sp>
        <p:nvSpPr>
          <p:cNvPr id="23" name="Text 22"/>
          <p:cNvSpPr txBox="1"/>
          <p:nvPr/>
        </p:nvSpPr>
        <p:spPr>
          <a:xfrm>
            <a:off x="1691640" y="2761487"/>
            <a:ext cx="365760" cy="274320"/>
          </a:xfrm>
          <a:prstGeom prst="rect">
            <a:avLst/>
          </a:prstGeom>
          <a:noFill/>
        </p:spPr>
        <p:txBody>
          <a:bodyPr wrap="square" lIns="0" tIns="0" rIns="0" bIns="0">
            <a:spAutoFit/>
          </a:bodyPr>
          <a:lstStyle/>
          <a:p>
            <a:pPr>
              <a:spcAft>
                <a:spcPts val="500"/>
              </a:spcAft>
              <a:defRPr sz="1400" b="0">
                <a:solidFill>
                  <a:srgbClr val="526A81"/>
                </a:solidFill>
                <a:latin typeface="Aptos"/>
              </a:defRPr>
            </a:pPr>
            <a:r>
              <a:t>4</a:t>
            </a:r>
          </a:p>
        </p:txBody>
      </p:sp>
      <p:sp>
        <p:nvSpPr>
          <p:cNvPr id="24" name="Text 23"/>
          <p:cNvSpPr txBox="1"/>
          <p:nvPr/>
        </p:nvSpPr>
        <p:spPr>
          <a:xfrm>
            <a:off x="777240" y="1783080"/>
            <a:ext cx="1645920" cy="365760"/>
          </a:xfrm>
          <a:prstGeom prst="rect">
            <a:avLst/>
          </a:prstGeom>
          <a:noFill/>
        </p:spPr>
        <p:txBody>
          <a:bodyPr wrap="square" lIns="0" tIns="0" rIns="0" bIns="0">
            <a:spAutoFit/>
          </a:bodyPr>
          <a:lstStyle/>
          <a:p>
            <a:pPr>
              <a:spcAft>
                <a:spcPts val="500"/>
              </a:spcAft>
              <a:defRPr sz="1800" b="1">
                <a:solidFill>
                  <a:srgbClr val="0D3560"/>
                </a:solidFill>
                <a:latin typeface="Aptos"/>
              </a:defRPr>
            </a:pPr>
            <a:r>
              <a:t>FNR (%)</a:t>
            </a:r>
          </a:p>
        </p:txBody>
      </p:sp>
      <p:sp>
        <p:nvSpPr>
          <p:cNvPr id="25" name="Text 24"/>
          <p:cNvSpPr txBox="1"/>
          <p:nvPr/>
        </p:nvSpPr>
        <p:spPr>
          <a:xfrm>
            <a:off x="9784080" y="5596128"/>
            <a:ext cx="1645920" cy="365760"/>
          </a:xfrm>
          <a:prstGeom prst="rect">
            <a:avLst/>
          </a:prstGeom>
          <a:noFill/>
        </p:spPr>
        <p:txBody>
          <a:bodyPr wrap="square" lIns="0" tIns="0" rIns="0" bIns="0">
            <a:spAutoFit/>
          </a:bodyPr>
          <a:lstStyle/>
          <a:p>
            <a:pPr>
              <a:spcAft>
                <a:spcPts val="500"/>
              </a:spcAft>
              <a:defRPr sz="1800" b="1">
                <a:solidFill>
                  <a:srgbClr val="0D3560"/>
                </a:solidFill>
                <a:latin typeface="Aptos"/>
              </a:defRPr>
            </a:pPr>
            <a:r>
              <a:t>FPR (%)</a:t>
            </a:r>
          </a:p>
        </p:txBody>
      </p:sp>
      <p:sp>
        <p:nvSpPr>
          <p:cNvPr id="26" name="Oval 25"/>
          <p:cNvSpPr/>
          <p:nvPr/>
        </p:nvSpPr>
        <p:spPr>
          <a:xfrm>
            <a:off x="8599537" y="3687468"/>
            <a:ext cx="146304" cy="146304"/>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26"/>
          <p:cNvSpPr txBox="1"/>
          <p:nvPr/>
        </p:nvSpPr>
        <p:spPr>
          <a:xfrm>
            <a:off x="8809849" y="3806340"/>
            <a:ext cx="1920240" cy="365760"/>
          </a:xfrm>
          <a:prstGeom prst="rect">
            <a:avLst/>
          </a:prstGeom>
          <a:noFill/>
        </p:spPr>
        <p:txBody>
          <a:bodyPr wrap="square" lIns="0" tIns="0" rIns="0" bIns="0">
            <a:spAutoFit/>
          </a:bodyPr>
          <a:lstStyle/>
          <a:p>
            <a:pPr>
              <a:spcAft>
                <a:spcPts val="500"/>
              </a:spcAft>
              <a:defRPr sz="2000" b="1">
                <a:solidFill>
                  <a:srgbClr val="1769AA"/>
                </a:solidFill>
                <a:latin typeface="Aptos"/>
              </a:defRPr>
            </a:pPr>
            <a:r>
              <a:t>RF42</a:t>
            </a:r>
          </a:p>
        </p:txBody>
      </p:sp>
      <p:sp>
        <p:nvSpPr>
          <p:cNvPr id="28" name="Oval 27"/>
          <p:cNvSpPr/>
          <p:nvPr/>
        </p:nvSpPr>
        <p:spPr>
          <a:xfrm>
            <a:off x="6453582" y="2673748"/>
            <a:ext cx="146304" cy="146304"/>
          </a:xfrm>
          <a:prstGeom prst="ellipse">
            <a:avLst/>
          </a:prstGeom>
          <a:solidFill>
            <a:srgbClr val="B65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28"/>
          <p:cNvSpPr txBox="1"/>
          <p:nvPr/>
        </p:nvSpPr>
        <p:spPr>
          <a:xfrm>
            <a:off x="5383734" y="2152540"/>
            <a:ext cx="1920240" cy="365760"/>
          </a:xfrm>
          <a:prstGeom prst="rect">
            <a:avLst/>
          </a:prstGeom>
          <a:noFill/>
        </p:spPr>
        <p:txBody>
          <a:bodyPr wrap="square" lIns="0" tIns="0" rIns="0" bIns="0">
            <a:spAutoFit/>
          </a:bodyPr>
          <a:lstStyle/>
          <a:p>
            <a:pPr>
              <a:spcAft>
                <a:spcPts val="500"/>
              </a:spcAft>
              <a:defRPr sz="2000" b="1">
                <a:solidFill>
                  <a:srgbClr val="B65B29"/>
                </a:solidFill>
                <a:latin typeface="Aptos"/>
              </a:defRPr>
            </a:pPr>
            <a:r>
              <a:t>Balanced</a:t>
            </a:r>
          </a:p>
        </p:txBody>
      </p:sp>
      <p:sp>
        <p:nvSpPr>
          <p:cNvPr id="30" name="Oval 29"/>
          <p:cNvSpPr/>
          <p:nvPr/>
        </p:nvSpPr>
        <p:spPr>
          <a:xfrm>
            <a:off x="7101486" y="3025272"/>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30"/>
          <p:cNvSpPr txBox="1"/>
          <p:nvPr/>
        </p:nvSpPr>
        <p:spPr>
          <a:xfrm>
            <a:off x="7311798" y="2686944"/>
            <a:ext cx="1920240" cy="365760"/>
          </a:xfrm>
          <a:prstGeom prst="rect">
            <a:avLst/>
          </a:prstGeom>
          <a:noFill/>
        </p:spPr>
        <p:txBody>
          <a:bodyPr wrap="square" lIns="0" tIns="0" rIns="0" bIns="0">
            <a:spAutoFit/>
          </a:bodyPr>
          <a:lstStyle/>
          <a:p>
            <a:pPr>
              <a:spcAft>
                <a:spcPts val="500"/>
              </a:spcAft>
              <a:defRPr sz="2000" b="1">
                <a:solidFill>
                  <a:srgbClr val="139DCB"/>
                </a:solidFill>
                <a:latin typeface="Aptos"/>
              </a:defRPr>
            </a:pPr>
            <a:r>
              <a:t>Oversample</a:t>
            </a:r>
          </a:p>
        </p:txBody>
      </p:sp>
      <p:sp>
        <p:nvSpPr>
          <p:cNvPr id="32" name="Text 31"/>
          <p:cNvSpPr txBox="1"/>
          <p:nvPr/>
        </p:nvSpPr>
        <p:spPr>
          <a:xfrm>
            <a:off x="777240" y="5870448"/>
            <a:ext cx="10698480" cy="228600"/>
          </a:xfrm>
          <a:prstGeom prst="rect">
            <a:avLst/>
          </a:prstGeom>
          <a:noFill/>
        </p:spPr>
        <p:txBody>
          <a:bodyPr wrap="square" lIns="0" tIns="0" rIns="0" bIns="0">
            <a:spAutoFit/>
          </a:bodyPr>
          <a:lstStyle/>
          <a:p>
            <a:pPr>
              <a:spcAft>
                <a:spcPts val="500"/>
              </a:spcAft>
              <a:defRPr sz="1400" b="0">
                <a:solidFill>
                  <a:srgbClr val="526A81"/>
                </a:solidFill>
                <a:latin typeface="Aptos"/>
              </a:defRPr>
            </a:pPr>
            <a:r>
              <a:t>Trung bình 5 FIT seed · Normal là lớp ít mẫu trong TRAIN</a:t>
            </a:r>
          </a:p>
        </p:txBody>
      </p:sp>
    </p:spTree>
  </p:cSld>
  <p:clrMapOvr>
    <a:masterClrMapping/>
  </p:clrMapOvr>
  <mc:AlternateContent xmlns:mc="http://schemas.openxmlformats.org/markup-compatibility/2006">
    <mc:Choice xmlns:p14="http://schemas.microsoft.com/office/powerpoint/2010/main" Requires="p14">
      <p:transition spd="med" p14:dur="550" advTm="19450">
        <p:fade thruBlk="1"/>
      </p:transition>
    </mc:Choice>
    <mc:Fallback>
      <p:transition spd="med" advTm="19450">
        <p:fade thruBlk="1"/>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19-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Mục tiêu vận hành quyết định cách chọn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V6 §5.1 / P9 confusion counts · phân tích chi phí giả định cho đúng 2 mô hình.</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19</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D6E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983894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789920" cy="731520"/>
          </a:xfrm>
          <a:prstGeom prst="rect">
            <a:avLst/>
          </a:prstGeom>
          <a:noFill/>
        </p:spPr>
        <p:txBody>
          <a:bodyPr wrap="square" lIns="0" tIns="0" rIns="0" bIns="0">
            <a:spAutoFit/>
          </a:bodyPr>
          <a:lstStyle/>
          <a:p>
            <a:pPr>
              <a:spcAft>
                <a:spcPts val="500"/>
              </a:spcAft>
              <a:defRPr sz="4300" b="1">
                <a:solidFill>
                  <a:srgbClr val="1769AA"/>
                </a:solidFill>
                <a:latin typeface="Aptos"/>
              </a:defRPr>
            </a:pPr>
            <a:r>
              <a:t>L = FP + r × FN</a:t>
            </a:r>
          </a:p>
        </p:txBody>
      </p:sp>
      <p:sp>
        <p:nvSpPr>
          <p:cNvPr id="16" name="Text 15"/>
          <p:cNvSpPr txBox="1"/>
          <p:nvPr/>
        </p:nvSpPr>
        <p:spPr>
          <a:xfrm>
            <a:off x="777240" y="2971800"/>
            <a:ext cx="10789920" cy="731520"/>
          </a:xfrm>
          <a:prstGeom prst="rect">
            <a:avLst/>
          </a:prstGeom>
          <a:noFill/>
        </p:spPr>
        <p:txBody>
          <a:bodyPr wrap="square" lIns="0" tIns="0" rIns="0" bIns="0">
            <a:spAutoFit/>
          </a:bodyPr>
          <a:lstStyle/>
          <a:p>
            <a:pPr>
              <a:spcAft>
                <a:spcPts val="500"/>
              </a:spcAft>
              <a:defRPr sz="3400" b="1">
                <a:solidFill>
                  <a:srgbClr val="0D3560"/>
                </a:solidFill>
                <a:latin typeface="Aptos"/>
              </a:defRPr>
            </a:pPr>
            <a:r>
              <a:t>ΔL(Stacking − RF42) = −142 + 118r</a:t>
            </a:r>
          </a:p>
        </p:txBody>
      </p:sp>
      <p:sp>
        <p:nvSpPr>
          <p:cNvPr id="17" name="Text 16"/>
          <p:cNvSpPr txBox="1"/>
          <p:nvPr/>
        </p:nvSpPr>
        <p:spPr>
          <a:xfrm>
            <a:off x="777240" y="4160520"/>
            <a:ext cx="5120640" cy="822960"/>
          </a:xfrm>
          <a:prstGeom prst="rect">
            <a:avLst/>
          </a:prstGeom>
          <a:noFill/>
        </p:spPr>
        <p:txBody>
          <a:bodyPr wrap="square" lIns="0" tIns="0" rIns="0" bIns="0">
            <a:spAutoFit/>
          </a:bodyPr>
          <a:lstStyle/>
          <a:p>
            <a:pPr>
              <a:spcAft>
                <a:spcPts val="500"/>
              </a:spcAft>
              <a:defRPr sz="4800" b="1">
                <a:solidFill>
                  <a:srgbClr val="B65B29"/>
                </a:solidFill>
                <a:latin typeface="Aptos"/>
              </a:defRPr>
            </a:pPr>
            <a:r>
              <a:t>r &gt; 1,2034</a:t>
            </a:r>
          </a:p>
        </p:txBody>
      </p:sp>
      <p:sp>
        <p:nvSpPr>
          <p:cNvPr id="18" name="Text 17"/>
          <p:cNvSpPr txBox="1"/>
          <p:nvPr/>
        </p:nvSpPr>
        <p:spPr>
          <a:xfrm>
            <a:off x="6400800" y="4206240"/>
            <a:ext cx="5120640" cy="960120"/>
          </a:xfrm>
          <a:prstGeom prst="rect">
            <a:avLst/>
          </a:prstGeom>
          <a:noFill/>
        </p:spPr>
        <p:txBody>
          <a:bodyPr wrap="square" lIns="0" tIns="0" rIns="0" bIns="0">
            <a:spAutoFit/>
          </a:bodyPr>
          <a:lstStyle/>
          <a:p>
            <a:pPr>
              <a:spcAft>
                <a:spcPts val="500"/>
              </a:spcAft>
              <a:defRPr sz="2500" b="1">
                <a:solidFill>
                  <a:srgbClr val="0D3560"/>
                </a:solidFill>
                <a:latin typeface="Aptos"/>
              </a:defRPr>
            </a:pPr>
            <a:r>
              <a:t>RF42 có tổn thất thấp hơn</a:t>
            </a:r>
          </a:p>
          <a:p>
            <a:pPr>
              <a:spcAft>
                <a:spcPts val="500"/>
              </a:spcAft>
              <a:defRPr sz="2500" b="1">
                <a:solidFill>
                  <a:srgbClr val="0D3560"/>
                </a:solidFill>
                <a:latin typeface="Aptos"/>
              </a:defRPr>
            </a:pPr>
            <a:r>
              <a:t>trong đúng cặp so sánh này</a:t>
            </a:r>
          </a:p>
        </p:txBody>
      </p:sp>
      <p:sp>
        <p:nvSpPr>
          <p:cNvPr id="19" name="Text 18"/>
          <p:cNvSpPr txBox="1"/>
          <p:nvPr/>
        </p:nvSpPr>
        <p:spPr>
          <a:xfrm>
            <a:off x="777240" y="5614416"/>
            <a:ext cx="10789920" cy="411480"/>
          </a:xfrm>
          <a:prstGeom prst="rect">
            <a:avLst/>
          </a:prstGeom>
          <a:noFill/>
        </p:spPr>
        <p:txBody>
          <a:bodyPr wrap="square" lIns="0" tIns="0" rIns="0" bIns="0">
            <a:spAutoFit/>
          </a:bodyPr>
          <a:lstStyle/>
          <a:p>
            <a:pPr>
              <a:spcAft>
                <a:spcPts val="500"/>
              </a:spcAft>
              <a:defRPr sz="1800" b="0">
                <a:solidFill>
                  <a:srgbClr val="526A81"/>
                </a:solidFill>
                <a:latin typeface="Aptos"/>
              </a:defRPr>
            </a:pPr>
            <a:r>
              <a:t>r = chi phí FN / chi phí FP · giả định minh họa, chưa đo chi phí SOC thực.</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advTm="19100">
        <p159:morph option="byObject"/>
      </p:transition>
    </mc:Choice>
    <mc:Fallback>
      <p:transition spd="slow" advTm="191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20-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Chọn mô hình bằng bằng chứng và chi phí lỗi</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Nguồn: báo cáo V6, chương 3–5.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20</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2057400"/>
            <a:ext cx="10698480" cy="502920"/>
          </a:xfrm>
          <a:prstGeom prst="rect">
            <a:avLst/>
          </a:prstGeom>
          <a:noFill/>
        </p:spPr>
        <p:txBody>
          <a:bodyPr wrap="square" lIns="0" tIns="0" rIns="0" bIns="0">
            <a:spAutoFit/>
          </a:bodyPr>
          <a:lstStyle/>
          <a:p>
            <a:pPr>
              <a:spcAft>
                <a:spcPts val="500"/>
              </a:spcAft>
              <a:defRPr sz="3000" b="1">
                <a:solidFill>
                  <a:srgbClr val="1769AA"/>
                </a:solidFill>
                <a:latin typeface="Aptos"/>
              </a:defRPr>
            </a:pPr>
            <a:r>
              <a:t>Đối chiếu có truy vết</a:t>
            </a:r>
          </a:p>
        </p:txBody>
      </p:sp>
      <p:sp>
        <p:nvSpPr>
          <p:cNvPr id="16" name="Text 15"/>
          <p:cNvSpPr txBox="1"/>
          <p:nvPr/>
        </p:nvSpPr>
        <p:spPr>
          <a:xfrm>
            <a:off x="777240" y="2788920"/>
            <a:ext cx="10698480" cy="731520"/>
          </a:xfrm>
          <a:prstGeom prst="rect">
            <a:avLst/>
          </a:prstGeom>
          <a:noFill/>
        </p:spPr>
        <p:txBody>
          <a:bodyPr wrap="square" lIns="0" tIns="0" rIns="0" bIns="0">
            <a:spAutoFit/>
          </a:bodyPr>
          <a:lstStyle/>
          <a:p>
            <a:pPr>
              <a:spcAft>
                <a:spcPts val="500"/>
              </a:spcAft>
              <a:defRPr sz="2400" b="0">
                <a:solidFill>
                  <a:srgbClr val="0D3560"/>
                </a:solidFill>
                <a:latin typeface="Aptos"/>
              </a:defRPr>
            </a:pPr>
            <a:r>
              <a:t>Đối chứng matched · Chi phí chọn biến · Đánh đổi FP/FN</a:t>
            </a:r>
          </a:p>
        </p:txBody>
      </p:sp>
      <p:sp>
        <p:nvSpPr>
          <p:cNvPr id="17" name="Text 16"/>
          <p:cNvSpPr txBox="1"/>
          <p:nvPr/>
        </p:nvSpPr>
        <p:spPr>
          <a:xfrm>
            <a:off x="777240" y="3886200"/>
            <a:ext cx="10698480" cy="1005840"/>
          </a:xfrm>
          <a:prstGeom prst="rect">
            <a:avLst/>
          </a:prstGeom>
          <a:noFill/>
        </p:spPr>
        <p:txBody>
          <a:bodyPr wrap="square" lIns="0" tIns="0" rIns="0" bIns="0">
            <a:spAutoFit/>
          </a:bodyPr>
          <a:lstStyle/>
          <a:p>
            <a:pPr>
              <a:spcAft>
                <a:spcPts val="500"/>
              </a:spcAft>
              <a:defRPr sz="2500" b="0">
                <a:solidFill>
                  <a:srgbClr val="526A81"/>
                </a:solidFill>
                <a:latin typeface="Aptos"/>
              </a:defRPr>
            </a:pPr>
            <a:r>
              <a:t>Giới hạn: selection bias lịch sử;</a:t>
            </a:r>
          </a:p>
          <a:p>
            <a:pPr>
              <a:spcAft>
                <a:spcPts val="500"/>
              </a:spcAft>
              <a:defRPr sz="2500" b="0">
                <a:solidFill>
                  <a:srgbClr val="526A81"/>
                </a:solidFill>
                <a:latin typeface="Aptos"/>
              </a:defRPr>
            </a:pPr>
            <a:r>
              <a:t>chưa validation ngoài, chưa triển khai IDS trực tiếp.</a:t>
            </a:r>
          </a:p>
        </p:txBody>
      </p:sp>
      <p:sp>
        <p:nvSpPr>
          <p:cNvPr id="18" name="Text 17"/>
          <p:cNvSpPr txBox="1"/>
          <p:nvPr/>
        </p:nvSpPr>
        <p:spPr>
          <a:xfrm>
            <a:off x="777240" y="5394960"/>
            <a:ext cx="10698480" cy="502920"/>
          </a:xfrm>
          <a:prstGeom prst="rect">
            <a:avLst/>
          </a:prstGeom>
          <a:noFill/>
        </p:spPr>
        <p:txBody>
          <a:bodyPr wrap="square" lIns="0" tIns="0" rIns="0" bIns="0">
            <a:spAutoFit/>
          </a:bodyPr>
          <a:lstStyle/>
          <a:p>
            <a:pPr>
              <a:spcAft>
                <a:spcPts val="500"/>
              </a:spcAft>
              <a:defRPr sz="2500" b="1">
                <a:solidFill>
                  <a:srgbClr val="0D3560"/>
                </a:solidFill>
                <a:latin typeface="Aptos"/>
              </a:defRPr>
            </a:pPr>
            <a:r>
              <a:t>Mô hình phù hợp phải kiểm soát được cái giá của sai lầm.</a:t>
            </a:r>
          </a:p>
        </p:txBody>
      </p:sp>
      <p:sp>
        <p:nvSpPr>
          <p:cNvPr id="19" name="Text 18">
            <a:hlinkClick r:id="rId3" action="ppaction://hlinksldjump"/>
          </p:cNvPr>
          <p:cNvSpPr txBox="1"/>
          <p:nvPr/>
        </p:nvSpPr>
        <p:spPr>
          <a:xfrm>
            <a:off x="777240"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A1</a:t>
            </a:r>
          </a:p>
        </p:txBody>
      </p:sp>
      <p:sp>
        <p:nvSpPr>
          <p:cNvPr id="20" name="Text 19">
            <a:hlinkClick r:id="rId4" action="ppaction://hlinksldjump"/>
          </p:cNvPr>
          <p:cNvSpPr txBox="1"/>
          <p:nvPr/>
        </p:nvSpPr>
        <p:spPr>
          <a:xfrm>
            <a:off x="1609344"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A2</a:t>
            </a:r>
          </a:p>
        </p:txBody>
      </p:sp>
      <p:sp>
        <p:nvSpPr>
          <p:cNvPr id="21" name="Text 20">
            <a:hlinkClick r:id="rId5" action="ppaction://hlinksldjump"/>
          </p:cNvPr>
          <p:cNvSpPr txBox="1"/>
          <p:nvPr/>
        </p:nvSpPr>
        <p:spPr>
          <a:xfrm>
            <a:off x="2441448"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A3</a:t>
            </a:r>
          </a:p>
        </p:txBody>
      </p:sp>
      <p:sp>
        <p:nvSpPr>
          <p:cNvPr id="22" name="Text 21">
            <a:hlinkClick r:id="rId6" action="ppaction://hlinksldjump"/>
          </p:cNvPr>
          <p:cNvSpPr txBox="1"/>
          <p:nvPr/>
        </p:nvSpPr>
        <p:spPr>
          <a:xfrm>
            <a:off x="3273552"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A4</a:t>
            </a:r>
          </a:p>
        </p:txBody>
      </p:sp>
      <p:sp>
        <p:nvSpPr>
          <p:cNvPr id="23" name="Text 22">
            <a:hlinkClick r:id="rId7" action="ppaction://hlinksldjump"/>
          </p:cNvPr>
          <p:cNvSpPr txBox="1"/>
          <p:nvPr/>
        </p:nvSpPr>
        <p:spPr>
          <a:xfrm>
            <a:off x="4105656"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A5</a:t>
            </a:r>
          </a:p>
        </p:txBody>
      </p:sp>
      <p:sp>
        <p:nvSpPr>
          <p:cNvPr id="24" name="Text 23">
            <a:hlinkClick r:id="rId8" action="ppaction://hlinksldjump"/>
          </p:cNvPr>
          <p:cNvSpPr txBox="1"/>
          <p:nvPr/>
        </p:nvSpPr>
        <p:spPr>
          <a:xfrm>
            <a:off x="4937759"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A6</a:t>
            </a:r>
          </a:p>
        </p:txBody>
      </p:sp>
      <p:sp>
        <p:nvSpPr>
          <p:cNvPr id="25" name="Text 24">
            <a:hlinkClick r:id="rId9" action="ppaction://hlinksldjump"/>
          </p:cNvPr>
          <p:cNvSpPr txBox="1"/>
          <p:nvPr/>
        </p:nvSpPr>
        <p:spPr>
          <a:xfrm>
            <a:off x="5769864"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A7</a:t>
            </a:r>
          </a:p>
        </p:txBody>
      </p:sp>
      <p:sp>
        <p:nvSpPr>
          <p:cNvPr id="26" name="Text 25">
            <a:hlinkClick r:id="rId10" action="ppaction://hlinksldjump"/>
          </p:cNvPr>
          <p:cNvSpPr txBox="1"/>
          <p:nvPr/>
        </p:nvSpPr>
        <p:spPr>
          <a:xfrm>
            <a:off x="6601968"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A8</a:t>
            </a:r>
          </a:p>
        </p:txBody>
      </p:sp>
      <p:sp>
        <p:nvSpPr>
          <p:cNvPr id="27" name="Text 26">
            <a:hlinkClick r:id="rId11" action="ppaction://hlinksldjump"/>
          </p:cNvPr>
          <p:cNvSpPr txBox="1"/>
          <p:nvPr/>
        </p:nvSpPr>
        <p:spPr>
          <a:xfrm>
            <a:off x="7434072"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A9</a:t>
            </a:r>
          </a:p>
        </p:txBody>
      </p:sp>
      <p:sp>
        <p:nvSpPr>
          <p:cNvPr id="28" name="Text 27">
            <a:hlinkClick r:id="rId12" action="ppaction://hlinksldjump"/>
          </p:cNvPr>
          <p:cNvSpPr txBox="1"/>
          <p:nvPr/>
        </p:nvSpPr>
        <p:spPr>
          <a:xfrm>
            <a:off x="8266175"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A10</a:t>
            </a:r>
          </a:p>
        </p:txBody>
      </p:sp>
      <p:sp>
        <p:nvSpPr>
          <p:cNvPr id="29" name="Text 28">
            <a:hlinkClick r:id="rId13" action="ppaction://hlinksldjump"/>
          </p:cNvPr>
          <p:cNvSpPr txBox="1"/>
          <p:nvPr/>
        </p:nvSpPr>
        <p:spPr>
          <a:xfrm>
            <a:off x="9098280"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A11</a:t>
            </a:r>
          </a:p>
        </p:txBody>
      </p:sp>
      <p:sp>
        <p:nvSpPr>
          <p:cNvPr id="30" name="Text 29">
            <a:hlinkClick r:id="rId14" action="ppaction://hlinksldjump"/>
          </p:cNvPr>
          <p:cNvSpPr txBox="1"/>
          <p:nvPr/>
        </p:nvSpPr>
        <p:spPr>
          <a:xfrm>
            <a:off x="9930384" y="5943600"/>
            <a:ext cx="685800" cy="228600"/>
          </a:xfrm>
          <a:prstGeom prst="rect">
            <a:avLst/>
          </a:prstGeom>
          <a:noFill/>
        </p:spPr>
        <p:txBody>
          <a:bodyPr wrap="square" lIns="0" tIns="0" rIns="0" bIns="0">
            <a:spAutoFit/>
          </a:bodyPr>
          <a:lstStyle/>
          <a:p>
            <a:pPr>
              <a:spcAft>
                <a:spcPts val="500"/>
              </a:spcAft>
              <a:defRPr sz="1100" b="0">
                <a:solidFill>
                  <a:srgbClr val="526A81"/>
                </a:solidFill>
                <a:latin typeface="Aptos"/>
              </a:defRPr>
            </a:pPr>
            <a:r>
              <a:t>A12</a:t>
            </a:r>
          </a:p>
        </p:txBody>
      </p:sp>
    </p:spTree>
  </p:cSld>
  <p:clrMapOvr>
    <a:masterClrMapping/>
  </p:clrMapOvr>
  <mc:AlternateContent xmlns:mc="http://schemas.openxmlformats.org/markup-compatibility/2006">
    <mc:Choice xmlns:p14="http://schemas.microsoft.com/office/powerpoint/2010/main" Requires="p14">
      <p:transition spd="med" p14:dur="550" advTm="24450">
        <p:fade thruBlk="1"/>
      </p:transition>
    </mc:Choice>
    <mc:Fallback>
      <p:transition spd="med" advTm="24450">
        <p:fade thruBlk="1"/>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21-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Tính mới nằm ở cách kiểm chứng và diễn giải</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V6 §3.1, §5.3–5.5; P21 aggregate</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21</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Nhóm có phát minh thuật toán mới không?</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Không. Đóng góp trong phạm vi đề tài là benchmark có truy vết, kiểm toán hạn chế, P21 matched và phân tích chi phí lỗi. Không tuyên bố mới trên toàn lĩnh vực.</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22-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Diversity là điều kiện cần xem xét, chưa đủ</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src/models/run_unsw_ensemble_phase7_2.py; V6 §3.3, §4.5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22</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Vì sao chọn LR, DT và RF; AdaBoost ở đâu?</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LR làm mốc tuyến tính; DT học quy tắc phi tuyến; RF giảm phương sai bằng nhiều cây. AdaBoost là đối chiếu boosting ở development. Hard/Soft Voting không hơn RF về Macro-F1 development; không mang Voting thành kết quả TEST cuối.</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23-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UNSW-NB15 là benchmark, chưa đại diện mạng thực</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V6 §2.1, §2.5–2.6, §3.1</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23</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Vì sao dùng UNSW-NB15?</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Có nhãn nhị phân và official split phù hợp đối chiếu tái lập. Giữ nguyên 175.341 TRAIN / 82.332 TEST. Kết quả chỉ thuộc benchmark; cần validation theo thời gian hoặc nguồn mạng khác trước khi khái quát.</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24-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Kiểm soát leakage phải được mô tả theo từng giai đoạn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V6 §3.2–3.6; tools/p21_science_core.py</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24</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Quy trình có hoàn toàn tránh leakage không?</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Không tuyên bố tuyệt đối. Preprocessing trong pipeline; meta LR học dự đoán OOF; TEST không dùng tuning. Tuy nhiên stable17 lịch sử chọn trên toàn TRAIN trước CV và meta tuning chưa hoàn toàn nested, có selection optimism. P21 chọn trong FIT và inner grouped CV; không sửa hồi tố lịch sử.</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25-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P21 có 5 FIT seed trên 1 validation cố định</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P21 aggregate.json; V6 §3.6, §4.7</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25</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P21 có phải external TEST mới không?</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Không. Hậu nghiệm trên official TRAIN; mỗi seed dùng 60.000 FIT source rows, validation 35.069 dòng (11.200 Normal / 23.869 Attack). Group theo vector 42 predictor trùng chính xác; không chứng minh độc lập session/time. SD có điều kiện trên validation này.</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26-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Đối chứng RF17 cần tính cả chọn biến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V6 §3.2–3.3, §4.7.3; tools/p21_selector_core.py</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26</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Feature Selection hoạt động thế nào và có rẻ hơn?</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P21 chọn stable17 từ FIT qua MI/L1/ExtraTrees, 5 selector seed; 14 biến chung trong 5 bộ. RF17 model fit 84,600 s; selector 225,250 s; cộng 309,850 s, so RF42 fit 241,119 s. Chưa phải chi phí end-to-end. RF17 lịch sử đổi cả số cây và min leaf, không phải FS-only ablation.</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27-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Voting có luật gộp cố định; Stacking học luật gộp</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src/models/run_unsw_phase9_final_holdout.py:283–508; tools/p21_science_core.py</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27</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OOF được dùng ở đâu?</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Hard: đa số nhãn; Soft: trung bình xác suất. Stacking: LR meta học xác suất OOF của LR/DT/RF; passthrough=False. Khi dự đoán, base learner fit lại trên phần train rồi đưa xác suất cho meta. OOF cần giữ cả preprocessing trong fold.</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28-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Macro-F1 và MCC bổ sung góc nhìn khác nhau</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V6 §3.4; final_metrics.csv</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28</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Vì sao không chỉ dùng Accuracy?</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Macro-F1 cho hai lớp trọng số bằng nhau; MCC dùng cả TN/FP/FN/TP. Precision Attack = TP/(TP+FP); Recall = TP/(TP+FN). FPR = FP/(TN+FP); FNR = FN/(TP+FN). Attack là lớp dương. Accuracy che được lỗi khi phân bố lớp đổi.</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29-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Đọc CI của hiệu số; không suy ra tương đương</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V6 §3.4, §4.2, §5.1</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29</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Vì sao không nói hai mô hình tương đương?</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CI 95% paired bootstrap của chênh Macro-F1/MCC chứa 0: chưa thấy khác biệt rõ theo phép đo đó. Không phải kiểm định tương đương. McNemar đo đúng/sai tổng thể, không trực tiếp Macro-F1. Bootstrap hàng dữ liệu không ước lượng biến thiên huấn luyện.</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30-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Rủi ro phụ thuộc đơn vị chi phí đã chọn</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V6 §5.1; final_metrics.csv</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30</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Khi nào RF42 tốt hơn Stacking42?</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Trên official TEST cố định, L = FP + r FN, ΔL(Stack−RF)=−142+118r. Khi r&gt;142/118≈1,2034, RF42 có L thấp hơn Stacking42 trong đúng cặp này. Chưa suy ra RF42 tối ưu hơn mọi mô hình hoặc chi phí SOC thực.</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31-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Cân bằng Normal giải thích hướng thay đổi lỗi</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V6 §4.7.4; P21 aggregate.json</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31</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Tại sao balanced làm tăng FNR?</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Normal là lớp ít mẫu trong TRAIN. P21 class_weight=balanced ưu tiên Normal hơn nên giảm FPR, tăng FNR quan sát được. A2−A0: −3,1643 đpp FPR / +1,7881 đpp FNR; oversample: −2,2089 / +1,1680 đpp. Không chọn lại ngưỡng từ kết quả này.</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s32-title"/>
          <p:cNvSpPr txBox="1"/>
          <p:nvPr/>
        </p:nvSpPr>
        <p:spPr>
          <a:xfrm>
            <a:off x="548640" y="502920"/>
            <a:ext cx="11064240" cy="1097280"/>
          </a:xfrm>
          <a:prstGeom prst="rect">
            <a:avLst/>
          </a:prstGeom>
          <a:noFill/>
        </p:spPr>
        <p:txBody>
          <a:bodyPr wrap="square" lIns="0" tIns="0" rIns="0" bIns="0">
            <a:spAutoFit/>
          </a:bodyPr>
          <a:lstStyle/>
          <a:p>
            <a:pPr>
              <a:spcAft>
                <a:spcPts val="500"/>
              </a:spcAft>
              <a:defRPr sz="3600" b="1">
                <a:solidFill>
                  <a:srgbClr val="0D3560"/>
                </a:solidFill>
                <a:latin typeface="Aptos"/>
              </a:defRPr>
            </a:pPr>
            <a:r>
              <a:t>Khả năng tái dựng khác khả năng triển khai</a:t>
            </a:r>
          </a:p>
        </p:txBody>
      </p:sp>
      <p:sp>
        <p:nvSpPr>
          <p:cNvPr id="3" name="Text 2"/>
          <p:cNvSpPr txBox="1"/>
          <p:nvPr/>
        </p:nvSpPr>
        <p:spPr>
          <a:xfrm>
            <a:off x="530352" y="6428232"/>
            <a:ext cx="10607040" cy="219456"/>
          </a:xfrm>
          <a:prstGeom prst="rect">
            <a:avLst/>
          </a:prstGeom>
          <a:noFill/>
        </p:spPr>
        <p:txBody>
          <a:bodyPr wrap="square" lIns="0" tIns="0" rIns="0" bIns="0">
            <a:spAutoFit/>
          </a:bodyPr>
          <a:lstStyle/>
          <a:p>
            <a:pPr>
              <a:spcAft>
                <a:spcPts val="500"/>
              </a:spcAft>
              <a:defRPr sz="1000" b="0">
                <a:solidFill>
                  <a:srgbClr val="526A81"/>
                </a:solidFill>
                <a:latin typeface="Aptos"/>
              </a:defRPr>
            </a:pPr>
            <a:r>
              <a:t>Phụ lục vấn đáp · V6 §3.5, §5.4–5.5</a:t>
            </a:r>
          </a:p>
        </p:txBody>
      </p:sp>
      <p:sp>
        <p:nvSpPr>
          <p:cNvPr id="4" name="Text 3"/>
          <p:cNvSpPr txBox="1"/>
          <p:nvPr/>
        </p:nvSpPr>
        <p:spPr>
          <a:xfrm>
            <a:off x="11064240" y="6400800"/>
            <a:ext cx="548640" cy="237744"/>
          </a:xfrm>
          <a:prstGeom prst="rect">
            <a:avLst/>
          </a:prstGeom>
          <a:noFill/>
        </p:spPr>
        <p:txBody>
          <a:bodyPr wrap="square" lIns="0" tIns="0" rIns="0" bIns="0">
            <a:spAutoFit/>
          </a:bodyPr>
          <a:lstStyle/>
          <a:p>
            <a:pPr algn="r">
              <a:spcAft>
                <a:spcPts val="500"/>
              </a:spcAft>
              <a:defRPr sz="1200" b="0">
                <a:solidFill>
                  <a:srgbClr val="526A81"/>
                </a:solidFill>
                <a:latin typeface="Aptos"/>
              </a:defRPr>
            </a:pPr>
            <a:r>
              <a:t>32</a:t>
            </a:r>
          </a:p>
        </p:txBody>
      </p:sp>
      <p:cxnSp>
        <p:nvCxnSpPr>
          <p:cNvPr id="5" name="!!scene-flow-rail"/>
          <p:cNvCxnSpPr/>
          <p:nvPr/>
        </p:nvCxnSpPr>
        <p:spPr>
          <a:xfrm>
            <a:off x="548640" y="6199632"/>
            <a:ext cx="11082528" cy="0"/>
          </a:xfrm>
          <a:prstGeom prst="line">
            <a:avLst/>
          </a:prstGeom>
          <a:ln w="12700">
            <a:solidFill>
              <a:srgbClr val="D6E7F5"/>
            </a:solidFill>
          </a:ln>
        </p:spPr>
        <p:style>
          <a:lnRef idx="2">
            <a:schemeClr val="accent1"/>
          </a:lnRef>
          <a:fillRef idx="0">
            <a:schemeClr val="accent1"/>
          </a:fillRef>
          <a:effectRef idx="1">
            <a:schemeClr val="accent1"/>
          </a:effectRef>
          <a:fontRef idx="minor">
            <a:schemeClr val="tx1"/>
          </a:fontRef>
        </p:style>
      </p:cxnSp>
      <p:sp>
        <p:nvSpPr>
          <p:cNvPr id="6" name="!!scene-stage-0"/>
          <p:cNvSpPr/>
          <p:nvPr/>
        </p:nvSpPr>
        <p:spPr>
          <a:xfrm>
            <a:off x="5486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cene-stage-1"/>
          <p:cNvSpPr/>
          <p:nvPr/>
        </p:nvSpPr>
        <p:spPr>
          <a:xfrm>
            <a:off x="210312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cene-stage-2"/>
          <p:cNvSpPr/>
          <p:nvPr/>
        </p:nvSpPr>
        <p:spPr>
          <a:xfrm>
            <a:off x="36576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cene-stage-3"/>
          <p:cNvSpPr/>
          <p:nvPr/>
        </p:nvSpPr>
        <p:spPr>
          <a:xfrm>
            <a:off x="521207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cene-stage-4"/>
          <p:cNvSpPr/>
          <p:nvPr/>
        </p:nvSpPr>
        <p:spPr>
          <a:xfrm>
            <a:off x="676655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cene-stage-5"/>
          <p:cNvSpPr/>
          <p:nvPr/>
        </p:nvSpPr>
        <p:spPr>
          <a:xfrm>
            <a:off x="832104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cene-stage-6"/>
          <p:cNvSpPr/>
          <p:nvPr/>
        </p:nvSpPr>
        <p:spPr>
          <a:xfrm>
            <a:off x="9875519"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cene-stage-7"/>
          <p:cNvSpPr/>
          <p:nvPr/>
        </p:nvSpPr>
        <p:spPr>
          <a:xfrm>
            <a:off x="11430000" y="6158484"/>
            <a:ext cx="82296" cy="82296"/>
          </a:xfrm>
          <a:prstGeom prst="ellipse">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cene-flow"/>
          <p:cNvSpPr/>
          <p:nvPr/>
        </p:nvSpPr>
        <p:spPr>
          <a:xfrm>
            <a:off x="11393424" y="6126480"/>
            <a:ext cx="146304" cy="146304"/>
          </a:xfrm>
          <a:prstGeom prst="ellipse">
            <a:avLst/>
          </a:prstGeom>
          <a:solidFill>
            <a:srgbClr val="139D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14"/>
          <p:cNvSpPr txBox="1"/>
          <p:nvPr/>
        </p:nvSpPr>
        <p:spPr>
          <a:xfrm>
            <a:off x="777240" y="1920240"/>
            <a:ext cx="10607040" cy="777240"/>
          </a:xfrm>
          <a:prstGeom prst="rect">
            <a:avLst/>
          </a:prstGeom>
          <a:noFill/>
        </p:spPr>
        <p:txBody>
          <a:bodyPr wrap="square" lIns="0" tIns="0" rIns="0" bIns="0">
            <a:spAutoFit/>
          </a:bodyPr>
          <a:lstStyle/>
          <a:p>
            <a:pPr>
              <a:spcAft>
                <a:spcPts val="500"/>
              </a:spcAft>
              <a:defRPr sz="2700" b="1">
                <a:solidFill>
                  <a:srgbClr val="1769AA"/>
                </a:solidFill>
                <a:latin typeface="Aptos"/>
              </a:defRPr>
            </a:pPr>
            <a:r>
              <a:t>Nhóm đã triển khai IDS mạng thật chưa?</a:t>
            </a:r>
          </a:p>
        </p:txBody>
      </p:sp>
      <p:sp>
        <p:nvSpPr>
          <p:cNvPr id="16" name="Text 15"/>
          <p:cNvSpPr txBox="1"/>
          <p:nvPr/>
        </p:nvSpPr>
        <p:spPr>
          <a:xfrm>
            <a:off x="777240" y="2971800"/>
            <a:ext cx="10607040" cy="2468880"/>
          </a:xfrm>
          <a:prstGeom prst="rect">
            <a:avLst/>
          </a:prstGeom>
          <a:noFill/>
        </p:spPr>
        <p:txBody>
          <a:bodyPr wrap="square" lIns="0" tIns="0" rIns="0" bIns="0">
            <a:spAutoFit/>
          </a:bodyPr>
          <a:lstStyle/>
          <a:p>
            <a:pPr>
              <a:spcAft>
                <a:spcPts val="500"/>
              </a:spcAft>
              <a:defRPr sz="2500" b="0">
                <a:solidFill>
                  <a:srgbClr val="0D3560"/>
                </a:solidFill>
                <a:latin typeface="Aptos"/>
              </a:defRPr>
            </a:pPr>
            <a:r>
              <a:t>Chưa. Mã hiện là pipeline offline. P15 tái dựng theo cấu hình, không chứng minh bitwise artifact lịch sử. Chưa đo traffic mới, drift, tải phục vụ hay tổn thất SOC. Cần đánh giá ngoài, calibration/threshold trên train-validation mới và đo latency toàn pipeline.</a:t>
            </a:r>
          </a:p>
        </p:txBody>
      </p:sp>
      <p:sp>
        <p:nvSpPr>
          <p:cNvPr id="17" name="Text 16"/>
          <p:cNvSpPr txBox="1"/>
          <p:nvPr/>
        </p:nvSpPr>
        <p:spPr>
          <a:xfrm>
            <a:off x="777240" y="5669280"/>
            <a:ext cx="10607040" cy="320040"/>
          </a:xfrm>
          <a:prstGeom prst="rect">
            <a:avLst/>
          </a:prstGeom>
          <a:noFill/>
        </p:spPr>
        <p:txBody>
          <a:bodyPr wrap="square" lIns="0" tIns="0" rIns="0" bIns="0">
            <a:spAutoFit/>
          </a:bodyPr>
          <a:lstStyle/>
          <a:p>
            <a:pPr>
              <a:spcAft>
                <a:spcPts val="500"/>
              </a:spcAft>
              <a:defRPr sz="1600" b="0">
                <a:solidFill>
                  <a:srgbClr val="526A81"/>
                </a:solidFill>
                <a:latin typeface="Aptos"/>
              </a:defRPr>
            </a:pPr>
            <a:r>
              <a:t>Trả lời cốt lõi trong 15–25 giây; chỉ mở khi hội đồng hỏi.</a:t>
            </a:r>
          </a:p>
        </p:txBody>
      </p:sp>
      <p:sp>
        <p:nvSpPr>
          <p:cNvPr id="18" name="Text 17">
            <a:hlinkClick r:id="rId3" action="ppaction://hlinksldjump"/>
          </p:cNvPr>
          <p:cNvSpPr txBox="1"/>
          <p:nvPr/>
        </p:nvSpPr>
        <p:spPr>
          <a:xfrm>
            <a:off x="9784080" y="109728"/>
            <a:ext cx="1828800" cy="228600"/>
          </a:xfrm>
          <a:prstGeom prst="rect">
            <a:avLst/>
          </a:prstGeom>
          <a:noFill/>
        </p:spPr>
        <p:txBody>
          <a:bodyPr wrap="square" lIns="0" tIns="0" rIns="0" bIns="0">
            <a:spAutoFit/>
          </a:bodyPr>
          <a:lstStyle/>
          <a:p>
            <a:pPr>
              <a:spcAft>
                <a:spcPts val="500"/>
              </a:spcAft>
              <a:defRPr sz="1200" b="0">
                <a:solidFill>
                  <a:srgbClr val="1769AA"/>
                </a:solidFill>
                <a:latin typeface="Aptos"/>
              </a:defRPr>
            </a:pPr>
            <a:r>
              <a:t>Về kết luận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5829</Words>
  <Application>Microsoft Office PowerPoint</Application>
  <PresentationFormat>Widescreen</PresentationFormat>
  <Paragraphs>503</Paragraphs>
  <Slides>32</Slides>
  <Notes>32</Notes>
  <HiddenSlides>12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Nghiên cứu Ensemble Learning cho phát hiện xâm nhập mạng</dc:title>
  <dc:subject>Bảo vệ NCKH · 8 cảnh / 360 giây · UNSW-NB15 · V6</dc:subject>
  <dc:creator>Nhóm NCKH Ensemble IDS</dc:creator>
  <cp:keywords/>
  <dc:description>generated using python-pptx</dc:description>
  <cp:lastModifiedBy>LENOVO</cp:lastModifiedBy>
  <cp:revision>2</cp:revision>
  <dcterms:created xsi:type="dcterms:W3CDTF">2013-01-27T09:14:16Z</dcterms:created>
  <dcterms:modified xsi:type="dcterms:W3CDTF">2026-10-19T04:37:49Z</dcterms:modified>
  <cp:category/>
</cp:coreProperties>
</file>