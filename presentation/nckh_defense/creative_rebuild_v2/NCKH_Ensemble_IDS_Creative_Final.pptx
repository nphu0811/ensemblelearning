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1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0904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1 | 20 giây
Một hệ thống phát hiện xâm nhập báo ít hơn một trăm bốn mươi hai cảnh báo giả. Nghe có vẻ tốt. Nhưng nếu đổi lại là bỏ sót thêm một trăm mười tám bản ghi tấn công thì sao? Đó là đánh đổi nhóm chúng em muốn làm rõ khi nghiên cứu cách kết hợp các mô hình.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2 | 20 giây
Mỗi bản ghi lưu lượng được mô hình gán vào một trong hai lớp: bình thường hoặc tấn công. Báo nhầm làm người vận hành tốn công kiểm tra. Bỏ sót lại để một dấu hiệu tấn công đi qua. Vì vậy, chỉ hỏi mô hình đúng bao nhiêu phần trăm là chưa đủ.</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2 | 15 giây
Nhóm dùng UNSW-NB15: hơn một trăm bảy mươi lăm nghìn dòng huấn luyện và tám mươi hai nghìn dòng kiểm thử chính thức. Nhóm muốn biết Voting và Stacking có tốt hơn mô hình tham chiếu Random Forest không.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3 | 20 giây
Đây là pipeline ngoại tuyến trong mã nguồn. Nhóm loại mã định danh, nhãn và tên nhóm tấn công khỏi đầu vào, giữ bốn mươi hai đặc trưng gốc. Biến phân loại được mã hóa; hồi quy logistic có thêm chuẩn hóa. Các phép biến đổi phải học tham số từ phần huấn luyện tương ứng.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3 | 20 giây
Cùng một bản ghi sau xử lý đi đến hồi quy logistic, cây quyết định và Random Forest. Các mô hình tạo xác suất cho bộ kết hợp ra quyết định, với ngưỡng không phẩy năm đã khóa. Đây là đường suy luận ngoại tuyến; nhóm chưa triển khai bắt gói trực tiếp trên mạng.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3 | 20 giây
Để huấn luyện Stacking, mỗi mô hình cơ sở học trên một số fold rồi dự đoán fold được giữ lại. Ghép các dự đoán ngoài fold này để huấn luyện tầng kết hợp. Nhờ vậy, tầng cuối không học từ dự đoán trên chính những dòng mà mô hình cơ sở vừa học.</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4 | 18 giây
Random Forest đã kết hợp nhiều cây quyết định. Các cây học từ mẫu và tập đặc trưng ngẫu nhiên rồi tổng hợp dự đoán. Nhóm chọn nó làm mốc mạnh. Thêm một tầng kết hợp phải cho thấy lợi ích cụ thể; nhiều mô hình hơn chưa chắc tốt hơn.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4 | 17 giây
Voting gộp đầu ra của ba mô hình theo luật cố định. Hard Voting lấy đa số phiếu; Soft Voting lấy trung bình xác suất. Các mô hình có cách học khác nhau, nhưng nếu cùng sai ở những bản ghi khó, phép gộp vẫn có thể giữ nguyên lỗi.</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4 | 20 giây
Stacking dùng hồi quy logistic ở tầng cuối. Tầng này học cách gộp từ dự đoán ngoài fold. Sau đó, mô hình cơ sở được học lại trên dữ liệu huấn luyện để dự đoán bản ghi mới. Ngoài fold phục vụ huấn luyện tầng cuối; đường đang sáng minh họa lúc suy luận.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5 | 20 giây
Trên tập kiểm thử chính thức, Macro F một của hai mô hình đều gần không phẩy tám sáu ba. Stacking chỉ nhỉnh hơn rất ít, còn MCC thấp hơn một chút. Khoảng tin cậy của cả hai hiệu số đều chứa số không. Chưa có bằng chứng rõ rằng Stacking vượt trội.</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5 | 20 giây
Về cảnh báo giả, Random Forest báo nhầm mười nghìn không trăm lẻ ba bản ghi bình thường. Stacking còn chín nghìn tám trăm sáu mươi mốt. Mức giảm là một trăm bốn mươi hai. Nhưng trên cùng tập kiểm thử, đây mới chỉ là một phía của kết quả.</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5 | 25 giây
Ở phía còn lại, số bản ghi tấn công bị bỏ sót tăng từ bảy trăm ba mươi bốn lên tám trăm năm mươi hai. Tức là thêm một trăm mười tám. Nhóm nhấn mạnh số bản ghi, vì đây chưa phải một trăm mười tám sự cố độc lập trong mạng thật. Lúc này, câu hỏi không còn là mô hình nào có điểm nhỉnh hơn, mà là việc giảm cảnh báo giả có đáng với phần bỏ sót tăng thêm hay không.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6 | 25 giây
Nhóm bổ sung P hai mươi mốt để kiểm tra có đối chứng. Năm seed huấn luyện, mỗi seed dùng sáu mươi nghìn dòng FIT. Năm nhánh gồm rừng bốn mươi hai biến, rừng mười bảy biến, trọng số lớp, lấy mẫu bổ sung và Stacking Lite. Tất cả dùng chung một validation cố định từ TRAIN; không phải năm tập kiểm thử độc lập.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6 | 25 giây
Trong P hai mươi mốt, Random Forest Lite vẫn có Macro F một trung bình nhỉnh hơn Stacking Lite. Rừng mười bảy biến học nhanh hơn sau khi chọn biến. Nhưng cộng bước chọn, thời gian lên khoảng ba trăm mười giây, cao hơn hai trăm bốn mươi mốt giây của rừng bốn mươi hai biến. Chất lượng dự đoán cũng giảm. Vì vậy phải tính cả bước chọn biến.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7 | 25 giây
Trong P hai mươi mốt, tăng trọng số lớp và lấy mẫu bổ sung đều giảm tỷ lệ cảnh báo giả, nhưng tăng tỷ lệ bỏ sót. Bình thường mới là lớp ít mẫu trong TRAIN này. Can thiệp cân bằng vì thế ưu tiên lớp bình thường hơn. Đây là hướng dịch chuyển lỗi trong các cấu hình đã thử, không có nghĩa cân bằng lớp luôn có hại.</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7 | 25 giây
Nhóm giả định một cảnh báo giả tốn một đơn vị, còn một lần bỏ sót tốn r đơn vị. Với dự đoán kiểm thử lịch sử, hai mô hình hòa nhau khi r khoảng một phẩy hai. Khi bỏ sót đắt hơn mức này, Random Forest có tổn thất thấp hơn Stacking. Đây là giả định để đọc kết quả, chưa phải thiệt hại đo tại trung tâm vận hành.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Cảnh 8 | 25 giây
Qua các thí nghiệm, nhóm thấy ghép thêm mô hình chưa chắc giúp phát hiện tấn công tốt hơn. Cần đọc kết quả cùng loại lỗi và chi phí của nó. Nhóm đã đối chiếu cấu hình, bổ sung đối chứng và nêu giới hạn chọn đặc trưng lịch sử. Bước tiếp theo là kiểm chứng trên dữ liệu mạng mới và đo chi phí thực tế. Nhóm xin cảm ơn hội đồng.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Nhóm không đề xuất thuật toán mới. Nhóm đối chiếu các cấu hình, bổ sung thí nghiệm P21 và chỉ ra mô hình đang giảm loại lỗi nào, tăng loại lỗi nào. Đó là đóng góp trong phạm vi đề tài; nhóm không khẳng định đây là cách làm mới của toàn lĩnh vực.</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LR là mốc tuyến tính; DT học quy tắc phi tuyến; RF kết hợp nhiều cây để giảm phương sai. Nhóm muốn xem các cách học khác nhau có bổ sung cho nhau không. AdaBoost được đối chiếu ở development. Voting chưa hơn RF về Macro-F1 ở giai đoạn đó nên không được đưa thành kết quả TEST cuối.</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UNSW-NB15 có nhãn nhị phân và bộ chia chính thức, thuận tiện để đối chiếu lại kết quả. Nhóm giữ 175.341 dòng TRAIN và 82.332 dòng TEST. Tuy nhiên, một benchmark chưa đại diện cho mạng thực; cần kiểm chứng trên nguồn hoặc thời điểm khác.</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Nhóm đặt preprocessing trong pipeline và dùng dự đoán OOF cho meta learner; TEST không phục vụ tuning. Nhưng stable17 lịch sử được chọn trước CV và meta tuning chưa hoàn toàn nested, nên vẫn có nguy cơ lạc quan. P21 chọn biến trong FIT và dùng inner grouped CV; nó không sửa hồi tố kết quả cũ.</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Không. P21 dùng lại official TRAIN. Mỗi seed có 60.000 dòng FIT và cùng validation 35.069 dòng. Các vector 42 predictor trùng nhau được gom nhóm; điều này chưa chứng minh độc lập theo phiên hoặc thời gian. Năm seed phản ánh biến thiên huấn luyện, không phải năm TEST ngoài.</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P21 chọn 17 biến trong FIT bằng MI, L1 và ExtraTrees qua 5 selector seed. RF17 fit mất 84,600 giây; chọn biến mất 225,250 giây. Cộng lại 309,850 giây, cao hơn RF42 fit 241,119 giây. Đây chưa phải chi phí end-to-end. RF17 lịch sử còn đổi cấu hình rừng, nên không dùng để tách riêng tác động chọn biến.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Voting dùng luật gộp cố định: đa số nhãn hoặc trung bình xác suất. Với Stacking, meta LR học từ xác suất ngoài fold của LR, DT và RF. Sau đó base learner được fit lại trên phần train. Khi dự đoán bản ghi mới, các mô hình đã fit tạo xác suất cho meta; không huấn luyện lại lúc suy luận.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Macro-F1 cho hai lớp trọng số bằng nhau, còn MCC xét cả bốn ô confusion matrix. Nhóm đọc thêm Precision, Recall, FPR và FNR để biết lỗi nằm ở đâu. Attack là lớp dương: FPR là tỷ lệ Normal bị báo Attack; FNR là tỷ lệ Attack bị bỏ qua. Accuracy một mình không cho thấy hết đánh đổi đó.</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Khoảng tin cậy của chênh lệch Macro-F1 và MCC chứa 0 nên nhóm chưa thấy khác biệt rõ theo các phép đo đó. Điều này không chứng minh hai mô hình tương đương. Bootstrap ở đây lấy mẫu theo dòng dự đoán; nó không đo biến thiên do huấn luyện lại mô hình.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Với đúng dự đoán official TEST đang xét, nhóm đặt L=FP+r×FN. Chênh lệch Stacking trừ RF là −142+118r. Khi r lớn hơn 142/118, khoảng 1,2034, RF có tổn thất thấp hơn. Kết luận này phụ thuộc giả định chi phí; chưa phải chi phí đo ở SOC hay chứng minh RF tốt hơn mọi mô hình.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Normal mới là lớp ít mẫu trong TRAIN. Cấu hình balanced ưu tiên Normal hơn, và trong P21 nhóm quan sát FPR giảm nhưng FNR tăng. Cân bằng không tự động giúp phát hiện Attack tốt hơn. Nhóm giữ nguyên ngưỡng trong phép đối chứng, không chọn ngưỡng mới từ kết quả này.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Chưa. Nhóm đang đánh giá pipeline ngoại tuyến. P15 tái dựng theo cấu hình, không chứng minh trùng bit với artifact lịch sử. Nhóm chưa đo drift, tải phục vụ hoặc chi phí SOC. Trước khi triển khai, cần dữ liệu ngoài, kiểm tra ngưỡng trên train-validation mới và đo độ trễ toàn quy trình.</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8.xml"/><Relationship Id="rId3" Type="http://schemas.openxmlformats.org/officeDocument/2006/relationships/slide" Target="slide18.xml"/><Relationship Id="rId7" Type="http://schemas.openxmlformats.org/officeDocument/2006/relationships/slide" Target="slide22.xml"/><Relationship Id="rId12" Type="http://schemas.openxmlformats.org/officeDocument/2006/relationships/slide" Target="slide27.xm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slide" Target="slide21.xml"/><Relationship Id="rId11" Type="http://schemas.openxmlformats.org/officeDocument/2006/relationships/slide" Target="slide26.xml"/><Relationship Id="rId5" Type="http://schemas.openxmlformats.org/officeDocument/2006/relationships/slide" Target="slide20.xml"/><Relationship Id="rId10" Type="http://schemas.openxmlformats.org/officeDocument/2006/relationships/slide" Target="slide25.xml"/><Relationship Id="rId4" Type="http://schemas.openxmlformats.org/officeDocument/2006/relationships/slide" Target="slide19.xml"/><Relationship Id="rId9" Type="http://schemas.openxmlformats.org/officeDocument/2006/relationships/slide" Target="slide24.xml"/><Relationship Id="rId14" Type="http://schemas.openxmlformats.org/officeDocument/2006/relationships/slide" Target="slide29.xml"/></Relationships>
</file>

<file path=ppt/slides/_rels/slide18.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62F"/>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F8F5EE"/>
                </a:solidFill>
                <a:latin typeface="Consolas"/>
              </a:defRPr>
            </a:pPr>
            <a:r>
              <a:t>ENSEMBLE / IDS                         HOOK</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F8F5EE"/>
                </a:solidFill>
                <a:latin typeface="Consolas"/>
              </a:defRPr>
            </a:pPr>
            <a:r>
              <a:t>01</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F8F5EE"/>
                </a:solidFill>
                <a:latin typeface="Aptos"/>
              </a:defRPr>
            </a:pPr>
            <a:r>
              <a:t>UNSW-NB15 · sơ đồ minh họa pipeline offline theo mã nguồn; không phải traffic triển khai</a:t>
            </a:r>
          </a:p>
        </p:txBody>
      </p:sp>
      <p:sp>
        <p:nvSpPr>
          <p:cNvPr id="5" name="text-4"/>
          <p:cNvSpPr txBox="1"/>
          <p:nvPr/>
        </p:nvSpPr>
        <p:spPr>
          <a:xfrm>
            <a:off x="548640" y="868680"/>
            <a:ext cx="9144000" cy="914400"/>
          </a:xfrm>
          <a:prstGeom prst="rect">
            <a:avLst/>
          </a:prstGeom>
          <a:noFill/>
        </p:spPr>
        <p:txBody>
          <a:bodyPr wrap="square" lIns="0" tIns="0" rIns="0" bIns="0">
            <a:spAutoFit/>
          </a:bodyPr>
          <a:lstStyle/>
          <a:p>
            <a:pPr>
              <a:spcAft>
                <a:spcPts val="0"/>
              </a:spcAft>
              <a:defRPr sz="2100" b="0">
                <a:solidFill>
                  <a:srgbClr val="B4B8CB"/>
                </a:solidFill>
                <a:latin typeface="Aptos"/>
              </a:defRPr>
            </a:pPr>
            <a:r>
              <a:t>Nghiên cứu Ensemble Learning</a:t>
            </a:r>
          </a:p>
          <a:p>
            <a:pPr>
              <a:spcAft>
                <a:spcPts val="0"/>
              </a:spcAft>
              <a:defRPr sz="2100" b="0">
                <a:solidFill>
                  <a:srgbClr val="B4B8CB"/>
                </a:solidFill>
                <a:latin typeface="Aptos"/>
              </a:defRPr>
            </a:pPr>
            <a:r>
              <a:t>cho phát hiện xâm nhập mạng</a:t>
            </a:r>
          </a:p>
        </p:txBody>
      </p:sp>
      <p:sp>
        <p:nvSpPr>
          <p:cNvPr id="6" name="hook1"/>
          <p:cNvSpPr txBox="1"/>
          <p:nvPr/>
        </p:nvSpPr>
        <p:spPr>
          <a:xfrm>
            <a:off x="502920" y="1874519"/>
            <a:ext cx="10972800" cy="1188720"/>
          </a:xfrm>
          <a:prstGeom prst="rect">
            <a:avLst/>
          </a:prstGeom>
          <a:noFill/>
        </p:spPr>
        <p:txBody>
          <a:bodyPr wrap="square" lIns="0" tIns="0" rIns="0" bIns="0">
            <a:spAutoFit/>
          </a:bodyPr>
          <a:lstStyle/>
          <a:p>
            <a:pPr>
              <a:spcAft>
                <a:spcPts val="0"/>
              </a:spcAft>
              <a:defRPr sz="6500" b="1">
                <a:solidFill>
                  <a:srgbClr val="F8F5EE"/>
                </a:solidFill>
                <a:latin typeface="Arial"/>
              </a:defRPr>
            </a:pPr>
            <a:r>
              <a:t>BỚT CẢNH BÁO.</a:t>
            </a:r>
          </a:p>
        </p:txBody>
      </p:sp>
      <p:sp>
        <p:nvSpPr>
          <p:cNvPr id="7" name="hook2"/>
          <p:cNvSpPr txBox="1"/>
          <p:nvPr/>
        </p:nvSpPr>
        <p:spPr>
          <a:xfrm>
            <a:off x="502920" y="2971800"/>
            <a:ext cx="10972800" cy="1188720"/>
          </a:xfrm>
          <a:prstGeom prst="rect">
            <a:avLst/>
          </a:prstGeom>
          <a:noFill/>
        </p:spPr>
        <p:txBody>
          <a:bodyPr wrap="square" lIns="0" tIns="0" rIns="0" bIns="0">
            <a:spAutoFit/>
          </a:bodyPr>
          <a:lstStyle/>
          <a:p>
            <a:pPr>
              <a:spcAft>
                <a:spcPts val="0"/>
              </a:spcAft>
              <a:defRPr sz="6500" b="1">
                <a:solidFill>
                  <a:srgbClr val="FF7058"/>
                </a:solidFill>
                <a:latin typeface="Arial"/>
              </a:defRPr>
            </a:pPr>
            <a:r>
              <a:t>AN TOÀN HƠN?</a:t>
            </a:r>
          </a:p>
        </p:txBody>
      </p:sp>
      <p:sp>
        <p:nvSpPr>
          <p:cNvPr id="8" name="text-7"/>
          <p:cNvSpPr txBox="1"/>
          <p:nvPr/>
        </p:nvSpPr>
        <p:spPr>
          <a:xfrm>
            <a:off x="9326880" y="4114800"/>
            <a:ext cx="2103120" cy="1828800"/>
          </a:xfrm>
          <a:prstGeom prst="rect">
            <a:avLst/>
          </a:prstGeom>
          <a:noFill/>
        </p:spPr>
        <p:txBody>
          <a:bodyPr wrap="square" lIns="0" tIns="0" rIns="0" bIns="0">
            <a:spAutoFit/>
          </a:bodyPr>
          <a:lstStyle/>
          <a:p>
            <a:pPr>
              <a:spcAft>
                <a:spcPts val="0"/>
              </a:spcAft>
              <a:defRPr sz="11500" b="1">
                <a:solidFill>
                  <a:srgbClr val="C5F66A"/>
                </a:solidFill>
                <a:latin typeface="Arial"/>
              </a:defRPr>
            </a:pPr>
            <a:r>
              <a:t>?</a:t>
            </a:r>
          </a:p>
        </p:txBody>
      </p:sp>
      <p:sp>
        <p:nvSpPr>
          <p:cNvPr id="9" name="text-8"/>
          <p:cNvSpPr txBox="1"/>
          <p:nvPr/>
        </p:nvSpPr>
        <p:spPr>
          <a:xfrm>
            <a:off x="594360" y="5532120"/>
            <a:ext cx="8229600" cy="594360"/>
          </a:xfrm>
          <a:prstGeom prst="rect">
            <a:avLst/>
          </a:prstGeom>
          <a:noFill/>
        </p:spPr>
        <p:txBody>
          <a:bodyPr wrap="square" lIns="0" tIns="0" rIns="0" bIns="0">
            <a:spAutoFit/>
          </a:bodyPr>
          <a:lstStyle/>
          <a:p>
            <a:pPr>
              <a:spcAft>
                <a:spcPts val="0"/>
              </a:spcAft>
              <a:defRPr sz="2500" b="0">
                <a:solidFill>
                  <a:srgbClr val="F8F5EE"/>
                </a:solidFill>
                <a:latin typeface="Aptos"/>
              </a:defRPr>
            </a:pPr>
            <a:r>
              <a:t>Một câu hỏi về cái giá của sai lầm.</a:t>
            </a:r>
          </a:p>
        </p:txBody>
      </p:sp>
      <p:sp>
        <p:nvSpPr>
          <p:cNvPr id="10" name="shape-9"/>
          <p:cNvSpPr/>
          <p:nvPr/>
        </p:nvSpPr>
        <p:spPr>
          <a:xfrm>
            <a:off x="681228" y="488746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hape-10"/>
          <p:cNvSpPr/>
          <p:nvPr/>
        </p:nvSpPr>
        <p:spPr>
          <a:xfrm>
            <a:off x="1138428" y="488746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hape-11"/>
          <p:cNvSpPr/>
          <p:nvPr/>
        </p:nvSpPr>
        <p:spPr>
          <a:xfrm>
            <a:off x="1595628" y="488746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15000" decel="15000" fill="hold" grpId="0" nodeType="withEffect">
                                  <p:stCondLst>
                                    <p:cond delay="60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850" fill="hold"/>
                                        <p:tgtEl>
                                          <p:spTgt spid="6"/>
                                        </p:tgtEl>
                                        <p:attrNameLst>
                                          <p:attrName>ppt_x</p:attrName>
                                        </p:attrNameLst>
                                      </p:cBhvr>
                                      <p:tavLst>
                                        <p:tav tm="0">
                                          <p:val>
                                            <p:strVal val="0-#ppt_w/2"/>
                                          </p:val>
                                        </p:tav>
                                        <p:tav tm="100000">
                                          <p:val>
                                            <p:strVal val="#ppt_x"/>
                                          </p:val>
                                        </p:tav>
                                      </p:tavLst>
                                    </p:anim>
                                    <p:anim calcmode="lin" valueType="num">
                                      <p:cBhvr additive="base">
                                        <p:cTn id="8" dur="850" fill="hold"/>
                                        <p:tgtEl>
                                          <p:spTgt spid="6"/>
                                        </p:tgtEl>
                                        <p:attrNameLst>
                                          <p:attrName>ppt_y</p:attrName>
                                        </p:attrNameLst>
                                      </p:cBhvr>
                                      <p:tavLst>
                                        <p:tav tm="0">
                                          <p:val>
                                            <p:strVal val="#ppt_y"/>
                                          </p:val>
                                        </p:tav>
                                        <p:tav tm="100000">
                                          <p:val>
                                            <p:strVal val="#ppt_y"/>
                                          </p:val>
                                        </p:tav>
                                      </p:tavLst>
                                    </p:anim>
                                  </p:childTnLst>
                                </p:cTn>
                              </p:par>
                              <p:par>
                                <p:cTn id="9" presetID="10" presetClass="entr" presetSubtype="0" accel="15000" decel="15000" fill="hold" grpId="0" nodeType="withEffect">
                                  <p:stCondLst>
                                    <p:cond delay="10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20"/>
                                        <p:tgtEl>
                                          <p:spTgt spid="10"/>
                                        </p:tgtEl>
                                      </p:cBhvr>
                                    </p:animEffect>
                                  </p:childTnLst>
                                </p:cTn>
                              </p:par>
                              <p:par>
                                <p:cTn id="12" presetID="0" presetClass="entr" presetSubtype="0" repeatCount="4000" accel="15000" decel="15000" fill="hold" grpId="1" nodeType="withEffect">
                                  <p:stCondLst>
                                    <p:cond delay="1120"/>
                                  </p:stCondLst>
                                  <p:childTnLst>
                                    <p:set>
                                      <p:cBhvr>
                                        <p:cTn id="13" dur="1" fill="hold">
                                          <p:stCondLst>
                                            <p:cond delay="0"/>
                                          </p:stCondLst>
                                        </p:cTn>
                                        <p:tgtEl>
                                          <p:spTgt spid="10"/>
                                        </p:tgtEl>
                                        <p:attrNameLst>
                                          <p:attrName>style.visibility</p:attrName>
                                        </p:attrNameLst>
                                      </p:cBhvr>
                                      <p:to>
                                        <p:strVal val="visible"/>
                                      </p:to>
                                    </p:set>
                                    <p:animMotion origin="layout" path="M 0 0 L 0.54000001 0.00000000 E" pathEditMode="relative">
                                      <p:cBhvr from="" to="">
                                        <p:cTn id="14" dur="3000" fill="hold">
                                          <p:stCondLst>
                                            <p:cond delay="0"/>
                                          </p:stCondLst>
                                        </p:cTn>
                                        <p:tgtEl>
                                          <p:spTgt spid="10"/>
                                        </p:tgtEl>
                                        <p:attrNameLst>
                                          <p:attrName>ppt_x</p:attrName>
                                          <p:attrName>ppt_y</p:attrName>
                                        </p:attrNameLst>
                                      </p:cBhvr>
                                    </p:animMotion>
                                  </p:childTnLst>
                                </p:cTn>
                              </p:par>
                              <p:par>
                                <p:cTn id="15" presetID="10" presetClass="entr" presetSubtype="0" accel="15000" decel="15000" fill="hold" grpId="0" nodeType="withEffect">
                                  <p:stCondLst>
                                    <p:cond delay="280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20"/>
                                        <p:tgtEl>
                                          <p:spTgt spid="11"/>
                                        </p:tgtEl>
                                      </p:cBhvr>
                                    </p:animEffect>
                                  </p:childTnLst>
                                </p:cTn>
                              </p:par>
                              <p:par>
                                <p:cTn id="18" presetID="0" presetClass="entr" presetSubtype="0" repeatCount="4000" accel="15000" decel="15000" fill="hold" grpId="1" nodeType="withEffect">
                                  <p:stCondLst>
                                    <p:cond delay="2920"/>
                                  </p:stCondLst>
                                  <p:childTnLst>
                                    <p:set>
                                      <p:cBhvr>
                                        <p:cTn id="19" dur="1" fill="hold">
                                          <p:stCondLst>
                                            <p:cond delay="0"/>
                                          </p:stCondLst>
                                        </p:cTn>
                                        <p:tgtEl>
                                          <p:spTgt spid="11"/>
                                        </p:tgtEl>
                                        <p:attrNameLst>
                                          <p:attrName>style.visibility</p:attrName>
                                        </p:attrNameLst>
                                      </p:cBhvr>
                                      <p:to>
                                        <p:strVal val="visible"/>
                                      </p:to>
                                    </p:set>
                                    <p:animMotion origin="layout" path="M 0 0 L 0.54000001 0.00000000 E" pathEditMode="relative">
                                      <p:cBhvr from="" to="">
                                        <p:cTn id="20" dur="3000" fill="hold">
                                          <p:stCondLst>
                                            <p:cond delay="0"/>
                                          </p:stCondLst>
                                        </p:cTn>
                                        <p:tgtEl>
                                          <p:spTgt spid="11"/>
                                        </p:tgtEl>
                                        <p:attrNameLst>
                                          <p:attrName>ppt_x</p:attrName>
                                          <p:attrName>ppt_y</p:attrName>
                                        </p:attrNameLst>
                                      </p:cBhvr>
                                    </p:animMotion>
                                  </p:childTnLst>
                                </p:cTn>
                              </p:par>
                              <p:par>
                                <p:cTn id="21" presetID="2" presetClass="entr" presetSubtype="8" accel="15000" decel="15000" fill="hold" grpId="0" nodeType="withEffect">
                                  <p:stCondLst>
                                    <p:cond delay="45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850" fill="hold"/>
                                        <p:tgtEl>
                                          <p:spTgt spid="7"/>
                                        </p:tgtEl>
                                        <p:attrNameLst>
                                          <p:attrName>ppt_x</p:attrName>
                                        </p:attrNameLst>
                                      </p:cBhvr>
                                      <p:tavLst>
                                        <p:tav tm="0">
                                          <p:val>
                                            <p:strVal val="0-#ppt_w/2"/>
                                          </p:val>
                                        </p:tav>
                                        <p:tav tm="100000">
                                          <p:val>
                                            <p:strVal val="#ppt_x"/>
                                          </p:val>
                                        </p:tav>
                                      </p:tavLst>
                                    </p:anim>
                                    <p:anim calcmode="lin" valueType="num">
                                      <p:cBhvr additive="base">
                                        <p:cTn id="24" dur="850" fill="hold"/>
                                        <p:tgtEl>
                                          <p:spTgt spid="7"/>
                                        </p:tgtEl>
                                        <p:attrNameLst>
                                          <p:attrName>ppt_y</p:attrName>
                                        </p:attrNameLst>
                                      </p:cBhvr>
                                      <p:tavLst>
                                        <p:tav tm="0">
                                          <p:val>
                                            <p:strVal val="#ppt_y"/>
                                          </p:val>
                                        </p:tav>
                                        <p:tav tm="100000">
                                          <p:val>
                                            <p:strVal val="#ppt_y"/>
                                          </p:val>
                                        </p:tav>
                                      </p:tavLst>
                                    </p:anim>
                                  </p:childTnLst>
                                </p:cTn>
                              </p:par>
                              <p:par>
                                <p:cTn id="25" presetID="10" presetClass="entr" presetSubtype="0" accel="15000" decel="15000" fill="hold" grpId="0" nodeType="withEffect">
                                  <p:stCondLst>
                                    <p:cond delay="46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20"/>
                                        <p:tgtEl>
                                          <p:spTgt spid="12"/>
                                        </p:tgtEl>
                                      </p:cBhvr>
                                    </p:animEffect>
                                  </p:childTnLst>
                                </p:cTn>
                              </p:par>
                              <p:par>
                                <p:cTn id="28" presetID="0" presetClass="entr" presetSubtype="0" repeatCount="4000" accel="15000" decel="15000" fill="hold" grpId="1" nodeType="withEffect">
                                  <p:stCondLst>
                                    <p:cond delay="4720"/>
                                  </p:stCondLst>
                                  <p:childTnLst>
                                    <p:set>
                                      <p:cBhvr>
                                        <p:cTn id="29" dur="1" fill="hold">
                                          <p:stCondLst>
                                            <p:cond delay="0"/>
                                          </p:stCondLst>
                                        </p:cTn>
                                        <p:tgtEl>
                                          <p:spTgt spid="12"/>
                                        </p:tgtEl>
                                        <p:attrNameLst>
                                          <p:attrName>style.visibility</p:attrName>
                                        </p:attrNameLst>
                                      </p:cBhvr>
                                      <p:to>
                                        <p:strVal val="visible"/>
                                      </p:to>
                                    </p:set>
                                    <p:animMotion origin="layout" path="M 0 0 L 0.54000001 0.00000000 E" pathEditMode="relative">
                                      <p:cBhvr from="" to="">
                                        <p:cTn id="30" dur="3000" fill="hold">
                                          <p:stCondLst>
                                            <p:cond delay="0"/>
                                          </p:stCondLst>
                                        </p:cTn>
                                        <p:tgtEl>
                                          <p:spTgt spid="12"/>
                                        </p:tgtEl>
                                        <p:attrNameLst>
                                          <p:attrName>ppt_x</p:attrName>
                                          <p:attrName>ppt_y</p:attrName>
                                        </p:attrNameLst>
                                      </p:cBhvr>
                                    </p:animMotion>
                                  </p:childTnLst>
                                </p:cTn>
                              </p:par>
                              <p:par>
                                <p:cTn id="31" presetID="0" presetClass="entr" presetSubtype="0" repeatCount="3000" accel="15000" decel="15000" autoRev="1" fill="hold" grpId="0" nodeType="withEffect">
                                  <p:stCondLst>
                                    <p:cond delay="8000"/>
                                  </p:stCondLst>
                                  <p:childTnLst>
                                    <p:set>
                                      <p:cBhvr>
                                        <p:cTn id="32" dur="1" fill="hold">
                                          <p:stCondLst>
                                            <p:cond delay="0"/>
                                          </p:stCondLst>
                                        </p:cTn>
                                        <p:tgtEl>
                                          <p:spTgt spid="8"/>
                                        </p:tgtEl>
                                        <p:attrNameLst>
                                          <p:attrName>style.visibility</p:attrName>
                                        </p:attrNameLst>
                                      </p:cBhvr>
                                      <p:to>
                                        <p:strVal val="visible"/>
                                      </p:to>
                                    </p:set>
                                    <p:animScale>
                                      <p:cBhvr>
                                        <p:cTn id="33" dur="1700" fill="hold">
                                          <p:stCondLst>
                                            <p:cond delay="0"/>
                                          </p:stCondLst>
                                        </p:cTn>
                                        <p:tgtEl>
                                          <p:spTgt spid="8"/>
                                        </p:tgtEl>
                                      </p:cBhvr>
                                      <p:from x="100000" y="100000"/>
                                      <p:to x="112000" y="112000"/>
                                    </p:animScale>
                                  </p:childTnLst>
                                </p:cTn>
                              </p:par>
                              <p:par>
                                <p:cTn id="34" presetID="10" presetClass="exit" presetSubtype="0" accel="15000" decel="15000" fill="hold" grpId="2" nodeType="withEffect">
                                  <p:stCondLst>
                                    <p:cond delay="13120"/>
                                  </p:stCondLst>
                                  <p:childTnLst>
                                    <p:animEffect transition="out" filter="fade">
                                      <p:cBhvr>
                                        <p:cTn id="35" dur="120"/>
                                        <p:tgtEl>
                                          <p:spTgt spid="10"/>
                                        </p:tgtEl>
                                      </p:cBhvr>
                                    </p:animEffect>
                                    <p:set>
                                      <p:cBhvr>
                                        <p:cTn id="36" dur="1" fill="hold">
                                          <p:stCondLst>
                                            <p:cond delay="119"/>
                                          </p:stCondLst>
                                        </p:cTn>
                                        <p:tgtEl>
                                          <p:spTgt spid="10"/>
                                        </p:tgtEl>
                                        <p:attrNameLst>
                                          <p:attrName>style.visibility</p:attrName>
                                        </p:attrNameLst>
                                      </p:cBhvr>
                                      <p:to>
                                        <p:strVal val="hidden"/>
                                      </p:to>
                                    </p:set>
                                  </p:childTnLst>
                                </p:cTn>
                              </p:par>
                              <p:par>
                                <p:cTn id="37" presetID="10" presetClass="exit" presetSubtype="0" accel="15000" decel="15000" fill="hold" grpId="2" nodeType="withEffect">
                                  <p:stCondLst>
                                    <p:cond delay="14920"/>
                                  </p:stCondLst>
                                  <p:childTnLst>
                                    <p:animEffect transition="out" filter="fade">
                                      <p:cBhvr>
                                        <p:cTn id="38" dur="120"/>
                                        <p:tgtEl>
                                          <p:spTgt spid="11"/>
                                        </p:tgtEl>
                                      </p:cBhvr>
                                    </p:animEffect>
                                    <p:set>
                                      <p:cBhvr>
                                        <p:cTn id="39" dur="1" fill="hold">
                                          <p:stCondLst>
                                            <p:cond delay="119"/>
                                          </p:stCondLst>
                                        </p:cTn>
                                        <p:tgtEl>
                                          <p:spTgt spid="11"/>
                                        </p:tgtEl>
                                        <p:attrNameLst>
                                          <p:attrName>style.visibility</p:attrName>
                                        </p:attrNameLst>
                                      </p:cBhvr>
                                      <p:to>
                                        <p:strVal val="hidden"/>
                                      </p:to>
                                    </p:set>
                                  </p:childTnLst>
                                </p:cTn>
                              </p:par>
                              <p:par>
                                <p:cTn id="40" presetID="10" presetClass="exit" presetSubtype="0" accel="15000" decel="15000" fill="hold" grpId="2" nodeType="withEffect">
                                  <p:stCondLst>
                                    <p:cond delay="16720"/>
                                  </p:stCondLst>
                                  <p:childTnLst>
                                    <p:animEffect transition="out" filter="fade">
                                      <p:cBhvr>
                                        <p:cTn id="41" dur="120"/>
                                        <p:tgtEl>
                                          <p:spTgt spid="12"/>
                                        </p:tgtEl>
                                      </p:cBhvr>
                                    </p:animEffect>
                                    <p:set>
                                      <p:cBhvr>
                                        <p:cTn id="42" dur="1" fill="hold">
                                          <p:stCondLst>
                                            <p:cond delay="11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animBg="1"/>
      <p:bldP spid="10" grpId="1" animBg="1"/>
      <p:bldP spid="10" grpId="2" animBg="1"/>
      <p:bldP spid="11" grpId="0" animBg="1"/>
      <p:bldP spid="11" grpId="1" animBg="1"/>
      <p:bldP spid="11" grpId="2" animBg="1"/>
      <p:bldP spid="12" grpId="0" animBg="1"/>
      <p:bldP spid="12" grpId="1" animBg="1"/>
      <p:bldP spid="12" grpId="2"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62F"/>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F8F5EE"/>
                </a:solidFill>
                <a:latin typeface="Consolas"/>
              </a:defRPr>
            </a:pPr>
            <a:r>
              <a:t>ENSEMBLE / IDS                         TRAFFIC</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F8F5EE"/>
                </a:solidFill>
                <a:latin typeface="Consolas"/>
              </a:defRPr>
            </a:pPr>
            <a:r>
              <a:t>02</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F8F5EE"/>
                </a:solidFill>
                <a:latin typeface="Aptos"/>
              </a:defRPr>
            </a:pPr>
            <a:r>
              <a:t>UNSW-NB15 · sơ đồ minh họa pipeline offline theo mã nguồn; không phải traffic triển khai</a:t>
            </a:r>
          </a:p>
        </p:txBody>
      </p:sp>
      <p:sp>
        <p:nvSpPr>
          <p:cNvPr id="5" name="hero-title"/>
          <p:cNvSpPr txBox="1"/>
          <p:nvPr/>
        </p:nvSpPr>
        <p:spPr>
          <a:xfrm>
            <a:off x="548640" y="822960"/>
            <a:ext cx="10972800" cy="1051560"/>
          </a:xfrm>
          <a:prstGeom prst="rect">
            <a:avLst/>
          </a:prstGeom>
          <a:noFill/>
        </p:spPr>
        <p:txBody>
          <a:bodyPr wrap="square" lIns="0" tIns="0" rIns="0" bIns="0">
            <a:spAutoFit/>
          </a:bodyPr>
          <a:lstStyle/>
          <a:p>
            <a:pPr>
              <a:spcAft>
                <a:spcPts val="0"/>
              </a:spcAft>
              <a:defRPr sz="4500" b="1">
                <a:solidFill>
                  <a:srgbClr val="F8F5EE"/>
                </a:solidFill>
                <a:latin typeface="Arial"/>
              </a:defRPr>
            </a:pPr>
            <a:r>
              <a:t>MỘT BẢN GHI.  HAI KHẢ NĂNG.</a:t>
            </a:r>
          </a:p>
        </p:txBody>
      </p:sp>
      <p:cxnSp>
        <p:nvCxnSpPr>
          <p:cNvPr id="6" name="line-5"/>
          <p:cNvCxnSpPr/>
          <p:nvPr/>
        </p:nvCxnSpPr>
        <p:spPr>
          <a:xfrm flipV="1">
            <a:off x="731520" y="2194560"/>
            <a:ext cx="822960" cy="109728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cxnSp>
        <p:nvCxnSpPr>
          <p:cNvPr id="7" name="line-6"/>
          <p:cNvCxnSpPr/>
          <p:nvPr/>
        </p:nvCxnSpPr>
        <p:spPr>
          <a:xfrm>
            <a:off x="731520" y="3291840"/>
            <a:ext cx="1188720" cy="155448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cxnSp>
        <p:nvCxnSpPr>
          <p:cNvPr id="8" name="line-7"/>
          <p:cNvCxnSpPr/>
          <p:nvPr/>
        </p:nvCxnSpPr>
        <p:spPr>
          <a:xfrm>
            <a:off x="1554480" y="2194560"/>
            <a:ext cx="1645920" cy="82296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cxnSp>
        <p:nvCxnSpPr>
          <p:cNvPr id="9" name="line-8"/>
          <p:cNvCxnSpPr/>
          <p:nvPr/>
        </p:nvCxnSpPr>
        <p:spPr>
          <a:xfrm flipV="1">
            <a:off x="1920240" y="3017520"/>
            <a:ext cx="1280160" cy="182880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cxnSp>
        <p:nvCxnSpPr>
          <p:cNvPr id="10" name="line-9"/>
          <p:cNvCxnSpPr/>
          <p:nvPr/>
        </p:nvCxnSpPr>
        <p:spPr>
          <a:xfrm flipV="1">
            <a:off x="1920240" y="4663440"/>
            <a:ext cx="2377440" cy="18288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cxnSp>
        <p:nvCxnSpPr>
          <p:cNvPr id="11" name="line-10"/>
          <p:cNvCxnSpPr/>
          <p:nvPr/>
        </p:nvCxnSpPr>
        <p:spPr>
          <a:xfrm flipV="1">
            <a:off x="3200400" y="2651760"/>
            <a:ext cx="1828800" cy="36576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cxnSp>
        <p:nvCxnSpPr>
          <p:cNvPr id="12" name="line-11"/>
          <p:cNvCxnSpPr/>
          <p:nvPr/>
        </p:nvCxnSpPr>
        <p:spPr>
          <a:xfrm flipV="1">
            <a:off x="4297680" y="3657600"/>
            <a:ext cx="2103120" cy="100584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cxnSp>
        <p:nvCxnSpPr>
          <p:cNvPr id="13" name="line-12"/>
          <p:cNvCxnSpPr/>
          <p:nvPr/>
        </p:nvCxnSpPr>
        <p:spPr>
          <a:xfrm>
            <a:off x="5029200" y="2651760"/>
            <a:ext cx="1371600" cy="100584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cxnSp>
        <p:nvCxnSpPr>
          <p:cNvPr id="14" name="line-13"/>
          <p:cNvCxnSpPr/>
          <p:nvPr/>
        </p:nvCxnSpPr>
        <p:spPr>
          <a:xfrm flipV="1">
            <a:off x="6400800" y="2743200"/>
            <a:ext cx="1737360" cy="91440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cxnSp>
        <p:nvCxnSpPr>
          <p:cNvPr id="15" name="line-14"/>
          <p:cNvCxnSpPr/>
          <p:nvPr/>
        </p:nvCxnSpPr>
        <p:spPr>
          <a:xfrm>
            <a:off x="6400800" y="3657600"/>
            <a:ext cx="2194560" cy="91440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cxnSp>
        <p:nvCxnSpPr>
          <p:cNvPr id="16" name="line-15"/>
          <p:cNvCxnSpPr/>
          <p:nvPr/>
        </p:nvCxnSpPr>
        <p:spPr>
          <a:xfrm>
            <a:off x="8138160" y="2743200"/>
            <a:ext cx="2194560" cy="73152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cxnSp>
        <p:nvCxnSpPr>
          <p:cNvPr id="17" name="line-16"/>
          <p:cNvCxnSpPr/>
          <p:nvPr/>
        </p:nvCxnSpPr>
        <p:spPr>
          <a:xfrm flipV="1">
            <a:off x="8595360" y="3474720"/>
            <a:ext cx="1737360" cy="109728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cxnSp>
        <p:nvCxnSpPr>
          <p:cNvPr id="18" name="line-17"/>
          <p:cNvCxnSpPr/>
          <p:nvPr/>
        </p:nvCxnSpPr>
        <p:spPr>
          <a:xfrm flipV="1">
            <a:off x="10332720" y="2103120"/>
            <a:ext cx="914400" cy="1371600"/>
          </a:xfrm>
          <a:prstGeom prst="line">
            <a:avLst/>
          </a:prstGeom>
          <a:ln w="17780">
            <a:solidFill>
              <a:srgbClr val="4C5064"/>
            </a:solidFill>
          </a:ln>
        </p:spPr>
        <p:style>
          <a:lnRef idx="2">
            <a:schemeClr val="accent1"/>
          </a:lnRef>
          <a:fillRef idx="0">
            <a:schemeClr val="accent1"/>
          </a:fillRef>
          <a:effectRef idx="1">
            <a:schemeClr val="accent1"/>
          </a:effectRef>
          <a:fontRef idx="minor">
            <a:schemeClr val="tx1"/>
          </a:fontRef>
        </p:style>
      </p:cxnSp>
      <p:sp>
        <p:nvSpPr>
          <p:cNvPr id="19" name="shape-18"/>
          <p:cNvSpPr/>
          <p:nvPr/>
        </p:nvSpPr>
        <p:spPr>
          <a:xfrm>
            <a:off x="603504" y="3163824"/>
            <a:ext cx="256032" cy="256032"/>
          </a:xfrm>
          <a:prstGeom prst="ellipse">
            <a:avLst/>
          </a:prstGeom>
          <a:noFill/>
          <a:ln w="19050">
            <a:solidFill>
              <a:srgbClr val="C5F6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hape-19"/>
          <p:cNvSpPr/>
          <p:nvPr/>
        </p:nvSpPr>
        <p:spPr>
          <a:xfrm>
            <a:off x="1426464" y="2066543"/>
            <a:ext cx="256032" cy="256032"/>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hape-20"/>
          <p:cNvSpPr/>
          <p:nvPr/>
        </p:nvSpPr>
        <p:spPr>
          <a:xfrm>
            <a:off x="1792224" y="4718304"/>
            <a:ext cx="256032" cy="256032"/>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shape-21"/>
          <p:cNvSpPr/>
          <p:nvPr/>
        </p:nvSpPr>
        <p:spPr>
          <a:xfrm>
            <a:off x="3072384" y="2889503"/>
            <a:ext cx="256032" cy="256032"/>
          </a:xfrm>
          <a:prstGeom prst="ellipse">
            <a:avLst/>
          </a:prstGeom>
          <a:noFill/>
          <a:ln w="19050">
            <a:solidFill>
              <a:srgbClr val="C5F6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hape-22"/>
          <p:cNvSpPr/>
          <p:nvPr/>
        </p:nvSpPr>
        <p:spPr>
          <a:xfrm>
            <a:off x="4169664" y="4535424"/>
            <a:ext cx="256032" cy="256032"/>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hape-23"/>
          <p:cNvSpPr/>
          <p:nvPr/>
        </p:nvSpPr>
        <p:spPr>
          <a:xfrm>
            <a:off x="4901184" y="2523744"/>
            <a:ext cx="256032" cy="256032"/>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hape-24"/>
          <p:cNvSpPr/>
          <p:nvPr/>
        </p:nvSpPr>
        <p:spPr>
          <a:xfrm>
            <a:off x="6272784" y="3529584"/>
            <a:ext cx="256032" cy="256032"/>
          </a:xfrm>
          <a:prstGeom prst="ellipse">
            <a:avLst/>
          </a:prstGeom>
          <a:noFill/>
          <a:ln w="19050">
            <a:solidFill>
              <a:srgbClr val="C5F6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hape-25"/>
          <p:cNvSpPr/>
          <p:nvPr/>
        </p:nvSpPr>
        <p:spPr>
          <a:xfrm>
            <a:off x="8010144" y="2615184"/>
            <a:ext cx="256032" cy="256032"/>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hape-26"/>
          <p:cNvSpPr/>
          <p:nvPr/>
        </p:nvSpPr>
        <p:spPr>
          <a:xfrm>
            <a:off x="8467344" y="4443984"/>
            <a:ext cx="256032" cy="256032"/>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shape-27"/>
          <p:cNvSpPr/>
          <p:nvPr/>
        </p:nvSpPr>
        <p:spPr>
          <a:xfrm>
            <a:off x="10204704" y="3346703"/>
            <a:ext cx="256032" cy="256032"/>
          </a:xfrm>
          <a:prstGeom prst="ellipse">
            <a:avLst/>
          </a:prstGeom>
          <a:noFill/>
          <a:ln w="19050">
            <a:solidFill>
              <a:srgbClr val="C5F6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shape-28"/>
          <p:cNvSpPr/>
          <p:nvPr/>
        </p:nvSpPr>
        <p:spPr>
          <a:xfrm>
            <a:off x="11119104" y="1975103"/>
            <a:ext cx="256032" cy="256032"/>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network-packet-0"/>
          <p:cNvSpPr/>
          <p:nvPr/>
        </p:nvSpPr>
        <p:spPr>
          <a:xfrm>
            <a:off x="681228" y="3241548"/>
            <a:ext cx="100584" cy="100584"/>
          </a:xfrm>
          <a:prstGeom prst="ellipse">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network-packet-1"/>
          <p:cNvSpPr/>
          <p:nvPr/>
        </p:nvSpPr>
        <p:spPr>
          <a:xfrm>
            <a:off x="681228" y="324154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network-packet-2"/>
          <p:cNvSpPr/>
          <p:nvPr/>
        </p:nvSpPr>
        <p:spPr>
          <a:xfrm>
            <a:off x="1504188" y="2144268"/>
            <a:ext cx="100584" cy="100584"/>
          </a:xfrm>
          <a:prstGeom prst="ellipse">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network-packet-3"/>
          <p:cNvSpPr/>
          <p:nvPr/>
        </p:nvSpPr>
        <p:spPr>
          <a:xfrm>
            <a:off x="1869948" y="479602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network-packet-4"/>
          <p:cNvSpPr/>
          <p:nvPr/>
        </p:nvSpPr>
        <p:spPr>
          <a:xfrm>
            <a:off x="1869948" y="4796028"/>
            <a:ext cx="100584" cy="100584"/>
          </a:xfrm>
          <a:prstGeom prst="ellipse">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network-packet-5"/>
          <p:cNvSpPr/>
          <p:nvPr/>
        </p:nvSpPr>
        <p:spPr>
          <a:xfrm>
            <a:off x="3150108" y="2967227"/>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network-packet-6"/>
          <p:cNvSpPr/>
          <p:nvPr/>
        </p:nvSpPr>
        <p:spPr>
          <a:xfrm>
            <a:off x="4247388" y="4613148"/>
            <a:ext cx="100584" cy="100584"/>
          </a:xfrm>
          <a:prstGeom prst="ellipse">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network-packet-7"/>
          <p:cNvSpPr/>
          <p:nvPr/>
        </p:nvSpPr>
        <p:spPr>
          <a:xfrm>
            <a:off x="4978908" y="260146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network-packet-8"/>
          <p:cNvSpPr/>
          <p:nvPr/>
        </p:nvSpPr>
        <p:spPr>
          <a:xfrm>
            <a:off x="6350508" y="3607308"/>
            <a:ext cx="100584" cy="100584"/>
          </a:xfrm>
          <a:prstGeom prst="ellipse">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network-packet-9"/>
          <p:cNvSpPr/>
          <p:nvPr/>
        </p:nvSpPr>
        <p:spPr>
          <a:xfrm>
            <a:off x="6350508" y="360730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network-packet-10"/>
          <p:cNvSpPr/>
          <p:nvPr/>
        </p:nvSpPr>
        <p:spPr>
          <a:xfrm>
            <a:off x="8087868" y="2692908"/>
            <a:ext cx="100584" cy="100584"/>
          </a:xfrm>
          <a:prstGeom prst="ellipse">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network-packet-11"/>
          <p:cNvSpPr/>
          <p:nvPr/>
        </p:nvSpPr>
        <p:spPr>
          <a:xfrm>
            <a:off x="8545068" y="452170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network-packet-12"/>
          <p:cNvSpPr/>
          <p:nvPr/>
        </p:nvSpPr>
        <p:spPr>
          <a:xfrm>
            <a:off x="10282428" y="3424427"/>
            <a:ext cx="100584" cy="100584"/>
          </a:xfrm>
          <a:prstGeom prst="ellipse">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42"/>
          <p:cNvSpPr txBox="1"/>
          <p:nvPr/>
        </p:nvSpPr>
        <p:spPr>
          <a:xfrm>
            <a:off x="7909560" y="1645920"/>
            <a:ext cx="2743200" cy="365760"/>
          </a:xfrm>
          <a:prstGeom prst="rect">
            <a:avLst/>
          </a:prstGeom>
          <a:noFill/>
        </p:spPr>
        <p:txBody>
          <a:bodyPr wrap="square" lIns="0" tIns="0" rIns="0" bIns="0">
            <a:spAutoFit/>
          </a:bodyPr>
          <a:lstStyle/>
          <a:p>
            <a:pPr>
              <a:spcAft>
                <a:spcPts val="0"/>
              </a:spcAft>
              <a:defRPr sz="2100" b="1">
                <a:solidFill>
                  <a:srgbClr val="C5F66A"/>
                </a:solidFill>
                <a:latin typeface="Consolas"/>
              </a:defRPr>
            </a:pPr>
            <a:r>
              <a:t>NORMAL</a:t>
            </a:r>
          </a:p>
        </p:txBody>
      </p:sp>
      <p:sp>
        <p:nvSpPr>
          <p:cNvPr id="44" name="text-43"/>
          <p:cNvSpPr txBox="1"/>
          <p:nvPr/>
        </p:nvSpPr>
        <p:spPr>
          <a:xfrm>
            <a:off x="8321040" y="4937760"/>
            <a:ext cx="2743200" cy="365760"/>
          </a:xfrm>
          <a:prstGeom prst="rect">
            <a:avLst/>
          </a:prstGeom>
          <a:noFill/>
        </p:spPr>
        <p:txBody>
          <a:bodyPr wrap="square" lIns="0" tIns="0" rIns="0" bIns="0">
            <a:spAutoFit/>
          </a:bodyPr>
          <a:lstStyle/>
          <a:p>
            <a:pPr>
              <a:spcAft>
                <a:spcPts val="0"/>
              </a:spcAft>
              <a:defRPr sz="2100" b="1">
                <a:solidFill>
                  <a:srgbClr val="FF7058"/>
                </a:solidFill>
                <a:latin typeface="Consolas"/>
              </a:defRPr>
            </a:pPr>
            <a:r>
              <a:t>ATTACK</a:t>
            </a:r>
          </a:p>
        </p:txBody>
      </p:sp>
      <p:sp>
        <p:nvSpPr>
          <p:cNvPr id="45" name="text-44"/>
          <p:cNvSpPr txBox="1"/>
          <p:nvPr/>
        </p:nvSpPr>
        <p:spPr>
          <a:xfrm>
            <a:off x="548640" y="5760720"/>
            <a:ext cx="10058400" cy="594360"/>
          </a:xfrm>
          <a:prstGeom prst="rect">
            <a:avLst/>
          </a:prstGeom>
          <a:noFill/>
        </p:spPr>
        <p:txBody>
          <a:bodyPr wrap="square" lIns="0" tIns="0" rIns="0" bIns="0">
            <a:spAutoFit/>
          </a:bodyPr>
          <a:lstStyle/>
          <a:p>
            <a:pPr>
              <a:spcAft>
                <a:spcPts val="0"/>
              </a:spcAft>
              <a:defRPr sz="2300" b="0">
                <a:solidFill>
                  <a:srgbClr val="F8F5EE"/>
                </a:solidFill>
                <a:latin typeface="Aptos"/>
              </a:defRPr>
            </a:pPr>
            <a:r>
              <a:t>Sơ đồ minh họa flow và quyết định nhị phân.</a:t>
            </a:r>
          </a:p>
        </p:txBody>
      </p:sp>
    </p:spTree>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accel="15000" decel="15000" fill="hold" nodeType="with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700"/>
                                        <p:tgtEl>
                                          <p:spTgt spid="6"/>
                                        </p:tgtEl>
                                      </p:cBhvr>
                                    </p:animEffect>
                                  </p:childTnLst>
                                </p:cTn>
                              </p:par>
                              <p:par>
                                <p:cTn id="8" presetID="10" presetClass="entr" presetSubtype="0" accel="15000" decel="15000" fill="hold" grpId="0" nodeType="withEffect">
                                  <p:stCondLst>
                                    <p:cond delay="30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22" presetClass="entr" presetSubtype="8" accel="15000" decel="15000" fill="hold" nodeType="withEffect">
                                  <p:stCondLst>
                                    <p:cond delay="33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700"/>
                                        <p:tgtEl>
                                          <p:spTgt spid="7"/>
                                        </p:tgtEl>
                                      </p:cBhvr>
                                    </p:animEffect>
                                  </p:childTnLst>
                                </p:cTn>
                              </p:par>
                              <p:par>
                                <p:cTn id="14" presetID="10" presetClass="entr" presetSubtype="0" accel="15000" decel="15000" fill="hold" grpId="0" nodeType="withEffect">
                                  <p:stCondLst>
                                    <p:cond delay="40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22" presetClass="entr" presetSubtype="8" accel="15000" decel="15000" fill="hold" nodeType="withEffect">
                                  <p:stCondLst>
                                    <p:cond delay="41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700"/>
                                        <p:tgtEl>
                                          <p:spTgt spid="8"/>
                                        </p:tgtEl>
                                      </p:cBhvr>
                                    </p:animEffect>
                                  </p:childTnLst>
                                </p:cTn>
                              </p:par>
                              <p:par>
                                <p:cTn id="20" presetID="22" presetClass="entr" presetSubtype="8" accel="15000" decel="15000" fill="hold" nodeType="withEffect">
                                  <p:stCondLst>
                                    <p:cond delay="49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700"/>
                                        <p:tgtEl>
                                          <p:spTgt spid="9"/>
                                        </p:tgtEl>
                                      </p:cBhvr>
                                    </p:animEffect>
                                  </p:childTnLst>
                                </p:cTn>
                              </p:par>
                              <p:par>
                                <p:cTn id="23" presetID="10" presetClass="entr" presetSubtype="0" accel="15000" decel="15000" fill="hold" grpId="0" nodeType="withEffect">
                                  <p:stCondLst>
                                    <p:cond delay="50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22" presetClass="entr" presetSubtype="8" accel="15000" decel="15000" fill="hold" nodeType="withEffect">
                                  <p:stCondLst>
                                    <p:cond delay="57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700"/>
                                        <p:tgtEl>
                                          <p:spTgt spid="10"/>
                                        </p:tgtEl>
                                      </p:cBhvr>
                                    </p:animEffect>
                                  </p:childTnLst>
                                </p:cTn>
                              </p:par>
                              <p:par>
                                <p:cTn id="29" presetID="10" presetClass="entr" presetSubtype="0" accel="15000" decel="15000" fill="hold" grpId="0" nodeType="withEffect">
                                  <p:stCondLst>
                                    <p:cond delay="60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22" presetClass="entr" presetSubtype="8" accel="15000" decel="15000" fill="hold" nodeType="withEffect">
                                  <p:stCondLst>
                                    <p:cond delay="65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700"/>
                                        <p:tgtEl>
                                          <p:spTgt spid="11"/>
                                        </p:tgtEl>
                                      </p:cBhvr>
                                    </p:animEffect>
                                  </p:childTnLst>
                                </p:cTn>
                              </p:par>
                              <p:par>
                                <p:cTn id="35" presetID="10" presetClass="entr" presetSubtype="0" accel="15000" decel="15000" fill="hold" grpId="0" nodeType="withEffect">
                                  <p:stCondLst>
                                    <p:cond delay="70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22" presetClass="entr" presetSubtype="8" accel="15000" decel="15000" fill="hold" nodeType="withEffect">
                                  <p:stCondLst>
                                    <p:cond delay="73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700"/>
                                        <p:tgtEl>
                                          <p:spTgt spid="12"/>
                                        </p:tgtEl>
                                      </p:cBhvr>
                                    </p:animEffect>
                                  </p:childTnLst>
                                </p:cTn>
                              </p:par>
                              <p:par>
                                <p:cTn id="41" presetID="10" presetClass="entr" presetSubtype="0" accel="15000" decel="15000" fill="hold" grpId="0" nodeType="withEffect">
                                  <p:stCondLst>
                                    <p:cond delay="80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22" presetClass="entr" presetSubtype="8" accel="15000" decel="15000" fill="hold" nodeType="withEffect">
                                  <p:stCondLst>
                                    <p:cond delay="81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700"/>
                                        <p:tgtEl>
                                          <p:spTgt spid="13"/>
                                        </p:tgtEl>
                                      </p:cBhvr>
                                    </p:animEffect>
                                  </p:childTnLst>
                                </p:cTn>
                              </p:par>
                              <p:par>
                                <p:cTn id="47" presetID="22" presetClass="entr" presetSubtype="8" accel="15000" decel="15000" fill="hold" nodeType="withEffect">
                                  <p:stCondLst>
                                    <p:cond delay="89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700"/>
                                        <p:tgtEl>
                                          <p:spTgt spid="14"/>
                                        </p:tgtEl>
                                      </p:cBhvr>
                                    </p:animEffect>
                                  </p:childTnLst>
                                </p:cTn>
                              </p:par>
                              <p:par>
                                <p:cTn id="50" presetID="10" presetClass="entr" presetSubtype="0" accel="15000" decel="15000" fill="hold" grpId="0" nodeType="withEffect">
                                  <p:stCondLst>
                                    <p:cond delay="90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par>
                                <p:cTn id="53" presetID="22" presetClass="entr" presetSubtype="8" accel="15000" decel="15000" fill="hold" nodeType="withEffect">
                                  <p:stCondLst>
                                    <p:cond delay="97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700"/>
                                        <p:tgtEl>
                                          <p:spTgt spid="15"/>
                                        </p:tgtEl>
                                      </p:cBhvr>
                                    </p:animEffect>
                                  </p:childTnLst>
                                </p:cTn>
                              </p:par>
                              <p:par>
                                <p:cTn id="56" presetID="0" presetClass="entr" presetSubtype="0" repeatCount="3000" accel="15000" decel="15000" autoRev="1" fill="hold" grpId="1" nodeType="withEffect">
                                  <p:stCondLst>
                                    <p:cond delay="1000"/>
                                  </p:stCondLst>
                                  <p:childTnLst>
                                    <p:set>
                                      <p:cBhvr>
                                        <p:cTn id="57" dur="1" fill="hold">
                                          <p:stCondLst>
                                            <p:cond delay="0"/>
                                          </p:stCondLst>
                                        </p:cTn>
                                        <p:tgtEl>
                                          <p:spTgt spid="19"/>
                                        </p:tgtEl>
                                        <p:attrNameLst>
                                          <p:attrName>style.visibility</p:attrName>
                                        </p:attrNameLst>
                                      </p:cBhvr>
                                      <p:to>
                                        <p:strVal val="visible"/>
                                      </p:to>
                                    </p:set>
                                    <p:animScale>
                                      <p:cBhvr>
                                        <p:cTn id="58" dur="1800" fill="hold">
                                          <p:stCondLst>
                                            <p:cond delay="0"/>
                                          </p:stCondLst>
                                        </p:cTn>
                                        <p:tgtEl>
                                          <p:spTgt spid="19"/>
                                        </p:tgtEl>
                                      </p:cBhvr>
                                      <p:from x="100000" y="100000"/>
                                      <p:to x="125000" y="125000"/>
                                    </p:animScale>
                                  </p:childTnLst>
                                </p:cTn>
                              </p:par>
                              <p:par>
                                <p:cTn id="59" presetID="10" presetClass="entr" presetSubtype="0" accel="15000" decel="15000" fill="hold" grpId="0" nodeType="withEffect">
                                  <p:stCondLst>
                                    <p:cond delay="100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22" presetClass="entr" presetSubtype="8" accel="15000" decel="15000" fill="hold" nodeType="withEffect">
                                  <p:stCondLst>
                                    <p:cond delay="1050"/>
                                  </p:stCondLst>
                                  <p:childTnLst>
                                    <p:set>
                                      <p:cBhvr>
                                        <p:cTn id="63" dur="1" fill="hold">
                                          <p:stCondLst>
                                            <p:cond delay="0"/>
                                          </p:stCondLst>
                                        </p:cTn>
                                        <p:tgtEl>
                                          <p:spTgt spid="16"/>
                                        </p:tgtEl>
                                        <p:attrNameLst>
                                          <p:attrName>style.visibility</p:attrName>
                                        </p:attrNameLst>
                                      </p:cBhvr>
                                      <p:to>
                                        <p:strVal val="visible"/>
                                      </p:to>
                                    </p:set>
                                    <p:animEffect transition="in" filter="wipe(left)">
                                      <p:cBhvr>
                                        <p:cTn id="64" dur="700"/>
                                        <p:tgtEl>
                                          <p:spTgt spid="16"/>
                                        </p:tgtEl>
                                      </p:cBhvr>
                                    </p:animEffect>
                                  </p:childTnLst>
                                </p:cTn>
                              </p:par>
                              <p:par>
                                <p:cTn id="65" presetID="10" presetClass="entr" presetSubtype="0" accel="15000" decel="15000" fill="hold" grpId="0" nodeType="withEffect">
                                  <p:stCondLst>
                                    <p:cond delay="110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childTnLst>
                                </p:cTn>
                              </p:par>
                              <p:par>
                                <p:cTn id="68" presetID="22" presetClass="entr" presetSubtype="8" accel="15000" decel="15000" fill="hold" nodeType="withEffect">
                                  <p:stCondLst>
                                    <p:cond delay="1130"/>
                                  </p:stCondLst>
                                  <p:childTnLst>
                                    <p:set>
                                      <p:cBhvr>
                                        <p:cTn id="69" dur="1" fill="hold">
                                          <p:stCondLst>
                                            <p:cond delay="0"/>
                                          </p:stCondLst>
                                        </p:cTn>
                                        <p:tgtEl>
                                          <p:spTgt spid="17"/>
                                        </p:tgtEl>
                                        <p:attrNameLst>
                                          <p:attrName>style.visibility</p:attrName>
                                        </p:attrNameLst>
                                      </p:cBhvr>
                                      <p:to>
                                        <p:strVal val="visible"/>
                                      </p:to>
                                    </p:set>
                                    <p:animEffect transition="in" filter="wipe(left)">
                                      <p:cBhvr>
                                        <p:cTn id="70" dur="700"/>
                                        <p:tgtEl>
                                          <p:spTgt spid="17"/>
                                        </p:tgtEl>
                                      </p:cBhvr>
                                    </p:animEffect>
                                  </p:childTnLst>
                                </p:cTn>
                              </p:par>
                              <p:par>
                                <p:cTn id="71" presetID="0" presetClass="entr" presetSubtype="0" repeatCount="3000" accel="15000" decel="15000" autoRev="1" fill="hold" grpId="1" nodeType="withEffect">
                                  <p:stCondLst>
                                    <p:cond delay="1150"/>
                                  </p:stCondLst>
                                  <p:childTnLst>
                                    <p:set>
                                      <p:cBhvr>
                                        <p:cTn id="72" dur="1" fill="hold">
                                          <p:stCondLst>
                                            <p:cond delay="0"/>
                                          </p:stCondLst>
                                        </p:cTn>
                                        <p:tgtEl>
                                          <p:spTgt spid="20"/>
                                        </p:tgtEl>
                                        <p:attrNameLst>
                                          <p:attrName>style.visibility</p:attrName>
                                        </p:attrNameLst>
                                      </p:cBhvr>
                                      <p:to>
                                        <p:strVal val="visible"/>
                                      </p:to>
                                    </p:set>
                                    <p:animScale>
                                      <p:cBhvr>
                                        <p:cTn id="73" dur="1800" fill="hold">
                                          <p:stCondLst>
                                            <p:cond delay="0"/>
                                          </p:stCondLst>
                                        </p:cTn>
                                        <p:tgtEl>
                                          <p:spTgt spid="20"/>
                                        </p:tgtEl>
                                      </p:cBhvr>
                                      <p:from x="100000" y="100000"/>
                                      <p:to x="125000" y="125000"/>
                                    </p:animScale>
                                  </p:childTnLst>
                                </p:cTn>
                              </p:par>
                              <p:par>
                                <p:cTn id="74" presetID="10" presetClass="entr" presetSubtype="0" accel="15000" decel="15000" fill="hold" grpId="0" nodeType="withEffect">
                                  <p:stCondLst>
                                    <p:cond delay="120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22" presetClass="entr" presetSubtype="8" accel="15000" decel="15000" fill="hold" nodeType="withEffect">
                                  <p:stCondLst>
                                    <p:cond delay="1210"/>
                                  </p:stCondLst>
                                  <p:childTnLst>
                                    <p:set>
                                      <p:cBhvr>
                                        <p:cTn id="78" dur="1" fill="hold">
                                          <p:stCondLst>
                                            <p:cond delay="0"/>
                                          </p:stCondLst>
                                        </p:cTn>
                                        <p:tgtEl>
                                          <p:spTgt spid="18"/>
                                        </p:tgtEl>
                                        <p:attrNameLst>
                                          <p:attrName>style.visibility</p:attrName>
                                        </p:attrNameLst>
                                      </p:cBhvr>
                                      <p:to>
                                        <p:strVal val="visible"/>
                                      </p:to>
                                    </p:set>
                                    <p:animEffect transition="in" filter="wipe(left)">
                                      <p:cBhvr>
                                        <p:cTn id="79" dur="700"/>
                                        <p:tgtEl>
                                          <p:spTgt spid="18"/>
                                        </p:tgtEl>
                                      </p:cBhvr>
                                    </p:animEffect>
                                  </p:childTnLst>
                                </p:cTn>
                              </p:par>
                              <p:par>
                                <p:cTn id="80" presetID="0" presetClass="entr" presetSubtype="0" repeatCount="3000" accel="15000" decel="15000" autoRev="1" fill="hold" grpId="1" nodeType="withEffect">
                                  <p:stCondLst>
                                    <p:cond delay="1300"/>
                                  </p:stCondLst>
                                  <p:childTnLst>
                                    <p:set>
                                      <p:cBhvr>
                                        <p:cTn id="81" dur="1" fill="hold">
                                          <p:stCondLst>
                                            <p:cond delay="0"/>
                                          </p:stCondLst>
                                        </p:cTn>
                                        <p:tgtEl>
                                          <p:spTgt spid="21"/>
                                        </p:tgtEl>
                                        <p:attrNameLst>
                                          <p:attrName>style.visibility</p:attrName>
                                        </p:attrNameLst>
                                      </p:cBhvr>
                                      <p:to>
                                        <p:strVal val="visible"/>
                                      </p:to>
                                    </p:set>
                                    <p:animScale>
                                      <p:cBhvr>
                                        <p:cTn id="82" dur="1800" fill="hold">
                                          <p:stCondLst>
                                            <p:cond delay="0"/>
                                          </p:stCondLst>
                                        </p:cTn>
                                        <p:tgtEl>
                                          <p:spTgt spid="21"/>
                                        </p:tgtEl>
                                      </p:cBhvr>
                                      <p:from x="100000" y="100000"/>
                                      <p:to x="125000" y="125000"/>
                                    </p:animScale>
                                  </p:childTnLst>
                                </p:cTn>
                              </p:par>
                              <p:par>
                                <p:cTn id="83" presetID="10" presetClass="entr" presetSubtype="0" accel="15000" decel="15000" fill="hold" grpId="0" nodeType="withEffect">
                                  <p:stCondLst>
                                    <p:cond delay="130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0" presetClass="entr" presetSubtype="0" repeatCount="3000" accel="15000" decel="15000" autoRev="1" fill="hold" grpId="1" nodeType="withEffect">
                                  <p:stCondLst>
                                    <p:cond delay="1450"/>
                                  </p:stCondLst>
                                  <p:childTnLst>
                                    <p:set>
                                      <p:cBhvr>
                                        <p:cTn id="87" dur="1" fill="hold">
                                          <p:stCondLst>
                                            <p:cond delay="0"/>
                                          </p:stCondLst>
                                        </p:cTn>
                                        <p:tgtEl>
                                          <p:spTgt spid="22"/>
                                        </p:tgtEl>
                                        <p:attrNameLst>
                                          <p:attrName>style.visibility</p:attrName>
                                        </p:attrNameLst>
                                      </p:cBhvr>
                                      <p:to>
                                        <p:strVal val="visible"/>
                                      </p:to>
                                    </p:set>
                                    <p:animScale>
                                      <p:cBhvr>
                                        <p:cTn id="88" dur="1800" fill="hold">
                                          <p:stCondLst>
                                            <p:cond delay="0"/>
                                          </p:stCondLst>
                                        </p:cTn>
                                        <p:tgtEl>
                                          <p:spTgt spid="22"/>
                                        </p:tgtEl>
                                      </p:cBhvr>
                                      <p:from x="100000" y="100000"/>
                                      <p:to x="125000" y="125000"/>
                                    </p:animScale>
                                  </p:childTnLst>
                                </p:cTn>
                              </p:par>
                              <p:par>
                                <p:cTn id="89" presetID="0" presetClass="entr" presetSubtype="0" repeatCount="3000" accel="15000" decel="15000" autoRev="1" fill="hold" grpId="1" nodeType="withEffect">
                                  <p:stCondLst>
                                    <p:cond delay="1600"/>
                                  </p:stCondLst>
                                  <p:childTnLst>
                                    <p:set>
                                      <p:cBhvr>
                                        <p:cTn id="90" dur="1" fill="hold">
                                          <p:stCondLst>
                                            <p:cond delay="0"/>
                                          </p:stCondLst>
                                        </p:cTn>
                                        <p:tgtEl>
                                          <p:spTgt spid="23"/>
                                        </p:tgtEl>
                                        <p:attrNameLst>
                                          <p:attrName>style.visibility</p:attrName>
                                        </p:attrNameLst>
                                      </p:cBhvr>
                                      <p:to>
                                        <p:strVal val="visible"/>
                                      </p:to>
                                    </p:set>
                                    <p:animScale>
                                      <p:cBhvr>
                                        <p:cTn id="91" dur="1800" fill="hold">
                                          <p:stCondLst>
                                            <p:cond delay="0"/>
                                          </p:stCondLst>
                                        </p:cTn>
                                        <p:tgtEl>
                                          <p:spTgt spid="23"/>
                                        </p:tgtEl>
                                      </p:cBhvr>
                                      <p:from x="100000" y="100000"/>
                                      <p:to x="125000" y="125000"/>
                                    </p:animScale>
                                  </p:childTnLst>
                                </p:cTn>
                              </p:par>
                              <p:par>
                                <p:cTn id="92" presetID="10" presetClass="entr" presetSubtype="0" accel="15000" decel="15000" fill="hold" grpId="0" nodeType="withEffect">
                                  <p:stCondLst>
                                    <p:cond delay="170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120"/>
                                        <p:tgtEl>
                                          <p:spTgt spid="30"/>
                                        </p:tgtEl>
                                      </p:cBhvr>
                                    </p:animEffect>
                                  </p:childTnLst>
                                </p:cTn>
                              </p:par>
                              <p:par>
                                <p:cTn id="95" presetID="10" presetClass="entr" presetSubtype="0" accel="15000" decel="15000" fill="hold" grpId="0" nodeType="withEffect">
                                  <p:stCondLst>
                                    <p:cond delay="170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120"/>
                                        <p:tgtEl>
                                          <p:spTgt spid="34"/>
                                        </p:tgtEl>
                                      </p:cBhvr>
                                    </p:animEffect>
                                  </p:childTnLst>
                                </p:cTn>
                              </p:par>
                              <p:par>
                                <p:cTn id="98" presetID="10" presetClass="entr" presetSubtype="0" accel="15000" decel="15000" fill="hold" grpId="0" nodeType="withEffect">
                                  <p:stCondLst>
                                    <p:cond delay="1700"/>
                                  </p:stCondLst>
                                  <p:childTnLst>
                                    <p:set>
                                      <p:cBhvr>
                                        <p:cTn id="99" dur="1" fill="hold">
                                          <p:stCondLst>
                                            <p:cond delay="0"/>
                                          </p:stCondLst>
                                        </p:cTn>
                                        <p:tgtEl>
                                          <p:spTgt spid="38"/>
                                        </p:tgtEl>
                                        <p:attrNameLst>
                                          <p:attrName>style.visibility</p:attrName>
                                        </p:attrNameLst>
                                      </p:cBhvr>
                                      <p:to>
                                        <p:strVal val="visible"/>
                                      </p:to>
                                    </p:set>
                                    <p:animEffect transition="in" filter="fade">
                                      <p:cBhvr>
                                        <p:cTn id="100" dur="120"/>
                                        <p:tgtEl>
                                          <p:spTgt spid="38"/>
                                        </p:tgtEl>
                                      </p:cBhvr>
                                    </p:animEffect>
                                  </p:childTnLst>
                                </p:cTn>
                              </p:par>
                              <p:par>
                                <p:cTn id="101" presetID="10" presetClass="entr" presetSubtype="0" accel="15000" decel="15000" fill="hold" grpId="0" nodeType="withEffect">
                                  <p:stCondLst>
                                    <p:cond delay="1700"/>
                                  </p:stCondLst>
                                  <p:childTnLst>
                                    <p:set>
                                      <p:cBhvr>
                                        <p:cTn id="102" dur="1" fill="hold">
                                          <p:stCondLst>
                                            <p:cond delay="0"/>
                                          </p:stCondLst>
                                        </p:cTn>
                                        <p:tgtEl>
                                          <p:spTgt spid="42"/>
                                        </p:tgtEl>
                                        <p:attrNameLst>
                                          <p:attrName>style.visibility</p:attrName>
                                        </p:attrNameLst>
                                      </p:cBhvr>
                                      <p:to>
                                        <p:strVal val="visible"/>
                                      </p:to>
                                    </p:set>
                                    <p:animEffect transition="in" filter="fade">
                                      <p:cBhvr>
                                        <p:cTn id="103" dur="120"/>
                                        <p:tgtEl>
                                          <p:spTgt spid="42"/>
                                        </p:tgtEl>
                                      </p:cBhvr>
                                    </p:animEffect>
                                  </p:childTnLst>
                                </p:cTn>
                              </p:par>
                              <p:par>
                                <p:cTn id="104" presetID="0" presetClass="entr" presetSubtype="0" repeatCount="3000" accel="15000" decel="15000" autoRev="1" fill="hold" grpId="1" nodeType="withEffect">
                                  <p:stCondLst>
                                    <p:cond delay="1750"/>
                                  </p:stCondLst>
                                  <p:childTnLst>
                                    <p:set>
                                      <p:cBhvr>
                                        <p:cTn id="105" dur="1" fill="hold">
                                          <p:stCondLst>
                                            <p:cond delay="0"/>
                                          </p:stCondLst>
                                        </p:cTn>
                                        <p:tgtEl>
                                          <p:spTgt spid="24"/>
                                        </p:tgtEl>
                                        <p:attrNameLst>
                                          <p:attrName>style.visibility</p:attrName>
                                        </p:attrNameLst>
                                      </p:cBhvr>
                                      <p:to>
                                        <p:strVal val="visible"/>
                                      </p:to>
                                    </p:set>
                                    <p:animScale>
                                      <p:cBhvr>
                                        <p:cTn id="106" dur="1800" fill="hold">
                                          <p:stCondLst>
                                            <p:cond delay="0"/>
                                          </p:stCondLst>
                                        </p:cTn>
                                        <p:tgtEl>
                                          <p:spTgt spid="24"/>
                                        </p:tgtEl>
                                      </p:cBhvr>
                                      <p:from x="100000" y="100000"/>
                                      <p:to x="125000" y="125000"/>
                                    </p:animScale>
                                  </p:childTnLst>
                                </p:cTn>
                              </p:par>
                              <p:par>
                                <p:cTn id="107" presetID="0" presetClass="entr" presetSubtype="0" repeatCount="7000" accel="15000" decel="15000" fill="hold" grpId="1" nodeType="withEffect">
                                  <p:stCondLst>
                                    <p:cond delay="1820"/>
                                  </p:stCondLst>
                                  <p:childTnLst>
                                    <p:set>
                                      <p:cBhvr>
                                        <p:cTn id="108" dur="1" fill="hold">
                                          <p:stCondLst>
                                            <p:cond delay="0"/>
                                          </p:stCondLst>
                                        </p:cTn>
                                        <p:tgtEl>
                                          <p:spTgt spid="30"/>
                                        </p:tgtEl>
                                        <p:attrNameLst>
                                          <p:attrName>style.visibility</p:attrName>
                                        </p:attrNameLst>
                                      </p:cBhvr>
                                      <p:to>
                                        <p:strVal val="visible"/>
                                      </p:to>
                                    </p:set>
                                    <p:animMotion origin="layout" path="M 0 0 L 0.06750000 -0.16000000 E" pathEditMode="relative">
                                      <p:cBhvr from="" to="">
                                        <p:cTn id="109" dur="2100" fill="hold">
                                          <p:stCondLst>
                                            <p:cond delay="0"/>
                                          </p:stCondLst>
                                        </p:cTn>
                                        <p:tgtEl>
                                          <p:spTgt spid="30"/>
                                        </p:tgtEl>
                                        <p:attrNameLst>
                                          <p:attrName>ppt_x</p:attrName>
                                          <p:attrName>ppt_y</p:attrName>
                                        </p:attrNameLst>
                                      </p:cBhvr>
                                    </p:animMotion>
                                  </p:childTnLst>
                                </p:cTn>
                              </p:par>
                              <p:par>
                                <p:cTn id="110" presetID="0" presetClass="entr" presetSubtype="0" repeatCount="7000" accel="15000" decel="15000" fill="hold" grpId="1" nodeType="withEffect">
                                  <p:stCondLst>
                                    <p:cond delay="1820"/>
                                  </p:stCondLst>
                                  <p:childTnLst>
                                    <p:set>
                                      <p:cBhvr>
                                        <p:cTn id="111" dur="1" fill="hold">
                                          <p:stCondLst>
                                            <p:cond delay="0"/>
                                          </p:stCondLst>
                                        </p:cTn>
                                        <p:tgtEl>
                                          <p:spTgt spid="34"/>
                                        </p:tgtEl>
                                        <p:attrNameLst>
                                          <p:attrName>style.visibility</p:attrName>
                                        </p:attrNameLst>
                                      </p:cBhvr>
                                      <p:to>
                                        <p:strVal val="visible"/>
                                      </p:to>
                                    </p:set>
                                    <p:animMotion origin="layout" path="M 0 0 L 0.19500000 -0.02666667 E" pathEditMode="relative">
                                      <p:cBhvr from="" to="">
                                        <p:cTn id="112" dur="2100" fill="hold">
                                          <p:stCondLst>
                                            <p:cond delay="0"/>
                                          </p:stCondLst>
                                        </p:cTn>
                                        <p:tgtEl>
                                          <p:spTgt spid="34"/>
                                        </p:tgtEl>
                                        <p:attrNameLst>
                                          <p:attrName>ppt_x</p:attrName>
                                          <p:attrName>ppt_y</p:attrName>
                                        </p:attrNameLst>
                                      </p:cBhvr>
                                    </p:animMotion>
                                  </p:childTnLst>
                                </p:cTn>
                              </p:par>
                              <p:par>
                                <p:cTn id="113" presetID="0" presetClass="entr" presetSubtype="0" repeatCount="7000" accel="15000" decel="15000" fill="hold" grpId="1" nodeType="withEffect">
                                  <p:stCondLst>
                                    <p:cond delay="1820"/>
                                  </p:stCondLst>
                                  <p:childTnLst>
                                    <p:set>
                                      <p:cBhvr>
                                        <p:cTn id="114" dur="1" fill="hold">
                                          <p:stCondLst>
                                            <p:cond delay="0"/>
                                          </p:stCondLst>
                                        </p:cTn>
                                        <p:tgtEl>
                                          <p:spTgt spid="38"/>
                                        </p:tgtEl>
                                        <p:attrNameLst>
                                          <p:attrName>style.visibility</p:attrName>
                                        </p:attrNameLst>
                                      </p:cBhvr>
                                      <p:to>
                                        <p:strVal val="visible"/>
                                      </p:to>
                                    </p:set>
                                    <p:animMotion origin="layout" path="M 0 0 L 0.14250000 -0.13333333 E" pathEditMode="relative">
                                      <p:cBhvr from="" to="">
                                        <p:cTn id="115" dur="2100" fill="hold">
                                          <p:stCondLst>
                                            <p:cond delay="0"/>
                                          </p:stCondLst>
                                        </p:cTn>
                                        <p:tgtEl>
                                          <p:spTgt spid="38"/>
                                        </p:tgtEl>
                                        <p:attrNameLst>
                                          <p:attrName>ppt_x</p:attrName>
                                          <p:attrName>ppt_y</p:attrName>
                                        </p:attrNameLst>
                                      </p:cBhvr>
                                    </p:animMotion>
                                  </p:childTnLst>
                                </p:cTn>
                              </p:par>
                              <p:par>
                                <p:cTn id="116" presetID="0" presetClass="entr" presetSubtype="0" repeatCount="7000" accel="15000" decel="15000" fill="hold" grpId="1" nodeType="withEffect">
                                  <p:stCondLst>
                                    <p:cond delay="1820"/>
                                  </p:stCondLst>
                                  <p:childTnLst>
                                    <p:set>
                                      <p:cBhvr>
                                        <p:cTn id="117" dur="1" fill="hold">
                                          <p:stCondLst>
                                            <p:cond delay="0"/>
                                          </p:stCondLst>
                                        </p:cTn>
                                        <p:tgtEl>
                                          <p:spTgt spid="42"/>
                                        </p:tgtEl>
                                        <p:attrNameLst>
                                          <p:attrName>style.visibility</p:attrName>
                                        </p:attrNameLst>
                                      </p:cBhvr>
                                      <p:to>
                                        <p:strVal val="visible"/>
                                      </p:to>
                                    </p:set>
                                    <p:animMotion origin="layout" path="M 0 0 L 0.07500000 -0.20000000 E" pathEditMode="relative">
                                      <p:cBhvr from="" to="">
                                        <p:cTn id="118" dur="2100" fill="hold">
                                          <p:stCondLst>
                                            <p:cond delay="0"/>
                                          </p:stCondLst>
                                        </p:cTn>
                                        <p:tgtEl>
                                          <p:spTgt spid="42"/>
                                        </p:tgtEl>
                                        <p:attrNameLst>
                                          <p:attrName>ppt_x</p:attrName>
                                          <p:attrName>ppt_y</p:attrName>
                                        </p:attrNameLst>
                                      </p:cBhvr>
                                    </p:animMotion>
                                  </p:childTnLst>
                                </p:cTn>
                              </p:par>
                              <p:par>
                                <p:cTn id="119" presetID="0" presetClass="entr" presetSubtype="0" repeatCount="3000" accel="15000" decel="15000" autoRev="1" fill="hold" grpId="1" nodeType="withEffect">
                                  <p:stCondLst>
                                    <p:cond delay="1900"/>
                                  </p:stCondLst>
                                  <p:childTnLst>
                                    <p:set>
                                      <p:cBhvr>
                                        <p:cTn id="120" dur="1" fill="hold">
                                          <p:stCondLst>
                                            <p:cond delay="0"/>
                                          </p:stCondLst>
                                        </p:cTn>
                                        <p:tgtEl>
                                          <p:spTgt spid="25"/>
                                        </p:tgtEl>
                                        <p:attrNameLst>
                                          <p:attrName>style.visibility</p:attrName>
                                        </p:attrNameLst>
                                      </p:cBhvr>
                                      <p:to>
                                        <p:strVal val="visible"/>
                                      </p:to>
                                    </p:set>
                                    <p:animScale>
                                      <p:cBhvr>
                                        <p:cTn id="121" dur="1800" fill="hold">
                                          <p:stCondLst>
                                            <p:cond delay="0"/>
                                          </p:stCondLst>
                                        </p:cTn>
                                        <p:tgtEl>
                                          <p:spTgt spid="25"/>
                                        </p:tgtEl>
                                      </p:cBhvr>
                                      <p:from x="100000" y="100000"/>
                                      <p:to x="125000" y="125000"/>
                                    </p:animScale>
                                  </p:childTnLst>
                                </p:cTn>
                              </p:par>
                              <p:par>
                                <p:cTn id="122" presetID="0" presetClass="entr" presetSubtype="0" repeatCount="3000" accel="15000" decel="15000" autoRev="1" fill="hold" grpId="1" nodeType="withEffect">
                                  <p:stCondLst>
                                    <p:cond delay="2050"/>
                                  </p:stCondLst>
                                  <p:childTnLst>
                                    <p:set>
                                      <p:cBhvr>
                                        <p:cTn id="123" dur="1" fill="hold">
                                          <p:stCondLst>
                                            <p:cond delay="0"/>
                                          </p:stCondLst>
                                        </p:cTn>
                                        <p:tgtEl>
                                          <p:spTgt spid="26"/>
                                        </p:tgtEl>
                                        <p:attrNameLst>
                                          <p:attrName>style.visibility</p:attrName>
                                        </p:attrNameLst>
                                      </p:cBhvr>
                                      <p:to>
                                        <p:strVal val="visible"/>
                                      </p:to>
                                    </p:set>
                                    <p:animScale>
                                      <p:cBhvr>
                                        <p:cTn id="124" dur="1800" fill="hold">
                                          <p:stCondLst>
                                            <p:cond delay="0"/>
                                          </p:stCondLst>
                                        </p:cTn>
                                        <p:tgtEl>
                                          <p:spTgt spid="26"/>
                                        </p:tgtEl>
                                      </p:cBhvr>
                                      <p:from x="100000" y="100000"/>
                                      <p:to x="125000" y="125000"/>
                                    </p:animScale>
                                  </p:childTnLst>
                                </p:cTn>
                              </p:par>
                              <p:par>
                                <p:cTn id="125" presetID="0" presetClass="entr" presetSubtype="0" repeatCount="3000" accel="15000" decel="15000" autoRev="1" fill="hold" grpId="1" nodeType="withEffect">
                                  <p:stCondLst>
                                    <p:cond delay="2200"/>
                                  </p:stCondLst>
                                  <p:childTnLst>
                                    <p:set>
                                      <p:cBhvr>
                                        <p:cTn id="126" dur="1" fill="hold">
                                          <p:stCondLst>
                                            <p:cond delay="0"/>
                                          </p:stCondLst>
                                        </p:cTn>
                                        <p:tgtEl>
                                          <p:spTgt spid="27"/>
                                        </p:tgtEl>
                                        <p:attrNameLst>
                                          <p:attrName>style.visibility</p:attrName>
                                        </p:attrNameLst>
                                      </p:cBhvr>
                                      <p:to>
                                        <p:strVal val="visible"/>
                                      </p:to>
                                    </p:set>
                                    <p:animScale>
                                      <p:cBhvr>
                                        <p:cTn id="127" dur="1800" fill="hold">
                                          <p:stCondLst>
                                            <p:cond delay="0"/>
                                          </p:stCondLst>
                                        </p:cTn>
                                        <p:tgtEl>
                                          <p:spTgt spid="27"/>
                                        </p:tgtEl>
                                      </p:cBhvr>
                                      <p:from x="100000" y="100000"/>
                                      <p:to x="125000" y="125000"/>
                                    </p:animScale>
                                  </p:childTnLst>
                                </p:cTn>
                              </p:par>
                              <p:par>
                                <p:cTn id="128" presetID="10" presetClass="entr" presetSubtype="0" accel="15000" decel="15000" fill="hold" grpId="0" nodeType="withEffect">
                                  <p:stCondLst>
                                    <p:cond delay="2250"/>
                                  </p:stCondLst>
                                  <p:childTnLst>
                                    <p:set>
                                      <p:cBhvr>
                                        <p:cTn id="129" dur="1" fill="hold">
                                          <p:stCondLst>
                                            <p:cond delay="0"/>
                                          </p:stCondLst>
                                        </p:cTn>
                                        <p:tgtEl>
                                          <p:spTgt spid="31"/>
                                        </p:tgtEl>
                                        <p:attrNameLst>
                                          <p:attrName>style.visibility</p:attrName>
                                        </p:attrNameLst>
                                      </p:cBhvr>
                                      <p:to>
                                        <p:strVal val="visible"/>
                                      </p:to>
                                    </p:set>
                                    <p:animEffect transition="in" filter="fade">
                                      <p:cBhvr>
                                        <p:cTn id="130" dur="120"/>
                                        <p:tgtEl>
                                          <p:spTgt spid="31"/>
                                        </p:tgtEl>
                                      </p:cBhvr>
                                    </p:animEffect>
                                  </p:childTnLst>
                                </p:cTn>
                              </p:par>
                              <p:par>
                                <p:cTn id="131" presetID="10" presetClass="entr" presetSubtype="0" accel="15000" decel="15000" fill="hold" grpId="0" nodeType="withEffect">
                                  <p:stCondLst>
                                    <p:cond delay="2250"/>
                                  </p:stCondLst>
                                  <p:childTnLst>
                                    <p:set>
                                      <p:cBhvr>
                                        <p:cTn id="132" dur="1" fill="hold">
                                          <p:stCondLst>
                                            <p:cond delay="0"/>
                                          </p:stCondLst>
                                        </p:cTn>
                                        <p:tgtEl>
                                          <p:spTgt spid="35"/>
                                        </p:tgtEl>
                                        <p:attrNameLst>
                                          <p:attrName>style.visibility</p:attrName>
                                        </p:attrNameLst>
                                      </p:cBhvr>
                                      <p:to>
                                        <p:strVal val="visible"/>
                                      </p:to>
                                    </p:set>
                                    <p:animEffect transition="in" filter="fade">
                                      <p:cBhvr>
                                        <p:cTn id="133" dur="120"/>
                                        <p:tgtEl>
                                          <p:spTgt spid="35"/>
                                        </p:tgtEl>
                                      </p:cBhvr>
                                    </p:animEffect>
                                  </p:childTnLst>
                                </p:cTn>
                              </p:par>
                              <p:par>
                                <p:cTn id="134" presetID="10" presetClass="entr" presetSubtype="0" accel="15000" decel="15000" fill="hold" grpId="0" nodeType="withEffect">
                                  <p:stCondLst>
                                    <p:cond delay="2250"/>
                                  </p:stCondLst>
                                  <p:childTnLst>
                                    <p:set>
                                      <p:cBhvr>
                                        <p:cTn id="135" dur="1" fill="hold">
                                          <p:stCondLst>
                                            <p:cond delay="0"/>
                                          </p:stCondLst>
                                        </p:cTn>
                                        <p:tgtEl>
                                          <p:spTgt spid="39"/>
                                        </p:tgtEl>
                                        <p:attrNameLst>
                                          <p:attrName>style.visibility</p:attrName>
                                        </p:attrNameLst>
                                      </p:cBhvr>
                                      <p:to>
                                        <p:strVal val="visible"/>
                                      </p:to>
                                    </p:set>
                                    <p:animEffect transition="in" filter="fade">
                                      <p:cBhvr>
                                        <p:cTn id="136" dur="120"/>
                                        <p:tgtEl>
                                          <p:spTgt spid="39"/>
                                        </p:tgtEl>
                                      </p:cBhvr>
                                    </p:animEffect>
                                  </p:childTnLst>
                                </p:cTn>
                              </p:par>
                              <p:par>
                                <p:cTn id="137" presetID="0" presetClass="entr" presetSubtype="0" repeatCount="3000" accel="15000" decel="15000" autoRev="1" fill="hold" grpId="1" nodeType="withEffect">
                                  <p:stCondLst>
                                    <p:cond delay="2350"/>
                                  </p:stCondLst>
                                  <p:childTnLst>
                                    <p:set>
                                      <p:cBhvr>
                                        <p:cTn id="138" dur="1" fill="hold">
                                          <p:stCondLst>
                                            <p:cond delay="0"/>
                                          </p:stCondLst>
                                        </p:cTn>
                                        <p:tgtEl>
                                          <p:spTgt spid="28"/>
                                        </p:tgtEl>
                                        <p:attrNameLst>
                                          <p:attrName>style.visibility</p:attrName>
                                        </p:attrNameLst>
                                      </p:cBhvr>
                                      <p:to>
                                        <p:strVal val="visible"/>
                                      </p:to>
                                    </p:set>
                                    <p:animScale>
                                      <p:cBhvr>
                                        <p:cTn id="139" dur="1800" fill="hold">
                                          <p:stCondLst>
                                            <p:cond delay="0"/>
                                          </p:stCondLst>
                                        </p:cTn>
                                        <p:tgtEl>
                                          <p:spTgt spid="28"/>
                                        </p:tgtEl>
                                      </p:cBhvr>
                                      <p:from x="100000" y="100000"/>
                                      <p:to x="125000" y="125000"/>
                                    </p:animScale>
                                  </p:childTnLst>
                                </p:cTn>
                              </p:par>
                              <p:par>
                                <p:cTn id="140" presetID="0" presetClass="entr" presetSubtype="0" repeatCount="7000" accel="15000" decel="15000" fill="hold" grpId="1" nodeType="withEffect">
                                  <p:stCondLst>
                                    <p:cond delay="2370"/>
                                  </p:stCondLst>
                                  <p:childTnLst>
                                    <p:set>
                                      <p:cBhvr>
                                        <p:cTn id="141" dur="1" fill="hold">
                                          <p:stCondLst>
                                            <p:cond delay="0"/>
                                          </p:stCondLst>
                                        </p:cTn>
                                        <p:tgtEl>
                                          <p:spTgt spid="31"/>
                                        </p:tgtEl>
                                        <p:attrNameLst>
                                          <p:attrName>style.visibility</p:attrName>
                                        </p:attrNameLst>
                                      </p:cBhvr>
                                      <p:to>
                                        <p:strVal val="visible"/>
                                      </p:to>
                                    </p:set>
                                    <p:animMotion origin="layout" path="M 0 0 L 0.09750000 0.22666667 E" pathEditMode="relative">
                                      <p:cBhvr from="" to="">
                                        <p:cTn id="142" dur="2100" fill="hold">
                                          <p:stCondLst>
                                            <p:cond delay="0"/>
                                          </p:stCondLst>
                                        </p:cTn>
                                        <p:tgtEl>
                                          <p:spTgt spid="31"/>
                                        </p:tgtEl>
                                        <p:attrNameLst>
                                          <p:attrName>ppt_x</p:attrName>
                                          <p:attrName>ppt_y</p:attrName>
                                        </p:attrNameLst>
                                      </p:cBhvr>
                                    </p:animMotion>
                                  </p:childTnLst>
                                </p:cTn>
                              </p:par>
                              <p:par>
                                <p:cTn id="143" presetID="0" presetClass="entr" presetSubtype="0" repeatCount="7000" accel="15000" decel="15000" fill="hold" grpId="1" nodeType="withEffect">
                                  <p:stCondLst>
                                    <p:cond delay="2370"/>
                                  </p:stCondLst>
                                  <p:childTnLst>
                                    <p:set>
                                      <p:cBhvr>
                                        <p:cTn id="144" dur="1" fill="hold">
                                          <p:stCondLst>
                                            <p:cond delay="0"/>
                                          </p:stCondLst>
                                        </p:cTn>
                                        <p:tgtEl>
                                          <p:spTgt spid="35"/>
                                        </p:tgtEl>
                                        <p:attrNameLst>
                                          <p:attrName>style.visibility</p:attrName>
                                        </p:attrNameLst>
                                      </p:cBhvr>
                                      <p:to>
                                        <p:strVal val="visible"/>
                                      </p:to>
                                    </p:set>
                                    <p:animMotion origin="layout" path="M 0 0 L 0.15000000 -0.05333333 E" pathEditMode="relative">
                                      <p:cBhvr from="" to="">
                                        <p:cTn id="145" dur="2100" fill="hold">
                                          <p:stCondLst>
                                            <p:cond delay="0"/>
                                          </p:stCondLst>
                                        </p:cTn>
                                        <p:tgtEl>
                                          <p:spTgt spid="35"/>
                                        </p:tgtEl>
                                        <p:attrNameLst>
                                          <p:attrName>ppt_x</p:attrName>
                                          <p:attrName>ppt_y</p:attrName>
                                        </p:attrNameLst>
                                      </p:cBhvr>
                                    </p:animMotion>
                                  </p:childTnLst>
                                </p:cTn>
                              </p:par>
                              <p:par>
                                <p:cTn id="146" presetID="0" presetClass="entr" presetSubtype="0" repeatCount="7000" accel="15000" decel="15000" fill="hold" grpId="1" nodeType="withEffect">
                                  <p:stCondLst>
                                    <p:cond delay="2370"/>
                                  </p:stCondLst>
                                  <p:childTnLst>
                                    <p:set>
                                      <p:cBhvr>
                                        <p:cTn id="147" dur="1" fill="hold">
                                          <p:stCondLst>
                                            <p:cond delay="0"/>
                                          </p:stCondLst>
                                        </p:cTn>
                                        <p:tgtEl>
                                          <p:spTgt spid="39"/>
                                        </p:tgtEl>
                                        <p:attrNameLst>
                                          <p:attrName>style.visibility</p:attrName>
                                        </p:attrNameLst>
                                      </p:cBhvr>
                                      <p:to>
                                        <p:strVal val="visible"/>
                                      </p:to>
                                    </p:set>
                                    <p:animMotion origin="layout" path="M 0 0 L 0.18000000 0.13333333 E" pathEditMode="relative">
                                      <p:cBhvr from="" to="">
                                        <p:cTn id="148" dur="2100" fill="hold">
                                          <p:stCondLst>
                                            <p:cond delay="0"/>
                                          </p:stCondLst>
                                        </p:cTn>
                                        <p:tgtEl>
                                          <p:spTgt spid="39"/>
                                        </p:tgtEl>
                                        <p:attrNameLst>
                                          <p:attrName>ppt_x</p:attrName>
                                          <p:attrName>ppt_y</p:attrName>
                                        </p:attrNameLst>
                                      </p:cBhvr>
                                    </p:animMotion>
                                  </p:childTnLst>
                                </p:cTn>
                              </p:par>
                              <p:par>
                                <p:cTn id="149" presetID="0" presetClass="entr" presetSubtype="0" repeatCount="3000" accel="15000" decel="15000" autoRev="1" fill="hold" grpId="1" nodeType="withEffect">
                                  <p:stCondLst>
                                    <p:cond delay="2500"/>
                                  </p:stCondLst>
                                  <p:childTnLst>
                                    <p:set>
                                      <p:cBhvr>
                                        <p:cTn id="150" dur="1" fill="hold">
                                          <p:stCondLst>
                                            <p:cond delay="0"/>
                                          </p:stCondLst>
                                        </p:cTn>
                                        <p:tgtEl>
                                          <p:spTgt spid="29"/>
                                        </p:tgtEl>
                                        <p:attrNameLst>
                                          <p:attrName>style.visibility</p:attrName>
                                        </p:attrNameLst>
                                      </p:cBhvr>
                                      <p:to>
                                        <p:strVal val="visible"/>
                                      </p:to>
                                    </p:set>
                                    <p:animScale>
                                      <p:cBhvr>
                                        <p:cTn id="151" dur="1800" fill="hold">
                                          <p:stCondLst>
                                            <p:cond delay="0"/>
                                          </p:stCondLst>
                                        </p:cTn>
                                        <p:tgtEl>
                                          <p:spTgt spid="29"/>
                                        </p:tgtEl>
                                      </p:cBhvr>
                                      <p:from x="100000" y="100000"/>
                                      <p:to x="125000" y="125000"/>
                                    </p:animScale>
                                  </p:childTnLst>
                                </p:cTn>
                              </p:par>
                              <p:par>
                                <p:cTn id="152" presetID="10" presetClass="entr" presetSubtype="0" accel="15000" decel="15000" fill="hold" grpId="0" nodeType="withEffect">
                                  <p:stCondLst>
                                    <p:cond delay="2800"/>
                                  </p:stCondLst>
                                  <p:childTnLst>
                                    <p:set>
                                      <p:cBhvr>
                                        <p:cTn id="153" dur="1" fill="hold">
                                          <p:stCondLst>
                                            <p:cond delay="0"/>
                                          </p:stCondLst>
                                        </p:cTn>
                                        <p:tgtEl>
                                          <p:spTgt spid="32"/>
                                        </p:tgtEl>
                                        <p:attrNameLst>
                                          <p:attrName>style.visibility</p:attrName>
                                        </p:attrNameLst>
                                      </p:cBhvr>
                                      <p:to>
                                        <p:strVal val="visible"/>
                                      </p:to>
                                    </p:set>
                                    <p:animEffect transition="in" filter="fade">
                                      <p:cBhvr>
                                        <p:cTn id="154" dur="120"/>
                                        <p:tgtEl>
                                          <p:spTgt spid="32"/>
                                        </p:tgtEl>
                                      </p:cBhvr>
                                    </p:animEffect>
                                  </p:childTnLst>
                                </p:cTn>
                              </p:par>
                              <p:par>
                                <p:cTn id="155" presetID="10" presetClass="entr" presetSubtype="0" accel="15000" decel="15000" fill="hold" grpId="0" nodeType="withEffect">
                                  <p:stCondLst>
                                    <p:cond delay="2800"/>
                                  </p:stCondLst>
                                  <p:childTnLst>
                                    <p:set>
                                      <p:cBhvr>
                                        <p:cTn id="156" dur="1" fill="hold">
                                          <p:stCondLst>
                                            <p:cond delay="0"/>
                                          </p:stCondLst>
                                        </p:cTn>
                                        <p:tgtEl>
                                          <p:spTgt spid="36"/>
                                        </p:tgtEl>
                                        <p:attrNameLst>
                                          <p:attrName>style.visibility</p:attrName>
                                        </p:attrNameLst>
                                      </p:cBhvr>
                                      <p:to>
                                        <p:strVal val="visible"/>
                                      </p:to>
                                    </p:set>
                                    <p:animEffect transition="in" filter="fade">
                                      <p:cBhvr>
                                        <p:cTn id="157" dur="120"/>
                                        <p:tgtEl>
                                          <p:spTgt spid="36"/>
                                        </p:tgtEl>
                                      </p:cBhvr>
                                    </p:animEffect>
                                  </p:childTnLst>
                                </p:cTn>
                              </p:par>
                              <p:par>
                                <p:cTn id="158" presetID="10" presetClass="entr" presetSubtype="0" accel="15000" decel="15000" fill="hold" grpId="0" nodeType="withEffect">
                                  <p:stCondLst>
                                    <p:cond delay="2800"/>
                                  </p:stCondLst>
                                  <p:childTnLst>
                                    <p:set>
                                      <p:cBhvr>
                                        <p:cTn id="159" dur="1" fill="hold">
                                          <p:stCondLst>
                                            <p:cond delay="0"/>
                                          </p:stCondLst>
                                        </p:cTn>
                                        <p:tgtEl>
                                          <p:spTgt spid="40"/>
                                        </p:tgtEl>
                                        <p:attrNameLst>
                                          <p:attrName>style.visibility</p:attrName>
                                        </p:attrNameLst>
                                      </p:cBhvr>
                                      <p:to>
                                        <p:strVal val="visible"/>
                                      </p:to>
                                    </p:set>
                                    <p:animEffect transition="in" filter="fade">
                                      <p:cBhvr>
                                        <p:cTn id="160" dur="120"/>
                                        <p:tgtEl>
                                          <p:spTgt spid="40"/>
                                        </p:tgtEl>
                                      </p:cBhvr>
                                    </p:animEffect>
                                  </p:childTnLst>
                                </p:cTn>
                              </p:par>
                              <p:par>
                                <p:cTn id="161" presetID="0" presetClass="entr" presetSubtype="0" repeatCount="7000" accel="15000" decel="15000" fill="hold" grpId="1" nodeType="withEffect">
                                  <p:stCondLst>
                                    <p:cond delay="2920"/>
                                  </p:stCondLst>
                                  <p:childTnLst>
                                    <p:set>
                                      <p:cBhvr>
                                        <p:cTn id="162" dur="1" fill="hold">
                                          <p:stCondLst>
                                            <p:cond delay="0"/>
                                          </p:stCondLst>
                                        </p:cTn>
                                        <p:tgtEl>
                                          <p:spTgt spid="32"/>
                                        </p:tgtEl>
                                        <p:attrNameLst>
                                          <p:attrName>style.visibility</p:attrName>
                                        </p:attrNameLst>
                                      </p:cBhvr>
                                      <p:to>
                                        <p:strVal val="visible"/>
                                      </p:to>
                                    </p:set>
                                    <p:animMotion origin="layout" path="M 0 0 L 0.13500000 0.12000000 E" pathEditMode="relative">
                                      <p:cBhvr from="" to="">
                                        <p:cTn id="163" dur="2100" fill="hold">
                                          <p:stCondLst>
                                            <p:cond delay="0"/>
                                          </p:stCondLst>
                                        </p:cTn>
                                        <p:tgtEl>
                                          <p:spTgt spid="32"/>
                                        </p:tgtEl>
                                        <p:attrNameLst>
                                          <p:attrName>ppt_x</p:attrName>
                                          <p:attrName>ppt_y</p:attrName>
                                        </p:attrNameLst>
                                      </p:cBhvr>
                                    </p:animMotion>
                                  </p:childTnLst>
                                </p:cTn>
                              </p:par>
                              <p:par>
                                <p:cTn id="164" presetID="0" presetClass="entr" presetSubtype="0" repeatCount="7000" accel="15000" decel="15000" fill="hold" grpId="1" nodeType="withEffect">
                                  <p:stCondLst>
                                    <p:cond delay="2920"/>
                                  </p:stCondLst>
                                  <p:childTnLst>
                                    <p:set>
                                      <p:cBhvr>
                                        <p:cTn id="165" dur="1" fill="hold">
                                          <p:stCondLst>
                                            <p:cond delay="0"/>
                                          </p:stCondLst>
                                        </p:cTn>
                                        <p:tgtEl>
                                          <p:spTgt spid="36"/>
                                        </p:tgtEl>
                                        <p:attrNameLst>
                                          <p:attrName>style.visibility</p:attrName>
                                        </p:attrNameLst>
                                      </p:cBhvr>
                                      <p:to>
                                        <p:strVal val="visible"/>
                                      </p:to>
                                    </p:set>
                                    <p:animMotion origin="layout" path="M 0 0 L 0.17250000 -0.14666667 E" pathEditMode="relative">
                                      <p:cBhvr from="" to="">
                                        <p:cTn id="166" dur="2100" fill="hold">
                                          <p:stCondLst>
                                            <p:cond delay="0"/>
                                          </p:stCondLst>
                                        </p:cTn>
                                        <p:tgtEl>
                                          <p:spTgt spid="36"/>
                                        </p:tgtEl>
                                        <p:attrNameLst>
                                          <p:attrName>ppt_x</p:attrName>
                                          <p:attrName>ppt_y</p:attrName>
                                        </p:attrNameLst>
                                      </p:cBhvr>
                                    </p:animMotion>
                                  </p:childTnLst>
                                </p:cTn>
                              </p:par>
                              <p:par>
                                <p:cTn id="167" presetID="0" presetClass="entr" presetSubtype="0" repeatCount="7000" accel="15000" decel="15000" fill="hold" grpId="1" nodeType="withEffect">
                                  <p:stCondLst>
                                    <p:cond delay="2920"/>
                                  </p:stCondLst>
                                  <p:childTnLst>
                                    <p:set>
                                      <p:cBhvr>
                                        <p:cTn id="168" dur="1" fill="hold">
                                          <p:stCondLst>
                                            <p:cond delay="0"/>
                                          </p:stCondLst>
                                        </p:cTn>
                                        <p:tgtEl>
                                          <p:spTgt spid="40"/>
                                        </p:tgtEl>
                                        <p:attrNameLst>
                                          <p:attrName>style.visibility</p:attrName>
                                        </p:attrNameLst>
                                      </p:cBhvr>
                                      <p:to>
                                        <p:strVal val="visible"/>
                                      </p:to>
                                    </p:set>
                                    <p:animMotion origin="layout" path="M 0 0 L 0.18000000 0.10666667 E" pathEditMode="relative">
                                      <p:cBhvr from="" to="">
                                        <p:cTn id="169" dur="2100" fill="hold">
                                          <p:stCondLst>
                                            <p:cond delay="0"/>
                                          </p:stCondLst>
                                        </p:cTn>
                                        <p:tgtEl>
                                          <p:spTgt spid="40"/>
                                        </p:tgtEl>
                                        <p:attrNameLst>
                                          <p:attrName>ppt_x</p:attrName>
                                          <p:attrName>ppt_y</p:attrName>
                                        </p:attrNameLst>
                                      </p:cBhvr>
                                    </p:animMotion>
                                  </p:childTnLst>
                                </p:cTn>
                              </p:par>
                              <p:par>
                                <p:cTn id="170" presetID="10" presetClass="entr" presetSubtype="0" accel="15000" decel="15000" fill="hold" grpId="0" nodeType="withEffect">
                                  <p:stCondLst>
                                    <p:cond delay="3350"/>
                                  </p:stCondLst>
                                  <p:childTnLst>
                                    <p:set>
                                      <p:cBhvr>
                                        <p:cTn id="171" dur="1" fill="hold">
                                          <p:stCondLst>
                                            <p:cond delay="0"/>
                                          </p:stCondLst>
                                        </p:cTn>
                                        <p:tgtEl>
                                          <p:spTgt spid="33"/>
                                        </p:tgtEl>
                                        <p:attrNameLst>
                                          <p:attrName>style.visibility</p:attrName>
                                        </p:attrNameLst>
                                      </p:cBhvr>
                                      <p:to>
                                        <p:strVal val="visible"/>
                                      </p:to>
                                    </p:set>
                                    <p:animEffect transition="in" filter="fade">
                                      <p:cBhvr>
                                        <p:cTn id="172" dur="120"/>
                                        <p:tgtEl>
                                          <p:spTgt spid="33"/>
                                        </p:tgtEl>
                                      </p:cBhvr>
                                    </p:animEffect>
                                  </p:childTnLst>
                                </p:cTn>
                              </p:par>
                              <p:par>
                                <p:cTn id="173" presetID="10" presetClass="entr" presetSubtype="0" accel="15000" decel="15000" fill="hold" grpId="0" nodeType="withEffect">
                                  <p:stCondLst>
                                    <p:cond delay="3350"/>
                                  </p:stCondLst>
                                  <p:childTnLst>
                                    <p:set>
                                      <p:cBhvr>
                                        <p:cTn id="174" dur="1" fill="hold">
                                          <p:stCondLst>
                                            <p:cond delay="0"/>
                                          </p:stCondLst>
                                        </p:cTn>
                                        <p:tgtEl>
                                          <p:spTgt spid="37"/>
                                        </p:tgtEl>
                                        <p:attrNameLst>
                                          <p:attrName>style.visibility</p:attrName>
                                        </p:attrNameLst>
                                      </p:cBhvr>
                                      <p:to>
                                        <p:strVal val="visible"/>
                                      </p:to>
                                    </p:set>
                                    <p:animEffect transition="in" filter="fade">
                                      <p:cBhvr>
                                        <p:cTn id="175" dur="120"/>
                                        <p:tgtEl>
                                          <p:spTgt spid="37"/>
                                        </p:tgtEl>
                                      </p:cBhvr>
                                    </p:animEffect>
                                  </p:childTnLst>
                                </p:cTn>
                              </p:par>
                              <p:par>
                                <p:cTn id="176" presetID="10" presetClass="entr" presetSubtype="0" accel="15000" decel="15000" fill="hold" grpId="0" nodeType="withEffect">
                                  <p:stCondLst>
                                    <p:cond delay="3350"/>
                                  </p:stCondLst>
                                  <p:childTnLst>
                                    <p:set>
                                      <p:cBhvr>
                                        <p:cTn id="177" dur="1" fill="hold">
                                          <p:stCondLst>
                                            <p:cond delay="0"/>
                                          </p:stCondLst>
                                        </p:cTn>
                                        <p:tgtEl>
                                          <p:spTgt spid="41"/>
                                        </p:tgtEl>
                                        <p:attrNameLst>
                                          <p:attrName>style.visibility</p:attrName>
                                        </p:attrNameLst>
                                      </p:cBhvr>
                                      <p:to>
                                        <p:strVal val="visible"/>
                                      </p:to>
                                    </p:set>
                                    <p:animEffect transition="in" filter="fade">
                                      <p:cBhvr>
                                        <p:cTn id="178" dur="120"/>
                                        <p:tgtEl>
                                          <p:spTgt spid="41"/>
                                        </p:tgtEl>
                                      </p:cBhvr>
                                    </p:animEffect>
                                  </p:childTnLst>
                                </p:cTn>
                              </p:par>
                              <p:par>
                                <p:cTn id="179" presetID="0" presetClass="entr" presetSubtype="0" repeatCount="7000" accel="15000" decel="15000" fill="hold" grpId="1" nodeType="withEffect">
                                  <p:stCondLst>
                                    <p:cond delay="3470"/>
                                  </p:stCondLst>
                                  <p:childTnLst>
                                    <p:set>
                                      <p:cBhvr>
                                        <p:cTn id="180" dur="1" fill="hold">
                                          <p:stCondLst>
                                            <p:cond delay="0"/>
                                          </p:stCondLst>
                                        </p:cTn>
                                        <p:tgtEl>
                                          <p:spTgt spid="33"/>
                                        </p:tgtEl>
                                        <p:attrNameLst>
                                          <p:attrName>style.visibility</p:attrName>
                                        </p:attrNameLst>
                                      </p:cBhvr>
                                      <p:to>
                                        <p:strVal val="visible"/>
                                      </p:to>
                                    </p:set>
                                    <p:animMotion origin="layout" path="M 0 0 L 0.10500000 -0.26666667 E" pathEditMode="relative">
                                      <p:cBhvr from="" to="">
                                        <p:cTn id="181" dur="2100" fill="hold">
                                          <p:stCondLst>
                                            <p:cond delay="0"/>
                                          </p:stCondLst>
                                        </p:cTn>
                                        <p:tgtEl>
                                          <p:spTgt spid="33"/>
                                        </p:tgtEl>
                                        <p:attrNameLst>
                                          <p:attrName>ppt_x</p:attrName>
                                          <p:attrName>ppt_y</p:attrName>
                                        </p:attrNameLst>
                                      </p:cBhvr>
                                    </p:animMotion>
                                  </p:childTnLst>
                                </p:cTn>
                              </p:par>
                              <p:par>
                                <p:cTn id="182" presetID="0" presetClass="entr" presetSubtype="0" repeatCount="7000" accel="15000" decel="15000" fill="hold" grpId="1" nodeType="withEffect">
                                  <p:stCondLst>
                                    <p:cond delay="3470"/>
                                  </p:stCondLst>
                                  <p:childTnLst>
                                    <p:set>
                                      <p:cBhvr>
                                        <p:cTn id="183" dur="1" fill="hold">
                                          <p:stCondLst>
                                            <p:cond delay="0"/>
                                          </p:stCondLst>
                                        </p:cTn>
                                        <p:tgtEl>
                                          <p:spTgt spid="37"/>
                                        </p:tgtEl>
                                        <p:attrNameLst>
                                          <p:attrName>style.visibility</p:attrName>
                                        </p:attrNameLst>
                                      </p:cBhvr>
                                      <p:to>
                                        <p:strVal val="visible"/>
                                      </p:to>
                                    </p:set>
                                    <p:animMotion origin="layout" path="M 0 0 L 0.11250000 0.14666667 E" pathEditMode="relative">
                                      <p:cBhvr from="" to="">
                                        <p:cTn id="184" dur="2100" fill="hold">
                                          <p:stCondLst>
                                            <p:cond delay="0"/>
                                          </p:stCondLst>
                                        </p:cTn>
                                        <p:tgtEl>
                                          <p:spTgt spid="37"/>
                                        </p:tgtEl>
                                        <p:attrNameLst>
                                          <p:attrName>ppt_x</p:attrName>
                                          <p:attrName>ppt_y</p:attrName>
                                        </p:attrNameLst>
                                      </p:cBhvr>
                                    </p:animMotion>
                                  </p:childTnLst>
                                </p:cTn>
                              </p:par>
                              <p:par>
                                <p:cTn id="185" presetID="0" presetClass="entr" presetSubtype="0" repeatCount="7000" accel="15000" decel="15000" fill="hold" grpId="1" nodeType="withEffect">
                                  <p:stCondLst>
                                    <p:cond delay="3470"/>
                                  </p:stCondLst>
                                  <p:childTnLst>
                                    <p:set>
                                      <p:cBhvr>
                                        <p:cTn id="186" dur="1" fill="hold">
                                          <p:stCondLst>
                                            <p:cond delay="0"/>
                                          </p:stCondLst>
                                        </p:cTn>
                                        <p:tgtEl>
                                          <p:spTgt spid="41"/>
                                        </p:tgtEl>
                                        <p:attrNameLst>
                                          <p:attrName>style.visibility</p:attrName>
                                        </p:attrNameLst>
                                      </p:cBhvr>
                                      <p:to>
                                        <p:strVal val="visible"/>
                                      </p:to>
                                    </p:set>
                                    <p:animMotion origin="layout" path="M 0 0 L 0.14250000 -0.16000000 E" pathEditMode="relative">
                                      <p:cBhvr from="" to="">
                                        <p:cTn id="187" dur="2100" fill="hold">
                                          <p:stCondLst>
                                            <p:cond delay="0"/>
                                          </p:stCondLst>
                                        </p:cTn>
                                        <p:tgtEl>
                                          <p:spTgt spid="41"/>
                                        </p:tgtEl>
                                        <p:attrNameLst>
                                          <p:attrName>ppt_x</p:attrName>
                                          <p:attrName>ppt_y</p:attrName>
                                        </p:attrNameLst>
                                      </p:cBhvr>
                                    </p:animMotion>
                                  </p:childTnLst>
                                </p:cTn>
                              </p:par>
                              <p:par>
                                <p:cTn id="188" presetID="10" presetClass="entr" presetSubtype="0" accel="15000" decel="15000" fill="hold" grpId="0" nodeType="withEffect">
                                  <p:stCondLst>
                                    <p:cond delay="5000"/>
                                  </p:stCondLst>
                                  <p:childTnLst>
                                    <p:set>
                                      <p:cBhvr>
                                        <p:cTn id="189" dur="1" fill="hold">
                                          <p:stCondLst>
                                            <p:cond delay="0"/>
                                          </p:stCondLst>
                                        </p:cTn>
                                        <p:tgtEl>
                                          <p:spTgt spid="43"/>
                                        </p:tgtEl>
                                        <p:attrNameLst>
                                          <p:attrName>style.visibility</p:attrName>
                                        </p:attrNameLst>
                                      </p:cBhvr>
                                      <p:to>
                                        <p:strVal val="visible"/>
                                      </p:to>
                                    </p:set>
                                    <p:animEffect transition="in" filter="fade">
                                      <p:cBhvr>
                                        <p:cTn id="190" dur="500"/>
                                        <p:tgtEl>
                                          <p:spTgt spid="43"/>
                                        </p:tgtEl>
                                      </p:cBhvr>
                                    </p:animEffect>
                                  </p:childTnLst>
                                </p:cTn>
                              </p:par>
                              <p:par>
                                <p:cTn id="191" presetID="10" presetClass="entr" presetSubtype="0" accel="15000" decel="15000" fill="hold" grpId="0" nodeType="withEffect">
                                  <p:stCondLst>
                                    <p:cond delay="9000"/>
                                  </p:stCondLst>
                                  <p:childTnLst>
                                    <p:set>
                                      <p:cBhvr>
                                        <p:cTn id="192" dur="1" fill="hold">
                                          <p:stCondLst>
                                            <p:cond delay="0"/>
                                          </p:stCondLst>
                                        </p:cTn>
                                        <p:tgtEl>
                                          <p:spTgt spid="44"/>
                                        </p:tgtEl>
                                        <p:attrNameLst>
                                          <p:attrName>style.visibility</p:attrName>
                                        </p:attrNameLst>
                                      </p:cBhvr>
                                      <p:to>
                                        <p:strVal val="visible"/>
                                      </p:to>
                                    </p:set>
                                    <p:animEffect transition="in" filter="fade">
                                      <p:cBhvr>
                                        <p:cTn id="193" dur="500"/>
                                        <p:tgtEl>
                                          <p:spTgt spid="44"/>
                                        </p:tgtEl>
                                      </p:cBhvr>
                                    </p:animEffect>
                                  </p:childTnLst>
                                </p:cTn>
                              </p:par>
                              <p:par>
                                <p:cTn id="194" presetID="10" presetClass="exit" presetSubtype="0" accel="15000" decel="15000" fill="hold" grpId="2" nodeType="withEffect">
                                  <p:stCondLst>
                                    <p:cond delay="16520"/>
                                  </p:stCondLst>
                                  <p:childTnLst>
                                    <p:animEffect transition="out" filter="fade">
                                      <p:cBhvr>
                                        <p:cTn id="195" dur="120"/>
                                        <p:tgtEl>
                                          <p:spTgt spid="30"/>
                                        </p:tgtEl>
                                      </p:cBhvr>
                                    </p:animEffect>
                                    <p:set>
                                      <p:cBhvr>
                                        <p:cTn id="196" dur="1" fill="hold">
                                          <p:stCondLst>
                                            <p:cond delay="119"/>
                                          </p:stCondLst>
                                        </p:cTn>
                                        <p:tgtEl>
                                          <p:spTgt spid="30"/>
                                        </p:tgtEl>
                                        <p:attrNameLst>
                                          <p:attrName>style.visibility</p:attrName>
                                        </p:attrNameLst>
                                      </p:cBhvr>
                                      <p:to>
                                        <p:strVal val="hidden"/>
                                      </p:to>
                                    </p:set>
                                  </p:childTnLst>
                                </p:cTn>
                              </p:par>
                              <p:par>
                                <p:cTn id="197" presetID="10" presetClass="exit" presetSubtype="0" accel="15000" decel="15000" fill="hold" grpId="2" nodeType="withEffect">
                                  <p:stCondLst>
                                    <p:cond delay="16520"/>
                                  </p:stCondLst>
                                  <p:childTnLst>
                                    <p:animEffect transition="out" filter="fade">
                                      <p:cBhvr>
                                        <p:cTn id="198" dur="120"/>
                                        <p:tgtEl>
                                          <p:spTgt spid="34"/>
                                        </p:tgtEl>
                                      </p:cBhvr>
                                    </p:animEffect>
                                    <p:set>
                                      <p:cBhvr>
                                        <p:cTn id="199" dur="1" fill="hold">
                                          <p:stCondLst>
                                            <p:cond delay="119"/>
                                          </p:stCondLst>
                                        </p:cTn>
                                        <p:tgtEl>
                                          <p:spTgt spid="34"/>
                                        </p:tgtEl>
                                        <p:attrNameLst>
                                          <p:attrName>style.visibility</p:attrName>
                                        </p:attrNameLst>
                                      </p:cBhvr>
                                      <p:to>
                                        <p:strVal val="hidden"/>
                                      </p:to>
                                    </p:set>
                                  </p:childTnLst>
                                </p:cTn>
                              </p:par>
                              <p:par>
                                <p:cTn id="200" presetID="10" presetClass="exit" presetSubtype="0" accel="15000" decel="15000" fill="hold" grpId="2" nodeType="withEffect">
                                  <p:stCondLst>
                                    <p:cond delay="16520"/>
                                  </p:stCondLst>
                                  <p:childTnLst>
                                    <p:animEffect transition="out" filter="fade">
                                      <p:cBhvr>
                                        <p:cTn id="201" dur="120"/>
                                        <p:tgtEl>
                                          <p:spTgt spid="38"/>
                                        </p:tgtEl>
                                      </p:cBhvr>
                                    </p:animEffect>
                                    <p:set>
                                      <p:cBhvr>
                                        <p:cTn id="202" dur="1" fill="hold">
                                          <p:stCondLst>
                                            <p:cond delay="119"/>
                                          </p:stCondLst>
                                        </p:cTn>
                                        <p:tgtEl>
                                          <p:spTgt spid="38"/>
                                        </p:tgtEl>
                                        <p:attrNameLst>
                                          <p:attrName>style.visibility</p:attrName>
                                        </p:attrNameLst>
                                      </p:cBhvr>
                                      <p:to>
                                        <p:strVal val="hidden"/>
                                      </p:to>
                                    </p:set>
                                  </p:childTnLst>
                                </p:cTn>
                              </p:par>
                              <p:par>
                                <p:cTn id="203" presetID="10" presetClass="exit" presetSubtype="0" accel="15000" decel="15000" fill="hold" grpId="2" nodeType="withEffect">
                                  <p:stCondLst>
                                    <p:cond delay="16520"/>
                                  </p:stCondLst>
                                  <p:childTnLst>
                                    <p:animEffect transition="out" filter="fade">
                                      <p:cBhvr>
                                        <p:cTn id="204" dur="120"/>
                                        <p:tgtEl>
                                          <p:spTgt spid="42"/>
                                        </p:tgtEl>
                                      </p:cBhvr>
                                    </p:animEffect>
                                    <p:set>
                                      <p:cBhvr>
                                        <p:cTn id="205" dur="1" fill="hold">
                                          <p:stCondLst>
                                            <p:cond delay="119"/>
                                          </p:stCondLst>
                                        </p:cTn>
                                        <p:tgtEl>
                                          <p:spTgt spid="42"/>
                                        </p:tgtEl>
                                        <p:attrNameLst>
                                          <p:attrName>style.visibility</p:attrName>
                                        </p:attrNameLst>
                                      </p:cBhvr>
                                      <p:to>
                                        <p:strVal val="hidden"/>
                                      </p:to>
                                    </p:set>
                                  </p:childTnLst>
                                </p:cTn>
                              </p:par>
                              <p:par>
                                <p:cTn id="206" presetID="10" presetClass="exit" presetSubtype="0" accel="15000" decel="15000" fill="hold" grpId="2" nodeType="withEffect">
                                  <p:stCondLst>
                                    <p:cond delay="17070"/>
                                  </p:stCondLst>
                                  <p:childTnLst>
                                    <p:animEffect transition="out" filter="fade">
                                      <p:cBhvr>
                                        <p:cTn id="207" dur="120"/>
                                        <p:tgtEl>
                                          <p:spTgt spid="31"/>
                                        </p:tgtEl>
                                      </p:cBhvr>
                                    </p:animEffect>
                                    <p:set>
                                      <p:cBhvr>
                                        <p:cTn id="208" dur="1" fill="hold">
                                          <p:stCondLst>
                                            <p:cond delay="119"/>
                                          </p:stCondLst>
                                        </p:cTn>
                                        <p:tgtEl>
                                          <p:spTgt spid="31"/>
                                        </p:tgtEl>
                                        <p:attrNameLst>
                                          <p:attrName>style.visibility</p:attrName>
                                        </p:attrNameLst>
                                      </p:cBhvr>
                                      <p:to>
                                        <p:strVal val="hidden"/>
                                      </p:to>
                                    </p:set>
                                  </p:childTnLst>
                                </p:cTn>
                              </p:par>
                              <p:par>
                                <p:cTn id="209" presetID="10" presetClass="exit" presetSubtype="0" accel="15000" decel="15000" fill="hold" grpId="2" nodeType="withEffect">
                                  <p:stCondLst>
                                    <p:cond delay="17070"/>
                                  </p:stCondLst>
                                  <p:childTnLst>
                                    <p:animEffect transition="out" filter="fade">
                                      <p:cBhvr>
                                        <p:cTn id="210" dur="120"/>
                                        <p:tgtEl>
                                          <p:spTgt spid="35"/>
                                        </p:tgtEl>
                                      </p:cBhvr>
                                    </p:animEffect>
                                    <p:set>
                                      <p:cBhvr>
                                        <p:cTn id="211" dur="1" fill="hold">
                                          <p:stCondLst>
                                            <p:cond delay="119"/>
                                          </p:stCondLst>
                                        </p:cTn>
                                        <p:tgtEl>
                                          <p:spTgt spid="35"/>
                                        </p:tgtEl>
                                        <p:attrNameLst>
                                          <p:attrName>style.visibility</p:attrName>
                                        </p:attrNameLst>
                                      </p:cBhvr>
                                      <p:to>
                                        <p:strVal val="hidden"/>
                                      </p:to>
                                    </p:set>
                                  </p:childTnLst>
                                </p:cTn>
                              </p:par>
                              <p:par>
                                <p:cTn id="212" presetID="10" presetClass="exit" presetSubtype="0" accel="15000" decel="15000" fill="hold" grpId="2" nodeType="withEffect">
                                  <p:stCondLst>
                                    <p:cond delay="17070"/>
                                  </p:stCondLst>
                                  <p:childTnLst>
                                    <p:animEffect transition="out" filter="fade">
                                      <p:cBhvr>
                                        <p:cTn id="213" dur="120"/>
                                        <p:tgtEl>
                                          <p:spTgt spid="39"/>
                                        </p:tgtEl>
                                      </p:cBhvr>
                                    </p:animEffect>
                                    <p:set>
                                      <p:cBhvr>
                                        <p:cTn id="214" dur="1" fill="hold">
                                          <p:stCondLst>
                                            <p:cond delay="119"/>
                                          </p:stCondLst>
                                        </p:cTn>
                                        <p:tgtEl>
                                          <p:spTgt spid="39"/>
                                        </p:tgtEl>
                                        <p:attrNameLst>
                                          <p:attrName>style.visibility</p:attrName>
                                        </p:attrNameLst>
                                      </p:cBhvr>
                                      <p:to>
                                        <p:strVal val="hidden"/>
                                      </p:to>
                                    </p:set>
                                  </p:childTnLst>
                                </p:cTn>
                              </p:par>
                              <p:par>
                                <p:cTn id="215" presetID="10" presetClass="exit" presetSubtype="0" accel="15000" decel="15000" fill="hold" grpId="2" nodeType="withEffect">
                                  <p:stCondLst>
                                    <p:cond delay="17620"/>
                                  </p:stCondLst>
                                  <p:childTnLst>
                                    <p:animEffect transition="out" filter="fade">
                                      <p:cBhvr>
                                        <p:cTn id="216" dur="120"/>
                                        <p:tgtEl>
                                          <p:spTgt spid="32"/>
                                        </p:tgtEl>
                                      </p:cBhvr>
                                    </p:animEffect>
                                    <p:set>
                                      <p:cBhvr>
                                        <p:cTn id="217" dur="1" fill="hold">
                                          <p:stCondLst>
                                            <p:cond delay="119"/>
                                          </p:stCondLst>
                                        </p:cTn>
                                        <p:tgtEl>
                                          <p:spTgt spid="32"/>
                                        </p:tgtEl>
                                        <p:attrNameLst>
                                          <p:attrName>style.visibility</p:attrName>
                                        </p:attrNameLst>
                                      </p:cBhvr>
                                      <p:to>
                                        <p:strVal val="hidden"/>
                                      </p:to>
                                    </p:set>
                                  </p:childTnLst>
                                </p:cTn>
                              </p:par>
                              <p:par>
                                <p:cTn id="218" presetID="10" presetClass="exit" presetSubtype="0" accel="15000" decel="15000" fill="hold" grpId="2" nodeType="withEffect">
                                  <p:stCondLst>
                                    <p:cond delay="17620"/>
                                  </p:stCondLst>
                                  <p:childTnLst>
                                    <p:animEffect transition="out" filter="fade">
                                      <p:cBhvr>
                                        <p:cTn id="219" dur="120"/>
                                        <p:tgtEl>
                                          <p:spTgt spid="36"/>
                                        </p:tgtEl>
                                      </p:cBhvr>
                                    </p:animEffect>
                                    <p:set>
                                      <p:cBhvr>
                                        <p:cTn id="220" dur="1" fill="hold">
                                          <p:stCondLst>
                                            <p:cond delay="119"/>
                                          </p:stCondLst>
                                        </p:cTn>
                                        <p:tgtEl>
                                          <p:spTgt spid="36"/>
                                        </p:tgtEl>
                                        <p:attrNameLst>
                                          <p:attrName>style.visibility</p:attrName>
                                        </p:attrNameLst>
                                      </p:cBhvr>
                                      <p:to>
                                        <p:strVal val="hidden"/>
                                      </p:to>
                                    </p:set>
                                  </p:childTnLst>
                                </p:cTn>
                              </p:par>
                              <p:par>
                                <p:cTn id="221" presetID="10" presetClass="exit" presetSubtype="0" accel="15000" decel="15000" fill="hold" grpId="2" nodeType="withEffect">
                                  <p:stCondLst>
                                    <p:cond delay="17620"/>
                                  </p:stCondLst>
                                  <p:childTnLst>
                                    <p:animEffect transition="out" filter="fade">
                                      <p:cBhvr>
                                        <p:cTn id="222" dur="120"/>
                                        <p:tgtEl>
                                          <p:spTgt spid="40"/>
                                        </p:tgtEl>
                                      </p:cBhvr>
                                    </p:animEffect>
                                    <p:set>
                                      <p:cBhvr>
                                        <p:cTn id="223" dur="1" fill="hold">
                                          <p:stCondLst>
                                            <p:cond delay="119"/>
                                          </p:stCondLst>
                                        </p:cTn>
                                        <p:tgtEl>
                                          <p:spTgt spid="40"/>
                                        </p:tgtEl>
                                        <p:attrNameLst>
                                          <p:attrName>style.visibility</p:attrName>
                                        </p:attrNameLst>
                                      </p:cBhvr>
                                      <p:to>
                                        <p:strVal val="hidden"/>
                                      </p:to>
                                    </p:set>
                                  </p:childTnLst>
                                </p:cTn>
                              </p:par>
                              <p:par>
                                <p:cTn id="224" presetID="10" presetClass="exit" presetSubtype="0" accel="15000" decel="15000" fill="hold" grpId="2" nodeType="withEffect">
                                  <p:stCondLst>
                                    <p:cond delay="18170"/>
                                  </p:stCondLst>
                                  <p:childTnLst>
                                    <p:animEffect transition="out" filter="fade">
                                      <p:cBhvr>
                                        <p:cTn id="225" dur="120"/>
                                        <p:tgtEl>
                                          <p:spTgt spid="33"/>
                                        </p:tgtEl>
                                      </p:cBhvr>
                                    </p:animEffect>
                                    <p:set>
                                      <p:cBhvr>
                                        <p:cTn id="226" dur="1" fill="hold">
                                          <p:stCondLst>
                                            <p:cond delay="119"/>
                                          </p:stCondLst>
                                        </p:cTn>
                                        <p:tgtEl>
                                          <p:spTgt spid="33"/>
                                        </p:tgtEl>
                                        <p:attrNameLst>
                                          <p:attrName>style.visibility</p:attrName>
                                        </p:attrNameLst>
                                      </p:cBhvr>
                                      <p:to>
                                        <p:strVal val="hidden"/>
                                      </p:to>
                                    </p:set>
                                  </p:childTnLst>
                                </p:cTn>
                              </p:par>
                              <p:par>
                                <p:cTn id="227" presetID="10" presetClass="exit" presetSubtype="0" accel="15000" decel="15000" fill="hold" grpId="2" nodeType="withEffect">
                                  <p:stCondLst>
                                    <p:cond delay="18170"/>
                                  </p:stCondLst>
                                  <p:childTnLst>
                                    <p:animEffect transition="out" filter="fade">
                                      <p:cBhvr>
                                        <p:cTn id="228" dur="120"/>
                                        <p:tgtEl>
                                          <p:spTgt spid="37"/>
                                        </p:tgtEl>
                                      </p:cBhvr>
                                    </p:animEffect>
                                    <p:set>
                                      <p:cBhvr>
                                        <p:cTn id="229" dur="1" fill="hold">
                                          <p:stCondLst>
                                            <p:cond delay="119"/>
                                          </p:stCondLst>
                                        </p:cTn>
                                        <p:tgtEl>
                                          <p:spTgt spid="37"/>
                                        </p:tgtEl>
                                        <p:attrNameLst>
                                          <p:attrName>style.visibility</p:attrName>
                                        </p:attrNameLst>
                                      </p:cBhvr>
                                      <p:to>
                                        <p:strVal val="hidden"/>
                                      </p:to>
                                    </p:set>
                                  </p:childTnLst>
                                </p:cTn>
                              </p:par>
                              <p:par>
                                <p:cTn id="230" presetID="10" presetClass="exit" presetSubtype="0" accel="15000" decel="15000" fill="hold" grpId="2" nodeType="withEffect">
                                  <p:stCondLst>
                                    <p:cond delay="18170"/>
                                  </p:stCondLst>
                                  <p:childTnLst>
                                    <p:animEffect transition="out" filter="fade">
                                      <p:cBhvr>
                                        <p:cTn id="231" dur="120"/>
                                        <p:tgtEl>
                                          <p:spTgt spid="41"/>
                                        </p:tgtEl>
                                      </p:cBhvr>
                                    </p:animEffect>
                                    <p:set>
                                      <p:cBhvr>
                                        <p:cTn id="232" dur="1" fill="hold">
                                          <p:stCondLst>
                                            <p:cond delay="119"/>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0" grpId="2" animBg="1"/>
      <p:bldP spid="31" grpId="0" animBg="1"/>
      <p:bldP spid="31" grpId="1" animBg="1"/>
      <p:bldP spid="31" grpId="2" animBg="1"/>
      <p:bldP spid="32" grpId="0" animBg="1"/>
      <p:bldP spid="32" grpId="1" animBg="1"/>
      <p:bldP spid="32" grpId="2" animBg="1"/>
      <p:bldP spid="33" grpId="0" animBg="1"/>
      <p:bldP spid="33" grpId="1" animBg="1"/>
      <p:bldP spid="33" grpId="2" animBg="1"/>
      <p:bldP spid="34" grpId="0" animBg="1"/>
      <p:bldP spid="34" grpId="1" animBg="1"/>
      <p:bldP spid="34" grpId="2" animBg="1"/>
      <p:bldP spid="35" grpId="0" animBg="1"/>
      <p:bldP spid="35" grpId="1" animBg="1"/>
      <p:bldP spid="35" grpId="2" animBg="1"/>
      <p:bldP spid="36" grpId="0" animBg="1"/>
      <p:bldP spid="36" grpId="1" animBg="1"/>
      <p:bldP spid="36" grpId="2" animBg="1"/>
      <p:bldP spid="37" grpId="0" animBg="1"/>
      <p:bldP spid="37" grpId="1" animBg="1"/>
      <p:bldP spid="37" grpId="2" animBg="1"/>
      <p:bldP spid="38" grpId="0" animBg="1"/>
      <p:bldP spid="38" grpId="1" animBg="1"/>
      <p:bldP spid="38" grpId="2" animBg="1"/>
      <p:bldP spid="39" grpId="0" animBg="1"/>
      <p:bldP spid="39" grpId="1" animBg="1"/>
      <p:bldP spid="39" grpId="2" animBg="1"/>
      <p:bldP spid="40" grpId="0" animBg="1"/>
      <p:bldP spid="40" grpId="1" animBg="1"/>
      <p:bldP spid="40" grpId="2" animBg="1"/>
      <p:bldP spid="41" grpId="0" animBg="1"/>
      <p:bldP spid="41" grpId="1" animBg="1"/>
      <p:bldP spid="41" grpId="2" animBg="1"/>
      <p:bldP spid="42" grpId="0" animBg="1"/>
      <p:bldP spid="42" grpId="1" animBg="1"/>
      <p:bldP spid="42" grpId="2" animBg="1"/>
      <p:bldP spid="43" grpId="0"/>
      <p:bldP spid="4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ENSEMBLE / IDS                         DATA</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02</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UNSW-NB15 · sơ đồ minh họa pipeline offline theo mã nguồn; không phải traffic triển khai</a:t>
            </a:r>
          </a:p>
        </p:txBody>
      </p:sp>
      <p:sp>
        <p:nvSpPr>
          <p:cNvPr id="5" name="hero-title"/>
          <p:cNvSpPr txBox="1"/>
          <p:nvPr/>
        </p:nvSpPr>
        <p:spPr>
          <a:xfrm>
            <a:off x="502920" y="960120"/>
            <a:ext cx="7315200" cy="1828800"/>
          </a:xfrm>
          <a:prstGeom prst="rect">
            <a:avLst/>
          </a:prstGeom>
          <a:noFill/>
        </p:spPr>
        <p:txBody>
          <a:bodyPr wrap="square" lIns="0" tIns="0" rIns="0" bIns="0">
            <a:spAutoFit/>
          </a:bodyPr>
          <a:lstStyle/>
          <a:p>
            <a:pPr>
              <a:spcAft>
                <a:spcPts val="0"/>
              </a:spcAft>
              <a:defRPr sz="5400" b="1">
                <a:solidFill>
                  <a:srgbClr val="10162F"/>
                </a:solidFill>
                <a:latin typeface="Arial"/>
              </a:defRPr>
            </a:pPr>
            <a:r>
              <a:t>DỮ LIỆU CỐ ĐỊNH.</a:t>
            </a:r>
          </a:p>
          <a:p>
            <a:pPr>
              <a:spcAft>
                <a:spcPts val="0"/>
              </a:spcAft>
              <a:defRPr sz="5400" b="1">
                <a:solidFill>
                  <a:srgbClr val="10162F"/>
                </a:solidFill>
                <a:latin typeface="Arial"/>
              </a:defRPr>
            </a:pPr>
            <a:r>
              <a:t>CÂU HỎI MỞ.</a:t>
            </a:r>
          </a:p>
        </p:txBody>
      </p:sp>
      <p:sp>
        <p:nvSpPr>
          <p:cNvPr id="6" name="shape-5"/>
          <p:cNvSpPr/>
          <p:nvPr/>
        </p:nvSpPr>
        <p:spPr>
          <a:xfrm>
            <a:off x="8823960" y="914400"/>
            <a:ext cx="2834640" cy="5074920"/>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6"/>
          <p:cNvSpPr txBox="1"/>
          <p:nvPr/>
        </p:nvSpPr>
        <p:spPr>
          <a:xfrm>
            <a:off x="502920" y="3429000"/>
            <a:ext cx="8046720" cy="1828800"/>
          </a:xfrm>
          <a:prstGeom prst="rect">
            <a:avLst/>
          </a:prstGeom>
          <a:noFill/>
        </p:spPr>
        <p:txBody>
          <a:bodyPr wrap="square" lIns="0" tIns="0" rIns="0" bIns="0">
            <a:spAutoFit/>
          </a:bodyPr>
          <a:lstStyle/>
          <a:p>
            <a:pPr>
              <a:spcAft>
                <a:spcPts val="0"/>
              </a:spcAft>
              <a:defRPr sz="9300" b="1">
                <a:solidFill>
                  <a:srgbClr val="10162F"/>
                </a:solidFill>
                <a:latin typeface="Arial"/>
              </a:defRPr>
            </a:pPr>
            <a:r>
              <a:t>175.341</a:t>
            </a:r>
          </a:p>
        </p:txBody>
      </p:sp>
      <p:sp>
        <p:nvSpPr>
          <p:cNvPr id="8" name="text-7"/>
          <p:cNvSpPr txBox="1"/>
          <p:nvPr/>
        </p:nvSpPr>
        <p:spPr>
          <a:xfrm>
            <a:off x="594360" y="4800600"/>
            <a:ext cx="7315200" cy="457200"/>
          </a:xfrm>
          <a:prstGeom prst="rect">
            <a:avLst/>
          </a:prstGeom>
          <a:noFill/>
        </p:spPr>
        <p:txBody>
          <a:bodyPr wrap="square" lIns="0" tIns="0" rIns="0" bIns="0">
            <a:spAutoFit/>
          </a:bodyPr>
          <a:lstStyle/>
          <a:p>
            <a:pPr>
              <a:spcAft>
                <a:spcPts val="0"/>
              </a:spcAft>
              <a:defRPr sz="2500" b="0">
                <a:solidFill>
                  <a:srgbClr val="10162F"/>
                </a:solidFill>
                <a:latin typeface="Aptos"/>
              </a:defRPr>
            </a:pPr>
            <a:r>
              <a:t>dòng TRAIN chính thức</a:t>
            </a:r>
          </a:p>
        </p:txBody>
      </p:sp>
      <p:sp>
        <p:nvSpPr>
          <p:cNvPr id="9" name="text-8"/>
          <p:cNvSpPr txBox="1"/>
          <p:nvPr/>
        </p:nvSpPr>
        <p:spPr>
          <a:xfrm>
            <a:off x="9015984" y="2194560"/>
            <a:ext cx="2560320" cy="1828800"/>
          </a:xfrm>
          <a:prstGeom prst="rect">
            <a:avLst/>
          </a:prstGeom>
          <a:noFill/>
        </p:spPr>
        <p:txBody>
          <a:bodyPr wrap="square" lIns="0" tIns="0" rIns="0" bIns="0">
            <a:spAutoFit/>
          </a:bodyPr>
          <a:lstStyle/>
          <a:p>
            <a:pPr>
              <a:spcAft>
                <a:spcPts val="0"/>
              </a:spcAft>
              <a:defRPr sz="4600" b="1">
                <a:solidFill>
                  <a:srgbClr val="F8F5EE"/>
                </a:solidFill>
                <a:latin typeface="Arial"/>
              </a:defRPr>
            </a:pPr>
            <a:r>
              <a:t>82.332</a:t>
            </a:r>
          </a:p>
        </p:txBody>
      </p:sp>
      <p:sp>
        <p:nvSpPr>
          <p:cNvPr id="10" name="text-9"/>
          <p:cNvSpPr txBox="1"/>
          <p:nvPr/>
        </p:nvSpPr>
        <p:spPr>
          <a:xfrm>
            <a:off x="9089136" y="3246120"/>
            <a:ext cx="2286000" cy="914400"/>
          </a:xfrm>
          <a:prstGeom prst="rect">
            <a:avLst/>
          </a:prstGeom>
          <a:noFill/>
        </p:spPr>
        <p:txBody>
          <a:bodyPr wrap="square" lIns="0" tIns="0" rIns="0" bIns="0">
            <a:spAutoFit/>
          </a:bodyPr>
          <a:lstStyle/>
          <a:p>
            <a:pPr>
              <a:spcAft>
                <a:spcPts val="0"/>
              </a:spcAft>
              <a:defRPr sz="2300" b="1">
                <a:solidFill>
                  <a:srgbClr val="F8F5EE"/>
                </a:solidFill>
                <a:latin typeface="Aptos"/>
              </a:defRPr>
            </a:pPr>
            <a:r>
              <a:t>TEST</a:t>
            </a:r>
          </a:p>
          <a:p>
            <a:pPr>
              <a:spcAft>
                <a:spcPts val="0"/>
              </a:spcAft>
              <a:defRPr sz="2300" b="1">
                <a:solidFill>
                  <a:srgbClr val="F8F5EE"/>
                </a:solidFill>
                <a:latin typeface="Aptos"/>
              </a:defRPr>
            </a:pPr>
            <a:r>
              <a:t>CHÍNH THỨC</a:t>
            </a:r>
          </a:p>
        </p:txBody>
      </p:sp>
      <p:sp>
        <p:nvSpPr>
          <p:cNvPr id="11" name="text-10"/>
          <p:cNvSpPr txBox="1"/>
          <p:nvPr/>
        </p:nvSpPr>
        <p:spPr>
          <a:xfrm>
            <a:off x="594360" y="5715000"/>
            <a:ext cx="10972800" cy="594360"/>
          </a:xfrm>
          <a:prstGeom prst="rect">
            <a:avLst/>
          </a:prstGeom>
          <a:noFill/>
        </p:spPr>
        <p:txBody>
          <a:bodyPr wrap="square" lIns="0" tIns="0" rIns="0" bIns="0">
            <a:spAutoFit/>
          </a:bodyPr>
          <a:lstStyle/>
          <a:p>
            <a:pPr>
              <a:spcAft>
                <a:spcPts val="0"/>
              </a:spcAft>
              <a:defRPr sz="2200" b="0">
                <a:solidFill>
                  <a:srgbClr val="10162F"/>
                </a:solidFill>
                <a:latin typeface="Aptos"/>
              </a:defRPr>
            </a:pPr>
            <a:r>
              <a:t>RF là mốc tham chiếu. Voting / Stacking có cải thiện?</a:t>
            </a:r>
          </a:p>
        </p:txBody>
      </p:sp>
    </p:spTree>
  </p:cSld>
  <p:clrMapOvr>
    <a:masterClrMapping/>
  </p:clrMapOvr>
  <mc:AlternateContent xmlns:mc="http://schemas.openxmlformats.org/markup-compatibility/2006" xmlns:p14="http://schemas.microsoft.com/office/powerpoint/2010/main">
    <mc:Choice Requires="p14">
      <p:transition spd="slow" p14:dur="2000" advTm="15000"/>
    </mc:Choice>
    <mc:Fallback xmlns="">
      <p:transition spd="slow" advTm="1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accel="15000" decel="1500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100"/>
                                        <p:tgtEl>
                                          <p:spTgt spid="7"/>
                                        </p:tgtEl>
                                      </p:cBhvr>
                                    </p:animEffect>
                                  </p:childTnLst>
                                </p:cTn>
                              </p:par>
                              <p:par>
                                <p:cTn id="8" presetID="2" presetClass="entr" presetSubtype="8" accel="15000" decel="15000" fill="hold" grpId="0" nodeType="withEffect">
                                  <p:stCondLst>
                                    <p:cond delay="4000"/>
                                  </p:stCondLst>
                                  <p:childTnLst>
                                    <p:set>
                                      <p:cBhvr>
                                        <p:cTn id="9" dur="1" fill="hold">
                                          <p:stCondLst>
                                            <p:cond delay="0"/>
                                          </p:stCondLst>
                                        </p:cTn>
                                        <p:tgtEl>
                                          <p:spTgt spid="9"/>
                                        </p:tgtEl>
                                        <p:attrNameLst>
                                          <p:attrName>style.visibility</p:attrName>
                                        </p:attrNameLst>
                                      </p:cBhvr>
                                      <p:to>
                                        <p:strVal val="visible"/>
                                      </p:to>
                                    </p:set>
                                    <p:anim calcmode="lin" valueType="num">
                                      <p:cBhvr additive="base">
                                        <p:cTn id="10" dur="900" fill="hold"/>
                                        <p:tgtEl>
                                          <p:spTgt spid="9"/>
                                        </p:tgtEl>
                                        <p:attrNameLst>
                                          <p:attrName>ppt_x</p:attrName>
                                        </p:attrNameLst>
                                      </p:cBhvr>
                                      <p:tavLst>
                                        <p:tav tm="0">
                                          <p:val>
                                            <p:strVal val="0-#ppt_w/2"/>
                                          </p:val>
                                        </p:tav>
                                        <p:tav tm="100000">
                                          <p:val>
                                            <p:strVal val="#ppt_x"/>
                                          </p:val>
                                        </p:tav>
                                      </p:tavLst>
                                    </p:anim>
                                    <p:anim calcmode="lin" valueType="num">
                                      <p:cBhvr additive="base">
                                        <p:cTn id="11" dur="9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ENSEMBLE / IDS                         FEATURES</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03</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UNSW-NB15 · sơ đồ minh họa pipeline offline theo mã nguồn; không phải traffic triển khai</a:t>
            </a:r>
          </a:p>
        </p:txBody>
      </p:sp>
      <p:sp>
        <p:nvSpPr>
          <p:cNvPr id="5" name="hero-title"/>
          <p:cNvSpPr txBox="1"/>
          <p:nvPr/>
        </p:nvSpPr>
        <p:spPr>
          <a:xfrm>
            <a:off x="502920" y="914400"/>
            <a:ext cx="4937760" cy="2768600"/>
          </a:xfrm>
          <a:prstGeom prst="rect">
            <a:avLst/>
          </a:prstGeom>
          <a:noFill/>
        </p:spPr>
        <p:txBody>
          <a:bodyPr wrap="square" lIns="0" tIns="0" rIns="0" bIns="0">
            <a:spAutoFit/>
          </a:bodyPr>
          <a:lstStyle/>
          <a:p>
            <a:pPr>
              <a:spcAft>
                <a:spcPts val="0"/>
              </a:spcAft>
              <a:defRPr sz="6000" b="1">
                <a:solidFill>
                  <a:srgbClr val="10162F"/>
                </a:solidFill>
                <a:latin typeface="Arial"/>
              </a:defRPr>
            </a:pPr>
            <a:r>
              <a:t>GIỮ GÌ</a:t>
            </a:r>
          </a:p>
          <a:p>
            <a:pPr>
              <a:spcAft>
                <a:spcPts val="0"/>
              </a:spcAft>
              <a:defRPr sz="6000" b="1">
                <a:solidFill>
                  <a:srgbClr val="10162F"/>
                </a:solidFill>
                <a:latin typeface="Arial"/>
              </a:defRPr>
            </a:pPr>
            <a:r>
              <a:t>CHO MÔ HÌNH?</a:t>
            </a:r>
          </a:p>
        </p:txBody>
      </p:sp>
      <p:sp>
        <p:nvSpPr>
          <p:cNvPr id="6" name="feature-label-0"/>
          <p:cNvSpPr txBox="1"/>
          <p:nvPr/>
        </p:nvSpPr>
        <p:spPr>
          <a:xfrm>
            <a:off x="6720840" y="1051560"/>
            <a:ext cx="4297680" cy="457200"/>
          </a:xfrm>
          <a:prstGeom prst="rect">
            <a:avLst/>
          </a:prstGeom>
          <a:noFill/>
        </p:spPr>
        <p:txBody>
          <a:bodyPr wrap="square" lIns="0" tIns="0" rIns="0" bIns="0">
            <a:spAutoFit/>
          </a:bodyPr>
          <a:lstStyle/>
          <a:p>
            <a:pPr>
              <a:spcAft>
                <a:spcPts val="0"/>
              </a:spcAft>
              <a:defRPr sz="2600" b="1">
                <a:solidFill>
                  <a:srgbClr val="FF7058"/>
                </a:solidFill>
                <a:latin typeface="Consolas"/>
              </a:defRPr>
            </a:pPr>
            <a:r>
              <a:t>id</a:t>
            </a:r>
          </a:p>
        </p:txBody>
      </p:sp>
      <p:cxnSp>
        <p:nvCxnSpPr>
          <p:cNvPr id="7" name="line-6"/>
          <p:cNvCxnSpPr/>
          <p:nvPr/>
        </p:nvCxnSpPr>
        <p:spPr>
          <a:xfrm>
            <a:off x="6629400" y="1252728"/>
            <a:ext cx="3383280" cy="0"/>
          </a:xfrm>
          <a:prstGeom prst="line">
            <a:avLst/>
          </a:prstGeom>
          <a:ln w="38100">
            <a:solidFill>
              <a:srgbClr val="FF7058"/>
            </a:solidFill>
          </a:ln>
        </p:spPr>
        <p:style>
          <a:lnRef idx="2">
            <a:schemeClr val="accent1"/>
          </a:lnRef>
          <a:fillRef idx="0">
            <a:schemeClr val="accent1"/>
          </a:fillRef>
          <a:effectRef idx="1">
            <a:schemeClr val="accent1"/>
          </a:effectRef>
          <a:fontRef idx="minor">
            <a:schemeClr val="tx1"/>
          </a:fontRef>
        </p:style>
      </p:cxnSp>
      <p:sp>
        <p:nvSpPr>
          <p:cNvPr id="8" name="feature-label-1"/>
          <p:cNvSpPr txBox="1"/>
          <p:nvPr/>
        </p:nvSpPr>
        <p:spPr>
          <a:xfrm>
            <a:off x="6720840" y="1636776"/>
            <a:ext cx="4297680" cy="457200"/>
          </a:xfrm>
          <a:prstGeom prst="rect">
            <a:avLst/>
          </a:prstGeom>
          <a:noFill/>
        </p:spPr>
        <p:txBody>
          <a:bodyPr wrap="square" lIns="0" tIns="0" rIns="0" bIns="0">
            <a:spAutoFit/>
          </a:bodyPr>
          <a:lstStyle/>
          <a:p>
            <a:pPr>
              <a:spcAft>
                <a:spcPts val="0"/>
              </a:spcAft>
              <a:defRPr sz="2600" b="1">
                <a:solidFill>
                  <a:srgbClr val="FF7058"/>
                </a:solidFill>
                <a:latin typeface="Consolas"/>
              </a:defRPr>
            </a:pPr>
            <a:r>
              <a:t>label</a:t>
            </a:r>
          </a:p>
        </p:txBody>
      </p:sp>
      <p:cxnSp>
        <p:nvCxnSpPr>
          <p:cNvPr id="9" name="line-8"/>
          <p:cNvCxnSpPr/>
          <p:nvPr/>
        </p:nvCxnSpPr>
        <p:spPr>
          <a:xfrm>
            <a:off x="6629400" y="1837944"/>
            <a:ext cx="3383280" cy="0"/>
          </a:xfrm>
          <a:prstGeom prst="line">
            <a:avLst/>
          </a:prstGeom>
          <a:ln w="38100">
            <a:solidFill>
              <a:srgbClr val="FF7058"/>
            </a:solidFill>
          </a:ln>
        </p:spPr>
        <p:style>
          <a:lnRef idx="2">
            <a:schemeClr val="accent1"/>
          </a:lnRef>
          <a:fillRef idx="0">
            <a:schemeClr val="accent1"/>
          </a:fillRef>
          <a:effectRef idx="1">
            <a:schemeClr val="accent1"/>
          </a:effectRef>
          <a:fontRef idx="minor">
            <a:schemeClr val="tx1"/>
          </a:fontRef>
        </p:style>
      </p:cxnSp>
      <p:sp>
        <p:nvSpPr>
          <p:cNvPr id="10" name="feature-label-2"/>
          <p:cNvSpPr txBox="1"/>
          <p:nvPr/>
        </p:nvSpPr>
        <p:spPr>
          <a:xfrm>
            <a:off x="6720840" y="2221991"/>
            <a:ext cx="4297680" cy="457200"/>
          </a:xfrm>
          <a:prstGeom prst="rect">
            <a:avLst/>
          </a:prstGeom>
          <a:noFill/>
        </p:spPr>
        <p:txBody>
          <a:bodyPr wrap="square" lIns="0" tIns="0" rIns="0" bIns="0">
            <a:spAutoFit/>
          </a:bodyPr>
          <a:lstStyle/>
          <a:p>
            <a:pPr>
              <a:spcAft>
                <a:spcPts val="0"/>
              </a:spcAft>
              <a:defRPr sz="2600" b="1">
                <a:solidFill>
                  <a:srgbClr val="FF7058"/>
                </a:solidFill>
                <a:latin typeface="Consolas"/>
              </a:defRPr>
            </a:pPr>
            <a:r>
              <a:t>attack_cat</a:t>
            </a:r>
          </a:p>
        </p:txBody>
      </p:sp>
      <p:cxnSp>
        <p:nvCxnSpPr>
          <p:cNvPr id="11" name="line-10"/>
          <p:cNvCxnSpPr/>
          <p:nvPr/>
        </p:nvCxnSpPr>
        <p:spPr>
          <a:xfrm>
            <a:off x="6629400" y="2423160"/>
            <a:ext cx="3383280" cy="0"/>
          </a:xfrm>
          <a:prstGeom prst="line">
            <a:avLst/>
          </a:prstGeom>
          <a:ln w="38100">
            <a:solidFill>
              <a:srgbClr val="FF7058"/>
            </a:solidFill>
          </a:ln>
        </p:spPr>
        <p:style>
          <a:lnRef idx="2">
            <a:schemeClr val="accent1"/>
          </a:lnRef>
          <a:fillRef idx="0">
            <a:schemeClr val="accent1"/>
          </a:fillRef>
          <a:effectRef idx="1">
            <a:schemeClr val="accent1"/>
          </a:effectRef>
          <a:fontRef idx="minor">
            <a:schemeClr val="tx1"/>
          </a:fontRef>
        </p:style>
      </p:cxnSp>
      <p:sp>
        <p:nvSpPr>
          <p:cNvPr id="12" name="feature-label-3"/>
          <p:cNvSpPr txBox="1"/>
          <p:nvPr/>
        </p:nvSpPr>
        <p:spPr>
          <a:xfrm>
            <a:off x="6720840" y="2807208"/>
            <a:ext cx="4297680" cy="457200"/>
          </a:xfrm>
          <a:prstGeom prst="rect">
            <a:avLst/>
          </a:prstGeom>
          <a:noFill/>
        </p:spPr>
        <p:txBody>
          <a:bodyPr wrap="square" lIns="0" tIns="0" rIns="0" bIns="0">
            <a:spAutoFit/>
          </a:bodyPr>
          <a:lstStyle/>
          <a:p>
            <a:pPr>
              <a:spcAft>
                <a:spcPts val="0"/>
              </a:spcAft>
              <a:defRPr sz="2600" b="1">
                <a:solidFill>
                  <a:srgbClr val="10162F"/>
                </a:solidFill>
                <a:latin typeface="Consolas"/>
              </a:defRPr>
            </a:pPr>
            <a:r>
              <a:t>proto</a:t>
            </a:r>
          </a:p>
        </p:txBody>
      </p:sp>
      <p:sp>
        <p:nvSpPr>
          <p:cNvPr id="13" name="feature-label-4"/>
          <p:cNvSpPr txBox="1"/>
          <p:nvPr/>
        </p:nvSpPr>
        <p:spPr>
          <a:xfrm>
            <a:off x="6720840" y="3392424"/>
            <a:ext cx="4297680" cy="457200"/>
          </a:xfrm>
          <a:prstGeom prst="rect">
            <a:avLst/>
          </a:prstGeom>
          <a:noFill/>
        </p:spPr>
        <p:txBody>
          <a:bodyPr wrap="square" lIns="0" tIns="0" rIns="0" bIns="0">
            <a:spAutoFit/>
          </a:bodyPr>
          <a:lstStyle/>
          <a:p>
            <a:pPr>
              <a:spcAft>
                <a:spcPts val="0"/>
              </a:spcAft>
              <a:defRPr sz="2600" b="1">
                <a:solidFill>
                  <a:srgbClr val="10162F"/>
                </a:solidFill>
                <a:latin typeface="Consolas"/>
              </a:defRPr>
            </a:pPr>
            <a:r>
              <a:t>service</a:t>
            </a:r>
          </a:p>
        </p:txBody>
      </p:sp>
      <p:sp>
        <p:nvSpPr>
          <p:cNvPr id="14" name="feature-label-5"/>
          <p:cNvSpPr txBox="1"/>
          <p:nvPr/>
        </p:nvSpPr>
        <p:spPr>
          <a:xfrm>
            <a:off x="6720840" y="3977639"/>
            <a:ext cx="4297680" cy="457200"/>
          </a:xfrm>
          <a:prstGeom prst="rect">
            <a:avLst/>
          </a:prstGeom>
          <a:noFill/>
        </p:spPr>
        <p:txBody>
          <a:bodyPr wrap="square" lIns="0" tIns="0" rIns="0" bIns="0">
            <a:spAutoFit/>
          </a:bodyPr>
          <a:lstStyle/>
          <a:p>
            <a:pPr>
              <a:spcAft>
                <a:spcPts val="0"/>
              </a:spcAft>
              <a:defRPr sz="2600" b="1">
                <a:solidFill>
                  <a:srgbClr val="10162F"/>
                </a:solidFill>
                <a:latin typeface="Consolas"/>
              </a:defRPr>
            </a:pPr>
            <a:r>
              <a:t>state</a:t>
            </a:r>
          </a:p>
        </p:txBody>
      </p:sp>
      <p:sp>
        <p:nvSpPr>
          <p:cNvPr id="15" name="text-14"/>
          <p:cNvSpPr txBox="1"/>
          <p:nvPr/>
        </p:nvSpPr>
        <p:spPr>
          <a:xfrm>
            <a:off x="594360" y="3246120"/>
            <a:ext cx="4114800" cy="1973580"/>
          </a:xfrm>
          <a:prstGeom prst="rect">
            <a:avLst/>
          </a:prstGeom>
          <a:noFill/>
        </p:spPr>
        <p:txBody>
          <a:bodyPr wrap="square" lIns="0" tIns="0" rIns="0" bIns="0">
            <a:spAutoFit/>
          </a:bodyPr>
          <a:lstStyle/>
          <a:p>
            <a:pPr>
              <a:spcAft>
                <a:spcPts val="0"/>
              </a:spcAft>
              <a:defRPr sz="13000" b="1">
                <a:solidFill>
                  <a:srgbClr val="7958F5"/>
                </a:solidFill>
                <a:latin typeface="Arial"/>
              </a:defRPr>
            </a:pPr>
            <a:r>
              <a:t>42</a:t>
            </a:r>
          </a:p>
        </p:txBody>
      </p:sp>
      <p:sp>
        <p:nvSpPr>
          <p:cNvPr id="16" name="text-15"/>
          <p:cNvSpPr txBox="1"/>
          <p:nvPr/>
        </p:nvSpPr>
        <p:spPr>
          <a:xfrm>
            <a:off x="731520" y="4983480"/>
            <a:ext cx="4663440" cy="548640"/>
          </a:xfrm>
          <a:prstGeom prst="rect">
            <a:avLst/>
          </a:prstGeom>
          <a:noFill/>
        </p:spPr>
        <p:txBody>
          <a:bodyPr wrap="square" lIns="0" tIns="0" rIns="0" bIns="0">
            <a:spAutoFit/>
          </a:bodyPr>
          <a:lstStyle/>
          <a:p>
            <a:pPr>
              <a:spcAft>
                <a:spcPts val="0"/>
              </a:spcAft>
              <a:defRPr sz="2900" b="0">
                <a:solidFill>
                  <a:srgbClr val="10162F"/>
                </a:solidFill>
                <a:latin typeface="Aptos"/>
              </a:defRPr>
            </a:pPr>
            <a:r>
              <a:t>predictor gốc</a:t>
            </a:r>
          </a:p>
        </p:txBody>
      </p:sp>
      <p:sp>
        <p:nvSpPr>
          <p:cNvPr id="17" name="vector-cell-0"/>
          <p:cNvSpPr/>
          <p:nvPr/>
        </p:nvSpPr>
        <p:spPr>
          <a:xfrm>
            <a:off x="6309360" y="5074920"/>
            <a:ext cx="219456" cy="548640"/>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vector-cell-1"/>
          <p:cNvSpPr/>
          <p:nvPr/>
        </p:nvSpPr>
        <p:spPr>
          <a:xfrm>
            <a:off x="6629400" y="5074920"/>
            <a:ext cx="219456" cy="548640"/>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vector-cell-2"/>
          <p:cNvSpPr/>
          <p:nvPr/>
        </p:nvSpPr>
        <p:spPr>
          <a:xfrm>
            <a:off x="6949440" y="5074920"/>
            <a:ext cx="219456" cy="548640"/>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vector-cell-3"/>
          <p:cNvSpPr/>
          <p:nvPr/>
        </p:nvSpPr>
        <p:spPr>
          <a:xfrm>
            <a:off x="7269480" y="5074920"/>
            <a:ext cx="219456" cy="548640"/>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vector-cell-4"/>
          <p:cNvSpPr/>
          <p:nvPr/>
        </p:nvSpPr>
        <p:spPr>
          <a:xfrm>
            <a:off x="7589520" y="5074920"/>
            <a:ext cx="219456" cy="548640"/>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vector-cell-5"/>
          <p:cNvSpPr/>
          <p:nvPr/>
        </p:nvSpPr>
        <p:spPr>
          <a:xfrm>
            <a:off x="7909560" y="5074920"/>
            <a:ext cx="219456" cy="548640"/>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vector-cell-6"/>
          <p:cNvSpPr/>
          <p:nvPr/>
        </p:nvSpPr>
        <p:spPr>
          <a:xfrm>
            <a:off x="8229600" y="5074920"/>
            <a:ext cx="219456" cy="548640"/>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vector-cell-7"/>
          <p:cNvSpPr/>
          <p:nvPr/>
        </p:nvSpPr>
        <p:spPr>
          <a:xfrm>
            <a:off x="8549640" y="5074920"/>
            <a:ext cx="219456" cy="548640"/>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vector-cell-8"/>
          <p:cNvSpPr/>
          <p:nvPr/>
        </p:nvSpPr>
        <p:spPr>
          <a:xfrm>
            <a:off x="8869680" y="5074920"/>
            <a:ext cx="219456" cy="548640"/>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vector-cell-9"/>
          <p:cNvSpPr/>
          <p:nvPr/>
        </p:nvSpPr>
        <p:spPr>
          <a:xfrm>
            <a:off x="9189720" y="5074920"/>
            <a:ext cx="219456" cy="548640"/>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vector-cell-10"/>
          <p:cNvSpPr/>
          <p:nvPr/>
        </p:nvSpPr>
        <p:spPr>
          <a:xfrm>
            <a:off x="9509760" y="5074920"/>
            <a:ext cx="219456" cy="548640"/>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vector-cell-11"/>
          <p:cNvSpPr/>
          <p:nvPr/>
        </p:nvSpPr>
        <p:spPr>
          <a:xfrm>
            <a:off x="9829800" y="5074920"/>
            <a:ext cx="219456" cy="548640"/>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vector-cell-12"/>
          <p:cNvSpPr/>
          <p:nvPr/>
        </p:nvSpPr>
        <p:spPr>
          <a:xfrm>
            <a:off x="10149840" y="5074920"/>
            <a:ext cx="219456" cy="548640"/>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vector-cell-13"/>
          <p:cNvSpPr/>
          <p:nvPr/>
        </p:nvSpPr>
        <p:spPr>
          <a:xfrm>
            <a:off x="10469880" y="5074920"/>
            <a:ext cx="219456" cy="548640"/>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30"/>
          <p:cNvSpPr txBox="1"/>
          <p:nvPr/>
        </p:nvSpPr>
        <p:spPr>
          <a:xfrm>
            <a:off x="594360" y="5897880"/>
            <a:ext cx="10972800" cy="594360"/>
          </a:xfrm>
          <a:prstGeom prst="rect">
            <a:avLst/>
          </a:prstGeom>
          <a:noFill/>
        </p:spPr>
        <p:txBody>
          <a:bodyPr wrap="square" lIns="0" tIns="0" rIns="0" bIns="0">
            <a:spAutoFit/>
          </a:bodyPr>
          <a:lstStyle/>
          <a:p>
            <a:pPr>
              <a:spcAft>
                <a:spcPts val="0"/>
              </a:spcAft>
              <a:defRPr sz="2200" b="0">
                <a:solidFill>
                  <a:srgbClr val="10162F"/>
                </a:solidFill>
                <a:latin typeface="Aptos"/>
              </a:defRPr>
            </a:pPr>
            <a:r>
              <a:t>One-hot biến phân loại · Nhánh LR có chuẩn hóa</a:t>
            </a:r>
          </a:p>
        </p:txBody>
      </p:sp>
      <p:sp>
        <p:nvSpPr>
          <p:cNvPr id="32" name="shape-31"/>
          <p:cNvSpPr/>
          <p:nvPr/>
        </p:nvSpPr>
        <p:spPr>
          <a:xfrm>
            <a:off x="5893308" y="5271516"/>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shape-32"/>
          <p:cNvSpPr/>
          <p:nvPr/>
        </p:nvSpPr>
        <p:spPr>
          <a:xfrm>
            <a:off x="5893308" y="5271516"/>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hape-33"/>
          <p:cNvSpPr/>
          <p:nvPr/>
        </p:nvSpPr>
        <p:spPr>
          <a:xfrm>
            <a:off x="5893308" y="5271516"/>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15000" fill="hold" grpId="0" nodeType="withEffect">
                                  <p:stCondLst>
                                    <p:cond delay="6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accel="15000" decel="15000" fill="hold" grpId="0" nodeType="withEffect">
                                  <p:stCondLst>
                                    <p:cond delay="98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accel="15000" decel="15000" fill="hold" grpId="0" nodeType="withEffect">
                                  <p:stCondLst>
                                    <p:cond delay="136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50"/>
                                        <p:tgtEl>
                                          <p:spTgt spid="10"/>
                                        </p:tgtEl>
                                      </p:cBhvr>
                                    </p:animEffect>
                                  </p:childTnLst>
                                </p:cTn>
                              </p:par>
                              <p:par>
                                <p:cTn id="14" presetID="10" presetClass="entr" presetSubtype="0" accel="15000" decel="15000" fill="hold" grpId="0" nodeType="withEffect">
                                  <p:stCondLst>
                                    <p:cond delay="174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350"/>
                                        <p:tgtEl>
                                          <p:spTgt spid="12"/>
                                        </p:tgtEl>
                                      </p:cBhvr>
                                    </p:animEffect>
                                  </p:childTnLst>
                                </p:cTn>
                              </p:par>
                              <p:par>
                                <p:cTn id="17" presetID="10" presetClass="entr" presetSubtype="0" accel="15000" decel="15000" fill="hold" grpId="0" nodeType="withEffect">
                                  <p:stCondLst>
                                    <p:cond delay="212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350"/>
                                        <p:tgtEl>
                                          <p:spTgt spid="13"/>
                                        </p:tgtEl>
                                      </p:cBhvr>
                                    </p:animEffect>
                                  </p:childTnLst>
                                </p:cTn>
                              </p:par>
                              <p:par>
                                <p:cTn id="20" presetID="10" presetClass="entr" presetSubtype="0" accel="15000" decel="15000" fill="hold" grpId="0" nodeType="withEffect">
                                  <p:stCondLst>
                                    <p:cond delay="25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350"/>
                                        <p:tgtEl>
                                          <p:spTgt spid="14"/>
                                        </p:tgtEl>
                                      </p:cBhvr>
                                    </p:animEffect>
                                  </p:childTnLst>
                                </p:cTn>
                              </p:par>
                              <p:par>
                                <p:cTn id="23" presetID="22" presetClass="entr" presetSubtype="8" accel="15000" decel="15000" fill="hold" nodeType="withEffect">
                                  <p:stCondLst>
                                    <p:cond delay="370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par>
                                <p:cTn id="26" presetID="22" presetClass="entr" presetSubtype="8" accel="15000" decel="15000" fill="hold" nodeType="withEffect">
                                  <p:stCondLst>
                                    <p:cond delay="450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par>
                                <p:cTn id="29" presetID="22" presetClass="entr" presetSubtype="8" accel="15000" decel="15000" fill="hold" nodeType="withEffect">
                                  <p:stCondLst>
                                    <p:cond delay="530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0" presetClass="entr" presetSubtype="0" accel="15000" decel="15000" fill="hold" grpId="1" nodeType="withEffect">
                                  <p:stCondLst>
                                    <p:cond delay="7000"/>
                                  </p:stCondLst>
                                  <p:childTnLst>
                                    <p:set>
                                      <p:cBhvr>
                                        <p:cTn id="33" dur="1" fill="hold">
                                          <p:stCondLst>
                                            <p:cond delay="0"/>
                                          </p:stCondLst>
                                        </p:cTn>
                                        <p:tgtEl>
                                          <p:spTgt spid="6"/>
                                        </p:tgtEl>
                                        <p:attrNameLst>
                                          <p:attrName>style.visibility</p:attrName>
                                        </p:attrNameLst>
                                      </p:cBhvr>
                                      <p:to>
                                        <p:strVal val="visible"/>
                                      </p:to>
                                    </p:set>
                                    <p:animMotion origin="layout" path="M 0 0 L 0.07500000 0.00000000 E" pathEditMode="relative">
                                      <p:cBhvr from="" to="">
                                        <p:cTn id="34" dur="700" fill="hold">
                                          <p:stCondLst>
                                            <p:cond delay="0"/>
                                          </p:stCondLst>
                                        </p:cTn>
                                        <p:tgtEl>
                                          <p:spTgt spid="6"/>
                                        </p:tgtEl>
                                        <p:attrNameLst>
                                          <p:attrName>ppt_x</p:attrName>
                                          <p:attrName>ppt_y</p:attrName>
                                        </p:attrNameLst>
                                      </p:cBhvr>
                                    </p:animMotion>
                                  </p:childTnLst>
                                </p:cTn>
                              </p:par>
                              <p:par>
                                <p:cTn id="35" presetID="2" presetClass="entr" presetSubtype="8" accel="15000" decel="15000" fill="hold" grpId="0" nodeType="withEffect">
                                  <p:stCondLst>
                                    <p:cond delay="730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900" fill="hold"/>
                                        <p:tgtEl>
                                          <p:spTgt spid="15"/>
                                        </p:tgtEl>
                                        <p:attrNameLst>
                                          <p:attrName>ppt_x</p:attrName>
                                        </p:attrNameLst>
                                      </p:cBhvr>
                                      <p:tavLst>
                                        <p:tav tm="0">
                                          <p:val>
                                            <p:strVal val="0-#ppt_w/2"/>
                                          </p:val>
                                        </p:tav>
                                        <p:tav tm="100000">
                                          <p:val>
                                            <p:strVal val="#ppt_x"/>
                                          </p:val>
                                        </p:tav>
                                      </p:tavLst>
                                    </p:anim>
                                    <p:anim calcmode="lin" valueType="num">
                                      <p:cBhvr additive="base">
                                        <p:cTn id="38" dur="900" fill="hold"/>
                                        <p:tgtEl>
                                          <p:spTgt spid="15"/>
                                        </p:tgtEl>
                                        <p:attrNameLst>
                                          <p:attrName>ppt_y</p:attrName>
                                        </p:attrNameLst>
                                      </p:cBhvr>
                                      <p:tavLst>
                                        <p:tav tm="0">
                                          <p:val>
                                            <p:strVal val="#ppt_y"/>
                                          </p:val>
                                        </p:tav>
                                        <p:tav tm="100000">
                                          <p:val>
                                            <p:strVal val="#ppt_y"/>
                                          </p:val>
                                        </p:tav>
                                      </p:tavLst>
                                    </p:anim>
                                  </p:childTnLst>
                                </p:cTn>
                              </p:par>
                              <p:par>
                                <p:cTn id="39" presetID="0" presetClass="entr" presetSubtype="0" accel="15000" decel="15000" fill="hold" grpId="1" nodeType="withEffect">
                                  <p:stCondLst>
                                    <p:cond delay="7450"/>
                                  </p:stCondLst>
                                  <p:childTnLst>
                                    <p:set>
                                      <p:cBhvr>
                                        <p:cTn id="40" dur="1" fill="hold">
                                          <p:stCondLst>
                                            <p:cond delay="0"/>
                                          </p:stCondLst>
                                        </p:cTn>
                                        <p:tgtEl>
                                          <p:spTgt spid="8"/>
                                        </p:tgtEl>
                                        <p:attrNameLst>
                                          <p:attrName>style.visibility</p:attrName>
                                        </p:attrNameLst>
                                      </p:cBhvr>
                                      <p:to>
                                        <p:strVal val="visible"/>
                                      </p:to>
                                    </p:set>
                                    <p:animMotion origin="layout" path="M 0 0 L 0.07500000 0.00000000 E" pathEditMode="relative">
                                      <p:cBhvr from="" to="">
                                        <p:cTn id="41" dur="700" fill="hold">
                                          <p:stCondLst>
                                            <p:cond delay="0"/>
                                          </p:stCondLst>
                                        </p:cTn>
                                        <p:tgtEl>
                                          <p:spTgt spid="8"/>
                                        </p:tgtEl>
                                        <p:attrNameLst>
                                          <p:attrName>ppt_x</p:attrName>
                                          <p:attrName>ppt_y</p:attrName>
                                        </p:attrNameLst>
                                      </p:cBhvr>
                                    </p:animMotion>
                                  </p:childTnLst>
                                </p:cTn>
                              </p:par>
                              <p:par>
                                <p:cTn id="42" presetID="0" presetClass="entr" presetSubtype="0" accel="15000" decel="15000" fill="hold" grpId="1" nodeType="withEffect">
                                  <p:stCondLst>
                                    <p:cond delay="7900"/>
                                  </p:stCondLst>
                                  <p:childTnLst>
                                    <p:set>
                                      <p:cBhvr>
                                        <p:cTn id="43" dur="1" fill="hold">
                                          <p:stCondLst>
                                            <p:cond delay="0"/>
                                          </p:stCondLst>
                                        </p:cTn>
                                        <p:tgtEl>
                                          <p:spTgt spid="10"/>
                                        </p:tgtEl>
                                        <p:attrNameLst>
                                          <p:attrName>style.visibility</p:attrName>
                                        </p:attrNameLst>
                                      </p:cBhvr>
                                      <p:to>
                                        <p:strVal val="visible"/>
                                      </p:to>
                                    </p:set>
                                    <p:animMotion origin="layout" path="M 0 0 L 0.07500000 0.00000000 E" pathEditMode="relative">
                                      <p:cBhvr from="" to="">
                                        <p:cTn id="44" dur="700" fill="hold">
                                          <p:stCondLst>
                                            <p:cond delay="0"/>
                                          </p:stCondLst>
                                        </p:cTn>
                                        <p:tgtEl>
                                          <p:spTgt spid="10"/>
                                        </p:tgtEl>
                                        <p:attrNameLst>
                                          <p:attrName>ppt_x</p:attrName>
                                          <p:attrName>ppt_y</p:attrName>
                                        </p:attrNameLst>
                                      </p:cBhvr>
                                    </p:animMotion>
                                  </p:childTnLst>
                                </p:cTn>
                              </p:par>
                              <p:par>
                                <p:cTn id="45" presetID="0" presetClass="entr" presetSubtype="0" accel="15000" decel="15000" fill="hold" grpId="1" nodeType="withEffect">
                                  <p:stCondLst>
                                    <p:cond delay="8000"/>
                                  </p:stCondLst>
                                  <p:childTnLst>
                                    <p:set>
                                      <p:cBhvr>
                                        <p:cTn id="46" dur="1" fill="hold">
                                          <p:stCondLst>
                                            <p:cond delay="0"/>
                                          </p:stCondLst>
                                        </p:cTn>
                                        <p:tgtEl>
                                          <p:spTgt spid="12"/>
                                        </p:tgtEl>
                                        <p:attrNameLst>
                                          <p:attrName>style.visibility</p:attrName>
                                        </p:attrNameLst>
                                      </p:cBhvr>
                                      <p:to>
                                        <p:strVal val="visible"/>
                                      </p:to>
                                    </p:set>
                                    <p:animMotion origin="layout" path="M 0 0 L -0.05250000 0.00000000 E" pathEditMode="relative">
                                      <p:cBhvr from="" to="">
                                        <p:cTn id="47" dur="800" fill="hold">
                                          <p:stCondLst>
                                            <p:cond delay="0"/>
                                          </p:stCondLst>
                                        </p:cTn>
                                        <p:tgtEl>
                                          <p:spTgt spid="12"/>
                                        </p:tgtEl>
                                        <p:attrNameLst>
                                          <p:attrName>ppt_x</p:attrName>
                                          <p:attrName>ppt_y</p:attrName>
                                        </p:attrNameLst>
                                      </p:cBhvr>
                                    </p:animMotion>
                                  </p:childTnLst>
                                </p:cTn>
                              </p:par>
                              <p:par>
                                <p:cTn id="48" presetID="0" presetClass="entr" presetSubtype="0" accel="15000" decel="15000" fill="hold" grpId="1" nodeType="withEffect">
                                  <p:stCondLst>
                                    <p:cond delay="8800"/>
                                  </p:stCondLst>
                                  <p:childTnLst>
                                    <p:set>
                                      <p:cBhvr>
                                        <p:cTn id="49" dur="1" fill="hold">
                                          <p:stCondLst>
                                            <p:cond delay="0"/>
                                          </p:stCondLst>
                                        </p:cTn>
                                        <p:tgtEl>
                                          <p:spTgt spid="13"/>
                                        </p:tgtEl>
                                        <p:attrNameLst>
                                          <p:attrName>style.visibility</p:attrName>
                                        </p:attrNameLst>
                                      </p:cBhvr>
                                      <p:to>
                                        <p:strVal val="visible"/>
                                      </p:to>
                                    </p:set>
                                    <p:animMotion origin="layout" path="M 0 0 L -0.05250000 0.00000000 E" pathEditMode="relative">
                                      <p:cBhvr from="" to="">
                                        <p:cTn id="50" dur="800" fill="hold">
                                          <p:stCondLst>
                                            <p:cond delay="0"/>
                                          </p:stCondLst>
                                        </p:cTn>
                                        <p:tgtEl>
                                          <p:spTgt spid="13"/>
                                        </p:tgtEl>
                                        <p:attrNameLst>
                                          <p:attrName>ppt_x</p:attrName>
                                          <p:attrName>ppt_y</p:attrName>
                                        </p:attrNameLst>
                                      </p:cBhvr>
                                    </p:animMotion>
                                  </p:childTnLst>
                                </p:cTn>
                              </p:par>
                              <p:par>
                                <p:cTn id="51" presetID="0" presetClass="entr" presetSubtype="0" accel="15000" decel="15000" fill="hold" grpId="1" nodeType="withEffect">
                                  <p:stCondLst>
                                    <p:cond delay="9600"/>
                                  </p:stCondLst>
                                  <p:childTnLst>
                                    <p:set>
                                      <p:cBhvr>
                                        <p:cTn id="52" dur="1" fill="hold">
                                          <p:stCondLst>
                                            <p:cond delay="0"/>
                                          </p:stCondLst>
                                        </p:cTn>
                                        <p:tgtEl>
                                          <p:spTgt spid="14"/>
                                        </p:tgtEl>
                                        <p:attrNameLst>
                                          <p:attrName>style.visibility</p:attrName>
                                        </p:attrNameLst>
                                      </p:cBhvr>
                                      <p:to>
                                        <p:strVal val="visible"/>
                                      </p:to>
                                    </p:set>
                                    <p:animMotion origin="layout" path="M 0 0 L -0.05250000 0.00000000 E" pathEditMode="relative">
                                      <p:cBhvr from="" to="">
                                        <p:cTn id="53" dur="800" fill="hold">
                                          <p:stCondLst>
                                            <p:cond delay="0"/>
                                          </p:stCondLst>
                                        </p:cTn>
                                        <p:tgtEl>
                                          <p:spTgt spid="14"/>
                                        </p:tgtEl>
                                        <p:attrNameLst>
                                          <p:attrName>ppt_x</p:attrName>
                                          <p:attrName>ppt_y</p:attrName>
                                        </p:attrNameLst>
                                      </p:cBhvr>
                                    </p:animMotion>
                                  </p:childTnLst>
                                </p:cTn>
                              </p:par>
                              <p:par>
                                <p:cTn id="54" presetID="22" presetClass="entr" presetSubtype="8" accel="15000" decel="15000" fill="hold" grpId="0" nodeType="withEffect">
                                  <p:stCondLst>
                                    <p:cond delay="10000"/>
                                  </p:stCondLst>
                                  <p:childTnLst>
                                    <p:set>
                                      <p:cBhvr>
                                        <p:cTn id="55" dur="1" fill="hold">
                                          <p:stCondLst>
                                            <p:cond delay="0"/>
                                          </p:stCondLst>
                                        </p:cTn>
                                        <p:tgtEl>
                                          <p:spTgt spid="17"/>
                                        </p:tgtEl>
                                        <p:attrNameLst>
                                          <p:attrName>style.visibility</p:attrName>
                                        </p:attrNameLst>
                                      </p:cBhvr>
                                      <p:to>
                                        <p:strVal val="visible"/>
                                      </p:to>
                                    </p:set>
                                    <p:animEffect transition="in" filter="wipe(left)">
                                      <p:cBhvr>
                                        <p:cTn id="56" dur="500"/>
                                        <p:tgtEl>
                                          <p:spTgt spid="17"/>
                                        </p:tgtEl>
                                      </p:cBhvr>
                                    </p:animEffect>
                                  </p:childTnLst>
                                </p:cTn>
                              </p:par>
                              <p:par>
                                <p:cTn id="57" presetID="22" presetClass="entr" presetSubtype="8" accel="15000" decel="15000" fill="hold" grpId="0" nodeType="withEffect">
                                  <p:stCondLst>
                                    <p:cond delay="1018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59" dur="500"/>
                                        <p:tgtEl>
                                          <p:spTgt spid="18"/>
                                        </p:tgtEl>
                                      </p:cBhvr>
                                    </p:animEffect>
                                  </p:childTnLst>
                                </p:cTn>
                              </p:par>
                              <p:par>
                                <p:cTn id="60" presetID="22" presetClass="entr" presetSubtype="8" accel="15000" decel="15000" fill="hold" grpId="0" nodeType="withEffect">
                                  <p:stCondLst>
                                    <p:cond delay="10360"/>
                                  </p:stCondLst>
                                  <p:childTnLst>
                                    <p:set>
                                      <p:cBhvr>
                                        <p:cTn id="61" dur="1" fill="hold">
                                          <p:stCondLst>
                                            <p:cond delay="0"/>
                                          </p:stCondLst>
                                        </p:cTn>
                                        <p:tgtEl>
                                          <p:spTgt spid="19"/>
                                        </p:tgtEl>
                                        <p:attrNameLst>
                                          <p:attrName>style.visibility</p:attrName>
                                        </p:attrNameLst>
                                      </p:cBhvr>
                                      <p:to>
                                        <p:strVal val="visible"/>
                                      </p:to>
                                    </p:set>
                                    <p:animEffect transition="in" filter="wipe(left)">
                                      <p:cBhvr>
                                        <p:cTn id="62" dur="500"/>
                                        <p:tgtEl>
                                          <p:spTgt spid="19"/>
                                        </p:tgtEl>
                                      </p:cBhvr>
                                    </p:animEffect>
                                  </p:childTnLst>
                                </p:cTn>
                              </p:par>
                              <p:par>
                                <p:cTn id="63" presetID="22" presetClass="entr" presetSubtype="8" accel="15000" decel="15000" fill="hold" grpId="0" nodeType="withEffect">
                                  <p:stCondLst>
                                    <p:cond delay="10540"/>
                                  </p:stCondLst>
                                  <p:childTnLst>
                                    <p:set>
                                      <p:cBhvr>
                                        <p:cTn id="64" dur="1" fill="hold">
                                          <p:stCondLst>
                                            <p:cond delay="0"/>
                                          </p:stCondLst>
                                        </p:cTn>
                                        <p:tgtEl>
                                          <p:spTgt spid="20"/>
                                        </p:tgtEl>
                                        <p:attrNameLst>
                                          <p:attrName>style.visibility</p:attrName>
                                        </p:attrNameLst>
                                      </p:cBhvr>
                                      <p:to>
                                        <p:strVal val="visible"/>
                                      </p:to>
                                    </p:set>
                                    <p:animEffect transition="in" filter="wipe(left)">
                                      <p:cBhvr>
                                        <p:cTn id="65" dur="500"/>
                                        <p:tgtEl>
                                          <p:spTgt spid="20"/>
                                        </p:tgtEl>
                                      </p:cBhvr>
                                    </p:animEffect>
                                  </p:childTnLst>
                                </p:cTn>
                              </p:par>
                              <p:par>
                                <p:cTn id="66" presetID="22" presetClass="entr" presetSubtype="8" accel="15000" decel="15000" fill="hold" grpId="0" nodeType="withEffect">
                                  <p:stCondLst>
                                    <p:cond delay="10720"/>
                                  </p:stCondLst>
                                  <p:childTnLst>
                                    <p:set>
                                      <p:cBhvr>
                                        <p:cTn id="67" dur="1" fill="hold">
                                          <p:stCondLst>
                                            <p:cond delay="0"/>
                                          </p:stCondLst>
                                        </p:cTn>
                                        <p:tgtEl>
                                          <p:spTgt spid="21"/>
                                        </p:tgtEl>
                                        <p:attrNameLst>
                                          <p:attrName>style.visibility</p:attrName>
                                        </p:attrNameLst>
                                      </p:cBhvr>
                                      <p:to>
                                        <p:strVal val="visible"/>
                                      </p:to>
                                    </p:set>
                                    <p:animEffect transition="in" filter="wipe(left)">
                                      <p:cBhvr>
                                        <p:cTn id="68" dur="500"/>
                                        <p:tgtEl>
                                          <p:spTgt spid="21"/>
                                        </p:tgtEl>
                                      </p:cBhvr>
                                    </p:animEffect>
                                  </p:childTnLst>
                                </p:cTn>
                              </p:par>
                              <p:par>
                                <p:cTn id="69" presetID="22" presetClass="entr" presetSubtype="8" accel="15000" decel="15000" fill="hold" grpId="0" nodeType="withEffect">
                                  <p:stCondLst>
                                    <p:cond delay="10900"/>
                                  </p:stCondLst>
                                  <p:childTnLst>
                                    <p:set>
                                      <p:cBhvr>
                                        <p:cTn id="70" dur="1" fill="hold">
                                          <p:stCondLst>
                                            <p:cond delay="0"/>
                                          </p:stCondLst>
                                        </p:cTn>
                                        <p:tgtEl>
                                          <p:spTgt spid="22"/>
                                        </p:tgtEl>
                                        <p:attrNameLst>
                                          <p:attrName>style.visibility</p:attrName>
                                        </p:attrNameLst>
                                      </p:cBhvr>
                                      <p:to>
                                        <p:strVal val="visible"/>
                                      </p:to>
                                    </p:set>
                                    <p:animEffect transition="in" filter="wipe(left)">
                                      <p:cBhvr>
                                        <p:cTn id="71" dur="500"/>
                                        <p:tgtEl>
                                          <p:spTgt spid="22"/>
                                        </p:tgtEl>
                                      </p:cBhvr>
                                    </p:animEffect>
                                  </p:childTnLst>
                                </p:cTn>
                              </p:par>
                              <p:par>
                                <p:cTn id="72" presetID="22" presetClass="entr" presetSubtype="8" accel="15000" decel="15000" fill="hold" grpId="0" nodeType="withEffect">
                                  <p:stCondLst>
                                    <p:cond delay="11080"/>
                                  </p:stCondLst>
                                  <p:childTnLst>
                                    <p:set>
                                      <p:cBhvr>
                                        <p:cTn id="73" dur="1" fill="hold">
                                          <p:stCondLst>
                                            <p:cond delay="0"/>
                                          </p:stCondLst>
                                        </p:cTn>
                                        <p:tgtEl>
                                          <p:spTgt spid="23"/>
                                        </p:tgtEl>
                                        <p:attrNameLst>
                                          <p:attrName>style.visibility</p:attrName>
                                        </p:attrNameLst>
                                      </p:cBhvr>
                                      <p:to>
                                        <p:strVal val="visible"/>
                                      </p:to>
                                    </p:set>
                                    <p:animEffect transition="in" filter="wipe(left)">
                                      <p:cBhvr>
                                        <p:cTn id="74" dur="500"/>
                                        <p:tgtEl>
                                          <p:spTgt spid="23"/>
                                        </p:tgtEl>
                                      </p:cBhvr>
                                    </p:animEffect>
                                  </p:childTnLst>
                                </p:cTn>
                              </p:par>
                              <p:par>
                                <p:cTn id="75" presetID="22" presetClass="entr" presetSubtype="8" accel="15000" decel="15000" fill="hold" grpId="0" nodeType="withEffect">
                                  <p:stCondLst>
                                    <p:cond delay="11260"/>
                                  </p:stCondLst>
                                  <p:childTnLst>
                                    <p:set>
                                      <p:cBhvr>
                                        <p:cTn id="76" dur="1" fill="hold">
                                          <p:stCondLst>
                                            <p:cond delay="0"/>
                                          </p:stCondLst>
                                        </p:cTn>
                                        <p:tgtEl>
                                          <p:spTgt spid="24"/>
                                        </p:tgtEl>
                                        <p:attrNameLst>
                                          <p:attrName>style.visibility</p:attrName>
                                        </p:attrNameLst>
                                      </p:cBhvr>
                                      <p:to>
                                        <p:strVal val="visible"/>
                                      </p:to>
                                    </p:set>
                                    <p:animEffect transition="in" filter="wipe(left)">
                                      <p:cBhvr>
                                        <p:cTn id="77" dur="500"/>
                                        <p:tgtEl>
                                          <p:spTgt spid="24"/>
                                        </p:tgtEl>
                                      </p:cBhvr>
                                    </p:animEffect>
                                  </p:childTnLst>
                                </p:cTn>
                              </p:par>
                              <p:par>
                                <p:cTn id="78" presetID="22" presetClass="entr" presetSubtype="8" accel="15000" decel="15000" fill="hold" grpId="0" nodeType="withEffect">
                                  <p:stCondLst>
                                    <p:cond delay="11440"/>
                                  </p:stCondLst>
                                  <p:childTnLst>
                                    <p:set>
                                      <p:cBhvr>
                                        <p:cTn id="79" dur="1" fill="hold">
                                          <p:stCondLst>
                                            <p:cond delay="0"/>
                                          </p:stCondLst>
                                        </p:cTn>
                                        <p:tgtEl>
                                          <p:spTgt spid="25"/>
                                        </p:tgtEl>
                                        <p:attrNameLst>
                                          <p:attrName>style.visibility</p:attrName>
                                        </p:attrNameLst>
                                      </p:cBhvr>
                                      <p:to>
                                        <p:strVal val="visible"/>
                                      </p:to>
                                    </p:set>
                                    <p:animEffect transition="in" filter="wipe(left)">
                                      <p:cBhvr>
                                        <p:cTn id="80" dur="500"/>
                                        <p:tgtEl>
                                          <p:spTgt spid="25"/>
                                        </p:tgtEl>
                                      </p:cBhvr>
                                    </p:animEffect>
                                  </p:childTnLst>
                                </p:cTn>
                              </p:par>
                              <p:par>
                                <p:cTn id="81" presetID="22" presetClass="entr" presetSubtype="8" accel="15000" decel="15000" fill="hold" grpId="0" nodeType="withEffect">
                                  <p:stCondLst>
                                    <p:cond delay="11620"/>
                                  </p:stCondLst>
                                  <p:childTnLst>
                                    <p:set>
                                      <p:cBhvr>
                                        <p:cTn id="82" dur="1" fill="hold">
                                          <p:stCondLst>
                                            <p:cond delay="0"/>
                                          </p:stCondLst>
                                        </p:cTn>
                                        <p:tgtEl>
                                          <p:spTgt spid="26"/>
                                        </p:tgtEl>
                                        <p:attrNameLst>
                                          <p:attrName>style.visibility</p:attrName>
                                        </p:attrNameLst>
                                      </p:cBhvr>
                                      <p:to>
                                        <p:strVal val="visible"/>
                                      </p:to>
                                    </p:set>
                                    <p:animEffect transition="in" filter="wipe(left)">
                                      <p:cBhvr>
                                        <p:cTn id="83" dur="500"/>
                                        <p:tgtEl>
                                          <p:spTgt spid="26"/>
                                        </p:tgtEl>
                                      </p:cBhvr>
                                    </p:animEffect>
                                  </p:childTnLst>
                                </p:cTn>
                              </p:par>
                              <p:par>
                                <p:cTn id="84" presetID="22" presetClass="entr" presetSubtype="8" accel="15000" decel="15000" fill="hold" grpId="0" nodeType="withEffect">
                                  <p:stCondLst>
                                    <p:cond delay="11800"/>
                                  </p:stCondLst>
                                  <p:childTnLst>
                                    <p:set>
                                      <p:cBhvr>
                                        <p:cTn id="85" dur="1" fill="hold">
                                          <p:stCondLst>
                                            <p:cond delay="0"/>
                                          </p:stCondLst>
                                        </p:cTn>
                                        <p:tgtEl>
                                          <p:spTgt spid="27"/>
                                        </p:tgtEl>
                                        <p:attrNameLst>
                                          <p:attrName>style.visibility</p:attrName>
                                        </p:attrNameLst>
                                      </p:cBhvr>
                                      <p:to>
                                        <p:strVal val="visible"/>
                                      </p:to>
                                    </p:set>
                                    <p:animEffect transition="in" filter="wipe(left)">
                                      <p:cBhvr>
                                        <p:cTn id="86" dur="500"/>
                                        <p:tgtEl>
                                          <p:spTgt spid="27"/>
                                        </p:tgtEl>
                                      </p:cBhvr>
                                    </p:animEffect>
                                  </p:childTnLst>
                                </p:cTn>
                              </p:par>
                              <p:par>
                                <p:cTn id="87" presetID="22" presetClass="entr" presetSubtype="8" accel="15000" decel="15000" fill="hold" grpId="0" nodeType="withEffect">
                                  <p:stCondLst>
                                    <p:cond delay="11980"/>
                                  </p:stCondLst>
                                  <p:childTnLst>
                                    <p:set>
                                      <p:cBhvr>
                                        <p:cTn id="88" dur="1" fill="hold">
                                          <p:stCondLst>
                                            <p:cond delay="0"/>
                                          </p:stCondLst>
                                        </p:cTn>
                                        <p:tgtEl>
                                          <p:spTgt spid="28"/>
                                        </p:tgtEl>
                                        <p:attrNameLst>
                                          <p:attrName>style.visibility</p:attrName>
                                        </p:attrNameLst>
                                      </p:cBhvr>
                                      <p:to>
                                        <p:strVal val="visible"/>
                                      </p:to>
                                    </p:set>
                                    <p:animEffect transition="in" filter="wipe(left)">
                                      <p:cBhvr>
                                        <p:cTn id="89" dur="500"/>
                                        <p:tgtEl>
                                          <p:spTgt spid="28"/>
                                        </p:tgtEl>
                                      </p:cBhvr>
                                    </p:animEffect>
                                  </p:childTnLst>
                                </p:cTn>
                              </p:par>
                              <p:par>
                                <p:cTn id="90" presetID="22" presetClass="entr" presetSubtype="8" accel="15000" decel="15000" fill="hold" grpId="0" nodeType="withEffect">
                                  <p:stCondLst>
                                    <p:cond delay="12160"/>
                                  </p:stCondLst>
                                  <p:childTnLst>
                                    <p:set>
                                      <p:cBhvr>
                                        <p:cTn id="91" dur="1" fill="hold">
                                          <p:stCondLst>
                                            <p:cond delay="0"/>
                                          </p:stCondLst>
                                        </p:cTn>
                                        <p:tgtEl>
                                          <p:spTgt spid="29"/>
                                        </p:tgtEl>
                                        <p:attrNameLst>
                                          <p:attrName>style.visibility</p:attrName>
                                        </p:attrNameLst>
                                      </p:cBhvr>
                                      <p:to>
                                        <p:strVal val="visible"/>
                                      </p:to>
                                    </p:set>
                                    <p:animEffect transition="in" filter="wipe(left)">
                                      <p:cBhvr>
                                        <p:cTn id="92" dur="500"/>
                                        <p:tgtEl>
                                          <p:spTgt spid="29"/>
                                        </p:tgtEl>
                                      </p:cBhvr>
                                    </p:animEffect>
                                  </p:childTnLst>
                                </p:cTn>
                              </p:par>
                              <p:par>
                                <p:cTn id="93" presetID="22" presetClass="entr" presetSubtype="8" accel="15000" decel="15000" fill="hold" grpId="0" nodeType="withEffect">
                                  <p:stCondLst>
                                    <p:cond delay="12340"/>
                                  </p:stCondLst>
                                  <p:childTnLst>
                                    <p:set>
                                      <p:cBhvr>
                                        <p:cTn id="94" dur="1" fill="hold">
                                          <p:stCondLst>
                                            <p:cond delay="0"/>
                                          </p:stCondLst>
                                        </p:cTn>
                                        <p:tgtEl>
                                          <p:spTgt spid="30"/>
                                        </p:tgtEl>
                                        <p:attrNameLst>
                                          <p:attrName>style.visibility</p:attrName>
                                        </p:attrNameLst>
                                      </p:cBhvr>
                                      <p:to>
                                        <p:strVal val="visible"/>
                                      </p:to>
                                    </p:set>
                                    <p:animEffect transition="in" filter="wipe(left)">
                                      <p:cBhvr>
                                        <p:cTn id="95" dur="500"/>
                                        <p:tgtEl>
                                          <p:spTgt spid="30"/>
                                        </p:tgtEl>
                                      </p:cBhvr>
                                    </p:animEffect>
                                  </p:childTnLst>
                                </p:cTn>
                              </p:par>
                              <p:par>
                                <p:cTn id="96" presetID="10" presetClass="entr" presetSubtype="0" accel="15000" decel="15000" fill="hold" grpId="0" nodeType="withEffect">
                                  <p:stCondLst>
                                    <p:cond delay="1300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120"/>
                                        <p:tgtEl>
                                          <p:spTgt spid="32"/>
                                        </p:tgtEl>
                                      </p:cBhvr>
                                    </p:animEffect>
                                  </p:childTnLst>
                                </p:cTn>
                              </p:par>
                              <p:par>
                                <p:cTn id="99" presetID="0" presetClass="entr" presetSubtype="0" repeatCount="2000" accel="15000" decel="15000" fill="hold" grpId="1" nodeType="withEffect">
                                  <p:stCondLst>
                                    <p:cond delay="13120"/>
                                  </p:stCondLst>
                                  <p:childTnLst>
                                    <p:set>
                                      <p:cBhvr>
                                        <p:cTn id="100" dur="1" fill="hold">
                                          <p:stCondLst>
                                            <p:cond delay="0"/>
                                          </p:stCondLst>
                                        </p:cTn>
                                        <p:tgtEl>
                                          <p:spTgt spid="32"/>
                                        </p:tgtEl>
                                        <p:attrNameLst>
                                          <p:attrName>style.visibility</p:attrName>
                                        </p:attrNameLst>
                                      </p:cBhvr>
                                      <p:to>
                                        <p:strVal val="visible"/>
                                      </p:to>
                                    </p:set>
                                    <p:animMotion origin="layout" path="M 0 0 L 0.43500001 0.00000000 E" pathEditMode="relative">
                                      <p:cBhvr from="" to="">
                                        <p:cTn id="101" dur="1400" fill="hold">
                                          <p:stCondLst>
                                            <p:cond delay="0"/>
                                          </p:stCondLst>
                                        </p:cTn>
                                        <p:tgtEl>
                                          <p:spTgt spid="32"/>
                                        </p:tgtEl>
                                        <p:attrNameLst>
                                          <p:attrName>ppt_x</p:attrName>
                                          <p:attrName>ppt_y</p:attrName>
                                        </p:attrNameLst>
                                      </p:cBhvr>
                                    </p:animMotion>
                                  </p:childTnLst>
                                </p:cTn>
                              </p:par>
                              <p:par>
                                <p:cTn id="102" presetID="10" presetClass="entr" presetSubtype="0" accel="15000" decel="15000" fill="hold" grpId="0" nodeType="withEffect">
                                  <p:stCondLst>
                                    <p:cond delay="1340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120"/>
                                        <p:tgtEl>
                                          <p:spTgt spid="33"/>
                                        </p:tgtEl>
                                      </p:cBhvr>
                                    </p:animEffect>
                                  </p:childTnLst>
                                </p:cTn>
                              </p:par>
                              <p:par>
                                <p:cTn id="105" presetID="0" presetClass="entr" presetSubtype="0" repeatCount="2000" accel="15000" decel="15000" fill="hold" grpId="1" nodeType="withEffect">
                                  <p:stCondLst>
                                    <p:cond delay="13520"/>
                                  </p:stCondLst>
                                  <p:childTnLst>
                                    <p:set>
                                      <p:cBhvr>
                                        <p:cTn id="106" dur="1" fill="hold">
                                          <p:stCondLst>
                                            <p:cond delay="0"/>
                                          </p:stCondLst>
                                        </p:cTn>
                                        <p:tgtEl>
                                          <p:spTgt spid="33"/>
                                        </p:tgtEl>
                                        <p:attrNameLst>
                                          <p:attrName>style.visibility</p:attrName>
                                        </p:attrNameLst>
                                      </p:cBhvr>
                                      <p:to>
                                        <p:strVal val="visible"/>
                                      </p:to>
                                    </p:set>
                                    <p:animMotion origin="layout" path="M 0 0 L 0.43500001 0.00000000 E" pathEditMode="relative">
                                      <p:cBhvr from="" to="">
                                        <p:cTn id="107" dur="1400" fill="hold">
                                          <p:stCondLst>
                                            <p:cond delay="0"/>
                                          </p:stCondLst>
                                        </p:cTn>
                                        <p:tgtEl>
                                          <p:spTgt spid="33"/>
                                        </p:tgtEl>
                                        <p:attrNameLst>
                                          <p:attrName>ppt_x</p:attrName>
                                          <p:attrName>ppt_y</p:attrName>
                                        </p:attrNameLst>
                                      </p:cBhvr>
                                    </p:animMotion>
                                  </p:childTnLst>
                                </p:cTn>
                              </p:par>
                              <p:par>
                                <p:cTn id="108" presetID="10" presetClass="entr" presetSubtype="0" accel="15000" decel="15000" fill="hold" grpId="0" nodeType="withEffect">
                                  <p:stCondLst>
                                    <p:cond delay="13800"/>
                                  </p:stCondLst>
                                  <p:childTnLst>
                                    <p:set>
                                      <p:cBhvr>
                                        <p:cTn id="109" dur="1" fill="hold">
                                          <p:stCondLst>
                                            <p:cond delay="0"/>
                                          </p:stCondLst>
                                        </p:cTn>
                                        <p:tgtEl>
                                          <p:spTgt spid="34"/>
                                        </p:tgtEl>
                                        <p:attrNameLst>
                                          <p:attrName>style.visibility</p:attrName>
                                        </p:attrNameLst>
                                      </p:cBhvr>
                                      <p:to>
                                        <p:strVal val="visible"/>
                                      </p:to>
                                    </p:set>
                                    <p:animEffect transition="in" filter="fade">
                                      <p:cBhvr>
                                        <p:cTn id="110" dur="120"/>
                                        <p:tgtEl>
                                          <p:spTgt spid="34"/>
                                        </p:tgtEl>
                                      </p:cBhvr>
                                    </p:animEffect>
                                  </p:childTnLst>
                                </p:cTn>
                              </p:par>
                              <p:par>
                                <p:cTn id="111" presetID="0" presetClass="entr" presetSubtype="0" repeatCount="2000" accel="15000" decel="15000" fill="hold" grpId="1" nodeType="withEffect">
                                  <p:stCondLst>
                                    <p:cond delay="13920"/>
                                  </p:stCondLst>
                                  <p:childTnLst>
                                    <p:set>
                                      <p:cBhvr>
                                        <p:cTn id="112" dur="1" fill="hold">
                                          <p:stCondLst>
                                            <p:cond delay="0"/>
                                          </p:stCondLst>
                                        </p:cTn>
                                        <p:tgtEl>
                                          <p:spTgt spid="34"/>
                                        </p:tgtEl>
                                        <p:attrNameLst>
                                          <p:attrName>style.visibility</p:attrName>
                                        </p:attrNameLst>
                                      </p:cBhvr>
                                      <p:to>
                                        <p:strVal val="visible"/>
                                      </p:to>
                                    </p:set>
                                    <p:animMotion origin="layout" path="M 0 0 L 0.43500001 0.00000000 E" pathEditMode="relative">
                                      <p:cBhvr from="" to="">
                                        <p:cTn id="113" dur="1400" fill="hold">
                                          <p:stCondLst>
                                            <p:cond delay="0"/>
                                          </p:stCondLst>
                                        </p:cTn>
                                        <p:tgtEl>
                                          <p:spTgt spid="34"/>
                                        </p:tgtEl>
                                        <p:attrNameLst>
                                          <p:attrName>ppt_x</p:attrName>
                                          <p:attrName>ppt_y</p:attrName>
                                        </p:attrNameLst>
                                      </p:cBhvr>
                                    </p:animMotion>
                                  </p:childTnLst>
                                </p:cTn>
                              </p:par>
                              <p:par>
                                <p:cTn id="114" presetID="10" presetClass="exit" presetSubtype="0" accel="15000" decel="15000" fill="hold" grpId="2" nodeType="withEffect">
                                  <p:stCondLst>
                                    <p:cond delay="15920"/>
                                  </p:stCondLst>
                                  <p:childTnLst>
                                    <p:animEffect transition="out" filter="fade">
                                      <p:cBhvr>
                                        <p:cTn id="115" dur="120"/>
                                        <p:tgtEl>
                                          <p:spTgt spid="32"/>
                                        </p:tgtEl>
                                      </p:cBhvr>
                                    </p:animEffect>
                                    <p:set>
                                      <p:cBhvr>
                                        <p:cTn id="116" dur="1" fill="hold">
                                          <p:stCondLst>
                                            <p:cond delay="119"/>
                                          </p:stCondLst>
                                        </p:cTn>
                                        <p:tgtEl>
                                          <p:spTgt spid="32"/>
                                        </p:tgtEl>
                                        <p:attrNameLst>
                                          <p:attrName>style.visibility</p:attrName>
                                        </p:attrNameLst>
                                      </p:cBhvr>
                                      <p:to>
                                        <p:strVal val="hidden"/>
                                      </p:to>
                                    </p:set>
                                  </p:childTnLst>
                                </p:cTn>
                              </p:par>
                              <p:par>
                                <p:cTn id="117" presetID="10" presetClass="exit" presetSubtype="0" accel="15000" decel="15000" fill="hold" grpId="2" nodeType="withEffect">
                                  <p:stCondLst>
                                    <p:cond delay="16320"/>
                                  </p:stCondLst>
                                  <p:childTnLst>
                                    <p:animEffect transition="out" filter="fade">
                                      <p:cBhvr>
                                        <p:cTn id="118" dur="120"/>
                                        <p:tgtEl>
                                          <p:spTgt spid="33"/>
                                        </p:tgtEl>
                                      </p:cBhvr>
                                    </p:animEffect>
                                    <p:set>
                                      <p:cBhvr>
                                        <p:cTn id="119" dur="1" fill="hold">
                                          <p:stCondLst>
                                            <p:cond delay="119"/>
                                          </p:stCondLst>
                                        </p:cTn>
                                        <p:tgtEl>
                                          <p:spTgt spid="33"/>
                                        </p:tgtEl>
                                        <p:attrNameLst>
                                          <p:attrName>style.visibility</p:attrName>
                                        </p:attrNameLst>
                                      </p:cBhvr>
                                      <p:to>
                                        <p:strVal val="hidden"/>
                                      </p:to>
                                    </p:set>
                                  </p:childTnLst>
                                </p:cTn>
                              </p:par>
                              <p:par>
                                <p:cTn id="120" presetID="10" presetClass="exit" presetSubtype="0" accel="15000" decel="15000" fill="hold" grpId="2" nodeType="withEffect">
                                  <p:stCondLst>
                                    <p:cond delay="16720"/>
                                  </p:stCondLst>
                                  <p:childTnLst>
                                    <p:animEffect transition="out" filter="fade">
                                      <p:cBhvr>
                                        <p:cTn id="121" dur="120"/>
                                        <p:tgtEl>
                                          <p:spTgt spid="34"/>
                                        </p:tgtEl>
                                      </p:cBhvr>
                                    </p:animEffect>
                                    <p:set>
                                      <p:cBhvr>
                                        <p:cTn id="122" dur="1" fill="hold">
                                          <p:stCondLst>
                                            <p:cond delay="119"/>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P spid="10" grpId="0"/>
      <p:bldP spid="10" grpId="1"/>
      <p:bldP spid="12" grpId="0"/>
      <p:bldP spid="12" grpId="1"/>
      <p:bldP spid="13" grpId="0"/>
      <p:bldP spid="13" grpId="1"/>
      <p:bldP spid="14" grpId="0"/>
      <p:bldP spid="14" grpId="1"/>
      <p:bldP spid="15" grpId="0"/>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2" grpId="0" animBg="1"/>
      <p:bldP spid="32" grpId="1" animBg="1"/>
      <p:bldP spid="32" grpId="2" animBg="1"/>
      <p:bldP spid="33" grpId="0" animBg="1"/>
      <p:bldP spid="33" grpId="1" animBg="1"/>
      <p:bldP spid="33" grpId="2" animBg="1"/>
      <p:bldP spid="34" grpId="0" animBg="1"/>
      <p:bldP spid="34" grpId="1" animBg="1"/>
      <p:bldP spid="34"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62F"/>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F8F5EE"/>
                </a:solidFill>
                <a:latin typeface="Consolas"/>
              </a:defRPr>
            </a:pPr>
            <a:r>
              <a:t>ENSEMBLE / IDS                         INFER</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F8F5EE"/>
                </a:solidFill>
                <a:latin typeface="Consolas"/>
              </a:defRPr>
            </a:pPr>
            <a:r>
              <a:t>03</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F8F5EE"/>
                </a:solidFill>
                <a:latin typeface="Aptos"/>
              </a:defRPr>
            </a:pPr>
            <a:r>
              <a:t>UNSW-NB15 · sơ đồ minh họa pipeline offline theo mã nguồn; không phải traffic triển khai</a:t>
            </a:r>
          </a:p>
        </p:txBody>
      </p:sp>
      <p:sp>
        <p:nvSpPr>
          <p:cNvPr id="5" name="hero-title"/>
          <p:cNvSpPr txBox="1"/>
          <p:nvPr/>
        </p:nvSpPr>
        <p:spPr>
          <a:xfrm>
            <a:off x="502920" y="868680"/>
            <a:ext cx="10058400" cy="914400"/>
          </a:xfrm>
          <a:prstGeom prst="rect">
            <a:avLst/>
          </a:prstGeom>
          <a:noFill/>
        </p:spPr>
        <p:txBody>
          <a:bodyPr wrap="square" lIns="0" tIns="0" rIns="0" bIns="0">
            <a:spAutoFit/>
          </a:bodyPr>
          <a:lstStyle/>
          <a:p>
            <a:pPr>
              <a:spcAft>
                <a:spcPts val="0"/>
              </a:spcAft>
              <a:defRPr sz="4900" b="1">
                <a:solidFill>
                  <a:srgbClr val="F8F5EE"/>
                </a:solidFill>
                <a:latin typeface="Arial"/>
              </a:defRPr>
            </a:pPr>
            <a:r>
              <a:t>KHI DỰ ĐOÁN</a:t>
            </a:r>
          </a:p>
        </p:txBody>
      </p:sp>
      <p:sp>
        <p:nvSpPr>
          <p:cNvPr id="6" name="text-5"/>
          <p:cNvSpPr txBox="1"/>
          <p:nvPr/>
        </p:nvSpPr>
        <p:spPr>
          <a:xfrm>
            <a:off x="566928" y="1828800"/>
            <a:ext cx="10058400" cy="502920"/>
          </a:xfrm>
          <a:prstGeom prst="rect">
            <a:avLst/>
          </a:prstGeom>
          <a:noFill/>
        </p:spPr>
        <p:txBody>
          <a:bodyPr wrap="square" lIns="0" tIns="0" rIns="0" bIns="0">
            <a:spAutoFit/>
          </a:bodyPr>
          <a:lstStyle/>
          <a:p>
            <a:pPr>
              <a:spcAft>
                <a:spcPts val="0"/>
              </a:spcAft>
              <a:defRPr sz="2500" b="0">
                <a:solidFill>
                  <a:srgbClr val="B4B8CB"/>
                </a:solidFill>
                <a:latin typeface="Aptos"/>
              </a:defRPr>
            </a:pPr>
            <a:r>
              <a:t>Một đường dữ liệu. Ba mô hình cơ sở.</a:t>
            </a:r>
          </a:p>
        </p:txBody>
      </p:sp>
      <p:sp>
        <p:nvSpPr>
          <p:cNvPr id="7" name="shape-6"/>
          <p:cNvSpPr/>
          <p:nvPr/>
        </p:nvSpPr>
        <p:spPr>
          <a:xfrm>
            <a:off x="731519" y="3611879"/>
            <a:ext cx="640080" cy="640080"/>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7"/>
          <p:cNvSpPr txBox="1"/>
          <p:nvPr/>
        </p:nvSpPr>
        <p:spPr>
          <a:xfrm>
            <a:off x="594359" y="3767328"/>
            <a:ext cx="914400" cy="365760"/>
          </a:xfrm>
          <a:prstGeom prst="rect">
            <a:avLst/>
          </a:prstGeom>
          <a:noFill/>
        </p:spPr>
        <p:txBody>
          <a:bodyPr wrap="square" lIns="0" tIns="0" rIns="0" bIns="0">
            <a:spAutoFit/>
          </a:bodyPr>
          <a:lstStyle/>
          <a:p>
            <a:pPr algn="ctr">
              <a:spcAft>
                <a:spcPts val="0"/>
              </a:spcAft>
              <a:defRPr sz="1700" b="1">
                <a:solidFill>
                  <a:srgbClr val="24C3D9"/>
                </a:solidFill>
                <a:latin typeface="Consolas"/>
              </a:defRPr>
            </a:pPr>
            <a:r>
              <a:t>x</a:t>
            </a:r>
          </a:p>
        </p:txBody>
      </p:sp>
      <p:sp>
        <p:nvSpPr>
          <p:cNvPr id="9" name="text-8"/>
          <p:cNvSpPr txBox="1"/>
          <p:nvPr/>
        </p:nvSpPr>
        <p:spPr>
          <a:xfrm>
            <a:off x="594360" y="4572000"/>
            <a:ext cx="1645920" cy="731520"/>
          </a:xfrm>
          <a:prstGeom prst="rect">
            <a:avLst/>
          </a:prstGeom>
          <a:noFill/>
        </p:spPr>
        <p:txBody>
          <a:bodyPr wrap="square" lIns="0" tIns="0" rIns="0" bIns="0">
            <a:spAutoFit/>
          </a:bodyPr>
          <a:lstStyle/>
          <a:p>
            <a:pPr>
              <a:spcAft>
                <a:spcPts val="0"/>
              </a:spcAft>
              <a:defRPr sz="1900" b="0">
                <a:solidFill>
                  <a:srgbClr val="24C3D9"/>
                </a:solidFill>
                <a:latin typeface="Aptos"/>
              </a:defRPr>
            </a:pPr>
            <a:r>
              <a:t>feature</a:t>
            </a:r>
          </a:p>
          <a:p>
            <a:pPr>
              <a:spcAft>
                <a:spcPts val="0"/>
              </a:spcAft>
              <a:defRPr sz="1900" b="0">
                <a:solidFill>
                  <a:srgbClr val="24C3D9"/>
                </a:solidFill>
                <a:latin typeface="Aptos"/>
              </a:defRPr>
            </a:pPr>
            <a:r>
              <a:t>vector</a:t>
            </a:r>
          </a:p>
        </p:txBody>
      </p:sp>
      <p:cxnSp>
        <p:nvCxnSpPr>
          <p:cNvPr id="10" name="line-9"/>
          <p:cNvCxnSpPr/>
          <p:nvPr/>
        </p:nvCxnSpPr>
        <p:spPr>
          <a:xfrm flipV="1">
            <a:off x="1371600" y="2743200"/>
            <a:ext cx="2286000" cy="1188720"/>
          </a:xfrm>
          <a:prstGeom prst="line">
            <a:avLst/>
          </a:prstGeom>
          <a:ln w="25400">
            <a:solidFill>
              <a:srgbClr val="24C3D9"/>
            </a:solidFill>
            <a:tailEnd type="triangle"/>
          </a:ln>
        </p:spPr>
        <p:style>
          <a:lnRef idx="2">
            <a:schemeClr val="accent1"/>
          </a:lnRef>
          <a:fillRef idx="0">
            <a:schemeClr val="accent1"/>
          </a:fillRef>
          <a:effectRef idx="1">
            <a:schemeClr val="accent1"/>
          </a:effectRef>
          <a:fontRef idx="minor">
            <a:schemeClr val="tx1"/>
          </a:fontRef>
        </p:style>
      </p:cxnSp>
      <p:sp>
        <p:nvSpPr>
          <p:cNvPr id="11" name="shape-10"/>
          <p:cNvSpPr/>
          <p:nvPr/>
        </p:nvSpPr>
        <p:spPr>
          <a:xfrm>
            <a:off x="3776472" y="2313432"/>
            <a:ext cx="859536" cy="859536"/>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11"/>
          <p:cNvSpPr txBox="1"/>
          <p:nvPr/>
        </p:nvSpPr>
        <p:spPr>
          <a:xfrm>
            <a:off x="3639312" y="2578608"/>
            <a:ext cx="1133856" cy="365760"/>
          </a:xfrm>
          <a:prstGeom prst="rect">
            <a:avLst/>
          </a:prstGeom>
          <a:noFill/>
        </p:spPr>
        <p:txBody>
          <a:bodyPr wrap="square" lIns="0" tIns="0" rIns="0" bIns="0">
            <a:spAutoFit/>
          </a:bodyPr>
          <a:lstStyle/>
          <a:p>
            <a:pPr algn="ctr">
              <a:spcAft>
                <a:spcPts val="0"/>
              </a:spcAft>
              <a:defRPr sz="1700" b="1">
                <a:solidFill>
                  <a:srgbClr val="24C3D9"/>
                </a:solidFill>
                <a:latin typeface="Consolas"/>
              </a:defRPr>
            </a:pPr>
            <a:r>
              <a:t>LR</a:t>
            </a:r>
          </a:p>
        </p:txBody>
      </p:sp>
      <p:cxnSp>
        <p:nvCxnSpPr>
          <p:cNvPr id="13" name="line-12"/>
          <p:cNvCxnSpPr/>
          <p:nvPr/>
        </p:nvCxnSpPr>
        <p:spPr>
          <a:xfrm>
            <a:off x="4709160" y="2743200"/>
            <a:ext cx="2148840" cy="1188720"/>
          </a:xfrm>
          <a:prstGeom prst="line">
            <a:avLst/>
          </a:prstGeom>
          <a:ln w="20320">
            <a:solidFill>
              <a:srgbClr val="B4B8CB"/>
            </a:solidFill>
            <a:tailEnd type="triangle"/>
          </a:ln>
        </p:spPr>
        <p:style>
          <a:lnRef idx="2">
            <a:schemeClr val="accent1"/>
          </a:lnRef>
          <a:fillRef idx="0">
            <a:schemeClr val="accent1"/>
          </a:fillRef>
          <a:effectRef idx="1">
            <a:schemeClr val="accent1"/>
          </a:effectRef>
          <a:fontRef idx="minor">
            <a:schemeClr val="tx1"/>
          </a:fontRef>
        </p:style>
      </p:cxnSp>
      <p:sp>
        <p:nvSpPr>
          <p:cNvPr id="14" name="shape-13"/>
          <p:cNvSpPr/>
          <p:nvPr/>
        </p:nvSpPr>
        <p:spPr>
          <a:xfrm>
            <a:off x="1412748" y="388162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hape-14"/>
          <p:cNvSpPr/>
          <p:nvPr/>
        </p:nvSpPr>
        <p:spPr>
          <a:xfrm>
            <a:off x="1412748" y="388162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line-15"/>
          <p:cNvCxnSpPr/>
          <p:nvPr/>
        </p:nvCxnSpPr>
        <p:spPr>
          <a:xfrm>
            <a:off x="1371600" y="3931920"/>
            <a:ext cx="2286000" cy="0"/>
          </a:xfrm>
          <a:prstGeom prst="line">
            <a:avLst/>
          </a:prstGeom>
          <a:ln w="25400">
            <a:solidFill>
              <a:srgbClr val="24C3D9"/>
            </a:solidFill>
            <a:tailEnd type="triangle"/>
          </a:ln>
        </p:spPr>
        <p:style>
          <a:lnRef idx="2">
            <a:schemeClr val="accent1"/>
          </a:lnRef>
          <a:fillRef idx="0">
            <a:schemeClr val="accent1"/>
          </a:fillRef>
          <a:effectRef idx="1">
            <a:schemeClr val="accent1"/>
          </a:effectRef>
          <a:fontRef idx="minor">
            <a:schemeClr val="tx1"/>
          </a:fontRef>
        </p:style>
      </p:cxnSp>
      <p:sp>
        <p:nvSpPr>
          <p:cNvPr id="17" name="shape-16"/>
          <p:cNvSpPr/>
          <p:nvPr/>
        </p:nvSpPr>
        <p:spPr>
          <a:xfrm>
            <a:off x="3776472" y="3502152"/>
            <a:ext cx="859536" cy="859536"/>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17"/>
          <p:cNvSpPr txBox="1"/>
          <p:nvPr/>
        </p:nvSpPr>
        <p:spPr>
          <a:xfrm>
            <a:off x="3639312" y="3767328"/>
            <a:ext cx="1133856" cy="365760"/>
          </a:xfrm>
          <a:prstGeom prst="rect">
            <a:avLst/>
          </a:prstGeom>
          <a:noFill/>
        </p:spPr>
        <p:txBody>
          <a:bodyPr wrap="square" lIns="0" tIns="0" rIns="0" bIns="0">
            <a:spAutoFit/>
          </a:bodyPr>
          <a:lstStyle/>
          <a:p>
            <a:pPr algn="ctr">
              <a:spcAft>
                <a:spcPts val="0"/>
              </a:spcAft>
              <a:defRPr sz="1700" b="1">
                <a:solidFill>
                  <a:srgbClr val="24C3D9"/>
                </a:solidFill>
                <a:latin typeface="Consolas"/>
              </a:defRPr>
            </a:pPr>
            <a:r>
              <a:t>DT</a:t>
            </a:r>
          </a:p>
        </p:txBody>
      </p:sp>
      <p:cxnSp>
        <p:nvCxnSpPr>
          <p:cNvPr id="19" name="line-18"/>
          <p:cNvCxnSpPr/>
          <p:nvPr/>
        </p:nvCxnSpPr>
        <p:spPr>
          <a:xfrm>
            <a:off x="4709160" y="3931920"/>
            <a:ext cx="2148840" cy="0"/>
          </a:xfrm>
          <a:prstGeom prst="line">
            <a:avLst/>
          </a:prstGeom>
          <a:ln w="20320">
            <a:solidFill>
              <a:srgbClr val="B4B8CB"/>
            </a:solidFill>
            <a:tailEnd type="triangle"/>
          </a:ln>
        </p:spPr>
        <p:style>
          <a:lnRef idx="2">
            <a:schemeClr val="accent1"/>
          </a:lnRef>
          <a:fillRef idx="0">
            <a:schemeClr val="accent1"/>
          </a:fillRef>
          <a:effectRef idx="1">
            <a:schemeClr val="accent1"/>
          </a:effectRef>
          <a:fontRef idx="minor">
            <a:schemeClr val="tx1"/>
          </a:fontRef>
        </p:style>
      </p:cxnSp>
      <p:sp>
        <p:nvSpPr>
          <p:cNvPr id="20" name="shape-19"/>
          <p:cNvSpPr/>
          <p:nvPr/>
        </p:nvSpPr>
        <p:spPr>
          <a:xfrm>
            <a:off x="1412748" y="388162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hape-20"/>
          <p:cNvSpPr/>
          <p:nvPr/>
        </p:nvSpPr>
        <p:spPr>
          <a:xfrm>
            <a:off x="1412748" y="388162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line-21"/>
          <p:cNvCxnSpPr/>
          <p:nvPr/>
        </p:nvCxnSpPr>
        <p:spPr>
          <a:xfrm>
            <a:off x="1371600" y="3931920"/>
            <a:ext cx="2286000" cy="1188720"/>
          </a:xfrm>
          <a:prstGeom prst="line">
            <a:avLst/>
          </a:prstGeom>
          <a:ln w="25400">
            <a:solidFill>
              <a:srgbClr val="24C3D9"/>
            </a:solidFill>
            <a:tailEnd type="triangle"/>
          </a:ln>
        </p:spPr>
        <p:style>
          <a:lnRef idx="2">
            <a:schemeClr val="accent1"/>
          </a:lnRef>
          <a:fillRef idx="0">
            <a:schemeClr val="accent1"/>
          </a:fillRef>
          <a:effectRef idx="1">
            <a:schemeClr val="accent1"/>
          </a:effectRef>
          <a:fontRef idx="minor">
            <a:schemeClr val="tx1"/>
          </a:fontRef>
        </p:style>
      </p:cxnSp>
      <p:sp>
        <p:nvSpPr>
          <p:cNvPr id="23" name="shape-22"/>
          <p:cNvSpPr/>
          <p:nvPr/>
        </p:nvSpPr>
        <p:spPr>
          <a:xfrm>
            <a:off x="3776472" y="4690872"/>
            <a:ext cx="859536" cy="859536"/>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23"/>
          <p:cNvSpPr txBox="1"/>
          <p:nvPr/>
        </p:nvSpPr>
        <p:spPr>
          <a:xfrm>
            <a:off x="3639312" y="4956048"/>
            <a:ext cx="1133856" cy="365760"/>
          </a:xfrm>
          <a:prstGeom prst="rect">
            <a:avLst/>
          </a:prstGeom>
          <a:noFill/>
        </p:spPr>
        <p:txBody>
          <a:bodyPr wrap="square" lIns="0" tIns="0" rIns="0" bIns="0">
            <a:spAutoFit/>
          </a:bodyPr>
          <a:lstStyle/>
          <a:p>
            <a:pPr algn="ctr">
              <a:spcAft>
                <a:spcPts val="0"/>
              </a:spcAft>
              <a:defRPr sz="1700" b="1">
                <a:solidFill>
                  <a:srgbClr val="24C3D9"/>
                </a:solidFill>
                <a:latin typeface="Consolas"/>
              </a:defRPr>
            </a:pPr>
            <a:r>
              <a:t>RF</a:t>
            </a:r>
          </a:p>
        </p:txBody>
      </p:sp>
      <p:cxnSp>
        <p:nvCxnSpPr>
          <p:cNvPr id="25" name="line-24"/>
          <p:cNvCxnSpPr/>
          <p:nvPr/>
        </p:nvCxnSpPr>
        <p:spPr>
          <a:xfrm flipV="1">
            <a:off x="4709160" y="3931920"/>
            <a:ext cx="2148840" cy="1188720"/>
          </a:xfrm>
          <a:prstGeom prst="line">
            <a:avLst/>
          </a:prstGeom>
          <a:ln w="20320">
            <a:solidFill>
              <a:srgbClr val="B4B8CB"/>
            </a:solidFill>
            <a:tailEnd type="triangle"/>
          </a:ln>
        </p:spPr>
        <p:style>
          <a:lnRef idx="2">
            <a:schemeClr val="accent1"/>
          </a:lnRef>
          <a:fillRef idx="0">
            <a:schemeClr val="accent1"/>
          </a:fillRef>
          <a:effectRef idx="1">
            <a:schemeClr val="accent1"/>
          </a:effectRef>
          <a:fontRef idx="minor">
            <a:schemeClr val="tx1"/>
          </a:fontRef>
        </p:style>
      </p:cxnSp>
      <p:sp>
        <p:nvSpPr>
          <p:cNvPr id="26" name="shape-25"/>
          <p:cNvSpPr/>
          <p:nvPr/>
        </p:nvSpPr>
        <p:spPr>
          <a:xfrm>
            <a:off x="1412748" y="388162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hape-26"/>
          <p:cNvSpPr/>
          <p:nvPr/>
        </p:nvSpPr>
        <p:spPr>
          <a:xfrm>
            <a:off x="1412748" y="388162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shape-27"/>
          <p:cNvSpPr/>
          <p:nvPr/>
        </p:nvSpPr>
        <p:spPr>
          <a:xfrm>
            <a:off x="6995160" y="3264408"/>
            <a:ext cx="1325880" cy="1325880"/>
          </a:xfrm>
          <a:prstGeom prst="diamond">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28"/>
          <p:cNvSpPr txBox="1"/>
          <p:nvPr/>
        </p:nvSpPr>
        <p:spPr>
          <a:xfrm>
            <a:off x="7159752" y="3703320"/>
            <a:ext cx="1005840" cy="365760"/>
          </a:xfrm>
          <a:prstGeom prst="rect">
            <a:avLst/>
          </a:prstGeom>
          <a:noFill/>
        </p:spPr>
        <p:txBody>
          <a:bodyPr wrap="square" lIns="0" tIns="0" rIns="0" bIns="0">
            <a:spAutoFit/>
          </a:bodyPr>
          <a:lstStyle/>
          <a:p>
            <a:pPr algn="ctr">
              <a:spcAft>
                <a:spcPts val="0"/>
              </a:spcAft>
              <a:defRPr sz="1900" b="1">
                <a:solidFill>
                  <a:srgbClr val="F8F5EE"/>
                </a:solidFill>
                <a:latin typeface="Aptos"/>
              </a:defRPr>
            </a:pPr>
            <a:r>
              <a:t>GỘP</a:t>
            </a:r>
          </a:p>
        </p:txBody>
      </p:sp>
      <p:cxnSp>
        <p:nvCxnSpPr>
          <p:cNvPr id="30" name="line-29"/>
          <p:cNvCxnSpPr/>
          <p:nvPr/>
        </p:nvCxnSpPr>
        <p:spPr>
          <a:xfrm flipV="1">
            <a:off x="8321040" y="2926080"/>
            <a:ext cx="1417320" cy="1005840"/>
          </a:xfrm>
          <a:prstGeom prst="line">
            <a:avLst/>
          </a:prstGeom>
          <a:ln w="25400">
            <a:solidFill>
              <a:srgbClr val="C5F66A"/>
            </a:solidFill>
            <a:tailEnd type="triangle"/>
          </a:ln>
        </p:spPr>
        <p:style>
          <a:lnRef idx="2">
            <a:schemeClr val="accent1"/>
          </a:lnRef>
          <a:fillRef idx="0">
            <a:schemeClr val="accent1"/>
          </a:fillRef>
          <a:effectRef idx="1">
            <a:schemeClr val="accent1"/>
          </a:effectRef>
          <a:fontRef idx="minor">
            <a:schemeClr val="tx1"/>
          </a:fontRef>
        </p:style>
      </p:cxnSp>
      <p:sp>
        <p:nvSpPr>
          <p:cNvPr id="31" name="text-30"/>
          <p:cNvSpPr txBox="1"/>
          <p:nvPr/>
        </p:nvSpPr>
        <p:spPr>
          <a:xfrm>
            <a:off x="9829800" y="2651760"/>
            <a:ext cx="1828800" cy="548640"/>
          </a:xfrm>
          <a:prstGeom prst="rect">
            <a:avLst/>
          </a:prstGeom>
          <a:noFill/>
        </p:spPr>
        <p:txBody>
          <a:bodyPr wrap="square" lIns="0" tIns="0" rIns="0" bIns="0">
            <a:spAutoFit/>
          </a:bodyPr>
          <a:lstStyle/>
          <a:p>
            <a:pPr>
              <a:spcAft>
                <a:spcPts val="0"/>
              </a:spcAft>
              <a:defRPr sz="2800" b="1">
                <a:solidFill>
                  <a:srgbClr val="C5F66A"/>
                </a:solidFill>
                <a:latin typeface="Aptos"/>
              </a:defRPr>
            </a:pPr>
            <a:r>
              <a:t>Normal</a:t>
            </a:r>
          </a:p>
        </p:txBody>
      </p:sp>
      <p:sp>
        <p:nvSpPr>
          <p:cNvPr id="32" name="shape-31"/>
          <p:cNvSpPr/>
          <p:nvPr/>
        </p:nvSpPr>
        <p:spPr>
          <a:xfrm>
            <a:off x="8362188" y="3881628"/>
            <a:ext cx="100584" cy="100584"/>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line-32"/>
          <p:cNvCxnSpPr/>
          <p:nvPr/>
        </p:nvCxnSpPr>
        <p:spPr>
          <a:xfrm>
            <a:off x="8321040" y="3931920"/>
            <a:ext cx="1417320" cy="960120"/>
          </a:xfrm>
          <a:prstGeom prst="line">
            <a:avLst/>
          </a:prstGeom>
          <a:ln w="25400">
            <a:solidFill>
              <a:srgbClr val="FF7058"/>
            </a:solidFill>
            <a:tailEnd type="triangle"/>
          </a:ln>
        </p:spPr>
        <p:style>
          <a:lnRef idx="2">
            <a:schemeClr val="accent1"/>
          </a:lnRef>
          <a:fillRef idx="0">
            <a:schemeClr val="accent1"/>
          </a:fillRef>
          <a:effectRef idx="1">
            <a:schemeClr val="accent1"/>
          </a:effectRef>
          <a:fontRef idx="minor">
            <a:schemeClr val="tx1"/>
          </a:fontRef>
        </p:style>
      </p:cxnSp>
      <p:sp>
        <p:nvSpPr>
          <p:cNvPr id="34" name="text-33"/>
          <p:cNvSpPr txBox="1"/>
          <p:nvPr/>
        </p:nvSpPr>
        <p:spPr>
          <a:xfrm>
            <a:off x="9829800" y="4617720"/>
            <a:ext cx="1828800" cy="548640"/>
          </a:xfrm>
          <a:prstGeom prst="rect">
            <a:avLst/>
          </a:prstGeom>
          <a:noFill/>
        </p:spPr>
        <p:txBody>
          <a:bodyPr wrap="square" lIns="0" tIns="0" rIns="0" bIns="0">
            <a:spAutoFit/>
          </a:bodyPr>
          <a:lstStyle/>
          <a:p>
            <a:pPr>
              <a:spcAft>
                <a:spcPts val="0"/>
              </a:spcAft>
              <a:defRPr sz="2800" b="1">
                <a:solidFill>
                  <a:srgbClr val="FF7058"/>
                </a:solidFill>
                <a:latin typeface="Aptos"/>
              </a:defRPr>
            </a:pPr>
            <a:r>
              <a:t>Attack</a:t>
            </a:r>
          </a:p>
        </p:txBody>
      </p:sp>
      <p:sp>
        <p:nvSpPr>
          <p:cNvPr id="35" name="shape-34"/>
          <p:cNvSpPr/>
          <p:nvPr/>
        </p:nvSpPr>
        <p:spPr>
          <a:xfrm>
            <a:off x="8362188" y="3881628"/>
            <a:ext cx="100584" cy="100584"/>
          </a:xfrm>
          <a:prstGeom prst="ellipse">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35"/>
          <p:cNvSpPr txBox="1"/>
          <p:nvPr/>
        </p:nvSpPr>
        <p:spPr>
          <a:xfrm>
            <a:off x="594360" y="5943600"/>
            <a:ext cx="10972800" cy="594360"/>
          </a:xfrm>
          <a:prstGeom prst="rect">
            <a:avLst/>
          </a:prstGeom>
          <a:noFill/>
        </p:spPr>
        <p:txBody>
          <a:bodyPr wrap="square" lIns="0" tIns="0" rIns="0" bIns="0">
            <a:spAutoFit/>
          </a:bodyPr>
          <a:lstStyle/>
          <a:p>
            <a:pPr>
              <a:spcAft>
                <a:spcPts val="0"/>
              </a:spcAft>
              <a:defRPr sz="2100" b="0">
                <a:solidFill>
                  <a:srgbClr val="F8F5EE"/>
                </a:solidFill>
                <a:latin typeface="Aptos"/>
              </a:defRPr>
            </a:pPr>
            <a:r>
              <a:t>Các base learner và bộ gộp đã được fit; ngưỡng quyết định 0,5.</a:t>
            </a:r>
          </a:p>
        </p:txBody>
      </p:sp>
    </p:spTree>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15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accel="15000" decel="15000" fill="hold" grpId="0"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22" presetClass="entr" presetSubtype="8" accel="15000" decel="15000" fill="hold" nodeType="withEffect">
                                  <p:stCondLst>
                                    <p:cond delay="80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600"/>
                                        <p:tgtEl>
                                          <p:spTgt spid="10"/>
                                        </p:tgtEl>
                                      </p:cBhvr>
                                    </p:animEffect>
                                  </p:childTnLst>
                                </p:cTn>
                              </p:par>
                              <p:par>
                                <p:cTn id="14" presetID="22" presetClass="entr" presetSubtype="8" accel="15000" decel="15000" fill="hold" nodeType="withEffect">
                                  <p:stCondLst>
                                    <p:cond delay="120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600"/>
                                        <p:tgtEl>
                                          <p:spTgt spid="16"/>
                                        </p:tgtEl>
                                      </p:cBhvr>
                                    </p:animEffect>
                                  </p:childTnLst>
                                </p:cTn>
                              </p:par>
                              <p:par>
                                <p:cTn id="17" presetID="10" presetClass="entr" presetSubtype="0" accel="15000" decel="15000" fill="hold" grpId="0" nodeType="withEffect">
                                  <p:stCondLst>
                                    <p:cond delay="14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accel="15000" decel="15000" fill="hold" grpId="0" nodeType="withEffect">
                                  <p:stCondLst>
                                    <p:cond delay="16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22" presetClass="entr" presetSubtype="8" accel="15000" decel="15000" fill="hold" nodeType="withEffect">
                                  <p:stCondLst>
                                    <p:cond delay="160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600"/>
                                        <p:tgtEl>
                                          <p:spTgt spid="22"/>
                                        </p:tgtEl>
                                      </p:cBhvr>
                                    </p:animEffect>
                                  </p:childTnLst>
                                </p:cTn>
                              </p:par>
                              <p:par>
                                <p:cTn id="26" presetID="10" presetClass="entr" presetSubtype="0" accel="15000" decel="15000" fill="hold" grpId="0" nodeType="withEffect">
                                  <p:stCondLst>
                                    <p:cond delay="180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accel="15000" decel="15000" fill="hold" grpId="0" nodeType="withEffect">
                                  <p:stCondLst>
                                    <p:cond delay="200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accel="15000" decel="15000" fill="hold" grpId="0" nodeType="withEffect">
                                  <p:stCondLst>
                                    <p:cond delay="220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accel="15000" decel="15000" fill="hold" grpId="0" nodeType="withEffect">
                                  <p:stCondLst>
                                    <p:cond delay="240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22" presetClass="entr" presetSubtype="8" accel="15000" decel="15000" fill="hold" nodeType="withEffect">
                                  <p:stCondLst>
                                    <p:cond delay="300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700"/>
                                        <p:tgtEl>
                                          <p:spTgt spid="13"/>
                                        </p:tgtEl>
                                      </p:cBhvr>
                                    </p:animEffect>
                                  </p:childTnLst>
                                </p:cTn>
                              </p:par>
                              <p:par>
                                <p:cTn id="41" presetID="22" presetClass="entr" presetSubtype="8" accel="15000" decel="15000" fill="hold" nodeType="withEffect">
                                  <p:stCondLst>
                                    <p:cond delay="330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700"/>
                                        <p:tgtEl>
                                          <p:spTgt spid="19"/>
                                        </p:tgtEl>
                                      </p:cBhvr>
                                    </p:animEffect>
                                  </p:childTnLst>
                                </p:cTn>
                              </p:par>
                              <p:par>
                                <p:cTn id="44" presetID="22" presetClass="entr" presetSubtype="8" accel="15000" decel="15000" fill="hold" nodeType="withEffect">
                                  <p:stCondLst>
                                    <p:cond delay="3600"/>
                                  </p:stCondLst>
                                  <p:childTnLst>
                                    <p:set>
                                      <p:cBhvr>
                                        <p:cTn id="45" dur="1" fill="hold">
                                          <p:stCondLst>
                                            <p:cond delay="0"/>
                                          </p:stCondLst>
                                        </p:cTn>
                                        <p:tgtEl>
                                          <p:spTgt spid="25"/>
                                        </p:tgtEl>
                                        <p:attrNameLst>
                                          <p:attrName>style.visibility</p:attrName>
                                        </p:attrNameLst>
                                      </p:cBhvr>
                                      <p:to>
                                        <p:strVal val="visible"/>
                                      </p:to>
                                    </p:set>
                                    <p:animEffect transition="in" filter="wipe(left)">
                                      <p:cBhvr>
                                        <p:cTn id="46" dur="700"/>
                                        <p:tgtEl>
                                          <p:spTgt spid="25"/>
                                        </p:tgtEl>
                                      </p:cBhvr>
                                    </p:animEffect>
                                  </p:childTnLst>
                                </p:cTn>
                              </p:par>
                              <p:par>
                                <p:cTn id="47" presetID="10" presetClass="entr" presetSubtype="0" accel="15000" decel="15000" fill="hold" grpId="0" nodeType="withEffect">
                                  <p:stCondLst>
                                    <p:cond delay="380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120"/>
                                        <p:tgtEl>
                                          <p:spTgt spid="14"/>
                                        </p:tgtEl>
                                      </p:cBhvr>
                                    </p:animEffect>
                                  </p:childTnLst>
                                </p:cTn>
                              </p:par>
                              <p:par>
                                <p:cTn id="50" presetID="0" presetClass="entr" presetSubtype="0" repeatCount="4000" accel="15000" decel="15000" fill="hold" grpId="1" nodeType="withEffect">
                                  <p:stCondLst>
                                    <p:cond delay="3920"/>
                                  </p:stCondLst>
                                  <p:childTnLst>
                                    <p:set>
                                      <p:cBhvr>
                                        <p:cTn id="51" dur="1" fill="hold">
                                          <p:stCondLst>
                                            <p:cond delay="0"/>
                                          </p:stCondLst>
                                        </p:cTn>
                                        <p:tgtEl>
                                          <p:spTgt spid="14"/>
                                        </p:tgtEl>
                                        <p:attrNameLst>
                                          <p:attrName>style.visibility</p:attrName>
                                        </p:attrNameLst>
                                      </p:cBhvr>
                                      <p:to>
                                        <p:strVal val="visible"/>
                                      </p:to>
                                    </p:set>
                                    <p:animMotion origin="layout" path="M 0 0 L 0.21000001 -0.17333333 E" pathEditMode="relative">
                                      <p:cBhvr from="" to="">
                                        <p:cTn id="52" dur="1300" fill="hold">
                                          <p:stCondLst>
                                            <p:cond delay="0"/>
                                          </p:stCondLst>
                                        </p:cTn>
                                        <p:tgtEl>
                                          <p:spTgt spid="14"/>
                                        </p:tgtEl>
                                        <p:attrNameLst>
                                          <p:attrName>ppt_x</p:attrName>
                                          <p:attrName>ppt_y</p:attrName>
                                        </p:attrNameLst>
                                      </p:cBhvr>
                                    </p:animMotion>
                                  </p:childTnLst>
                                </p:cTn>
                              </p:par>
                              <p:par>
                                <p:cTn id="53" presetID="10" presetClass="entr" presetSubtype="0" accel="15000" decel="15000" fill="hold" grpId="0" nodeType="withEffect">
                                  <p:stCondLst>
                                    <p:cond delay="400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600"/>
                                        <p:tgtEl>
                                          <p:spTgt spid="28"/>
                                        </p:tgtEl>
                                      </p:cBhvr>
                                    </p:animEffect>
                                  </p:childTnLst>
                                </p:cTn>
                              </p:par>
                              <p:par>
                                <p:cTn id="56" presetID="10" presetClass="entr" presetSubtype="0" accel="15000" decel="15000" fill="hold" grpId="0" nodeType="withEffect">
                                  <p:stCondLst>
                                    <p:cond delay="430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120"/>
                                        <p:tgtEl>
                                          <p:spTgt spid="20"/>
                                        </p:tgtEl>
                                      </p:cBhvr>
                                    </p:animEffect>
                                  </p:childTnLst>
                                </p:cTn>
                              </p:par>
                              <p:par>
                                <p:cTn id="59" presetID="10" presetClass="entr" presetSubtype="0" accel="15000" decel="15000" fill="hold" grpId="0" nodeType="withEffect">
                                  <p:stCondLst>
                                    <p:cond delay="440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120"/>
                                        <p:tgtEl>
                                          <p:spTgt spid="15"/>
                                        </p:tgtEl>
                                      </p:cBhvr>
                                    </p:animEffect>
                                  </p:childTnLst>
                                </p:cTn>
                              </p:par>
                              <p:par>
                                <p:cTn id="62" presetID="0" presetClass="entr" presetSubtype="0" repeatCount="4000" accel="15000" decel="15000" fill="hold" grpId="1" nodeType="withEffect">
                                  <p:stCondLst>
                                    <p:cond delay="4420"/>
                                  </p:stCondLst>
                                  <p:childTnLst>
                                    <p:set>
                                      <p:cBhvr>
                                        <p:cTn id="63" dur="1" fill="hold">
                                          <p:stCondLst>
                                            <p:cond delay="0"/>
                                          </p:stCondLst>
                                        </p:cTn>
                                        <p:tgtEl>
                                          <p:spTgt spid="20"/>
                                        </p:tgtEl>
                                        <p:attrNameLst>
                                          <p:attrName>style.visibility</p:attrName>
                                        </p:attrNameLst>
                                      </p:cBhvr>
                                      <p:to>
                                        <p:strVal val="visible"/>
                                      </p:to>
                                    </p:set>
                                    <p:animMotion origin="layout" path="M 0 0 L 0.21000001 0.00000000 E" pathEditMode="relative">
                                      <p:cBhvr from="" to="">
                                        <p:cTn id="64" dur="1300" fill="hold">
                                          <p:stCondLst>
                                            <p:cond delay="0"/>
                                          </p:stCondLst>
                                        </p:cTn>
                                        <p:tgtEl>
                                          <p:spTgt spid="20"/>
                                        </p:tgtEl>
                                        <p:attrNameLst>
                                          <p:attrName>ppt_x</p:attrName>
                                          <p:attrName>ppt_y</p:attrName>
                                        </p:attrNameLst>
                                      </p:cBhvr>
                                    </p:animMotion>
                                  </p:childTnLst>
                                </p:cTn>
                              </p:par>
                              <p:par>
                                <p:cTn id="65" presetID="0" presetClass="entr" presetSubtype="0" repeatCount="4000" accel="15000" decel="15000" fill="hold" grpId="1" nodeType="withEffect">
                                  <p:stCondLst>
                                    <p:cond delay="4520"/>
                                  </p:stCondLst>
                                  <p:childTnLst>
                                    <p:set>
                                      <p:cBhvr>
                                        <p:cTn id="66" dur="1" fill="hold">
                                          <p:stCondLst>
                                            <p:cond delay="0"/>
                                          </p:stCondLst>
                                        </p:cTn>
                                        <p:tgtEl>
                                          <p:spTgt spid="15"/>
                                        </p:tgtEl>
                                        <p:attrNameLst>
                                          <p:attrName>style.visibility</p:attrName>
                                        </p:attrNameLst>
                                      </p:cBhvr>
                                      <p:to>
                                        <p:strVal val="visible"/>
                                      </p:to>
                                    </p:set>
                                    <p:animMotion origin="layout" path="M 0 0 L 0.21000001 -0.17333333 E" pathEditMode="relative">
                                      <p:cBhvr from="" to="">
                                        <p:cTn id="67" dur="1300" fill="hold">
                                          <p:stCondLst>
                                            <p:cond delay="0"/>
                                          </p:stCondLst>
                                        </p:cTn>
                                        <p:tgtEl>
                                          <p:spTgt spid="15"/>
                                        </p:tgtEl>
                                        <p:attrNameLst>
                                          <p:attrName>ppt_x</p:attrName>
                                          <p:attrName>ppt_y</p:attrName>
                                        </p:attrNameLst>
                                      </p:cBhvr>
                                    </p:animMotion>
                                  </p:childTnLst>
                                </p:cTn>
                              </p:par>
                              <p:par>
                                <p:cTn id="68" presetID="10" presetClass="entr" presetSubtype="0" accel="15000" decel="15000" fill="hold" grpId="0" nodeType="withEffect">
                                  <p:stCondLst>
                                    <p:cond delay="480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120"/>
                                        <p:tgtEl>
                                          <p:spTgt spid="26"/>
                                        </p:tgtEl>
                                      </p:cBhvr>
                                    </p:animEffect>
                                  </p:childTnLst>
                                </p:cTn>
                              </p:par>
                              <p:par>
                                <p:cTn id="71" presetID="10" presetClass="entr" presetSubtype="0" accel="15000" decel="15000" fill="hold" grpId="0" nodeType="withEffect">
                                  <p:stCondLst>
                                    <p:cond delay="490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120"/>
                                        <p:tgtEl>
                                          <p:spTgt spid="21"/>
                                        </p:tgtEl>
                                      </p:cBhvr>
                                    </p:animEffect>
                                  </p:childTnLst>
                                </p:cTn>
                              </p:par>
                              <p:par>
                                <p:cTn id="74" presetID="0" presetClass="entr" presetSubtype="0" repeatCount="4000" accel="15000" decel="15000" fill="hold" grpId="1" nodeType="withEffect">
                                  <p:stCondLst>
                                    <p:cond delay="4920"/>
                                  </p:stCondLst>
                                  <p:childTnLst>
                                    <p:set>
                                      <p:cBhvr>
                                        <p:cTn id="75" dur="1" fill="hold">
                                          <p:stCondLst>
                                            <p:cond delay="0"/>
                                          </p:stCondLst>
                                        </p:cTn>
                                        <p:tgtEl>
                                          <p:spTgt spid="26"/>
                                        </p:tgtEl>
                                        <p:attrNameLst>
                                          <p:attrName>style.visibility</p:attrName>
                                        </p:attrNameLst>
                                      </p:cBhvr>
                                      <p:to>
                                        <p:strVal val="visible"/>
                                      </p:to>
                                    </p:set>
                                    <p:animMotion origin="layout" path="M 0 0 L 0.21000001 0.17333333 E" pathEditMode="relative">
                                      <p:cBhvr from="" to="">
                                        <p:cTn id="76" dur="1300" fill="hold">
                                          <p:stCondLst>
                                            <p:cond delay="0"/>
                                          </p:stCondLst>
                                        </p:cTn>
                                        <p:tgtEl>
                                          <p:spTgt spid="26"/>
                                        </p:tgtEl>
                                        <p:attrNameLst>
                                          <p:attrName>ppt_x</p:attrName>
                                          <p:attrName>ppt_y</p:attrName>
                                        </p:attrNameLst>
                                      </p:cBhvr>
                                    </p:animMotion>
                                  </p:childTnLst>
                                </p:cTn>
                              </p:par>
                              <p:par>
                                <p:cTn id="77" presetID="0" presetClass="entr" presetSubtype="0" repeatCount="4000" accel="15000" decel="15000" fill="hold" grpId="1" nodeType="withEffect">
                                  <p:stCondLst>
                                    <p:cond delay="5020"/>
                                  </p:stCondLst>
                                  <p:childTnLst>
                                    <p:set>
                                      <p:cBhvr>
                                        <p:cTn id="78" dur="1" fill="hold">
                                          <p:stCondLst>
                                            <p:cond delay="0"/>
                                          </p:stCondLst>
                                        </p:cTn>
                                        <p:tgtEl>
                                          <p:spTgt spid="21"/>
                                        </p:tgtEl>
                                        <p:attrNameLst>
                                          <p:attrName>style.visibility</p:attrName>
                                        </p:attrNameLst>
                                      </p:cBhvr>
                                      <p:to>
                                        <p:strVal val="visible"/>
                                      </p:to>
                                    </p:set>
                                    <p:animMotion origin="layout" path="M 0 0 L 0.21000001 0.00000000 E" pathEditMode="relative">
                                      <p:cBhvr from="" to="">
                                        <p:cTn id="79" dur="1300" fill="hold">
                                          <p:stCondLst>
                                            <p:cond delay="0"/>
                                          </p:stCondLst>
                                        </p:cTn>
                                        <p:tgtEl>
                                          <p:spTgt spid="21"/>
                                        </p:tgtEl>
                                        <p:attrNameLst>
                                          <p:attrName>ppt_x</p:attrName>
                                          <p:attrName>ppt_y</p:attrName>
                                        </p:attrNameLst>
                                      </p:cBhvr>
                                    </p:animMotion>
                                  </p:childTnLst>
                                </p:cTn>
                              </p:par>
                              <p:par>
                                <p:cTn id="80" presetID="10" presetClass="entr" presetSubtype="0" accel="15000" decel="15000" fill="hold" grpId="0" nodeType="withEffect">
                                  <p:stCondLst>
                                    <p:cond delay="540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120"/>
                                        <p:tgtEl>
                                          <p:spTgt spid="27"/>
                                        </p:tgtEl>
                                      </p:cBhvr>
                                    </p:animEffect>
                                  </p:childTnLst>
                                </p:cTn>
                              </p:par>
                              <p:par>
                                <p:cTn id="83" presetID="0" presetClass="entr" presetSubtype="0" repeatCount="4000" accel="15000" decel="15000" fill="hold" grpId="1" nodeType="withEffect">
                                  <p:stCondLst>
                                    <p:cond delay="5520"/>
                                  </p:stCondLst>
                                  <p:childTnLst>
                                    <p:set>
                                      <p:cBhvr>
                                        <p:cTn id="84" dur="1" fill="hold">
                                          <p:stCondLst>
                                            <p:cond delay="0"/>
                                          </p:stCondLst>
                                        </p:cTn>
                                        <p:tgtEl>
                                          <p:spTgt spid="27"/>
                                        </p:tgtEl>
                                        <p:attrNameLst>
                                          <p:attrName>style.visibility</p:attrName>
                                        </p:attrNameLst>
                                      </p:cBhvr>
                                      <p:to>
                                        <p:strVal val="visible"/>
                                      </p:to>
                                    </p:set>
                                    <p:animMotion origin="layout" path="M 0 0 L 0.21000001 0.17333333 E" pathEditMode="relative">
                                      <p:cBhvr from="" to="">
                                        <p:cTn id="85" dur="1300" fill="hold">
                                          <p:stCondLst>
                                            <p:cond delay="0"/>
                                          </p:stCondLst>
                                        </p:cTn>
                                        <p:tgtEl>
                                          <p:spTgt spid="27"/>
                                        </p:tgtEl>
                                        <p:attrNameLst>
                                          <p:attrName>ppt_x</p:attrName>
                                          <p:attrName>ppt_y</p:attrName>
                                        </p:attrNameLst>
                                      </p:cBhvr>
                                    </p:animMotion>
                                  </p:childTnLst>
                                </p:cTn>
                              </p:par>
                              <p:par>
                                <p:cTn id="86" presetID="22" presetClass="entr" presetSubtype="8" accel="15000" decel="15000" fill="hold" nodeType="withEffect">
                                  <p:stCondLst>
                                    <p:cond delay="6000"/>
                                  </p:stCondLst>
                                  <p:childTnLst>
                                    <p:set>
                                      <p:cBhvr>
                                        <p:cTn id="87" dur="1" fill="hold">
                                          <p:stCondLst>
                                            <p:cond delay="0"/>
                                          </p:stCondLst>
                                        </p:cTn>
                                        <p:tgtEl>
                                          <p:spTgt spid="30"/>
                                        </p:tgtEl>
                                        <p:attrNameLst>
                                          <p:attrName>style.visibility</p:attrName>
                                        </p:attrNameLst>
                                      </p:cBhvr>
                                      <p:to>
                                        <p:strVal val="visible"/>
                                      </p:to>
                                    </p:set>
                                    <p:animEffect transition="in" filter="wipe(left)">
                                      <p:cBhvr>
                                        <p:cTn id="88" dur="800"/>
                                        <p:tgtEl>
                                          <p:spTgt spid="30"/>
                                        </p:tgtEl>
                                      </p:cBhvr>
                                    </p:animEffect>
                                  </p:childTnLst>
                                </p:cTn>
                              </p:par>
                              <p:par>
                                <p:cTn id="89" presetID="10" presetClass="entr" presetSubtype="0" accel="15000" decel="15000" fill="hold" grpId="0" nodeType="withEffect">
                                  <p:stCondLst>
                                    <p:cond delay="700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00"/>
                                        <p:tgtEl>
                                          <p:spTgt spid="31"/>
                                        </p:tgtEl>
                                      </p:cBhvr>
                                    </p:animEffect>
                                  </p:childTnLst>
                                </p:cTn>
                              </p:par>
                              <p:par>
                                <p:cTn id="92" presetID="22" presetClass="entr" presetSubtype="8" accel="15000" decel="15000" fill="hold" nodeType="withEffect">
                                  <p:stCondLst>
                                    <p:cond delay="7000"/>
                                  </p:stCondLst>
                                  <p:childTnLst>
                                    <p:set>
                                      <p:cBhvr>
                                        <p:cTn id="93" dur="1" fill="hold">
                                          <p:stCondLst>
                                            <p:cond delay="0"/>
                                          </p:stCondLst>
                                        </p:cTn>
                                        <p:tgtEl>
                                          <p:spTgt spid="33"/>
                                        </p:tgtEl>
                                        <p:attrNameLst>
                                          <p:attrName>style.visibility</p:attrName>
                                        </p:attrNameLst>
                                      </p:cBhvr>
                                      <p:to>
                                        <p:strVal val="visible"/>
                                      </p:to>
                                    </p:set>
                                    <p:animEffect transition="in" filter="wipe(left)">
                                      <p:cBhvr>
                                        <p:cTn id="94" dur="800"/>
                                        <p:tgtEl>
                                          <p:spTgt spid="33"/>
                                        </p:tgtEl>
                                      </p:cBhvr>
                                    </p:animEffect>
                                  </p:childTnLst>
                                </p:cTn>
                              </p:par>
                              <p:par>
                                <p:cTn id="95" presetID="10" presetClass="entr" presetSubtype="0" accel="15000" decel="15000" fill="hold" grpId="0" nodeType="withEffect">
                                  <p:stCondLst>
                                    <p:cond delay="800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00"/>
                                        <p:tgtEl>
                                          <p:spTgt spid="34"/>
                                        </p:tgtEl>
                                      </p:cBhvr>
                                    </p:animEffect>
                                  </p:childTnLst>
                                </p:cTn>
                              </p:par>
                              <p:par>
                                <p:cTn id="98" presetID="10" presetClass="entr" presetSubtype="0" accel="15000" decel="15000" fill="hold" grpId="0" nodeType="withEffect">
                                  <p:stCondLst>
                                    <p:cond delay="900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120"/>
                                        <p:tgtEl>
                                          <p:spTgt spid="32"/>
                                        </p:tgtEl>
                                      </p:cBhvr>
                                    </p:animEffect>
                                  </p:childTnLst>
                                </p:cTn>
                              </p:par>
                              <p:par>
                                <p:cTn id="101" presetID="0" presetClass="entr" presetSubtype="0" repeatCount="6000" accel="15000" decel="15000" fill="hold" grpId="1" nodeType="withEffect">
                                  <p:stCondLst>
                                    <p:cond delay="9120"/>
                                  </p:stCondLst>
                                  <p:childTnLst>
                                    <p:set>
                                      <p:cBhvr>
                                        <p:cTn id="102" dur="1" fill="hold">
                                          <p:stCondLst>
                                            <p:cond delay="0"/>
                                          </p:stCondLst>
                                        </p:cTn>
                                        <p:tgtEl>
                                          <p:spTgt spid="32"/>
                                        </p:tgtEl>
                                        <p:attrNameLst>
                                          <p:attrName>style.visibility</p:attrName>
                                        </p:attrNameLst>
                                      </p:cBhvr>
                                      <p:to>
                                        <p:strVal val="visible"/>
                                      </p:to>
                                    </p:set>
                                    <p:animMotion origin="layout" path="M 0 0 L 0.10500000 -0.14666667 E" pathEditMode="relative">
                                      <p:cBhvr from="" to="">
                                        <p:cTn id="103" dur="1300" fill="hold">
                                          <p:stCondLst>
                                            <p:cond delay="0"/>
                                          </p:stCondLst>
                                        </p:cTn>
                                        <p:tgtEl>
                                          <p:spTgt spid="32"/>
                                        </p:tgtEl>
                                        <p:attrNameLst>
                                          <p:attrName>ppt_x</p:attrName>
                                          <p:attrName>ppt_y</p:attrName>
                                        </p:attrNameLst>
                                      </p:cBhvr>
                                    </p:animMotion>
                                  </p:childTnLst>
                                </p:cTn>
                              </p:par>
                              <p:par>
                                <p:cTn id="104" presetID="10" presetClass="exit" presetSubtype="0" accel="15000" decel="15000" fill="hold" grpId="2" nodeType="withEffect">
                                  <p:stCondLst>
                                    <p:cond delay="9120"/>
                                  </p:stCondLst>
                                  <p:childTnLst>
                                    <p:animEffect transition="out" filter="fade">
                                      <p:cBhvr>
                                        <p:cTn id="105" dur="120"/>
                                        <p:tgtEl>
                                          <p:spTgt spid="14"/>
                                        </p:tgtEl>
                                      </p:cBhvr>
                                    </p:animEffect>
                                    <p:set>
                                      <p:cBhvr>
                                        <p:cTn id="106" dur="1" fill="hold">
                                          <p:stCondLst>
                                            <p:cond delay="119"/>
                                          </p:stCondLst>
                                        </p:cTn>
                                        <p:tgtEl>
                                          <p:spTgt spid="14"/>
                                        </p:tgtEl>
                                        <p:attrNameLst>
                                          <p:attrName>style.visibility</p:attrName>
                                        </p:attrNameLst>
                                      </p:cBhvr>
                                      <p:to>
                                        <p:strVal val="hidden"/>
                                      </p:to>
                                    </p:set>
                                  </p:childTnLst>
                                </p:cTn>
                              </p:par>
                              <p:par>
                                <p:cTn id="107" presetID="10" presetClass="entr" presetSubtype="0" accel="15000" decel="15000" fill="hold" grpId="0" nodeType="withEffect">
                                  <p:stCondLst>
                                    <p:cond delay="960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120"/>
                                        <p:tgtEl>
                                          <p:spTgt spid="35"/>
                                        </p:tgtEl>
                                      </p:cBhvr>
                                    </p:animEffect>
                                  </p:childTnLst>
                                </p:cTn>
                              </p:par>
                              <p:par>
                                <p:cTn id="110" presetID="10" presetClass="exit" presetSubtype="0" accel="15000" decel="15000" fill="hold" grpId="2" nodeType="withEffect">
                                  <p:stCondLst>
                                    <p:cond delay="9620"/>
                                  </p:stCondLst>
                                  <p:childTnLst>
                                    <p:animEffect transition="out" filter="fade">
                                      <p:cBhvr>
                                        <p:cTn id="111" dur="120"/>
                                        <p:tgtEl>
                                          <p:spTgt spid="20"/>
                                        </p:tgtEl>
                                      </p:cBhvr>
                                    </p:animEffect>
                                    <p:set>
                                      <p:cBhvr>
                                        <p:cTn id="112" dur="1" fill="hold">
                                          <p:stCondLst>
                                            <p:cond delay="119"/>
                                          </p:stCondLst>
                                        </p:cTn>
                                        <p:tgtEl>
                                          <p:spTgt spid="20"/>
                                        </p:tgtEl>
                                        <p:attrNameLst>
                                          <p:attrName>style.visibility</p:attrName>
                                        </p:attrNameLst>
                                      </p:cBhvr>
                                      <p:to>
                                        <p:strVal val="hidden"/>
                                      </p:to>
                                    </p:set>
                                  </p:childTnLst>
                                </p:cTn>
                              </p:par>
                              <p:par>
                                <p:cTn id="113" presetID="10" presetClass="exit" presetSubtype="0" accel="15000" decel="15000" fill="hold" grpId="2" nodeType="withEffect">
                                  <p:stCondLst>
                                    <p:cond delay="9720"/>
                                  </p:stCondLst>
                                  <p:childTnLst>
                                    <p:animEffect transition="out" filter="fade">
                                      <p:cBhvr>
                                        <p:cTn id="114" dur="120"/>
                                        <p:tgtEl>
                                          <p:spTgt spid="15"/>
                                        </p:tgtEl>
                                      </p:cBhvr>
                                    </p:animEffect>
                                    <p:set>
                                      <p:cBhvr>
                                        <p:cTn id="115" dur="1" fill="hold">
                                          <p:stCondLst>
                                            <p:cond delay="119"/>
                                          </p:stCondLst>
                                        </p:cTn>
                                        <p:tgtEl>
                                          <p:spTgt spid="15"/>
                                        </p:tgtEl>
                                        <p:attrNameLst>
                                          <p:attrName>style.visibility</p:attrName>
                                        </p:attrNameLst>
                                      </p:cBhvr>
                                      <p:to>
                                        <p:strVal val="hidden"/>
                                      </p:to>
                                    </p:set>
                                  </p:childTnLst>
                                </p:cTn>
                              </p:par>
                              <p:par>
                                <p:cTn id="116" presetID="0" presetClass="entr" presetSubtype="0" repeatCount="6000" accel="15000" decel="15000" fill="hold" grpId="1" nodeType="withEffect">
                                  <p:stCondLst>
                                    <p:cond delay="9720"/>
                                  </p:stCondLst>
                                  <p:childTnLst>
                                    <p:set>
                                      <p:cBhvr>
                                        <p:cTn id="117" dur="1" fill="hold">
                                          <p:stCondLst>
                                            <p:cond delay="0"/>
                                          </p:stCondLst>
                                        </p:cTn>
                                        <p:tgtEl>
                                          <p:spTgt spid="35"/>
                                        </p:tgtEl>
                                        <p:attrNameLst>
                                          <p:attrName>style.visibility</p:attrName>
                                        </p:attrNameLst>
                                      </p:cBhvr>
                                      <p:to>
                                        <p:strVal val="visible"/>
                                      </p:to>
                                    </p:set>
                                    <p:animMotion origin="layout" path="M 0 0 L 0.10500000 0.14000000 E" pathEditMode="relative">
                                      <p:cBhvr from="" to="">
                                        <p:cTn id="118" dur="1300" fill="hold">
                                          <p:stCondLst>
                                            <p:cond delay="0"/>
                                          </p:stCondLst>
                                        </p:cTn>
                                        <p:tgtEl>
                                          <p:spTgt spid="35"/>
                                        </p:tgtEl>
                                        <p:attrNameLst>
                                          <p:attrName>ppt_x</p:attrName>
                                          <p:attrName>ppt_y</p:attrName>
                                        </p:attrNameLst>
                                      </p:cBhvr>
                                    </p:animMotion>
                                  </p:childTnLst>
                                </p:cTn>
                              </p:par>
                              <p:par>
                                <p:cTn id="119" presetID="10" presetClass="exit" presetSubtype="0" accel="15000" decel="15000" fill="hold" grpId="2" nodeType="withEffect">
                                  <p:stCondLst>
                                    <p:cond delay="10120"/>
                                  </p:stCondLst>
                                  <p:childTnLst>
                                    <p:animEffect transition="out" filter="fade">
                                      <p:cBhvr>
                                        <p:cTn id="120" dur="120"/>
                                        <p:tgtEl>
                                          <p:spTgt spid="26"/>
                                        </p:tgtEl>
                                      </p:cBhvr>
                                    </p:animEffect>
                                    <p:set>
                                      <p:cBhvr>
                                        <p:cTn id="121" dur="1" fill="hold">
                                          <p:stCondLst>
                                            <p:cond delay="119"/>
                                          </p:stCondLst>
                                        </p:cTn>
                                        <p:tgtEl>
                                          <p:spTgt spid="26"/>
                                        </p:tgtEl>
                                        <p:attrNameLst>
                                          <p:attrName>style.visibility</p:attrName>
                                        </p:attrNameLst>
                                      </p:cBhvr>
                                      <p:to>
                                        <p:strVal val="hidden"/>
                                      </p:to>
                                    </p:set>
                                  </p:childTnLst>
                                </p:cTn>
                              </p:par>
                              <p:par>
                                <p:cTn id="122" presetID="10" presetClass="exit" presetSubtype="0" accel="15000" decel="15000" fill="hold" grpId="2" nodeType="withEffect">
                                  <p:stCondLst>
                                    <p:cond delay="10220"/>
                                  </p:stCondLst>
                                  <p:childTnLst>
                                    <p:animEffect transition="out" filter="fade">
                                      <p:cBhvr>
                                        <p:cTn id="123" dur="120"/>
                                        <p:tgtEl>
                                          <p:spTgt spid="21"/>
                                        </p:tgtEl>
                                      </p:cBhvr>
                                    </p:animEffect>
                                    <p:set>
                                      <p:cBhvr>
                                        <p:cTn id="124" dur="1" fill="hold">
                                          <p:stCondLst>
                                            <p:cond delay="119"/>
                                          </p:stCondLst>
                                        </p:cTn>
                                        <p:tgtEl>
                                          <p:spTgt spid="21"/>
                                        </p:tgtEl>
                                        <p:attrNameLst>
                                          <p:attrName>style.visibility</p:attrName>
                                        </p:attrNameLst>
                                      </p:cBhvr>
                                      <p:to>
                                        <p:strVal val="hidden"/>
                                      </p:to>
                                    </p:set>
                                  </p:childTnLst>
                                </p:cTn>
                              </p:par>
                              <p:par>
                                <p:cTn id="125" presetID="10" presetClass="exit" presetSubtype="0" accel="15000" decel="15000" fill="hold" grpId="2" nodeType="withEffect">
                                  <p:stCondLst>
                                    <p:cond delay="10720"/>
                                  </p:stCondLst>
                                  <p:childTnLst>
                                    <p:animEffect transition="out" filter="fade">
                                      <p:cBhvr>
                                        <p:cTn id="126" dur="120"/>
                                        <p:tgtEl>
                                          <p:spTgt spid="27"/>
                                        </p:tgtEl>
                                      </p:cBhvr>
                                    </p:animEffect>
                                    <p:set>
                                      <p:cBhvr>
                                        <p:cTn id="127" dur="1" fill="hold">
                                          <p:stCondLst>
                                            <p:cond delay="119"/>
                                          </p:stCondLst>
                                        </p:cTn>
                                        <p:tgtEl>
                                          <p:spTgt spid="27"/>
                                        </p:tgtEl>
                                        <p:attrNameLst>
                                          <p:attrName>style.visibility</p:attrName>
                                        </p:attrNameLst>
                                      </p:cBhvr>
                                      <p:to>
                                        <p:strVal val="hidden"/>
                                      </p:to>
                                    </p:set>
                                  </p:childTnLst>
                                </p:cTn>
                              </p:par>
                              <p:par>
                                <p:cTn id="128" presetID="10" presetClass="exit" presetSubtype="0" accel="15000" decel="15000" fill="hold" grpId="2" nodeType="withEffect">
                                  <p:stCondLst>
                                    <p:cond delay="16920"/>
                                  </p:stCondLst>
                                  <p:childTnLst>
                                    <p:animEffect transition="out" filter="fade">
                                      <p:cBhvr>
                                        <p:cTn id="129" dur="120"/>
                                        <p:tgtEl>
                                          <p:spTgt spid="32"/>
                                        </p:tgtEl>
                                      </p:cBhvr>
                                    </p:animEffect>
                                    <p:set>
                                      <p:cBhvr>
                                        <p:cTn id="130" dur="1" fill="hold">
                                          <p:stCondLst>
                                            <p:cond delay="119"/>
                                          </p:stCondLst>
                                        </p:cTn>
                                        <p:tgtEl>
                                          <p:spTgt spid="32"/>
                                        </p:tgtEl>
                                        <p:attrNameLst>
                                          <p:attrName>style.visibility</p:attrName>
                                        </p:attrNameLst>
                                      </p:cBhvr>
                                      <p:to>
                                        <p:strVal val="hidden"/>
                                      </p:to>
                                    </p:set>
                                  </p:childTnLst>
                                </p:cTn>
                              </p:par>
                              <p:par>
                                <p:cTn id="131" presetID="10" presetClass="exit" presetSubtype="0" accel="15000" decel="15000" fill="hold" grpId="2" nodeType="withEffect">
                                  <p:stCondLst>
                                    <p:cond delay="17520"/>
                                  </p:stCondLst>
                                  <p:childTnLst>
                                    <p:animEffect transition="out" filter="fade">
                                      <p:cBhvr>
                                        <p:cTn id="132" dur="120"/>
                                        <p:tgtEl>
                                          <p:spTgt spid="35"/>
                                        </p:tgtEl>
                                      </p:cBhvr>
                                    </p:animEffect>
                                    <p:set>
                                      <p:cBhvr>
                                        <p:cTn id="133" dur="1" fill="hold">
                                          <p:stCondLst>
                                            <p:cond delay="119"/>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animBg="1"/>
      <p:bldP spid="12" grpId="0"/>
      <p:bldP spid="14" grpId="0" animBg="1"/>
      <p:bldP spid="14" grpId="1" animBg="1"/>
      <p:bldP spid="14" grpId="2" animBg="1"/>
      <p:bldP spid="15" grpId="0" animBg="1"/>
      <p:bldP spid="15" grpId="1" animBg="1"/>
      <p:bldP spid="15" grpId="2" animBg="1"/>
      <p:bldP spid="17" grpId="0" animBg="1"/>
      <p:bldP spid="18" grpId="0"/>
      <p:bldP spid="20" grpId="0" animBg="1"/>
      <p:bldP spid="20" grpId="1" animBg="1"/>
      <p:bldP spid="20" grpId="2" animBg="1"/>
      <p:bldP spid="21" grpId="0" animBg="1"/>
      <p:bldP spid="21" grpId="1" animBg="1"/>
      <p:bldP spid="21" grpId="2" animBg="1"/>
      <p:bldP spid="23" grpId="0" animBg="1"/>
      <p:bldP spid="24" grpId="0"/>
      <p:bldP spid="26" grpId="0" animBg="1"/>
      <p:bldP spid="26" grpId="1" animBg="1"/>
      <p:bldP spid="26" grpId="2" animBg="1"/>
      <p:bldP spid="27" grpId="0" animBg="1"/>
      <p:bldP spid="27" grpId="1" animBg="1"/>
      <p:bldP spid="27" grpId="2" animBg="1"/>
      <p:bldP spid="28" grpId="0" animBg="1"/>
      <p:bldP spid="31" grpId="0"/>
      <p:bldP spid="32" grpId="0" animBg="1"/>
      <p:bldP spid="32" grpId="1" animBg="1"/>
      <p:bldP spid="32" grpId="2" animBg="1"/>
      <p:bldP spid="34" grpId="0"/>
      <p:bldP spid="35" grpId="0" animBg="1"/>
      <p:bldP spid="35" grpId="1" animBg="1"/>
      <p:bldP spid="35" grpId="2"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ENSEMBLE / IDS                         OOF</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03</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UNSW-NB15 · sơ đồ minh họa pipeline offline theo mã nguồn; không phải traffic triển khai</a:t>
            </a:r>
          </a:p>
        </p:txBody>
      </p:sp>
      <p:sp>
        <p:nvSpPr>
          <p:cNvPr id="5" name="hero-title"/>
          <p:cNvSpPr txBox="1"/>
          <p:nvPr/>
        </p:nvSpPr>
        <p:spPr>
          <a:xfrm>
            <a:off x="502920" y="868680"/>
            <a:ext cx="10972800" cy="1554480"/>
          </a:xfrm>
          <a:prstGeom prst="rect">
            <a:avLst/>
          </a:prstGeom>
          <a:noFill/>
        </p:spPr>
        <p:txBody>
          <a:bodyPr wrap="square" lIns="0" tIns="0" rIns="0" bIns="0">
            <a:spAutoFit/>
          </a:bodyPr>
          <a:lstStyle/>
          <a:p>
            <a:pPr>
              <a:spcAft>
                <a:spcPts val="0"/>
              </a:spcAft>
              <a:defRPr sz="4500" b="1">
                <a:solidFill>
                  <a:srgbClr val="10162F"/>
                </a:solidFill>
                <a:latin typeface="Arial"/>
              </a:defRPr>
            </a:pPr>
            <a:r>
              <a:t>META LEARNER HỌC TỪ</a:t>
            </a:r>
          </a:p>
          <a:p>
            <a:pPr>
              <a:spcAft>
                <a:spcPts val="0"/>
              </a:spcAft>
              <a:defRPr sz="4500" b="1">
                <a:solidFill>
                  <a:srgbClr val="10162F"/>
                </a:solidFill>
                <a:latin typeface="Arial"/>
              </a:defRPr>
            </a:pPr>
            <a:r>
              <a:t>DỰ ĐOÁN NGOÀI FOLD.</a:t>
            </a:r>
          </a:p>
        </p:txBody>
      </p:sp>
      <p:sp>
        <p:nvSpPr>
          <p:cNvPr id="6" name="text-5"/>
          <p:cNvSpPr txBox="1"/>
          <p:nvPr/>
        </p:nvSpPr>
        <p:spPr>
          <a:xfrm>
            <a:off x="594360" y="2834640"/>
            <a:ext cx="1828800" cy="365760"/>
          </a:xfrm>
          <a:prstGeom prst="rect">
            <a:avLst/>
          </a:prstGeom>
          <a:noFill/>
        </p:spPr>
        <p:txBody>
          <a:bodyPr wrap="square" lIns="0" tIns="0" rIns="0" bIns="0">
            <a:spAutoFit/>
          </a:bodyPr>
          <a:lstStyle/>
          <a:p>
            <a:pPr>
              <a:spcAft>
                <a:spcPts val="0"/>
              </a:spcAft>
              <a:defRPr sz="1900" b="1">
                <a:solidFill>
                  <a:srgbClr val="7958F5"/>
                </a:solidFill>
                <a:latin typeface="Consolas"/>
              </a:defRPr>
            </a:pPr>
            <a:r>
              <a:t>FIT BASE</a:t>
            </a:r>
          </a:p>
        </p:txBody>
      </p:sp>
      <p:sp>
        <p:nvSpPr>
          <p:cNvPr id="7" name="text-6"/>
          <p:cNvSpPr txBox="1"/>
          <p:nvPr/>
        </p:nvSpPr>
        <p:spPr>
          <a:xfrm>
            <a:off x="6720840" y="2834640"/>
            <a:ext cx="1828800" cy="365760"/>
          </a:xfrm>
          <a:prstGeom prst="rect">
            <a:avLst/>
          </a:prstGeom>
          <a:noFill/>
        </p:spPr>
        <p:txBody>
          <a:bodyPr wrap="square" lIns="0" tIns="0" rIns="0" bIns="0">
            <a:spAutoFit/>
          </a:bodyPr>
          <a:lstStyle/>
          <a:p>
            <a:pPr>
              <a:spcAft>
                <a:spcPts val="0"/>
              </a:spcAft>
              <a:defRPr sz="1900" b="1">
                <a:solidFill>
                  <a:srgbClr val="7958F5"/>
                </a:solidFill>
                <a:latin typeface="Consolas"/>
              </a:defRPr>
            </a:pPr>
            <a:r>
              <a:t>OOF</a:t>
            </a:r>
          </a:p>
        </p:txBody>
      </p:sp>
      <p:sp>
        <p:nvSpPr>
          <p:cNvPr id="8" name="text-7"/>
          <p:cNvSpPr txBox="1"/>
          <p:nvPr/>
        </p:nvSpPr>
        <p:spPr>
          <a:xfrm>
            <a:off x="9418320" y="2834640"/>
            <a:ext cx="2286000" cy="365760"/>
          </a:xfrm>
          <a:prstGeom prst="rect">
            <a:avLst/>
          </a:prstGeom>
          <a:noFill/>
        </p:spPr>
        <p:txBody>
          <a:bodyPr wrap="square" lIns="0" tIns="0" rIns="0" bIns="0">
            <a:spAutoFit/>
          </a:bodyPr>
          <a:lstStyle/>
          <a:p>
            <a:pPr>
              <a:spcAft>
                <a:spcPts val="0"/>
              </a:spcAft>
              <a:defRPr sz="1900" b="1">
                <a:solidFill>
                  <a:srgbClr val="7958F5"/>
                </a:solidFill>
                <a:latin typeface="Consolas"/>
              </a:defRPr>
            </a:pPr>
            <a:r>
              <a:t>FIT META</a:t>
            </a:r>
          </a:p>
        </p:txBody>
      </p:sp>
      <p:sp>
        <p:nvSpPr>
          <p:cNvPr id="9" name="fold-r0c0"/>
          <p:cNvSpPr/>
          <p:nvPr/>
        </p:nvSpPr>
        <p:spPr>
          <a:xfrm>
            <a:off x="2423160" y="3383280"/>
            <a:ext cx="914400" cy="384048"/>
          </a:xfrm>
          <a:prstGeom prst="rect">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9"/>
          <p:cNvSpPr txBox="1"/>
          <p:nvPr/>
        </p:nvSpPr>
        <p:spPr>
          <a:xfrm>
            <a:off x="2542032" y="3429000"/>
            <a:ext cx="731520" cy="274320"/>
          </a:xfrm>
          <a:prstGeom prst="rect">
            <a:avLst/>
          </a:prstGeom>
          <a:noFill/>
        </p:spPr>
        <p:txBody>
          <a:bodyPr wrap="square" lIns="0" tIns="0" rIns="0" bIns="0">
            <a:spAutoFit/>
          </a:bodyPr>
          <a:lstStyle/>
          <a:p>
            <a:pPr>
              <a:spcAft>
                <a:spcPts val="0"/>
              </a:spcAft>
              <a:defRPr sz="1400" b="1">
                <a:solidFill>
                  <a:srgbClr val="F8F5EE"/>
                </a:solidFill>
                <a:latin typeface="Consolas"/>
              </a:defRPr>
            </a:pPr>
            <a:r>
              <a:t>giữ</a:t>
            </a:r>
          </a:p>
        </p:txBody>
      </p:sp>
      <p:sp>
        <p:nvSpPr>
          <p:cNvPr id="11" name="fold-r0c1"/>
          <p:cNvSpPr/>
          <p:nvPr/>
        </p:nvSpPr>
        <p:spPr>
          <a:xfrm>
            <a:off x="3474720" y="3383280"/>
            <a:ext cx="914400"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11"/>
          <p:cNvSpPr txBox="1"/>
          <p:nvPr/>
        </p:nvSpPr>
        <p:spPr>
          <a:xfrm>
            <a:off x="3593591" y="3429000"/>
            <a:ext cx="731520" cy="274320"/>
          </a:xfrm>
          <a:prstGeom prst="rect">
            <a:avLst/>
          </a:prstGeom>
          <a:noFill/>
        </p:spPr>
        <p:txBody>
          <a:bodyPr wrap="square" lIns="0" tIns="0" rIns="0" bIns="0">
            <a:spAutoFit/>
          </a:bodyPr>
          <a:lstStyle/>
          <a:p>
            <a:pPr>
              <a:spcAft>
                <a:spcPts val="0"/>
              </a:spcAft>
              <a:defRPr sz="1400" b="1">
                <a:solidFill>
                  <a:srgbClr val="F8F5EE"/>
                </a:solidFill>
                <a:latin typeface="Consolas"/>
              </a:defRPr>
            </a:pPr>
            <a:r>
              <a:t>học</a:t>
            </a:r>
          </a:p>
        </p:txBody>
      </p:sp>
      <p:sp>
        <p:nvSpPr>
          <p:cNvPr id="13" name="fold-r0c2"/>
          <p:cNvSpPr/>
          <p:nvPr/>
        </p:nvSpPr>
        <p:spPr>
          <a:xfrm>
            <a:off x="4526279" y="3383280"/>
            <a:ext cx="914400"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13"/>
          <p:cNvSpPr txBox="1"/>
          <p:nvPr/>
        </p:nvSpPr>
        <p:spPr>
          <a:xfrm>
            <a:off x="4645151" y="3429000"/>
            <a:ext cx="731520" cy="274320"/>
          </a:xfrm>
          <a:prstGeom prst="rect">
            <a:avLst/>
          </a:prstGeom>
          <a:noFill/>
        </p:spPr>
        <p:txBody>
          <a:bodyPr wrap="square" lIns="0" tIns="0" rIns="0" bIns="0">
            <a:spAutoFit/>
          </a:bodyPr>
          <a:lstStyle/>
          <a:p>
            <a:pPr>
              <a:spcAft>
                <a:spcPts val="0"/>
              </a:spcAft>
              <a:defRPr sz="1400" b="1">
                <a:solidFill>
                  <a:srgbClr val="F8F5EE"/>
                </a:solidFill>
                <a:latin typeface="Consolas"/>
              </a:defRPr>
            </a:pPr>
            <a:r>
              <a:t>học</a:t>
            </a:r>
          </a:p>
        </p:txBody>
      </p:sp>
      <p:cxnSp>
        <p:nvCxnSpPr>
          <p:cNvPr id="15" name="line-14"/>
          <p:cNvCxnSpPr/>
          <p:nvPr/>
        </p:nvCxnSpPr>
        <p:spPr>
          <a:xfrm>
            <a:off x="5760720" y="3575304"/>
            <a:ext cx="1188720" cy="0"/>
          </a:xfrm>
          <a:prstGeom prst="line">
            <a:avLst/>
          </a:prstGeom>
          <a:ln w="25400">
            <a:solidFill>
              <a:srgbClr val="7958F5"/>
            </a:solidFill>
            <a:tailEnd type="triangle"/>
          </a:ln>
        </p:spPr>
        <p:style>
          <a:lnRef idx="2">
            <a:schemeClr val="accent1"/>
          </a:lnRef>
          <a:fillRef idx="0">
            <a:schemeClr val="accent1"/>
          </a:fillRef>
          <a:effectRef idx="1">
            <a:schemeClr val="accent1"/>
          </a:effectRef>
          <a:fontRef idx="minor">
            <a:schemeClr val="tx1"/>
          </a:fontRef>
        </p:style>
      </p:cxnSp>
      <p:sp>
        <p:nvSpPr>
          <p:cNvPr id="16" name="shape-15"/>
          <p:cNvSpPr/>
          <p:nvPr/>
        </p:nvSpPr>
        <p:spPr>
          <a:xfrm>
            <a:off x="7178040" y="3383280"/>
            <a:ext cx="192024"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hape-16"/>
          <p:cNvSpPr/>
          <p:nvPr/>
        </p:nvSpPr>
        <p:spPr>
          <a:xfrm>
            <a:off x="7452360" y="3383280"/>
            <a:ext cx="192024"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hape-17"/>
          <p:cNvSpPr/>
          <p:nvPr/>
        </p:nvSpPr>
        <p:spPr>
          <a:xfrm>
            <a:off x="7726679" y="3383280"/>
            <a:ext cx="192024"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old-r1c0"/>
          <p:cNvSpPr/>
          <p:nvPr/>
        </p:nvSpPr>
        <p:spPr>
          <a:xfrm>
            <a:off x="2423160" y="4069080"/>
            <a:ext cx="914400"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19"/>
          <p:cNvSpPr txBox="1"/>
          <p:nvPr/>
        </p:nvSpPr>
        <p:spPr>
          <a:xfrm>
            <a:off x="2542032" y="4114800"/>
            <a:ext cx="731520" cy="274320"/>
          </a:xfrm>
          <a:prstGeom prst="rect">
            <a:avLst/>
          </a:prstGeom>
          <a:noFill/>
        </p:spPr>
        <p:txBody>
          <a:bodyPr wrap="square" lIns="0" tIns="0" rIns="0" bIns="0">
            <a:spAutoFit/>
          </a:bodyPr>
          <a:lstStyle/>
          <a:p>
            <a:pPr>
              <a:spcAft>
                <a:spcPts val="0"/>
              </a:spcAft>
              <a:defRPr sz="1400" b="1">
                <a:solidFill>
                  <a:srgbClr val="F8F5EE"/>
                </a:solidFill>
                <a:latin typeface="Consolas"/>
              </a:defRPr>
            </a:pPr>
            <a:r>
              <a:t>học</a:t>
            </a:r>
          </a:p>
        </p:txBody>
      </p:sp>
      <p:sp>
        <p:nvSpPr>
          <p:cNvPr id="21" name="fold-r1c1"/>
          <p:cNvSpPr/>
          <p:nvPr/>
        </p:nvSpPr>
        <p:spPr>
          <a:xfrm>
            <a:off x="3474720" y="4069080"/>
            <a:ext cx="914400" cy="384048"/>
          </a:xfrm>
          <a:prstGeom prst="rect">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21"/>
          <p:cNvSpPr txBox="1"/>
          <p:nvPr/>
        </p:nvSpPr>
        <p:spPr>
          <a:xfrm>
            <a:off x="3593591" y="4114800"/>
            <a:ext cx="731520" cy="274320"/>
          </a:xfrm>
          <a:prstGeom prst="rect">
            <a:avLst/>
          </a:prstGeom>
          <a:noFill/>
        </p:spPr>
        <p:txBody>
          <a:bodyPr wrap="square" lIns="0" tIns="0" rIns="0" bIns="0">
            <a:spAutoFit/>
          </a:bodyPr>
          <a:lstStyle/>
          <a:p>
            <a:pPr>
              <a:spcAft>
                <a:spcPts val="0"/>
              </a:spcAft>
              <a:defRPr sz="1400" b="1">
                <a:solidFill>
                  <a:srgbClr val="F8F5EE"/>
                </a:solidFill>
                <a:latin typeface="Consolas"/>
              </a:defRPr>
            </a:pPr>
            <a:r>
              <a:t>giữ</a:t>
            </a:r>
          </a:p>
        </p:txBody>
      </p:sp>
      <p:sp>
        <p:nvSpPr>
          <p:cNvPr id="23" name="fold-r1c2"/>
          <p:cNvSpPr/>
          <p:nvPr/>
        </p:nvSpPr>
        <p:spPr>
          <a:xfrm>
            <a:off x="4526279" y="4069080"/>
            <a:ext cx="914400"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23"/>
          <p:cNvSpPr txBox="1"/>
          <p:nvPr/>
        </p:nvSpPr>
        <p:spPr>
          <a:xfrm>
            <a:off x="4645151" y="4114800"/>
            <a:ext cx="731520" cy="274320"/>
          </a:xfrm>
          <a:prstGeom prst="rect">
            <a:avLst/>
          </a:prstGeom>
          <a:noFill/>
        </p:spPr>
        <p:txBody>
          <a:bodyPr wrap="square" lIns="0" tIns="0" rIns="0" bIns="0">
            <a:spAutoFit/>
          </a:bodyPr>
          <a:lstStyle/>
          <a:p>
            <a:pPr>
              <a:spcAft>
                <a:spcPts val="0"/>
              </a:spcAft>
              <a:defRPr sz="1400" b="1">
                <a:solidFill>
                  <a:srgbClr val="F8F5EE"/>
                </a:solidFill>
                <a:latin typeface="Consolas"/>
              </a:defRPr>
            </a:pPr>
            <a:r>
              <a:t>học</a:t>
            </a:r>
          </a:p>
        </p:txBody>
      </p:sp>
      <p:cxnSp>
        <p:nvCxnSpPr>
          <p:cNvPr id="25" name="line-24"/>
          <p:cNvCxnSpPr/>
          <p:nvPr/>
        </p:nvCxnSpPr>
        <p:spPr>
          <a:xfrm>
            <a:off x="5760720" y="4261104"/>
            <a:ext cx="1188720" cy="0"/>
          </a:xfrm>
          <a:prstGeom prst="line">
            <a:avLst/>
          </a:prstGeom>
          <a:ln w="25400">
            <a:solidFill>
              <a:srgbClr val="7958F5"/>
            </a:solidFill>
            <a:tailEnd type="triangle"/>
          </a:ln>
        </p:spPr>
        <p:style>
          <a:lnRef idx="2">
            <a:schemeClr val="accent1"/>
          </a:lnRef>
          <a:fillRef idx="0">
            <a:schemeClr val="accent1"/>
          </a:fillRef>
          <a:effectRef idx="1">
            <a:schemeClr val="accent1"/>
          </a:effectRef>
          <a:fontRef idx="minor">
            <a:schemeClr val="tx1"/>
          </a:fontRef>
        </p:style>
      </p:cxnSp>
      <p:sp>
        <p:nvSpPr>
          <p:cNvPr id="26" name="shape-25"/>
          <p:cNvSpPr/>
          <p:nvPr/>
        </p:nvSpPr>
        <p:spPr>
          <a:xfrm>
            <a:off x="7178040" y="4069080"/>
            <a:ext cx="192024"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hape-26"/>
          <p:cNvSpPr/>
          <p:nvPr/>
        </p:nvSpPr>
        <p:spPr>
          <a:xfrm>
            <a:off x="7452360" y="4069080"/>
            <a:ext cx="192024"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shape-27"/>
          <p:cNvSpPr/>
          <p:nvPr/>
        </p:nvSpPr>
        <p:spPr>
          <a:xfrm>
            <a:off x="7726679" y="4069080"/>
            <a:ext cx="192024"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old-r2c0"/>
          <p:cNvSpPr/>
          <p:nvPr/>
        </p:nvSpPr>
        <p:spPr>
          <a:xfrm>
            <a:off x="2423160" y="4754880"/>
            <a:ext cx="914400"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29"/>
          <p:cNvSpPr txBox="1"/>
          <p:nvPr/>
        </p:nvSpPr>
        <p:spPr>
          <a:xfrm>
            <a:off x="2542032" y="4800600"/>
            <a:ext cx="731520" cy="274320"/>
          </a:xfrm>
          <a:prstGeom prst="rect">
            <a:avLst/>
          </a:prstGeom>
          <a:noFill/>
        </p:spPr>
        <p:txBody>
          <a:bodyPr wrap="square" lIns="0" tIns="0" rIns="0" bIns="0">
            <a:spAutoFit/>
          </a:bodyPr>
          <a:lstStyle/>
          <a:p>
            <a:pPr>
              <a:spcAft>
                <a:spcPts val="0"/>
              </a:spcAft>
              <a:defRPr sz="1400" b="1">
                <a:solidFill>
                  <a:srgbClr val="F8F5EE"/>
                </a:solidFill>
                <a:latin typeface="Consolas"/>
              </a:defRPr>
            </a:pPr>
            <a:r>
              <a:t>học</a:t>
            </a:r>
          </a:p>
        </p:txBody>
      </p:sp>
      <p:sp>
        <p:nvSpPr>
          <p:cNvPr id="31" name="fold-r2c1"/>
          <p:cNvSpPr/>
          <p:nvPr/>
        </p:nvSpPr>
        <p:spPr>
          <a:xfrm>
            <a:off x="3474720" y="4754880"/>
            <a:ext cx="914400"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31"/>
          <p:cNvSpPr txBox="1"/>
          <p:nvPr/>
        </p:nvSpPr>
        <p:spPr>
          <a:xfrm>
            <a:off x="3593591" y="4800600"/>
            <a:ext cx="731520" cy="274320"/>
          </a:xfrm>
          <a:prstGeom prst="rect">
            <a:avLst/>
          </a:prstGeom>
          <a:noFill/>
        </p:spPr>
        <p:txBody>
          <a:bodyPr wrap="square" lIns="0" tIns="0" rIns="0" bIns="0">
            <a:spAutoFit/>
          </a:bodyPr>
          <a:lstStyle/>
          <a:p>
            <a:pPr>
              <a:spcAft>
                <a:spcPts val="0"/>
              </a:spcAft>
              <a:defRPr sz="1400" b="1">
                <a:solidFill>
                  <a:srgbClr val="F8F5EE"/>
                </a:solidFill>
                <a:latin typeface="Consolas"/>
              </a:defRPr>
            </a:pPr>
            <a:r>
              <a:t>học</a:t>
            </a:r>
          </a:p>
        </p:txBody>
      </p:sp>
      <p:sp>
        <p:nvSpPr>
          <p:cNvPr id="33" name="fold-r2c2"/>
          <p:cNvSpPr/>
          <p:nvPr/>
        </p:nvSpPr>
        <p:spPr>
          <a:xfrm>
            <a:off x="4526279" y="4754880"/>
            <a:ext cx="914400" cy="384048"/>
          </a:xfrm>
          <a:prstGeom prst="rect">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33"/>
          <p:cNvSpPr txBox="1"/>
          <p:nvPr/>
        </p:nvSpPr>
        <p:spPr>
          <a:xfrm>
            <a:off x="4645151" y="4800600"/>
            <a:ext cx="731520" cy="274320"/>
          </a:xfrm>
          <a:prstGeom prst="rect">
            <a:avLst/>
          </a:prstGeom>
          <a:noFill/>
        </p:spPr>
        <p:txBody>
          <a:bodyPr wrap="square" lIns="0" tIns="0" rIns="0" bIns="0">
            <a:spAutoFit/>
          </a:bodyPr>
          <a:lstStyle/>
          <a:p>
            <a:pPr>
              <a:spcAft>
                <a:spcPts val="0"/>
              </a:spcAft>
              <a:defRPr sz="1400" b="1">
                <a:solidFill>
                  <a:srgbClr val="F8F5EE"/>
                </a:solidFill>
                <a:latin typeface="Consolas"/>
              </a:defRPr>
            </a:pPr>
            <a:r>
              <a:t>giữ</a:t>
            </a:r>
          </a:p>
        </p:txBody>
      </p:sp>
      <p:cxnSp>
        <p:nvCxnSpPr>
          <p:cNvPr id="35" name="line-34"/>
          <p:cNvCxnSpPr/>
          <p:nvPr/>
        </p:nvCxnSpPr>
        <p:spPr>
          <a:xfrm>
            <a:off x="5760720" y="4946904"/>
            <a:ext cx="1188720" cy="0"/>
          </a:xfrm>
          <a:prstGeom prst="line">
            <a:avLst/>
          </a:prstGeom>
          <a:ln w="25400">
            <a:solidFill>
              <a:srgbClr val="7958F5"/>
            </a:solidFill>
            <a:tailEnd type="triangle"/>
          </a:ln>
        </p:spPr>
        <p:style>
          <a:lnRef idx="2">
            <a:schemeClr val="accent1"/>
          </a:lnRef>
          <a:fillRef idx="0">
            <a:schemeClr val="accent1"/>
          </a:fillRef>
          <a:effectRef idx="1">
            <a:schemeClr val="accent1"/>
          </a:effectRef>
          <a:fontRef idx="minor">
            <a:schemeClr val="tx1"/>
          </a:fontRef>
        </p:style>
      </p:cxnSp>
      <p:sp>
        <p:nvSpPr>
          <p:cNvPr id="36" name="shape-35"/>
          <p:cNvSpPr/>
          <p:nvPr/>
        </p:nvSpPr>
        <p:spPr>
          <a:xfrm>
            <a:off x="7178040" y="4754880"/>
            <a:ext cx="192024"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shape-36"/>
          <p:cNvSpPr/>
          <p:nvPr/>
        </p:nvSpPr>
        <p:spPr>
          <a:xfrm>
            <a:off x="7452360" y="4754880"/>
            <a:ext cx="192024"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shape-37"/>
          <p:cNvSpPr/>
          <p:nvPr/>
        </p:nvSpPr>
        <p:spPr>
          <a:xfrm>
            <a:off x="7726679" y="4754880"/>
            <a:ext cx="192024" cy="384048"/>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line-38"/>
          <p:cNvCxnSpPr/>
          <p:nvPr/>
        </p:nvCxnSpPr>
        <p:spPr>
          <a:xfrm>
            <a:off x="8229600" y="4206240"/>
            <a:ext cx="1234440" cy="0"/>
          </a:xfrm>
          <a:prstGeom prst="line">
            <a:avLst/>
          </a:prstGeom>
          <a:ln w="25400">
            <a:solidFill>
              <a:srgbClr val="10162F"/>
            </a:solidFill>
            <a:tailEnd type="triangle"/>
          </a:ln>
        </p:spPr>
        <p:style>
          <a:lnRef idx="2">
            <a:schemeClr val="accent1"/>
          </a:lnRef>
          <a:fillRef idx="0">
            <a:schemeClr val="accent1"/>
          </a:fillRef>
          <a:effectRef idx="1">
            <a:schemeClr val="accent1"/>
          </a:effectRef>
          <a:fontRef idx="minor">
            <a:schemeClr val="tx1"/>
          </a:fontRef>
        </p:style>
      </p:cxnSp>
      <p:sp>
        <p:nvSpPr>
          <p:cNvPr id="40" name="shape-39"/>
          <p:cNvSpPr/>
          <p:nvPr/>
        </p:nvSpPr>
        <p:spPr>
          <a:xfrm>
            <a:off x="9601200" y="3657599"/>
            <a:ext cx="1097280" cy="1097280"/>
          </a:xfrm>
          <a:prstGeom prst="ellipse">
            <a:avLst/>
          </a:prstGeom>
          <a:noFill/>
          <a:ln w="19050">
            <a:solidFill>
              <a:srgbClr val="795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40"/>
          <p:cNvSpPr txBox="1"/>
          <p:nvPr/>
        </p:nvSpPr>
        <p:spPr>
          <a:xfrm>
            <a:off x="9875520" y="4005072"/>
            <a:ext cx="914400" cy="385064"/>
          </a:xfrm>
          <a:prstGeom prst="rect">
            <a:avLst/>
          </a:prstGeom>
          <a:noFill/>
        </p:spPr>
        <p:txBody>
          <a:bodyPr wrap="square" lIns="0" tIns="0" rIns="0" bIns="0">
            <a:spAutoFit/>
          </a:bodyPr>
          <a:lstStyle/>
          <a:p>
            <a:pPr>
              <a:spcAft>
                <a:spcPts val="0"/>
              </a:spcAft>
              <a:defRPr sz="2400" b="1">
                <a:solidFill>
                  <a:srgbClr val="7958F5"/>
                </a:solidFill>
                <a:latin typeface="Consolas"/>
              </a:defRPr>
            </a:pPr>
            <a:r>
              <a:t>LR</a:t>
            </a:r>
          </a:p>
        </p:txBody>
      </p:sp>
      <p:sp>
        <p:nvSpPr>
          <p:cNvPr id="42" name="text-41"/>
          <p:cNvSpPr txBox="1"/>
          <p:nvPr/>
        </p:nvSpPr>
        <p:spPr>
          <a:xfrm>
            <a:off x="594360" y="5623560"/>
            <a:ext cx="10972800" cy="594360"/>
          </a:xfrm>
          <a:prstGeom prst="rect">
            <a:avLst/>
          </a:prstGeom>
          <a:noFill/>
        </p:spPr>
        <p:txBody>
          <a:bodyPr wrap="square" lIns="0" tIns="0" rIns="0" bIns="0">
            <a:spAutoFit/>
          </a:bodyPr>
          <a:lstStyle/>
          <a:p>
            <a:pPr>
              <a:spcAft>
                <a:spcPts val="0"/>
              </a:spcAft>
              <a:defRPr sz="2400" b="0">
                <a:solidFill>
                  <a:srgbClr val="10162F"/>
                </a:solidFill>
                <a:latin typeface="Aptos"/>
              </a:defRPr>
            </a:pPr>
            <a:r>
              <a:t>Mỗi dòng OOF được dự đoán bởi mô hình chưa học dòng đó.</a:t>
            </a:r>
          </a:p>
        </p:txBody>
      </p:sp>
      <p:sp>
        <p:nvSpPr>
          <p:cNvPr id="43" name="text-42"/>
          <p:cNvSpPr txBox="1"/>
          <p:nvPr/>
        </p:nvSpPr>
        <p:spPr>
          <a:xfrm>
            <a:off x="594360" y="6126480"/>
            <a:ext cx="10972800" cy="274320"/>
          </a:xfrm>
          <a:prstGeom prst="rect">
            <a:avLst/>
          </a:prstGeom>
          <a:noFill/>
        </p:spPr>
        <p:txBody>
          <a:bodyPr wrap="square" lIns="0" tIns="0" rIns="0" bIns="0">
            <a:spAutoFit/>
          </a:bodyPr>
          <a:lstStyle/>
          <a:p>
            <a:pPr>
              <a:spcAft>
                <a:spcPts val="0"/>
              </a:spcAft>
              <a:defRPr sz="1500" b="0">
                <a:solidFill>
                  <a:srgbClr val="4C5064"/>
                </a:solidFill>
                <a:latin typeface="Aptos"/>
              </a:defRPr>
            </a:pPr>
            <a:r>
              <a:t>P21 dùng inner grouped CV theo vector trùng; lịch sử dùng StratifiedKFold.</a:t>
            </a:r>
          </a:p>
        </p:txBody>
      </p:sp>
    </p:spTree>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accel="15000" decel="15000" fill="hold" grpId="0" nodeType="withEffect">
                                  <p:stCondLst>
                                    <p:cond delay="50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accel="15000" decel="15000" fill="hold" grpId="0" nodeType="withEffect">
                                  <p:stCondLst>
                                    <p:cond delay="65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par>
                                <p:cTn id="11" presetID="22" presetClass="entr" presetSubtype="8" accel="15000" decel="15000" fill="hold" grpId="0" nodeType="withEffect">
                                  <p:stCondLst>
                                    <p:cond delay="80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accel="15000" decel="15000" fill="hold" nodeType="withEffect">
                                  <p:stCondLst>
                                    <p:cond delay="310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600"/>
                                        <p:tgtEl>
                                          <p:spTgt spid="15"/>
                                        </p:tgtEl>
                                      </p:cBhvr>
                                    </p:animEffect>
                                  </p:childTnLst>
                                </p:cTn>
                              </p:par>
                              <p:par>
                                <p:cTn id="17" presetID="10" presetClass="entr" presetSubtype="0" accel="15000" decel="15000" fill="hold" grpId="0" nodeType="withEffect">
                                  <p:stCondLst>
                                    <p:cond delay="36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par>
                                <p:cTn id="20" presetID="10" presetClass="entr" presetSubtype="0" accel="15000" decel="15000" fill="hold" grpId="0" nodeType="withEffect">
                                  <p:stCondLst>
                                    <p:cond delay="375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par>
                                <p:cTn id="23" presetID="10" presetClass="entr" presetSubtype="0" accel="15000" decel="15000" fill="hold" grpId="0" nodeType="withEffect">
                                  <p:stCondLst>
                                    <p:cond delay="390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22" presetClass="entr" presetSubtype="8" accel="15000" decel="15000" fill="hold" grpId="0" nodeType="withEffect">
                                  <p:stCondLst>
                                    <p:cond delay="410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par>
                                <p:cTn id="29" presetID="22" presetClass="entr" presetSubtype="8" accel="15000" decel="15000" fill="hold" grpId="0" nodeType="withEffect">
                                  <p:stCondLst>
                                    <p:cond delay="425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par>
                                <p:cTn id="32" presetID="22" presetClass="entr" presetSubtype="8" accel="15000" decel="15000" fill="hold" grpId="0" nodeType="withEffect">
                                  <p:stCondLst>
                                    <p:cond delay="440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par>
                                <p:cTn id="35" presetID="22" presetClass="entr" presetSubtype="8" accel="15000" decel="15000" fill="hold" nodeType="withEffect">
                                  <p:stCondLst>
                                    <p:cond delay="670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600"/>
                                        <p:tgtEl>
                                          <p:spTgt spid="25"/>
                                        </p:tgtEl>
                                      </p:cBhvr>
                                    </p:animEffect>
                                  </p:childTnLst>
                                </p:cTn>
                              </p:par>
                              <p:par>
                                <p:cTn id="38" presetID="10" presetClass="entr" presetSubtype="0" accel="15000" decel="15000" fill="hold" grpId="0" nodeType="withEffect">
                                  <p:stCondLst>
                                    <p:cond delay="720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400"/>
                                        <p:tgtEl>
                                          <p:spTgt spid="26"/>
                                        </p:tgtEl>
                                      </p:cBhvr>
                                    </p:animEffect>
                                  </p:childTnLst>
                                </p:cTn>
                              </p:par>
                              <p:par>
                                <p:cTn id="41" presetID="10" presetClass="entr" presetSubtype="0" accel="15000" decel="15000" fill="hold" grpId="0" nodeType="withEffect">
                                  <p:stCondLst>
                                    <p:cond delay="735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400"/>
                                        <p:tgtEl>
                                          <p:spTgt spid="27"/>
                                        </p:tgtEl>
                                      </p:cBhvr>
                                    </p:animEffect>
                                  </p:childTnLst>
                                </p:cTn>
                              </p:par>
                              <p:par>
                                <p:cTn id="44" presetID="10" presetClass="entr" presetSubtype="0" accel="15000" decel="15000" fill="hold" grpId="0" nodeType="withEffect">
                                  <p:stCondLst>
                                    <p:cond delay="750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00"/>
                                        <p:tgtEl>
                                          <p:spTgt spid="28"/>
                                        </p:tgtEl>
                                      </p:cBhvr>
                                    </p:animEffect>
                                  </p:childTnLst>
                                </p:cTn>
                              </p:par>
                              <p:par>
                                <p:cTn id="47" presetID="22" presetClass="entr" presetSubtype="8" accel="15000" decel="15000" fill="hold" grpId="0" nodeType="withEffect">
                                  <p:stCondLst>
                                    <p:cond delay="7700"/>
                                  </p:stCondLst>
                                  <p:childTnLst>
                                    <p:set>
                                      <p:cBhvr>
                                        <p:cTn id="48" dur="1" fill="hold">
                                          <p:stCondLst>
                                            <p:cond delay="0"/>
                                          </p:stCondLst>
                                        </p:cTn>
                                        <p:tgtEl>
                                          <p:spTgt spid="29"/>
                                        </p:tgtEl>
                                        <p:attrNameLst>
                                          <p:attrName>style.visibility</p:attrName>
                                        </p:attrNameLst>
                                      </p:cBhvr>
                                      <p:to>
                                        <p:strVal val="visible"/>
                                      </p:to>
                                    </p:set>
                                    <p:animEffect transition="in" filter="wipe(left)">
                                      <p:cBhvr>
                                        <p:cTn id="49" dur="500"/>
                                        <p:tgtEl>
                                          <p:spTgt spid="29"/>
                                        </p:tgtEl>
                                      </p:cBhvr>
                                    </p:animEffect>
                                  </p:childTnLst>
                                </p:cTn>
                              </p:par>
                              <p:par>
                                <p:cTn id="50" presetID="22" presetClass="entr" presetSubtype="8" accel="15000" decel="15000" fill="hold" grpId="0" nodeType="withEffect">
                                  <p:stCondLst>
                                    <p:cond delay="785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500"/>
                                        <p:tgtEl>
                                          <p:spTgt spid="31"/>
                                        </p:tgtEl>
                                      </p:cBhvr>
                                    </p:animEffect>
                                  </p:childTnLst>
                                </p:cTn>
                              </p:par>
                              <p:par>
                                <p:cTn id="53" presetID="22" presetClass="entr" presetSubtype="8" accel="15000" decel="15000" fill="hold" grpId="0" nodeType="withEffect">
                                  <p:stCondLst>
                                    <p:cond delay="8000"/>
                                  </p:stCondLst>
                                  <p:childTnLst>
                                    <p:set>
                                      <p:cBhvr>
                                        <p:cTn id="54" dur="1" fill="hold">
                                          <p:stCondLst>
                                            <p:cond delay="0"/>
                                          </p:stCondLst>
                                        </p:cTn>
                                        <p:tgtEl>
                                          <p:spTgt spid="33"/>
                                        </p:tgtEl>
                                        <p:attrNameLst>
                                          <p:attrName>style.visibility</p:attrName>
                                        </p:attrNameLst>
                                      </p:cBhvr>
                                      <p:to>
                                        <p:strVal val="visible"/>
                                      </p:to>
                                    </p:set>
                                    <p:animEffect transition="in" filter="wipe(left)">
                                      <p:cBhvr>
                                        <p:cTn id="55" dur="500"/>
                                        <p:tgtEl>
                                          <p:spTgt spid="33"/>
                                        </p:tgtEl>
                                      </p:cBhvr>
                                    </p:animEffect>
                                  </p:childTnLst>
                                </p:cTn>
                              </p:par>
                              <p:par>
                                <p:cTn id="56" presetID="22" presetClass="entr" presetSubtype="8" accel="15000" decel="15000" fill="hold" nodeType="withEffect">
                                  <p:stCondLst>
                                    <p:cond delay="10300"/>
                                  </p:stCondLst>
                                  <p:childTnLst>
                                    <p:set>
                                      <p:cBhvr>
                                        <p:cTn id="57" dur="1" fill="hold">
                                          <p:stCondLst>
                                            <p:cond delay="0"/>
                                          </p:stCondLst>
                                        </p:cTn>
                                        <p:tgtEl>
                                          <p:spTgt spid="35"/>
                                        </p:tgtEl>
                                        <p:attrNameLst>
                                          <p:attrName>style.visibility</p:attrName>
                                        </p:attrNameLst>
                                      </p:cBhvr>
                                      <p:to>
                                        <p:strVal val="visible"/>
                                      </p:to>
                                    </p:set>
                                    <p:animEffect transition="in" filter="wipe(left)">
                                      <p:cBhvr>
                                        <p:cTn id="58" dur="600"/>
                                        <p:tgtEl>
                                          <p:spTgt spid="35"/>
                                        </p:tgtEl>
                                      </p:cBhvr>
                                    </p:animEffect>
                                  </p:childTnLst>
                                </p:cTn>
                              </p:par>
                              <p:par>
                                <p:cTn id="59" presetID="10" presetClass="entr" presetSubtype="0" accel="15000" decel="15000" fill="hold" grpId="0" nodeType="withEffect">
                                  <p:stCondLst>
                                    <p:cond delay="1080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400"/>
                                        <p:tgtEl>
                                          <p:spTgt spid="36"/>
                                        </p:tgtEl>
                                      </p:cBhvr>
                                    </p:animEffect>
                                  </p:childTnLst>
                                </p:cTn>
                              </p:par>
                              <p:par>
                                <p:cTn id="62" presetID="10" presetClass="entr" presetSubtype="0" accel="15000" decel="15000" fill="hold" grpId="0" nodeType="withEffect">
                                  <p:stCondLst>
                                    <p:cond delay="1095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400"/>
                                        <p:tgtEl>
                                          <p:spTgt spid="37"/>
                                        </p:tgtEl>
                                      </p:cBhvr>
                                    </p:animEffect>
                                  </p:childTnLst>
                                </p:cTn>
                              </p:par>
                              <p:par>
                                <p:cTn id="65" presetID="10" presetClass="entr" presetSubtype="0" accel="15000" decel="15000" fill="hold" grpId="0" nodeType="withEffect">
                                  <p:stCondLst>
                                    <p:cond delay="1110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400"/>
                                        <p:tgtEl>
                                          <p:spTgt spid="38"/>
                                        </p:tgtEl>
                                      </p:cBhvr>
                                    </p:animEffect>
                                  </p:childTnLst>
                                </p:cTn>
                              </p:par>
                              <p:par>
                                <p:cTn id="68" presetID="22" presetClass="entr" presetSubtype="8" accel="15000" decel="15000" fill="hold" nodeType="withEffect">
                                  <p:stCondLst>
                                    <p:cond delay="12200"/>
                                  </p:stCondLst>
                                  <p:childTnLst>
                                    <p:set>
                                      <p:cBhvr>
                                        <p:cTn id="69" dur="1" fill="hold">
                                          <p:stCondLst>
                                            <p:cond delay="0"/>
                                          </p:stCondLst>
                                        </p:cTn>
                                        <p:tgtEl>
                                          <p:spTgt spid="39"/>
                                        </p:tgtEl>
                                        <p:attrNameLst>
                                          <p:attrName>style.visibility</p:attrName>
                                        </p:attrNameLst>
                                      </p:cBhvr>
                                      <p:to>
                                        <p:strVal val="visible"/>
                                      </p:to>
                                    </p:set>
                                    <p:animEffect transition="in" filter="wipe(left)">
                                      <p:cBhvr>
                                        <p:cTn id="70" dur="800"/>
                                        <p:tgtEl>
                                          <p:spTgt spid="39"/>
                                        </p:tgtEl>
                                      </p:cBhvr>
                                    </p:animEffect>
                                  </p:childTnLst>
                                </p:cTn>
                              </p:par>
                              <p:par>
                                <p:cTn id="71" presetID="10" presetClass="entr" presetSubtype="0" accel="15000" decel="15000" fill="hold" grpId="0" nodeType="withEffect">
                                  <p:stCondLst>
                                    <p:cond delay="13000"/>
                                  </p:stCondLst>
                                  <p:childTnLst>
                                    <p:set>
                                      <p:cBhvr>
                                        <p:cTn id="72" dur="1" fill="hold">
                                          <p:stCondLst>
                                            <p:cond delay="0"/>
                                          </p:stCondLst>
                                        </p:cTn>
                                        <p:tgtEl>
                                          <p:spTgt spid="40"/>
                                        </p:tgtEl>
                                        <p:attrNameLst>
                                          <p:attrName>style.visibility</p:attrName>
                                        </p:attrNameLst>
                                      </p:cBhvr>
                                      <p:to>
                                        <p:strVal val="visible"/>
                                      </p:to>
                                    </p:set>
                                    <p:animEffect transition="in" filter="fade">
                                      <p:cBhvr>
                                        <p:cTn id="73" dur="500"/>
                                        <p:tgtEl>
                                          <p:spTgt spid="40"/>
                                        </p:tgtEl>
                                      </p:cBhvr>
                                    </p:animEffect>
                                  </p:childTnLst>
                                </p:cTn>
                              </p:par>
                              <p:par>
                                <p:cTn id="74" presetID="10" presetClass="entr" presetSubtype="0" accel="15000" decel="15000" fill="hold" grpId="0" nodeType="withEffect">
                                  <p:stCondLst>
                                    <p:cond delay="1300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400"/>
                                        <p:tgtEl>
                                          <p:spTgt spid="41"/>
                                        </p:tgtEl>
                                      </p:cBhvr>
                                    </p:animEffect>
                                  </p:childTnLst>
                                </p:cTn>
                              </p:par>
                              <p:par>
                                <p:cTn id="77" presetID="0" presetClass="entr" presetSubtype="0" repeatCount="2000" accel="15000" decel="15000" autoRev="1" fill="hold" grpId="1" nodeType="withEffect">
                                  <p:stCondLst>
                                    <p:cond delay="13600"/>
                                  </p:stCondLst>
                                  <p:childTnLst>
                                    <p:set>
                                      <p:cBhvr>
                                        <p:cTn id="78" dur="1" fill="hold">
                                          <p:stCondLst>
                                            <p:cond delay="0"/>
                                          </p:stCondLst>
                                        </p:cTn>
                                        <p:tgtEl>
                                          <p:spTgt spid="40"/>
                                        </p:tgtEl>
                                        <p:attrNameLst>
                                          <p:attrName>style.visibility</p:attrName>
                                        </p:attrNameLst>
                                      </p:cBhvr>
                                      <p:to>
                                        <p:strVal val="visible"/>
                                      </p:to>
                                    </p:set>
                                    <p:animScale>
                                      <p:cBhvr>
                                        <p:cTn id="79" dur="1000" fill="hold">
                                          <p:stCondLst>
                                            <p:cond delay="0"/>
                                          </p:stCondLst>
                                        </p:cTn>
                                        <p:tgtEl>
                                          <p:spTgt spid="40"/>
                                        </p:tgtEl>
                                      </p:cBhvr>
                                      <p:from x="100000" y="100000"/>
                                      <p:to x="115000" y="11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6" grpId="0" animBg="1"/>
      <p:bldP spid="17" grpId="0" animBg="1"/>
      <p:bldP spid="18" grpId="0" animBg="1"/>
      <p:bldP spid="19" grpId="0" animBg="1"/>
      <p:bldP spid="21" grpId="0" animBg="1"/>
      <p:bldP spid="23" grpId="0" animBg="1"/>
      <p:bldP spid="26" grpId="0" animBg="1"/>
      <p:bldP spid="27" grpId="0" animBg="1"/>
      <p:bldP spid="28" grpId="0" animBg="1"/>
      <p:bldP spid="29" grpId="0" animBg="1"/>
      <p:bldP spid="31" grpId="0" animBg="1"/>
      <p:bldP spid="33" grpId="0" animBg="1"/>
      <p:bldP spid="36" grpId="0" animBg="1"/>
      <p:bldP spid="37" grpId="0" animBg="1"/>
      <p:bldP spid="38" grpId="0" animBg="1"/>
      <p:bldP spid="40" grpId="0" animBg="1"/>
      <p:bldP spid="40" grpId="1" animBg="1"/>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958F5"/>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F8F5EE"/>
                </a:solidFill>
                <a:latin typeface="Consolas"/>
              </a:defRPr>
            </a:pPr>
            <a:r>
              <a:t>ENSEMBLE / IDS                         FOREST</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F8F5EE"/>
                </a:solidFill>
                <a:latin typeface="Consolas"/>
              </a:defRPr>
            </a:pPr>
            <a:r>
              <a:t>04</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F8F5EE"/>
                </a:solidFill>
                <a:latin typeface="Aptos"/>
              </a:defRPr>
            </a:pPr>
            <a:r>
              <a:t>UNSW-NB15 · sơ đồ minh họa pipeline offline theo mã nguồn; không phải traffic triển khai</a:t>
            </a:r>
          </a:p>
        </p:txBody>
      </p:sp>
      <p:sp>
        <p:nvSpPr>
          <p:cNvPr id="5" name="hero-title"/>
          <p:cNvSpPr txBox="1"/>
          <p:nvPr/>
        </p:nvSpPr>
        <p:spPr>
          <a:xfrm>
            <a:off x="502920" y="914400"/>
            <a:ext cx="7680960" cy="1920240"/>
          </a:xfrm>
          <a:prstGeom prst="rect">
            <a:avLst/>
          </a:prstGeom>
          <a:noFill/>
        </p:spPr>
        <p:txBody>
          <a:bodyPr wrap="square" lIns="0" tIns="0" rIns="0" bIns="0">
            <a:spAutoFit/>
          </a:bodyPr>
          <a:lstStyle/>
          <a:p>
            <a:pPr>
              <a:spcAft>
                <a:spcPts val="0"/>
              </a:spcAft>
              <a:defRPr sz="6000" b="1">
                <a:solidFill>
                  <a:srgbClr val="F8F5EE"/>
                </a:solidFill>
                <a:latin typeface="Arial"/>
              </a:defRPr>
            </a:pPr>
            <a:r>
              <a:t>RỪNG ĐÃ LÀ</a:t>
            </a:r>
          </a:p>
          <a:p>
            <a:pPr>
              <a:spcAft>
                <a:spcPts val="0"/>
              </a:spcAft>
              <a:defRPr sz="6000" b="1">
                <a:solidFill>
                  <a:srgbClr val="F8F5EE"/>
                </a:solidFill>
                <a:latin typeface="Arial"/>
              </a:defRPr>
            </a:pPr>
            <a:r>
              <a:t>MỘT ENSEMBLE.</a:t>
            </a:r>
          </a:p>
        </p:txBody>
      </p:sp>
      <p:cxnSp>
        <p:nvCxnSpPr>
          <p:cNvPr id="6" name="line-5"/>
          <p:cNvCxnSpPr/>
          <p:nvPr/>
        </p:nvCxnSpPr>
        <p:spPr>
          <a:xfrm flipH="1">
            <a:off x="603503" y="3657600"/>
            <a:ext cx="310897"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cxnSp>
        <p:nvCxnSpPr>
          <p:cNvPr id="7" name="line-6"/>
          <p:cNvCxnSpPr/>
          <p:nvPr/>
        </p:nvCxnSpPr>
        <p:spPr>
          <a:xfrm>
            <a:off x="914400" y="365760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sp>
        <p:nvSpPr>
          <p:cNvPr id="8" name="shape-7"/>
          <p:cNvSpPr/>
          <p:nvPr/>
        </p:nvSpPr>
        <p:spPr>
          <a:xfrm>
            <a:off x="854964" y="359816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hape-8"/>
          <p:cNvSpPr/>
          <p:nvPr/>
        </p:nvSpPr>
        <p:spPr>
          <a:xfrm>
            <a:off x="544068" y="396392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hape-9"/>
          <p:cNvSpPr/>
          <p:nvPr/>
        </p:nvSpPr>
        <p:spPr>
          <a:xfrm>
            <a:off x="1165860" y="396392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line-10"/>
          <p:cNvCxnSpPr/>
          <p:nvPr/>
        </p:nvCxnSpPr>
        <p:spPr>
          <a:xfrm>
            <a:off x="914400" y="4389120"/>
            <a:ext cx="4937760" cy="868680"/>
          </a:xfrm>
          <a:prstGeom prst="line">
            <a:avLst/>
          </a:prstGeom>
          <a:ln w="15240">
            <a:solidFill>
              <a:srgbClr val="F8F5EE"/>
            </a:solidFill>
          </a:ln>
        </p:spPr>
        <p:style>
          <a:lnRef idx="2">
            <a:schemeClr val="accent1"/>
          </a:lnRef>
          <a:fillRef idx="0">
            <a:schemeClr val="accent1"/>
          </a:fillRef>
          <a:effectRef idx="1">
            <a:schemeClr val="accent1"/>
          </a:effectRef>
          <a:fontRef idx="minor">
            <a:schemeClr val="tx1"/>
          </a:fontRef>
        </p:style>
      </p:cxnSp>
      <p:sp>
        <p:nvSpPr>
          <p:cNvPr id="12" name="shape-11"/>
          <p:cNvSpPr/>
          <p:nvPr/>
        </p:nvSpPr>
        <p:spPr>
          <a:xfrm>
            <a:off x="864108" y="4338828"/>
            <a:ext cx="100584" cy="100584"/>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line-12"/>
          <p:cNvCxnSpPr/>
          <p:nvPr/>
        </p:nvCxnSpPr>
        <p:spPr>
          <a:xfrm flipH="1">
            <a:off x="2112264" y="393192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cxnSp>
        <p:nvCxnSpPr>
          <p:cNvPr id="14" name="line-13"/>
          <p:cNvCxnSpPr/>
          <p:nvPr/>
        </p:nvCxnSpPr>
        <p:spPr>
          <a:xfrm>
            <a:off x="2423160" y="393192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sp>
        <p:nvSpPr>
          <p:cNvPr id="15" name="shape-14"/>
          <p:cNvSpPr/>
          <p:nvPr/>
        </p:nvSpPr>
        <p:spPr>
          <a:xfrm>
            <a:off x="2363724" y="3872483"/>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hape-15"/>
          <p:cNvSpPr/>
          <p:nvPr/>
        </p:nvSpPr>
        <p:spPr>
          <a:xfrm>
            <a:off x="2052828" y="423824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hape-16"/>
          <p:cNvSpPr/>
          <p:nvPr/>
        </p:nvSpPr>
        <p:spPr>
          <a:xfrm>
            <a:off x="2674620" y="423824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line-17"/>
          <p:cNvCxnSpPr/>
          <p:nvPr/>
        </p:nvCxnSpPr>
        <p:spPr>
          <a:xfrm>
            <a:off x="2423160" y="4663440"/>
            <a:ext cx="3429000" cy="594360"/>
          </a:xfrm>
          <a:prstGeom prst="line">
            <a:avLst/>
          </a:prstGeom>
          <a:ln w="15240">
            <a:solidFill>
              <a:srgbClr val="F8F5EE"/>
            </a:solidFill>
          </a:ln>
        </p:spPr>
        <p:style>
          <a:lnRef idx="2">
            <a:schemeClr val="accent1"/>
          </a:lnRef>
          <a:fillRef idx="0">
            <a:schemeClr val="accent1"/>
          </a:fillRef>
          <a:effectRef idx="1">
            <a:schemeClr val="accent1"/>
          </a:effectRef>
          <a:fontRef idx="minor">
            <a:schemeClr val="tx1"/>
          </a:fontRef>
        </p:style>
      </p:cxnSp>
      <p:sp>
        <p:nvSpPr>
          <p:cNvPr id="19" name="shape-18"/>
          <p:cNvSpPr/>
          <p:nvPr/>
        </p:nvSpPr>
        <p:spPr>
          <a:xfrm>
            <a:off x="2372868" y="4613148"/>
            <a:ext cx="100584" cy="100584"/>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line-19"/>
          <p:cNvCxnSpPr/>
          <p:nvPr/>
        </p:nvCxnSpPr>
        <p:spPr>
          <a:xfrm flipH="1">
            <a:off x="3621024" y="365760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cxnSp>
        <p:nvCxnSpPr>
          <p:cNvPr id="21" name="line-20"/>
          <p:cNvCxnSpPr/>
          <p:nvPr/>
        </p:nvCxnSpPr>
        <p:spPr>
          <a:xfrm>
            <a:off x="3931920" y="365760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sp>
        <p:nvSpPr>
          <p:cNvPr id="22" name="shape-21"/>
          <p:cNvSpPr/>
          <p:nvPr/>
        </p:nvSpPr>
        <p:spPr>
          <a:xfrm>
            <a:off x="3872483" y="359816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hape-22"/>
          <p:cNvSpPr/>
          <p:nvPr/>
        </p:nvSpPr>
        <p:spPr>
          <a:xfrm>
            <a:off x="3561588" y="396392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hape-23"/>
          <p:cNvSpPr/>
          <p:nvPr/>
        </p:nvSpPr>
        <p:spPr>
          <a:xfrm>
            <a:off x="4183379" y="396392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line-24"/>
          <p:cNvCxnSpPr/>
          <p:nvPr/>
        </p:nvCxnSpPr>
        <p:spPr>
          <a:xfrm>
            <a:off x="3931920" y="4389120"/>
            <a:ext cx="1920240" cy="868680"/>
          </a:xfrm>
          <a:prstGeom prst="line">
            <a:avLst/>
          </a:prstGeom>
          <a:ln w="15240">
            <a:solidFill>
              <a:srgbClr val="F8F5EE"/>
            </a:solidFill>
          </a:ln>
        </p:spPr>
        <p:style>
          <a:lnRef idx="2">
            <a:schemeClr val="accent1"/>
          </a:lnRef>
          <a:fillRef idx="0">
            <a:schemeClr val="accent1"/>
          </a:fillRef>
          <a:effectRef idx="1">
            <a:schemeClr val="accent1"/>
          </a:effectRef>
          <a:fontRef idx="minor">
            <a:schemeClr val="tx1"/>
          </a:fontRef>
        </p:style>
      </p:cxnSp>
      <p:sp>
        <p:nvSpPr>
          <p:cNvPr id="26" name="shape-25"/>
          <p:cNvSpPr/>
          <p:nvPr/>
        </p:nvSpPr>
        <p:spPr>
          <a:xfrm>
            <a:off x="3881628" y="4338828"/>
            <a:ext cx="100584" cy="100584"/>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line-26"/>
          <p:cNvCxnSpPr/>
          <p:nvPr/>
        </p:nvCxnSpPr>
        <p:spPr>
          <a:xfrm flipH="1">
            <a:off x="5129783" y="393192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cxnSp>
        <p:nvCxnSpPr>
          <p:cNvPr id="28" name="line-27"/>
          <p:cNvCxnSpPr/>
          <p:nvPr/>
        </p:nvCxnSpPr>
        <p:spPr>
          <a:xfrm>
            <a:off x="5440679" y="393192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sp>
        <p:nvSpPr>
          <p:cNvPr id="29" name="shape-28"/>
          <p:cNvSpPr/>
          <p:nvPr/>
        </p:nvSpPr>
        <p:spPr>
          <a:xfrm>
            <a:off x="5381243" y="3872483"/>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shape-29"/>
          <p:cNvSpPr/>
          <p:nvPr/>
        </p:nvSpPr>
        <p:spPr>
          <a:xfrm>
            <a:off x="5070347" y="423824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shape-30"/>
          <p:cNvSpPr/>
          <p:nvPr/>
        </p:nvSpPr>
        <p:spPr>
          <a:xfrm>
            <a:off x="5692139" y="423824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line-31"/>
          <p:cNvCxnSpPr/>
          <p:nvPr/>
        </p:nvCxnSpPr>
        <p:spPr>
          <a:xfrm>
            <a:off x="5440679" y="4663440"/>
            <a:ext cx="411481" cy="594360"/>
          </a:xfrm>
          <a:prstGeom prst="line">
            <a:avLst/>
          </a:prstGeom>
          <a:ln w="15240">
            <a:solidFill>
              <a:srgbClr val="F8F5EE"/>
            </a:solidFill>
          </a:ln>
        </p:spPr>
        <p:style>
          <a:lnRef idx="2">
            <a:schemeClr val="accent1"/>
          </a:lnRef>
          <a:fillRef idx="0">
            <a:schemeClr val="accent1"/>
          </a:fillRef>
          <a:effectRef idx="1">
            <a:schemeClr val="accent1"/>
          </a:effectRef>
          <a:fontRef idx="minor">
            <a:schemeClr val="tx1"/>
          </a:fontRef>
        </p:style>
      </p:cxnSp>
      <p:sp>
        <p:nvSpPr>
          <p:cNvPr id="33" name="shape-32"/>
          <p:cNvSpPr/>
          <p:nvPr/>
        </p:nvSpPr>
        <p:spPr>
          <a:xfrm>
            <a:off x="5390388" y="4613148"/>
            <a:ext cx="100584" cy="100584"/>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line-33"/>
          <p:cNvCxnSpPr/>
          <p:nvPr/>
        </p:nvCxnSpPr>
        <p:spPr>
          <a:xfrm flipH="1">
            <a:off x="6638544" y="365760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cxnSp>
        <p:nvCxnSpPr>
          <p:cNvPr id="35" name="line-34"/>
          <p:cNvCxnSpPr/>
          <p:nvPr/>
        </p:nvCxnSpPr>
        <p:spPr>
          <a:xfrm>
            <a:off x="6949440" y="365760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sp>
        <p:nvSpPr>
          <p:cNvPr id="36" name="shape-35"/>
          <p:cNvSpPr/>
          <p:nvPr/>
        </p:nvSpPr>
        <p:spPr>
          <a:xfrm>
            <a:off x="6890003" y="359816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shape-36"/>
          <p:cNvSpPr/>
          <p:nvPr/>
        </p:nvSpPr>
        <p:spPr>
          <a:xfrm>
            <a:off x="6579107" y="396392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shape-37"/>
          <p:cNvSpPr/>
          <p:nvPr/>
        </p:nvSpPr>
        <p:spPr>
          <a:xfrm>
            <a:off x="7200899" y="396392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line-38"/>
          <p:cNvCxnSpPr/>
          <p:nvPr/>
        </p:nvCxnSpPr>
        <p:spPr>
          <a:xfrm flipH="1">
            <a:off x="5852160" y="4389120"/>
            <a:ext cx="1097280" cy="868680"/>
          </a:xfrm>
          <a:prstGeom prst="line">
            <a:avLst/>
          </a:prstGeom>
          <a:ln w="15240">
            <a:solidFill>
              <a:srgbClr val="F8F5EE"/>
            </a:solidFill>
          </a:ln>
        </p:spPr>
        <p:style>
          <a:lnRef idx="2">
            <a:schemeClr val="accent1"/>
          </a:lnRef>
          <a:fillRef idx="0">
            <a:schemeClr val="accent1"/>
          </a:fillRef>
          <a:effectRef idx="1">
            <a:schemeClr val="accent1"/>
          </a:effectRef>
          <a:fontRef idx="minor">
            <a:schemeClr val="tx1"/>
          </a:fontRef>
        </p:style>
      </p:cxnSp>
      <p:sp>
        <p:nvSpPr>
          <p:cNvPr id="40" name="shape-39"/>
          <p:cNvSpPr/>
          <p:nvPr/>
        </p:nvSpPr>
        <p:spPr>
          <a:xfrm>
            <a:off x="6899148" y="4338828"/>
            <a:ext cx="100584" cy="100584"/>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line-40"/>
          <p:cNvCxnSpPr/>
          <p:nvPr/>
        </p:nvCxnSpPr>
        <p:spPr>
          <a:xfrm flipH="1">
            <a:off x="8147304" y="393192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cxnSp>
        <p:nvCxnSpPr>
          <p:cNvPr id="42" name="line-41"/>
          <p:cNvCxnSpPr/>
          <p:nvPr/>
        </p:nvCxnSpPr>
        <p:spPr>
          <a:xfrm>
            <a:off x="8458200" y="393192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sp>
        <p:nvSpPr>
          <p:cNvPr id="43" name="shape-42"/>
          <p:cNvSpPr/>
          <p:nvPr/>
        </p:nvSpPr>
        <p:spPr>
          <a:xfrm>
            <a:off x="8398764" y="3872483"/>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shape-43"/>
          <p:cNvSpPr/>
          <p:nvPr/>
        </p:nvSpPr>
        <p:spPr>
          <a:xfrm>
            <a:off x="8087868" y="423824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shape-44"/>
          <p:cNvSpPr/>
          <p:nvPr/>
        </p:nvSpPr>
        <p:spPr>
          <a:xfrm>
            <a:off x="8709660" y="423824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6" name="line-45"/>
          <p:cNvCxnSpPr/>
          <p:nvPr/>
        </p:nvCxnSpPr>
        <p:spPr>
          <a:xfrm flipH="1">
            <a:off x="5852160" y="4663440"/>
            <a:ext cx="2606040" cy="594360"/>
          </a:xfrm>
          <a:prstGeom prst="line">
            <a:avLst/>
          </a:prstGeom>
          <a:ln w="15240">
            <a:solidFill>
              <a:srgbClr val="F8F5EE"/>
            </a:solidFill>
          </a:ln>
        </p:spPr>
        <p:style>
          <a:lnRef idx="2">
            <a:schemeClr val="accent1"/>
          </a:lnRef>
          <a:fillRef idx="0">
            <a:schemeClr val="accent1"/>
          </a:fillRef>
          <a:effectRef idx="1">
            <a:schemeClr val="accent1"/>
          </a:effectRef>
          <a:fontRef idx="minor">
            <a:schemeClr val="tx1"/>
          </a:fontRef>
        </p:style>
      </p:cxnSp>
      <p:sp>
        <p:nvSpPr>
          <p:cNvPr id="47" name="shape-46"/>
          <p:cNvSpPr/>
          <p:nvPr/>
        </p:nvSpPr>
        <p:spPr>
          <a:xfrm>
            <a:off x="8407908" y="4613148"/>
            <a:ext cx="100584" cy="100584"/>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line-47"/>
          <p:cNvCxnSpPr/>
          <p:nvPr/>
        </p:nvCxnSpPr>
        <p:spPr>
          <a:xfrm flipH="1">
            <a:off x="9656063" y="365760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cxnSp>
        <p:nvCxnSpPr>
          <p:cNvPr id="49" name="line-48"/>
          <p:cNvCxnSpPr/>
          <p:nvPr/>
        </p:nvCxnSpPr>
        <p:spPr>
          <a:xfrm>
            <a:off x="9966959" y="3657600"/>
            <a:ext cx="310896" cy="365760"/>
          </a:xfrm>
          <a:prstGeom prst="line">
            <a:avLst/>
          </a:prstGeom>
          <a:ln w="20320">
            <a:solidFill>
              <a:srgbClr val="F8F5EE"/>
            </a:solidFill>
          </a:ln>
        </p:spPr>
        <p:style>
          <a:lnRef idx="2">
            <a:schemeClr val="accent1"/>
          </a:lnRef>
          <a:fillRef idx="0">
            <a:schemeClr val="accent1"/>
          </a:fillRef>
          <a:effectRef idx="1">
            <a:schemeClr val="accent1"/>
          </a:effectRef>
          <a:fontRef idx="minor">
            <a:schemeClr val="tx1"/>
          </a:fontRef>
        </p:style>
      </p:cxnSp>
      <p:sp>
        <p:nvSpPr>
          <p:cNvPr id="50" name="shape-49"/>
          <p:cNvSpPr/>
          <p:nvPr/>
        </p:nvSpPr>
        <p:spPr>
          <a:xfrm>
            <a:off x="9907524" y="359816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shape-50"/>
          <p:cNvSpPr/>
          <p:nvPr/>
        </p:nvSpPr>
        <p:spPr>
          <a:xfrm>
            <a:off x="9596628" y="396392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shape-51"/>
          <p:cNvSpPr/>
          <p:nvPr/>
        </p:nvSpPr>
        <p:spPr>
          <a:xfrm>
            <a:off x="10218419" y="3963924"/>
            <a:ext cx="118872" cy="118872"/>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3" name="line-52"/>
          <p:cNvCxnSpPr/>
          <p:nvPr/>
        </p:nvCxnSpPr>
        <p:spPr>
          <a:xfrm flipH="1">
            <a:off x="5852160" y="4389120"/>
            <a:ext cx="4114799" cy="868680"/>
          </a:xfrm>
          <a:prstGeom prst="line">
            <a:avLst/>
          </a:prstGeom>
          <a:ln w="15240">
            <a:solidFill>
              <a:srgbClr val="F8F5EE"/>
            </a:solidFill>
          </a:ln>
        </p:spPr>
        <p:style>
          <a:lnRef idx="2">
            <a:schemeClr val="accent1"/>
          </a:lnRef>
          <a:fillRef idx="0">
            <a:schemeClr val="accent1"/>
          </a:fillRef>
          <a:effectRef idx="1">
            <a:schemeClr val="accent1"/>
          </a:effectRef>
          <a:fontRef idx="minor">
            <a:schemeClr val="tx1"/>
          </a:fontRef>
        </p:style>
      </p:cxnSp>
      <p:sp>
        <p:nvSpPr>
          <p:cNvPr id="54" name="shape-53"/>
          <p:cNvSpPr/>
          <p:nvPr/>
        </p:nvSpPr>
        <p:spPr>
          <a:xfrm>
            <a:off x="9916667" y="4338828"/>
            <a:ext cx="100584" cy="100584"/>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54"/>
          <p:cNvSpPr txBox="1"/>
          <p:nvPr/>
        </p:nvSpPr>
        <p:spPr>
          <a:xfrm>
            <a:off x="8823960" y="1097280"/>
            <a:ext cx="2743200" cy="1463040"/>
          </a:xfrm>
          <a:prstGeom prst="rect">
            <a:avLst/>
          </a:prstGeom>
          <a:noFill/>
        </p:spPr>
        <p:txBody>
          <a:bodyPr wrap="square" lIns="0" tIns="0" rIns="0" bIns="0">
            <a:spAutoFit/>
          </a:bodyPr>
          <a:lstStyle/>
          <a:p>
            <a:pPr>
              <a:spcAft>
                <a:spcPts val="0"/>
              </a:spcAft>
              <a:defRPr sz="8800" b="1">
                <a:solidFill>
                  <a:srgbClr val="C5F66A"/>
                </a:solidFill>
                <a:latin typeface="Aptos"/>
              </a:defRPr>
            </a:pPr>
            <a:r>
              <a:t>300</a:t>
            </a:r>
          </a:p>
        </p:txBody>
      </p:sp>
      <p:sp>
        <p:nvSpPr>
          <p:cNvPr id="56" name="text-55"/>
          <p:cNvSpPr txBox="1"/>
          <p:nvPr/>
        </p:nvSpPr>
        <p:spPr>
          <a:xfrm>
            <a:off x="9052560" y="2514600"/>
            <a:ext cx="2468880" cy="914400"/>
          </a:xfrm>
          <a:prstGeom prst="rect">
            <a:avLst/>
          </a:prstGeom>
          <a:noFill/>
        </p:spPr>
        <p:txBody>
          <a:bodyPr wrap="square" lIns="0" tIns="0" rIns="0" bIns="0">
            <a:spAutoFit/>
          </a:bodyPr>
          <a:lstStyle/>
          <a:p>
            <a:pPr>
              <a:spcAft>
                <a:spcPts val="0"/>
              </a:spcAft>
              <a:defRPr sz="2300" b="0">
                <a:solidFill>
                  <a:srgbClr val="F8F5EE"/>
                </a:solidFill>
                <a:latin typeface="Aptos"/>
              </a:defRPr>
            </a:pPr>
            <a:r>
              <a:t>cây ở RF42</a:t>
            </a:r>
          </a:p>
          <a:p>
            <a:pPr>
              <a:spcAft>
                <a:spcPts val="0"/>
              </a:spcAft>
              <a:defRPr sz="2300" b="0">
                <a:solidFill>
                  <a:srgbClr val="F8F5EE"/>
                </a:solidFill>
                <a:latin typeface="Aptos"/>
              </a:defRPr>
            </a:pPr>
            <a:r>
              <a:t>lịch sử</a:t>
            </a:r>
          </a:p>
        </p:txBody>
      </p:sp>
      <p:sp>
        <p:nvSpPr>
          <p:cNvPr id="57" name="text-56"/>
          <p:cNvSpPr txBox="1"/>
          <p:nvPr/>
        </p:nvSpPr>
        <p:spPr>
          <a:xfrm>
            <a:off x="548640" y="5760720"/>
            <a:ext cx="10972800" cy="594360"/>
          </a:xfrm>
          <a:prstGeom prst="rect">
            <a:avLst/>
          </a:prstGeom>
          <a:noFill/>
        </p:spPr>
        <p:txBody>
          <a:bodyPr wrap="square" lIns="0" tIns="0" rIns="0" bIns="0">
            <a:spAutoFit/>
          </a:bodyPr>
          <a:lstStyle/>
          <a:p>
            <a:pPr>
              <a:spcAft>
                <a:spcPts val="0"/>
              </a:spcAft>
              <a:defRPr sz="2400" b="0">
                <a:solidFill>
                  <a:srgbClr val="F8F5EE"/>
                </a:solidFill>
                <a:latin typeface="Aptos"/>
              </a:defRPr>
            </a:pPr>
            <a:r>
              <a:t>Bootstrap + đặc trưng ngẫu nhiên → tổng hợp dự đoán</a:t>
            </a:r>
          </a:p>
        </p:txBody>
      </p:sp>
    </p:spTree>
  </p:cSld>
  <p:clrMapOvr>
    <a:masterClrMapping/>
  </p:clrMapOvr>
  <mc:AlternateContent xmlns:mc="http://schemas.openxmlformats.org/markup-compatibility/2006" xmlns:p14="http://schemas.microsoft.com/office/powerpoint/2010/main">
    <mc:Choice Requires="p14">
      <p:transition spd="slow" p14:dur="2000" advTm="18000"/>
    </mc:Choice>
    <mc:Fallback xmlns="">
      <p:transition spd="slow" advTm="18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accel="15000" decel="15000" fill="hold" nodeType="with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450"/>
                                        <p:tgtEl>
                                          <p:spTgt spid="6"/>
                                        </p:tgtEl>
                                      </p:cBhvr>
                                    </p:animEffect>
                                  </p:childTnLst>
                                </p:cTn>
                              </p:par>
                              <p:par>
                                <p:cTn id="8" presetID="22" presetClass="entr" presetSubtype="8" accel="15000" decel="15000" fill="hold" nodeType="withEffect">
                                  <p:stCondLst>
                                    <p:cond delay="100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450"/>
                                        <p:tgtEl>
                                          <p:spTgt spid="7"/>
                                        </p:tgtEl>
                                      </p:cBhvr>
                                    </p:animEffect>
                                  </p:childTnLst>
                                </p:cTn>
                              </p:par>
                              <p:par>
                                <p:cTn id="11" presetID="10" presetClass="entr" presetSubtype="0" accel="15000" decel="15000" fill="hold" grpId="0" nodeType="withEffect">
                                  <p:stCondLst>
                                    <p:cond delay="11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par>
                                <p:cTn id="14" presetID="22" presetClass="entr" presetSubtype="8" accel="15000" decel="15000" fill="hold" nodeType="withEffect">
                                  <p:stCondLst>
                                    <p:cond delay="120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450"/>
                                        <p:tgtEl>
                                          <p:spTgt spid="13"/>
                                        </p:tgtEl>
                                      </p:cBhvr>
                                    </p:animEffect>
                                  </p:childTnLst>
                                </p:cTn>
                              </p:par>
                              <p:par>
                                <p:cTn id="17" presetID="22" presetClass="entr" presetSubtype="8" accel="15000" decel="15000" fill="hold" nodeType="withEffect">
                                  <p:stCondLst>
                                    <p:cond delay="12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450"/>
                                        <p:tgtEl>
                                          <p:spTgt spid="14"/>
                                        </p:tgtEl>
                                      </p:cBhvr>
                                    </p:animEffect>
                                  </p:childTnLst>
                                </p:cTn>
                              </p:par>
                              <p:par>
                                <p:cTn id="20" presetID="10" presetClass="entr" presetSubtype="0" accel="15000" decel="15000" fill="hold" grpId="0" nodeType="withEffect">
                                  <p:stCondLst>
                                    <p:cond delay="12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00"/>
                                        <p:tgtEl>
                                          <p:spTgt spid="9"/>
                                        </p:tgtEl>
                                      </p:cBhvr>
                                    </p:animEffect>
                                  </p:childTnLst>
                                </p:cTn>
                              </p:par>
                              <p:par>
                                <p:cTn id="23" presetID="10" presetClass="entr" presetSubtype="0" accel="15000" decel="15000" fill="hold" grpId="0" nodeType="withEffect">
                                  <p:stCondLst>
                                    <p:cond delay="13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300"/>
                                        <p:tgtEl>
                                          <p:spTgt spid="10"/>
                                        </p:tgtEl>
                                      </p:cBhvr>
                                    </p:animEffect>
                                  </p:childTnLst>
                                </p:cTn>
                              </p:par>
                              <p:par>
                                <p:cTn id="26" presetID="10" presetClass="entr" presetSubtype="0" accel="15000" decel="15000" fill="hold" grpId="0" nodeType="withEffect">
                                  <p:stCondLst>
                                    <p:cond delay="130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300"/>
                                        <p:tgtEl>
                                          <p:spTgt spid="15"/>
                                        </p:tgtEl>
                                      </p:cBhvr>
                                    </p:animEffect>
                                  </p:childTnLst>
                                </p:cTn>
                              </p:par>
                              <p:par>
                                <p:cTn id="29" presetID="22" presetClass="entr" presetSubtype="8" accel="15000" decel="15000" fill="hold" nodeType="withEffect">
                                  <p:stCondLst>
                                    <p:cond delay="140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450"/>
                                        <p:tgtEl>
                                          <p:spTgt spid="20"/>
                                        </p:tgtEl>
                                      </p:cBhvr>
                                    </p:animEffect>
                                  </p:childTnLst>
                                </p:cTn>
                              </p:par>
                              <p:par>
                                <p:cTn id="32" presetID="22" presetClass="entr" presetSubtype="8" accel="15000" decel="15000" fill="hold" nodeType="withEffect">
                                  <p:stCondLst>
                                    <p:cond delay="140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450"/>
                                        <p:tgtEl>
                                          <p:spTgt spid="21"/>
                                        </p:tgtEl>
                                      </p:cBhvr>
                                    </p:animEffect>
                                  </p:childTnLst>
                                </p:cTn>
                              </p:par>
                              <p:par>
                                <p:cTn id="35" presetID="10" presetClass="entr" presetSubtype="0" accel="15000" decel="15000" fill="hold" grpId="0" nodeType="withEffect">
                                  <p:stCondLst>
                                    <p:cond delay="14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00"/>
                                        <p:tgtEl>
                                          <p:spTgt spid="16"/>
                                        </p:tgtEl>
                                      </p:cBhvr>
                                    </p:animEffect>
                                  </p:childTnLst>
                                </p:cTn>
                              </p:par>
                              <p:par>
                                <p:cTn id="38" presetID="10" presetClass="entr" presetSubtype="0" accel="15000" decel="15000" fill="hold" grpId="0" nodeType="withEffect">
                                  <p:stCondLst>
                                    <p:cond delay="150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00"/>
                                        <p:tgtEl>
                                          <p:spTgt spid="17"/>
                                        </p:tgtEl>
                                      </p:cBhvr>
                                    </p:animEffect>
                                  </p:childTnLst>
                                </p:cTn>
                              </p:par>
                              <p:par>
                                <p:cTn id="41" presetID="10" presetClass="entr" presetSubtype="0" accel="15000" decel="15000" fill="hold" grpId="0" nodeType="withEffect">
                                  <p:stCondLst>
                                    <p:cond delay="150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300"/>
                                        <p:tgtEl>
                                          <p:spTgt spid="22"/>
                                        </p:tgtEl>
                                      </p:cBhvr>
                                    </p:animEffect>
                                  </p:childTnLst>
                                </p:cTn>
                              </p:par>
                              <p:par>
                                <p:cTn id="44" presetID="10" presetClass="entr" presetSubtype="0" accel="15000" decel="15000" fill="hold" grpId="0" nodeType="withEffect">
                                  <p:stCondLst>
                                    <p:cond delay="160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300"/>
                                        <p:tgtEl>
                                          <p:spTgt spid="23"/>
                                        </p:tgtEl>
                                      </p:cBhvr>
                                    </p:animEffect>
                                  </p:childTnLst>
                                </p:cTn>
                              </p:par>
                              <p:par>
                                <p:cTn id="47" presetID="22" presetClass="entr" presetSubtype="8" accel="15000" decel="15000" fill="hold" nodeType="withEffect">
                                  <p:stCondLst>
                                    <p:cond delay="1600"/>
                                  </p:stCondLst>
                                  <p:childTnLst>
                                    <p:set>
                                      <p:cBhvr>
                                        <p:cTn id="48" dur="1" fill="hold">
                                          <p:stCondLst>
                                            <p:cond delay="0"/>
                                          </p:stCondLst>
                                        </p:cTn>
                                        <p:tgtEl>
                                          <p:spTgt spid="27"/>
                                        </p:tgtEl>
                                        <p:attrNameLst>
                                          <p:attrName>style.visibility</p:attrName>
                                        </p:attrNameLst>
                                      </p:cBhvr>
                                      <p:to>
                                        <p:strVal val="visible"/>
                                      </p:to>
                                    </p:set>
                                    <p:animEffect transition="in" filter="wipe(left)">
                                      <p:cBhvr>
                                        <p:cTn id="49" dur="450"/>
                                        <p:tgtEl>
                                          <p:spTgt spid="27"/>
                                        </p:tgtEl>
                                      </p:cBhvr>
                                    </p:animEffect>
                                  </p:childTnLst>
                                </p:cTn>
                              </p:par>
                              <p:par>
                                <p:cTn id="50" presetID="22" presetClass="entr" presetSubtype="8" accel="15000" decel="15000" fill="hold" nodeType="withEffect">
                                  <p:stCondLst>
                                    <p:cond delay="1600"/>
                                  </p:stCondLst>
                                  <p:childTnLst>
                                    <p:set>
                                      <p:cBhvr>
                                        <p:cTn id="51" dur="1" fill="hold">
                                          <p:stCondLst>
                                            <p:cond delay="0"/>
                                          </p:stCondLst>
                                        </p:cTn>
                                        <p:tgtEl>
                                          <p:spTgt spid="28"/>
                                        </p:tgtEl>
                                        <p:attrNameLst>
                                          <p:attrName>style.visibility</p:attrName>
                                        </p:attrNameLst>
                                      </p:cBhvr>
                                      <p:to>
                                        <p:strVal val="visible"/>
                                      </p:to>
                                    </p:set>
                                    <p:animEffect transition="in" filter="wipe(left)">
                                      <p:cBhvr>
                                        <p:cTn id="52" dur="450"/>
                                        <p:tgtEl>
                                          <p:spTgt spid="28"/>
                                        </p:tgtEl>
                                      </p:cBhvr>
                                    </p:animEffect>
                                  </p:childTnLst>
                                </p:cTn>
                              </p:par>
                              <p:par>
                                <p:cTn id="53" presetID="10" presetClass="entr" presetSubtype="0" accel="15000" decel="15000" fill="hold" grpId="0" nodeType="withEffect">
                                  <p:stCondLst>
                                    <p:cond delay="170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300"/>
                                        <p:tgtEl>
                                          <p:spTgt spid="24"/>
                                        </p:tgtEl>
                                      </p:cBhvr>
                                    </p:animEffect>
                                  </p:childTnLst>
                                </p:cTn>
                              </p:par>
                              <p:par>
                                <p:cTn id="56" presetID="10" presetClass="entr" presetSubtype="0" accel="15000" decel="15000" fill="hold" grpId="0" nodeType="withEffect">
                                  <p:stCondLst>
                                    <p:cond delay="170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300"/>
                                        <p:tgtEl>
                                          <p:spTgt spid="29"/>
                                        </p:tgtEl>
                                      </p:cBhvr>
                                    </p:animEffect>
                                  </p:childTnLst>
                                </p:cTn>
                              </p:par>
                              <p:par>
                                <p:cTn id="59" presetID="22" presetClass="entr" presetSubtype="8" accel="15000" decel="15000" fill="hold" nodeType="withEffect">
                                  <p:stCondLst>
                                    <p:cond delay="1800"/>
                                  </p:stCondLst>
                                  <p:childTnLst>
                                    <p:set>
                                      <p:cBhvr>
                                        <p:cTn id="60" dur="1" fill="hold">
                                          <p:stCondLst>
                                            <p:cond delay="0"/>
                                          </p:stCondLst>
                                        </p:cTn>
                                        <p:tgtEl>
                                          <p:spTgt spid="34"/>
                                        </p:tgtEl>
                                        <p:attrNameLst>
                                          <p:attrName>style.visibility</p:attrName>
                                        </p:attrNameLst>
                                      </p:cBhvr>
                                      <p:to>
                                        <p:strVal val="visible"/>
                                      </p:to>
                                    </p:set>
                                    <p:animEffect transition="in" filter="wipe(left)">
                                      <p:cBhvr>
                                        <p:cTn id="61" dur="450"/>
                                        <p:tgtEl>
                                          <p:spTgt spid="34"/>
                                        </p:tgtEl>
                                      </p:cBhvr>
                                    </p:animEffect>
                                  </p:childTnLst>
                                </p:cTn>
                              </p:par>
                              <p:par>
                                <p:cTn id="62" presetID="22" presetClass="entr" presetSubtype="8" accel="15000" decel="15000" fill="hold" nodeType="withEffect">
                                  <p:stCondLst>
                                    <p:cond delay="1800"/>
                                  </p:stCondLst>
                                  <p:childTnLst>
                                    <p:set>
                                      <p:cBhvr>
                                        <p:cTn id="63" dur="1" fill="hold">
                                          <p:stCondLst>
                                            <p:cond delay="0"/>
                                          </p:stCondLst>
                                        </p:cTn>
                                        <p:tgtEl>
                                          <p:spTgt spid="35"/>
                                        </p:tgtEl>
                                        <p:attrNameLst>
                                          <p:attrName>style.visibility</p:attrName>
                                        </p:attrNameLst>
                                      </p:cBhvr>
                                      <p:to>
                                        <p:strVal val="visible"/>
                                      </p:to>
                                    </p:set>
                                    <p:animEffect transition="in" filter="wipe(left)">
                                      <p:cBhvr>
                                        <p:cTn id="64" dur="450"/>
                                        <p:tgtEl>
                                          <p:spTgt spid="35"/>
                                        </p:tgtEl>
                                      </p:cBhvr>
                                    </p:animEffect>
                                  </p:childTnLst>
                                </p:cTn>
                              </p:par>
                              <p:par>
                                <p:cTn id="65" presetID="10" presetClass="entr" presetSubtype="0" accel="15000" decel="15000" fill="hold" grpId="0" nodeType="withEffect">
                                  <p:stCondLst>
                                    <p:cond delay="180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300"/>
                                        <p:tgtEl>
                                          <p:spTgt spid="30"/>
                                        </p:tgtEl>
                                      </p:cBhvr>
                                    </p:animEffect>
                                  </p:childTnLst>
                                </p:cTn>
                              </p:par>
                              <p:par>
                                <p:cTn id="68" presetID="10" presetClass="entr" presetSubtype="0" accel="15000" decel="15000" fill="hold" grpId="0" nodeType="withEffect">
                                  <p:stCondLst>
                                    <p:cond delay="190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300"/>
                                        <p:tgtEl>
                                          <p:spTgt spid="31"/>
                                        </p:tgtEl>
                                      </p:cBhvr>
                                    </p:animEffect>
                                  </p:childTnLst>
                                </p:cTn>
                              </p:par>
                              <p:par>
                                <p:cTn id="71" presetID="10" presetClass="entr" presetSubtype="0" accel="15000" decel="15000" fill="hold" grpId="0" nodeType="withEffect">
                                  <p:stCondLst>
                                    <p:cond delay="190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300"/>
                                        <p:tgtEl>
                                          <p:spTgt spid="36"/>
                                        </p:tgtEl>
                                      </p:cBhvr>
                                    </p:animEffect>
                                  </p:childTnLst>
                                </p:cTn>
                              </p:par>
                              <p:par>
                                <p:cTn id="74" presetID="10" presetClass="entr" presetSubtype="0" accel="15000" decel="15000" fill="hold" grpId="0" nodeType="withEffect">
                                  <p:stCondLst>
                                    <p:cond delay="200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300"/>
                                        <p:tgtEl>
                                          <p:spTgt spid="37"/>
                                        </p:tgtEl>
                                      </p:cBhvr>
                                    </p:animEffect>
                                  </p:childTnLst>
                                </p:cTn>
                              </p:par>
                              <p:par>
                                <p:cTn id="77" presetID="22" presetClass="entr" presetSubtype="8" accel="15000" decel="15000" fill="hold" nodeType="withEffect">
                                  <p:stCondLst>
                                    <p:cond delay="2000"/>
                                  </p:stCondLst>
                                  <p:childTnLst>
                                    <p:set>
                                      <p:cBhvr>
                                        <p:cTn id="78" dur="1" fill="hold">
                                          <p:stCondLst>
                                            <p:cond delay="0"/>
                                          </p:stCondLst>
                                        </p:cTn>
                                        <p:tgtEl>
                                          <p:spTgt spid="41"/>
                                        </p:tgtEl>
                                        <p:attrNameLst>
                                          <p:attrName>style.visibility</p:attrName>
                                        </p:attrNameLst>
                                      </p:cBhvr>
                                      <p:to>
                                        <p:strVal val="visible"/>
                                      </p:to>
                                    </p:set>
                                    <p:animEffect transition="in" filter="wipe(left)">
                                      <p:cBhvr>
                                        <p:cTn id="79" dur="450"/>
                                        <p:tgtEl>
                                          <p:spTgt spid="41"/>
                                        </p:tgtEl>
                                      </p:cBhvr>
                                    </p:animEffect>
                                  </p:childTnLst>
                                </p:cTn>
                              </p:par>
                              <p:par>
                                <p:cTn id="80" presetID="22" presetClass="entr" presetSubtype="8" accel="15000" decel="15000" fill="hold" nodeType="withEffect">
                                  <p:stCondLst>
                                    <p:cond delay="2000"/>
                                  </p:stCondLst>
                                  <p:childTnLst>
                                    <p:set>
                                      <p:cBhvr>
                                        <p:cTn id="81" dur="1" fill="hold">
                                          <p:stCondLst>
                                            <p:cond delay="0"/>
                                          </p:stCondLst>
                                        </p:cTn>
                                        <p:tgtEl>
                                          <p:spTgt spid="42"/>
                                        </p:tgtEl>
                                        <p:attrNameLst>
                                          <p:attrName>style.visibility</p:attrName>
                                        </p:attrNameLst>
                                      </p:cBhvr>
                                      <p:to>
                                        <p:strVal val="visible"/>
                                      </p:to>
                                    </p:set>
                                    <p:animEffect transition="in" filter="wipe(left)">
                                      <p:cBhvr>
                                        <p:cTn id="82" dur="450"/>
                                        <p:tgtEl>
                                          <p:spTgt spid="42"/>
                                        </p:tgtEl>
                                      </p:cBhvr>
                                    </p:animEffect>
                                  </p:childTnLst>
                                </p:cTn>
                              </p:par>
                              <p:par>
                                <p:cTn id="83" presetID="10" presetClass="entr" presetSubtype="0" accel="15000" decel="15000" fill="hold" grpId="0" nodeType="withEffect">
                                  <p:stCondLst>
                                    <p:cond delay="2100"/>
                                  </p:stCondLst>
                                  <p:childTnLst>
                                    <p:set>
                                      <p:cBhvr>
                                        <p:cTn id="84" dur="1" fill="hold">
                                          <p:stCondLst>
                                            <p:cond delay="0"/>
                                          </p:stCondLst>
                                        </p:cTn>
                                        <p:tgtEl>
                                          <p:spTgt spid="38"/>
                                        </p:tgtEl>
                                        <p:attrNameLst>
                                          <p:attrName>style.visibility</p:attrName>
                                        </p:attrNameLst>
                                      </p:cBhvr>
                                      <p:to>
                                        <p:strVal val="visible"/>
                                      </p:to>
                                    </p:set>
                                    <p:animEffect transition="in" filter="fade">
                                      <p:cBhvr>
                                        <p:cTn id="85" dur="300"/>
                                        <p:tgtEl>
                                          <p:spTgt spid="38"/>
                                        </p:tgtEl>
                                      </p:cBhvr>
                                    </p:animEffect>
                                  </p:childTnLst>
                                </p:cTn>
                              </p:par>
                              <p:par>
                                <p:cTn id="86" presetID="10" presetClass="entr" presetSubtype="0" accel="15000" decel="15000" fill="hold" grpId="0" nodeType="withEffect">
                                  <p:stCondLst>
                                    <p:cond delay="2100"/>
                                  </p:stCondLst>
                                  <p:childTnLst>
                                    <p:set>
                                      <p:cBhvr>
                                        <p:cTn id="87" dur="1" fill="hold">
                                          <p:stCondLst>
                                            <p:cond delay="0"/>
                                          </p:stCondLst>
                                        </p:cTn>
                                        <p:tgtEl>
                                          <p:spTgt spid="43"/>
                                        </p:tgtEl>
                                        <p:attrNameLst>
                                          <p:attrName>style.visibility</p:attrName>
                                        </p:attrNameLst>
                                      </p:cBhvr>
                                      <p:to>
                                        <p:strVal val="visible"/>
                                      </p:to>
                                    </p:set>
                                    <p:animEffect transition="in" filter="fade">
                                      <p:cBhvr>
                                        <p:cTn id="88" dur="300"/>
                                        <p:tgtEl>
                                          <p:spTgt spid="43"/>
                                        </p:tgtEl>
                                      </p:cBhvr>
                                    </p:animEffect>
                                  </p:childTnLst>
                                </p:cTn>
                              </p:par>
                              <p:par>
                                <p:cTn id="89" presetID="10" presetClass="entr" presetSubtype="0" accel="15000" decel="15000" fill="hold" grpId="0" nodeType="withEffect">
                                  <p:stCondLst>
                                    <p:cond delay="2200"/>
                                  </p:stCondLst>
                                  <p:childTnLst>
                                    <p:set>
                                      <p:cBhvr>
                                        <p:cTn id="90" dur="1" fill="hold">
                                          <p:stCondLst>
                                            <p:cond delay="0"/>
                                          </p:stCondLst>
                                        </p:cTn>
                                        <p:tgtEl>
                                          <p:spTgt spid="44"/>
                                        </p:tgtEl>
                                        <p:attrNameLst>
                                          <p:attrName>style.visibility</p:attrName>
                                        </p:attrNameLst>
                                      </p:cBhvr>
                                      <p:to>
                                        <p:strVal val="visible"/>
                                      </p:to>
                                    </p:set>
                                    <p:animEffect transition="in" filter="fade">
                                      <p:cBhvr>
                                        <p:cTn id="91" dur="300"/>
                                        <p:tgtEl>
                                          <p:spTgt spid="44"/>
                                        </p:tgtEl>
                                      </p:cBhvr>
                                    </p:animEffect>
                                  </p:childTnLst>
                                </p:cTn>
                              </p:par>
                              <p:par>
                                <p:cTn id="92" presetID="22" presetClass="entr" presetSubtype="8" accel="15000" decel="15000" fill="hold" nodeType="withEffect">
                                  <p:stCondLst>
                                    <p:cond delay="2200"/>
                                  </p:stCondLst>
                                  <p:childTnLst>
                                    <p:set>
                                      <p:cBhvr>
                                        <p:cTn id="93" dur="1" fill="hold">
                                          <p:stCondLst>
                                            <p:cond delay="0"/>
                                          </p:stCondLst>
                                        </p:cTn>
                                        <p:tgtEl>
                                          <p:spTgt spid="48"/>
                                        </p:tgtEl>
                                        <p:attrNameLst>
                                          <p:attrName>style.visibility</p:attrName>
                                        </p:attrNameLst>
                                      </p:cBhvr>
                                      <p:to>
                                        <p:strVal val="visible"/>
                                      </p:to>
                                    </p:set>
                                    <p:animEffect transition="in" filter="wipe(left)">
                                      <p:cBhvr>
                                        <p:cTn id="94" dur="450"/>
                                        <p:tgtEl>
                                          <p:spTgt spid="48"/>
                                        </p:tgtEl>
                                      </p:cBhvr>
                                    </p:animEffect>
                                  </p:childTnLst>
                                </p:cTn>
                              </p:par>
                              <p:par>
                                <p:cTn id="95" presetID="22" presetClass="entr" presetSubtype="8" accel="15000" decel="15000" fill="hold" nodeType="withEffect">
                                  <p:stCondLst>
                                    <p:cond delay="2200"/>
                                  </p:stCondLst>
                                  <p:childTnLst>
                                    <p:set>
                                      <p:cBhvr>
                                        <p:cTn id="96" dur="1" fill="hold">
                                          <p:stCondLst>
                                            <p:cond delay="0"/>
                                          </p:stCondLst>
                                        </p:cTn>
                                        <p:tgtEl>
                                          <p:spTgt spid="49"/>
                                        </p:tgtEl>
                                        <p:attrNameLst>
                                          <p:attrName>style.visibility</p:attrName>
                                        </p:attrNameLst>
                                      </p:cBhvr>
                                      <p:to>
                                        <p:strVal val="visible"/>
                                      </p:to>
                                    </p:set>
                                    <p:animEffect transition="in" filter="wipe(left)">
                                      <p:cBhvr>
                                        <p:cTn id="97" dur="450"/>
                                        <p:tgtEl>
                                          <p:spTgt spid="49"/>
                                        </p:tgtEl>
                                      </p:cBhvr>
                                    </p:animEffect>
                                  </p:childTnLst>
                                </p:cTn>
                              </p:par>
                              <p:par>
                                <p:cTn id="98" presetID="10" presetClass="entr" presetSubtype="0" accel="15000" decel="15000" fill="hold" grpId="0" nodeType="withEffect">
                                  <p:stCondLst>
                                    <p:cond delay="2300"/>
                                  </p:stCondLst>
                                  <p:childTnLst>
                                    <p:set>
                                      <p:cBhvr>
                                        <p:cTn id="99" dur="1" fill="hold">
                                          <p:stCondLst>
                                            <p:cond delay="0"/>
                                          </p:stCondLst>
                                        </p:cTn>
                                        <p:tgtEl>
                                          <p:spTgt spid="45"/>
                                        </p:tgtEl>
                                        <p:attrNameLst>
                                          <p:attrName>style.visibility</p:attrName>
                                        </p:attrNameLst>
                                      </p:cBhvr>
                                      <p:to>
                                        <p:strVal val="visible"/>
                                      </p:to>
                                    </p:set>
                                    <p:animEffect transition="in" filter="fade">
                                      <p:cBhvr>
                                        <p:cTn id="100" dur="300"/>
                                        <p:tgtEl>
                                          <p:spTgt spid="45"/>
                                        </p:tgtEl>
                                      </p:cBhvr>
                                    </p:animEffect>
                                  </p:childTnLst>
                                </p:cTn>
                              </p:par>
                              <p:par>
                                <p:cTn id="101" presetID="10" presetClass="entr" presetSubtype="0" accel="15000" decel="15000" fill="hold" grpId="0" nodeType="withEffect">
                                  <p:stCondLst>
                                    <p:cond delay="2300"/>
                                  </p:stCondLst>
                                  <p:childTnLst>
                                    <p:set>
                                      <p:cBhvr>
                                        <p:cTn id="102" dur="1" fill="hold">
                                          <p:stCondLst>
                                            <p:cond delay="0"/>
                                          </p:stCondLst>
                                        </p:cTn>
                                        <p:tgtEl>
                                          <p:spTgt spid="50"/>
                                        </p:tgtEl>
                                        <p:attrNameLst>
                                          <p:attrName>style.visibility</p:attrName>
                                        </p:attrNameLst>
                                      </p:cBhvr>
                                      <p:to>
                                        <p:strVal val="visible"/>
                                      </p:to>
                                    </p:set>
                                    <p:animEffect transition="in" filter="fade">
                                      <p:cBhvr>
                                        <p:cTn id="103" dur="300"/>
                                        <p:tgtEl>
                                          <p:spTgt spid="50"/>
                                        </p:tgtEl>
                                      </p:cBhvr>
                                    </p:animEffect>
                                  </p:childTnLst>
                                </p:cTn>
                              </p:par>
                              <p:par>
                                <p:cTn id="104" presetID="10" presetClass="entr" presetSubtype="0" accel="15000" decel="15000" fill="hold" grpId="0" nodeType="withEffect">
                                  <p:stCondLst>
                                    <p:cond delay="2400"/>
                                  </p:stCondLst>
                                  <p:childTnLst>
                                    <p:set>
                                      <p:cBhvr>
                                        <p:cTn id="105" dur="1" fill="hold">
                                          <p:stCondLst>
                                            <p:cond delay="0"/>
                                          </p:stCondLst>
                                        </p:cTn>
                                        <p:tgtEl>
                                          <p:spTgt spid="51"/>
                                        </p:tgtEl>
                                        <p:attrNameLst>
                                          <p:attrName>style.visibility</p:attrName>
                                        </p:attrNameLst>
                                      </p:cBhvr>
                                      <p:to>
                                        <p:strVal val="visible"/>
                                      </p:to>
                                    </p:set>
                                    <p:animEffect transition="in" filter="fade">
                                      <p:cBhvr>
                                        <p:cTn id="106" dur="300"/>
                                        <p:tgtEl>
                                          <p:spTgt spid="51"/>
                                        </p:tgtEl>
                                      </p:cBhvr>
                                    </p:animEffect>
                                  </p:childTnLst>
                                </p:cTn>
                              </p:par>
                              <p:par>
                                <p:cTn id="107" presetID="10" presetClass="entr" presetSubtype="0" accel="15000" decel="15000" fill="hold" grpId="0" nodeType="withEffect">
                                  <p:stCondLst>
                                    <p:cond delay="2500"/>
                                  </p:stCondLst>
                                  <p:childTnLst>
                                    <p:set>
                                      <p:cBhvr>
                                        <p:cTn id="108" dur="1" fill="hold">
                                          <p:stCondLst>
                                            <p:cond delay="0"/>
                                          </p:stCondLst>
                                        </p:cTn>
                                        <p:tgtEl>
                                          <p:spTgt spid="52"/>
                                        </p:tgtEl>
                                        <p:attrNameLst>
                                          <p:attrName>style.visibility</p:attrName>
                                        </p:attrNameLst>
                                      </p:cBhvr>
                                      <p:to>
                                        <p:strVal val="visible"/>
                                      </p:to>
                                    </p:set>
                                    <p:animEffect transition="in" filter="fade">
                                      <p:cBhvr>
                                        <p:cTn id="109" dur="300"/>
                                        <p:tgtEl>
                                          <p:spTgt spid="52"/>
                                        </p:tgtEl>
                                      </p:cBhvr>
                                    </p:animEffect>
                                  </p:childTnLst>
                                </p:cTn>
                              </p:par>
                              <p:par>
                                <p:cTn id="110" presetID="22" presetClass="entr" presetSubtype="8" accel="15000" decel="15000" fill="hold" nodeType="withEffect">
                                  <p:stCondLst>
                                    <p:cond delay="3000"/>
                                  </p:stCondLst>
                                  <p:childTnLst>
                                    <p:set>
                                      <p:cBhvr>
                                        <p:cTn id="111" dur="1" fill="hold">
                                          <p:stCondLst>
                                            <p:cond delay="0"/>
                                          </p:stCondLst>
                                        </p:cTn>
                                        <p:tgtEl>
                                          <p:spTgt spid="11"/>
                                        </p:tgtEl>
                                        <p:attrNameLst>
                                          <p:attrName>style.visibility</p:attrName>
                                        </p:attrNameLst>
                                      </p:cBhvr>
                                      <p:to>
                                        <p:strVal val="visible"/>
                                      </p:to>
                                    </p:set>
                                    <p:animEffect transition="in" filter="wipe(left)">
                                      <p:cBhvr>
                                        <p:cTn id="112" dur="600"/>
                                        <p:tgtEl>
                                          <p:spTgt spid="11"/>
                                        </p:tgtEl>
                                      </p:cBhvr>
                                    </p:animEffect>
                                  </p:childTnLst>
                                </p:cTn>
                              </p:par>
                              <p:par>
                                <p:cTn id="113" presetID="22" presetClass="entr" presetSubtype="8" accel="15000" decel="15000" fill="hold" nodeType="withEffect">
                                  <p:stCondLst>
                                    <p:cond delay="3200"/>
                                  </p:stCondLst>
                                  <p:childTnLst>
                                    <p:set>
                                      <p:cBhvr>
                                        <p:cTn id="114" dur="1" fill="hold">
                                          <p:stCondLst>
                                            <p:cond delay="0"/>
                                          </p:stCondLst>
                                        </p:cTn>
                                        <p:tgtEl>
                                          <p:spTgt spid="18"/>
                                        </p:tgtEl>
                                        <p:attrNameLst>
                                          <p:attrName>style.visibility</p:attrName>
                                        </p:attrNameLst>
                                      </p:cBhvr>
                                      <p:to>
                                        <p:strVal val="visible"/>
                                      </p:to>
                                    </p:set>
                                    <p:animEffect transition="in" filter="wipe(left)">
                                      <p:cBhvr>
                                        <p:cTn id="115" dur="600"/>
                                        <p:tgtEl>
                                          <p:spTgt spid="18"/>
                                        </p:tgtEl>
                                      </p:cBhvr>
                                    </p:animEffect>
                                  </p:childTnLst>
                                </p:cTn>
                              </p:par>
                              <p:par>
                                <p:cTn id="116" presetID="22" presetClass="entr" presetSubtype="8" accel="15000" decel="15000" fill="hold" nodeType="withEffect">
                                  <p:stCondLst>
                                    <p:cond delay="3400"/>
                                  </p:stCondLst>
                                  <p:childTnLst>
                                    <p:set>
                                      <p:cBhvr>
                                        <p:cTn id="117" dur="1" fill="hold">
                                          <p:stCondLst>
                                            <p:cond delay="0"/>
                                          </p:stCondLst>
                                        </p:cTn>
                                        <p:tgtEl>
                                          <p:spTgt spid="25"/>
                                        </p:tgtEl>
                                        <p:attrNameLst>
                                          <p:attrName>style.visibility</p:attrName>
                                        </p:attrNameLst>
                                      </p:cBhvr>
                                      <p:to>
                                        <p:strVal val="visible"/>
                                      </p:to>
                                    </p:set>
                                    <p:animEffect transition="in" filter="wipe(left)">
                                      <p:cBhvr>
                                        <p:cTn id="118" dur="600"/>
                                        <p:tgtEl>
                                          <p:spTgt spid="25"/>
                                        </p:tgtEl>
                                      </p:cBhvr>
                                    </p:animEffect>
                                  </p:childTnLst>
                                </p:cTn>
                              </p:par>
                              <p:par>
                                <p:cTn id="119" presetID="22" presetClass="entr" presetSubtype="8" accel="15000" decel="15000" fill="hold" nodeType="withEffect">
                                  <p:stCondLst>
                                    <p:cond delay="3600"/>
                                  </p:stCondLst>
                                  <p:childTnLst>
                                    <p:set>
                                      <p:cBhvr>
                                        <p:cTn id="120" dur="1" fill="hold">
                                          <p:stCondLst>
                                            <p:cond delay="0"/>
                                          </p:stCondLst>
                                        </p:cTn>
                                        <p:tgtEl>
                                          <p:spTgt spid="32"/>
                                        </p:tgtEl>
                                        <p:attrNameLst>
                                          <p:attrName>style.visibility</p:attrName>
                                        </p:attrNameLst>
                                      </p:cBhvr>
                                      <p:to>
                                        <p:strVal val="visible"/>
                                      </p:to>
                                    </p:set>
                                    <p:animEffect transition="in" filter="wipe(left)">
                                      <p:cBhvr>
                                        <p:cTn id="121" dur="600"/>
                                        <p:tgtEl>
                                          <p:spTgt spid="32"/>
                                        </p:tgtEl>
                                      </p:cBhvr>
                                    </p:animEffect>
                                  </p:childTnLst>
                                </p:cTn>
                              </p:par>
                              <p:par>
                                <p:cTn id="122" presetID="22" presetClass="entr" presetSubtype="8" accel="15000" decel="15000" fill="hold" nodeType="withEffect">
                                  <p:stCondLst>
                                    <p:cond delay="3800"/>
                                  </p:stCondLst>
                                  <p:childTnLst>
                                    <p:set>
                                      <p:cBhvr>
                                        <p:cTn id="123" dur="1" fill="hold">
                                          <p:stCondLst>
                                            <p:cond delay="0"/>
                                          </p:stCondLst>
                                        </p:cTn>
                                        <p:tgtEl>
                                          <p:spTgt spid="39"/>
                                        </p:tgtEl>
                                        <p:attrNameLst>
                                          <p:attrName>style.visibility</p:attrName>
                                        </p:attrNameLst>
                                      </p:cBhvr>
                                      <p:to>
                                        <p:strVal val="visible"/>
                                      </p:to>
                                    </p:set>
                                    <p:animEffect transition="in" filter="wipe(left)">
                                      <p:cBhvr>
                                        <p:cTn id="124" dur="600"/>
                                        <p:tgtEl>
                                          <p:spTgt spid="39"/>
                                        </p:tgtEl>
                                      </p:cBhvr>
                                    </p:animEffect>
                                  </p:childTnLst>
                                </p:cTn>
                              </p:par>
                              <p:par>
                                <p:cTn id="125" presetID="22" presetClass="entr" presetSubtype="8" accel="15000" decel="15000" fill="hold" nodeType="withEffect">
                                  <p:stCondLst>
                                    <p:cond delay="4000"/>
                                  </p:stCondLst>
                                  <p:childTnLst>
                                    <p:set>
                                      <p:cBhvr>
                                        <p:cTn id="126" dur="1" fill="hold">
                                          <p:stCondLst>
                                            <p:cond delay="0"/>
                                          </p:stCondLst>
                                        </p:cTn>
                                        <p:tgtEl>
                                          <p:spTgt spid="46"/>
                                        </p:tgtEl>
                                        <p:attrNameLst>
                                          <p:attrName>style.visibility</p:attrName>
                                        </p:attrNameLst>
                                      </p:cBhvr>
                                      <p:to>
                                        <p:strVal val="visible"/>
                                      </p:to>
                                    </p:set>
                                    <p:animEffect transition="in" filter="wipe(left)">
                                      <p:cBhvr>
                                        <p:cTn id="127" dur="600"/>
                                        <p:tgtEl>
                                          <p:spTgt spid="46"/>
                                        </p:tgtEl>
                                      </p:cBhvr>
                                    </p:animEffect>
                                  </p:childTnLst>
                                </p:cTn>
                              </p:par>
                              <p:par>
                                <p:cTn id="128" presetID="22" presetClass="entr" presetSubtype="8" accel="15000" decel="15000" fill="hold" nodeType="withEffect">
                                  <p:stCondLst>
                                    <p:cond delay="4200"/>
                                  </p:stCondLst>
                                  <p:childTnLst>
                                    <p:set>
                                      <p:cBhvr>
                                        <p:cTn id="129" dur="1" fill="hold">
                                          <p:stCondLst>
                                            <p:cond delay="0"/>
                                          </p:stCondLst>
                                        </p:cTn>
                                        <p:tgtEl>
                                          <p:spTgt spid="53"/>
                                        </p:tgtEl>
                                        <p:attrNameLst>
                                          <p:attrName>style.visibility</p:attrName>
                                        </p:attrNameLst>
                                      </p:cBhvr>
                                      <p:to>
                                        <p:strVal val="visible"/>
                                      </p:to>
                                    </p:set>
                                    <p:animEffect transition="in" filter="wipe(left)">
                                      <p:cBhvr>
                                        <p:cTn id="130" dur="600"/>
                                        <p:tgtEl>
                                          <p:spTgt spid="53"/>
                                        </p:tgtEl>
                                      </p:cBhvr>
                                    </p:animEffect>
                                  </p:childTnLst>
                                </p:cTn>
                              </p:par>
                              <p:par>
                                <p:cTn id="131" presetID="10" presetClass="entr" presetSubtype="0" accel="15000" decel="15000" fill="hold" grpId="0" nodeType="withEffect">
                                  <p:stCondLst>
                                    <p:cond delay="5000"/>
                                  </p:stCondLst>
                                  <p:childTnLst>
                                    <p:set>
                                      <p:cBhvr>
                                        <p:cTn id="132" dur="1" fill="hold">
                                          <p:stCondLst>
                                            <p:cond delay="0"/>
                                          </p:stCondLst>
                                        </p:cTn>
                                        <p:tgtEl>
                                          <p:spTgt spid="12"/>
                                        </p:tgtEl>
                                        <p:attrNameLst>
                                          <p:attrName>style.visibility</p:attrName>
                                        </p:attrNameLst>
                                      </p:cBhvr>
                                      <p:to>
                                        <p:strVal val="visible"/>
                                      </p:to>
                                    </p:set>
                                    <p:animEffect transition="in" filter="fade">
                                      <p:cBhvr>
                                        <p:cTn id="133" dur="120"/>
                                        <p:tgtEl>
                                          <p:spTgt spid="12"/>
                                        </p:tgtEl>
                                      </p:cBhvr>
                                    </p:animEffect>
                                  </p:childTnLst>
                                </p:cTn>
                              </p:par>
                              <p:par>
                                <p:cTn id="134" presetID="0" presetClass="entr" presetSubtype="0" repeatCount="5000" accel="15000" decel="15000" fill="hold" grpId="1" nodeType="withEffect">
                                  <p:stCondLst>
                                    <p:cond delay="5120"/>
                                  </p:stCondLst>
                                  <p:childTnLst>
                                    <p:set>
                                      <p:cBhvr>
                                        <p:cTn id="135" dur="1" fill="hold">
                                          <p:stCondLst>
                                            <p:cond delay="0"/>
                                          </p:stCondLst>
                                        </p:cTn>
                                        <p:tgtEl>
                                          <p:spTgt spid="12"/>
                                        </p:tgtEl>
                                        <p:attrNameLst>
                                          <p:attrName>style.visibility</p:attrName>
                                        </p:attrNameLst>
                                      </p:cBhvr>
                                      <p:to>
                                        <p:strVal val="visible"/>
                                      </p:to>
                                    </p:set>
                                    <p:animMotion origin="layout" path="M 0 0 L 0.40500001 0.12666667 E" pathEditMode="relative">
                                      <p:cBhvr from="" to="">
                                        <p:cTn id="136" dur="1800" fill="hold">
                                          <p:stCondLst>
                                            <p:cond delay="0"/>
                                          </p:stCondLst>
                                        </p:cTn>
                                        <p:tgtEl>
                                          <p:spTgt spid="12"/>
                                        </p:tgtEl>
                                        <p:attrNameLst>
                                          <p:attrName>ppt_x</p:attrName>
                                          <p:attrName>ppt_y</p:attrName>
                                        </p:attrNameLst>
                                      </p:cBhvr>
                                    </p:animMotion>
                                  </p:childTnLst>
                                </p:cTn>
                              </p:par>
                              <p:par>
                                <p:cTn id="137" presetID="10" presetClass="entr" presetSubtype="0" accel="15000" decel="15000" fill="hold" grpId="0" nodeType="withEffect">
                                  <p:stCondLst>
                                    <p:cond delay="5280"/>
                                  </p:stCondLst>
                                  <p:childTnLst>
                                    <p:set>
                                      <p:cBhvr>
                                        <p:cTn id="138" dur="1" fill="hold">
                                          <p:stCondLst>
                                            <p:cond delay="0"/>
                                          </p:stCondLst>
                                        </p:cTn>
                                        <p:tgtEl>
                                          <p:spTgt spid="19"/>
                                        </p:tgtEl>
                                        <p:attrNameLst>
                                          <p:attrName>style.visibility</p:attrName>
                                        </p:attrNameLst>
                                      </p:cBhvr>
                                      <p:to>
                                        <p:strVal val="visible"/>
                                      </p:to>
                                    </p:set>
                                    <p:animEffect transition="in" filter="fade">
                                      <p:cBhvr>
                                        <p:cTn id="139" dur="120"/>
                                        <p:tgtEl>
                                          <p:spTgt spid="19"/>
                                        </p:tgtEl>
                                      </p:cBhvr>
                                    </p:animEffect>
                                  </p:childTnLst>
                                </p:cTn>
                              </p:par>
                              <p:par>
                                <p:cTn id="140" presetID="0" presetClass="entr" presetSubtype="0" repeatCount="5000" accel="15000" decel="15000" fill="hold" grpId="1" nodeType="withEffect">
                                  <p:stCondLst>
                                    <p:cond delay="5400"/>
                                  </p:stCondLst>
                                  <p:childTnLst>
                                    <p:set>
                                      <p:cBhvr>
                                        <p:cTn id="141" dur="1" fill="hold">
                                          <p:stCondLst>
                                            <p:cond delay="0"/>
                                          </p:stCondLst>
                                        </p:cTn>
                                        <p:tgtEl>
                                          <p:spTgt spid="19"/>
                                        </p:tgtEl>
                                        <p:attrNameLst>
                                          <p:attrName>style.visibility</p:attrName>
                                        </p:attrNameLst>
                                      </p:cBhvr>
                                      <p:to>
                                        <p:strVal val="visible"/>
                                      </p:to>
                                    </p:set>
                                    <p:animMotion origin="layout" path="M 0 0 L 0.28125001 0.08666667 E" pathEditMode="relative">
                                      <p:cBhvr from="" to="">
                                        <p:cTn id="142" dur="1800" fill="hold">
                                          <p:stCondLst>
                                            <p:cond delay="0"/>
                                          </p:stCondLst>
                                        </p:cTn>
                                        <p:tgtEl>
                                          <p:spTgt spid="19"/>
                                        </p:tgtEl>
                                        <p:attrNameLst>
                                          <p:attrName>ppt_x</p:attrName>
                                          <p:attrName>ppt_y</p:attrName>
                                        </p:attrNameLst>
                                      </p:cBhvr>
                                    </p:animMotion>
                                  </p:childTnLst>
                                </p:cTn>
                              </p:par>
                              <p:par>
                                <p:cTn id="143" presetID="10" presetClass="entr" presetSubtype="0" accel="15000" decel="15000" fill="hold" grpId="0" nodeType="withEffect">
                                  <p:stCondLst>
                                    <p:cond delay="5560"/>
                                  </p:stCondLst>
                                  <p:childTnLst>
                                    <p:set>
                                      <p:cBhvr>
                                        <p:cTn id="144" dur="1" fill="hold">
                                          <p:stCondLst>
                                            <p:cond delay="0"/>
                                          </p:stCondLst>
                                        </p:cTn>
                                        <p:tgtEl>
                                          <p:spTgt spid="26"/>
                                        </p:tgtEl>
                                        <p:attrNameLst>
                                          <p:attrName>style.visibility</p:attrName>
                                        </p:attrNameLst>
                                      </p:cBhvr>
                                      <p:to>
                                        <p:strVal val="visible"/>
                                      </p:to>
                                    </p:set>
                                    <p:animEffect transition="in" filter="fade">
                                      <p:cBhvr>
                                        <p:cTn id="145" dur="120"/>
                                        <p:tgtEl>
                                          <p:spTgt spid="26"/>
                                        </p:tgtEl>
                                      </p:cBhvr>
                                    </p:animEffect>
                                  </p:childTnLst>
                                </p:cTn>
                              </p:par>
                              <p:par>
                                <p:cTn id="146" presetID="0" presetClass="entr" presetSubtype="0" repeatCount="5000" accel="15000" decel="15000" fill="hold" grpId="1" nodeType="withEffect">
                                  <p:stCondLst>
                                    <p:cond delay="5680"/>
                                  </p:stCondLst>
                                  <p:childTnLst>
                                    <p:set>
                                      <p:cBhvr>
                                        <p:cTn id="147" dur="1" fill="hold">
                                          <p:stCondLst>
                                            <p:cond delay="0"/>
                                          </p:stCondLst>
                                        </p:cTn>
                                        <p:tgtEl>
                                          <p:spTgt spid="26"/>
                                        </p:tgtEl>
                                        <p:attrNameLst>
                                          <p:attrName>style.visibility</p:attrName>
                                        </p:attrNameLst>
                                      </p:cBhvr>
                                      <p:to>
                                        <p:strVal val="visible"/>
                                      </p:to>
                                    </p:set>
                                    <p:animMotion origin="layout" path="M 0 0 L 0.15750000 0.12666667 E" pathEditMode="relative">
                                      <p:cBhvr from="" to="">
                                        <p:cTn id="148" dur="1800" fill="hold">
                                          <p:stCondLst>
                                            <p:cond delay="0"/>
                                          </p:stCondLst>
                                        </p:cTn>
                                        <p:tgtEl>
                                          <p:spTgt spid="26"/>
                                        </p:tgtEl>
                                        <p:attrNameLst>
                                          <p:attrName>ppt_x</p:attrName>
                                          <p:attrName>ppt_y</p:attrName>
                                        </p:attrNameLst>
                                      </p:cBhvr>
                                    </p:animMotion>
                                  </p:childTnLst>
                                </p:cTn>
                              </p:par>
                              <p:par>
                                <p:cTn id="149" presetID="10" presetClass="entr" presetSubtype="0" accel="15000" decel="15000" fill="hold" grpId="0" nodeType="withEffect">
                                  <p:stCondLst>
                                    <p:cond delay="5840"/>
                                  </p:stCondLst>
                                  <p:childTnLst>
                                    <p:set>
                                      <p:cBhvr>
                                        <p:cTn id="150" dur="1" fill="hold">
                                          <p:stCondLst>
                                            <p:cond delay="0"/>
                                          </p:stCondLst>
                                        </p:cTn>
                                        <p:tgtEl>
                                          <p:spTgt spid="33"/>
                                        </p:tgtEl>
                                        <p:attrNameLst>
                                          <p:attrName>style.visibility</p:attrName>
                                        </p:attrNameLst>
                                      </p:cBhvr>
                                      <p:to>
                                        <p:strVal val="visible"/>
                                      </p:to>
                                    </p:set>
                                    <p:animEffect transition="in" filter="fade">
                                      <p:cBhvr>
                                        <p:cTn id="151" dur="120"/>
                                        <p:tgtEl>
                                          <p:spTgt spid="33"/>
                                        </p:tgtEl>
                                      </p:cBhvr>
                                    </p:animEffect>
                                  </p:childTnLst>
                                </p:cTn>
                              </p:par>
                              <p:par>
                                <p:cTn id="152" presetID="0" presetClass="entr" presetSubtype="0" repeatCount="5000" accel="15000" decel="15000" fill="hold" grpId="1" nodeType="withEffect">
                                  <p:stCondLst>
                                    <p:cond delay="5960"/>
                                  </p:stCondLst>
                                  <p:childTnLst>
                                    <p:set>
                                      <p:cBhvr>
                                        <p:cTn id="153" dur="1" fill="hold">
                                          <p:stCondLst>
                                            <p:cond delay="0"/>
                                          </p:stCondLst>
                                        </p:cTn>
                                        <p:tgtEl>
                                          <p:spTgt spid="33"/>
                                        </p:tgtEl>
                                        <p:attrNameLst>
                                          <p:attrName>style.visibility</p:attrName>
                                        </p:attrNameLst>
                                      </p:cBhvr>
                                      <p:to>
                                        <p:strVal val="visible"/>
                                      </p:to>
                                    </p:set>
                                    <p:animMotion origin="layout" path="M 0 0 L 0.03375000 0.08666667 E" pathEditMode="relative">
                                      <p:cBhvr from="" to="">
                                        <p:cTn id="154" dur="1800" fill="hold">
                                          <p:stCondLst>
                                            <p:cond delay="0"/>
                                          </p:stCondLst>
                                        </p:cTn>
                                        <p:tgtEl>
                                          <p:spTgt spid="33"/>
                                        </p:tgtEl>
                                        <p:attrNameLst>
                                          <p:attrName>ppt_x</p:attrName>
                                          <p:attrName>ppt_y</p:attrName>
                                        </p:attrNameLst>
                                      </p:cBhvr>
                                    </p:animMotion>
                                  </p:childTnLst>
                                </p:cTn>
                              </p:par>
                              <p:par>
                                <p:cTn id="155" presetID="10" presetClass="entr" presetSubtype="0" accel="15000" decel="15000" fill="hold" grpId="0" nodeType="withEffect">
                                  <p:stCondLst>
                                    <p:cond delay="6120"/>
                                  </p:stCondLst>
                                  <p:childTnLst>
                                    <p:set>
                                      <p:cBhvr>
                                        <p:cTn id="156" dur="1" fill="hold">
                                          <p:stCondLst>
                                            <p:cond delay="0"/>
                                          </p:stCondLst>
                                        </p:cTn>
                                        <p:tgtEl>
                                          <p:spTgt spid="40"/>
                                        </p:tgtEl>
                                        <p:attrNameLst>
                                          <p:attrName>style.visibility</p:attrName>
                                        </p:attrNameLst>
                                      </p:cBhvr>
                                      <p:to>
                                        <p:strVal val="visible"/>
                                      </p:to>
                                    </p:set>
                                    <p:animEffect transition="in" filter="fade">
                                      <p:cBhvr>
                                        <p:cTn id="157" dur="120"/>
                                        <p:tgtEl>
                                          <p:spTgt spid="40"/>
                                        </p:tgtEl>
                                      </p:cBhvr>
                                    </p:animEffect>
                                  </p:childTnLst>
                                </p:cTn>
                              </p:par>
                              <p:par>
                                <p:cTn id="158" presetID="0" presetClass="entr" presetSubtype="0" repeatCount="5000" accel="15000" decel="15000" fill="hold" grpId="1" nodeType="withEffect">
                                  <p:stCondLst>
                                    <p:cond delay="6240"/>
                                  </p:stCondLst>
                                  <p:childTnLst>
                                    <p:set>
                                      <p:cBhvr>
                                        <p:cTn id="159" dur="1" fill="hold">
                                          <p:stCondLst>
                                            <p:cond delay="0"/>
                                          </p:stCondLst>
                                        </p:cTn>
                                        <p:tgtEl>
                                          <p:spTgt spid="40"/>
                                        </p:tgtEl>
                                        <p:attrNameLst>
                                          <p:attrName>style.visibility</p:attrName>
                                        </p:attrNameLst>
                                      </p:cBhvr>
                                      <p:to>
                                        <p:strVal val="visible"/>
                                      </p:to>
                                    </p:set>
                                    <p:animMotion origin="layout" path="M 0 0 L -0.09000000 0.12666667 E" pathEditMode="relative">
                                      <p:cBhvr from="" to="">
                                        <p:cTn id="160" dur="1800" fill="hold">
                                          <p:stCondLst>
                                            <p:cond delay="0"/>
                                          </p:stCondLst>
                                        </p:cTn>
                                        <p:tgtEl>
                                          <p:spTgt spid="40"/>
                                        </p:tgtEl>
                                        <p:attrNameLst>
                                          <p:attrName>ppt_x</p:attrName>
                                          <p:attrName>ppt_y</p:attrName>
                                        </p:attrNameLst>
                                      </p:cBhvr>
                                    </p:animMotion>
                                  </p:childTnLst>
                                </p:cTn>
                              </p:par>
                              <p:par>
                                <p:cTn id="161" presetID="10" presetClass="entr" presetSubtype="0" accel="15000" decel="15000" fill="hold" grpId="0" nodeType="withEffect">
                                  <p:stCondLst>
                                    <p:cond delay="6400"/>
                                  </p:stCondLst>
                                  <p:childTnLst>
                                    <p:set>
                                      <p:cBhvr>
                                        <p:cTn id="162" dur="1" fill="hold">
                                          <p:stCondLst>
                                            <p:cond delay="0"/>
                                          </p:stCondLst>
                                        </p:cTn>
                                        <p:tgtEl>
                                          <p:spTgt spid="47"/>
                                        </p:tgtEl>
                                        <p:attrNameLst>
                                          <p:attrName>style.visibility</p:attrName>
                                        </p:attrNameLst>
                                      </p:cBhvr>
                                      <p:to>
                                        <p:strVal val="visible"/>
                                      </p:to>
                                    </p:set>
                                    <p:animEffect transition="in" filter="fade">
                                      <p:cBhvr>
                                        <p:cTn id="163" dur="120"/>
                                        <p:tgtEl>
                                          <p:spTgt spid="47"/>
                                        </p:tgtEl>
                                      </p:cBhvr>
                                    </p:animEffect>
                                  </p:childTnLst>
                                </p:cTn>
                              </p:par>
                              <p:par>
                                <p:cTn id="164" presetID="0" presetClass="entr" presetSubtype="0" repeatCount="5000" accel="15000" decel="15000" fill="hold" grpId="1" nodeType="withEffect">
                                  <p:stCondLst>
                                    <p:cond delay="6520"/>
                                  </p:stCondLst>
                                  <p:childTnLst>
                                    <p:set>
                                      <p:cBhvr>
                                        <p:cTn id="165" dur="1" fill="hold">
                                          <p:stCondLst>
                                            <p:cond delay="0"/>
                                          </p:stCondLst>
                                        </p:cTn>
                                        <p:tgtEl>
                                          <p:spTgt spid="47"/>
                                        </p:tgtEl>
                                        <p:attrNameLst>
                                          <p:attrName>style.visibility</p:attrName>
                                        </p:attrNameLst>
                                      </p:cBhvr>
                                      <p:to>
                                        <p:strVal val="visible"/>
                                      </p:to>
                                    </p:set>
                                    <p:animMotion origin="layout" path="M 0 0 L -0.21375001 0.08666667 E" pathEditMode="relative">
                                      <p:cBhvr from="" to="">
                                        <p:cTn id="166" dur="1800" fill="hold">
                                          <p:stCondLst>
                                            <p:cond delay="0"/>
                                          </p:stCondLst>
                                        </p:cTn>
                                        <p:tgtEl>
                                          <p:spTgt spid="47"/>
                                        </p:tgtEl>
                                        <p:attrNameLst>
                                          <p:attrName>ppt_x</p:attrName>
                                          <p:attrName>ppt_y</p:attrName>
                                        </p:attrNameLst>
                                      </p:cBhvr>
                                    </p:animMotion>
                                  </p:childTnLst>
                                </p:cTn>
                              </p:par>
                              <p:par>
                                <p:cTn id="167" presetID="10" presetClass="entr" presetSubtype="0" accel="15000" decel="15000" fill="hold" grpId="0" nodeType="withEffect">
                                  <p:stCondLst>
                                    <p:cond delay="6680"/>
                                  </p:stCondLst>
                                  <p:childTnLst>
                                    <p:set>
                                      <p:cBhvr>
                                        <p:cTn id="168" dur="1" fill="hold">
                                          <p:stCondLst>
                                            <p:cond delay="0"/>
                                          </p:stCondLst>
                                        </p:cTn>
                                        <p:tgtEl>
                                          <p:spTgt spid="54"/>
                                        </p:tgtEl>
                                        <p:attrNameLst>
                                          <p:attrName>style.visibility</p:attrName>
                                        </p:attrNameLst>
                                      </p:cBhvr>
                                      <p:to>
                                        <p:strVal val="visible"/>
                                      </p:to>
                                    </p:set>
                                    <p:animEffect transition="in" filter="fade">
                                      <p:cBhvr>
                                        <p:cTn id="169" dur="120"/>
                                        <p:tgtEl>
                                          <p:spTgt spid="54"/>
                                        </p:tgtEl>
                                      </p:cBhvr>
                                    </p:animEffect>
                                  </p:childTnLst>
                                </p:cTn>
                              </p:par>
                              <p:par>
                                <p:cTn id="170" presetID="0" presetClass="entr" presetSubtype="0" repeatCount="5000" accel="15000" decel="15000" fill="hold" grpId="1" nodeType="withEffect">
                                  <p:stCondLst>
                                    <p:cond delay="6800"/>
                                  </p:stCondLst>
                                  <p:childTnLst>
                                    <p:set>
                                      <p:cBhvr>
                                        <p:cTn id="171" dur="1" fill="hold">
                                          <p:stCondLst>
                                            <p:cond delay="0"/>
                                          </p:stCondLst>
                                        </p:cTn>
                                        <p:tgtEl>
                                          <p:spTgt spid="54"/>
                                        </p:tgtEl>
                                        <p:attrNameLst>
                                          <p:attrName>style.visibility</p:attrName>
                                        </p:attrNameLst>
                                      </p:cBhvr>
                                      <p:to>
                                        <p:strVal val="visible"/>
                                      </p:to>
                                    </p:set>
                                    <p:animMotion origin="layout" path="M 0 0 L -0.33750001 0.12666667 E" pathEditMode="relative">
                                      <p:cBhvr from="" to="">
                                        <p:cTn id="172" dur="1800" fill="hold">
                                          <p:stCondLst>
                                            <p:cond delay="0"/>
                                          </p:stCondLst>
                                        </p:cTn>
                                        <p:tgtEl>
                                          <p:spTgt spid="54"/>
                                        </p:tgtEl>
                                        <p:attrNameLst>
                                          <p:attrName>ppt_x</p:attrName>
                                          <p:attrName>ppt_y</p:attrName>
                                        </p:attrNameLst>
                                      </p:cBhvr>
                                    </p:animMotion>
                                  </p:childTnLst>
                                </p:cTn>
                              </p:par>
                              <p:par>
                                <p:cTn id="173" presetID="10" presetClass="exit" presetSubtype="0" accel="15000" decel="15000" fill="hold" grpId="2" nodeType="withEffect">
                                  <p:stCondLst>
                                    <p:cond delay="14120"/>
                                  </p:stCondLst>
                                  <p:childTnLst>
                                    <p:animEffect transition="out" filter="fade">
                                      <p:cBhvr>
                                        <p:cTn id="174" dur="120"/>
                                        <p:tgtEl>
                                          <p:spTgt spid="12"/>
                                        </p:tgtEl>
                                      </p:cBhvr>
                                    </p:animEffect>
                                    <p:set>
                                      <p:cBhvr>
                                        <p:cTn id="175" dur="1" fill="hold">
                                          <p:stCondLst>
                                            <p:cond delay="119"/>
                                          </p:stCondLst>
                                        </p:cTn>
                                        <p:tgtEl>
                                          <p:spTgt spid="12"/>
                                        </p:tgtEl>
                                        <p:attrNameLst>
                                          <p:attrName>style.visibility</p:attrName>
                                        </p:attrNameLst>
                                      </p:cBhvr>
                                      <p:to>
                                        <p:strVal val="hidden"/>
                                      </p:to>
                                    </p:set>
                                  </p:childTnLst>
                                </p:cTn>
                              </p:par>
                              <p:par>
                                <p:cTn id="176" presetID="10" presetClass="exit" presetSubtype="0" accel="15000" decel="15000" fill="hold" grpId="2" nodeType="withEffect">
                                  <p:stCondLst>
                                    <p:cond delay="14400"/>
                                  </p:stCondLst>
                                  <p:childTnLst>
                                    <p:animEffect transition="out" filter="fade">
                                      <p:cBhvr>
                                        <p:cTn id="177" dur="120"/>
                                        <p:tgtEl>
                                          <p:spTgt spid="19"/>
                                        </p:tgtEl>
                                      </p:cBhvr>
                                    </p:animEffect>
                                    <p:set>
                                      <p:cBhvr>
                                        <p:cTn id="178" dur="1" fill="hold">
                                          <p:stCondLst>
                                            <p:cond delay="119"/>
                                          </p:stCondLst>
                                        </p:cTn>
                                        <p:tgtEl>
                                          <p:spTgt spid="19"/>
                                        </p:tgtEl>
                                        <p:attrNameLst>
                                          <p:attrName>style.visibility</p:attrName>
                                        </p:attrNameLst>
                                      </p:cBhvr>
                                      <p:to>
                                        <p:strVal val="hidden"/>
                                      </p:to>
                                    </p:set>
                                  </p:childTnLst>
                                </p:cTn>
                              </p:par>
                              <p:par>
                                <p:cTn id="179" presetID="10" presetClass="exit" presetSubtype="0" accel="15000" decel="15000" fill="hold" grpId="2" nodeType="withEffect">
                                  <p:stCondLst>
                                    <p:cond delay="14680"/>
                                  </p:stCondLst>
                                  <p:childTnLst>
                                    <p:animEffect transition="out" filter="fade">
                                      <p:cBhvr>
                                        <p:cTn id="180" dur="120"/>
                                        <p:tgtEl>
                                          <p:spTgt spid="26"/>
                                        </p:tgtEl>
                                      </p:cBhvr>
                                    </p:animEffect>
                                    <p:set>
                                      <p:cBhvr>
                                        <p:cTn id="181" dur="1" fill="hold">
                                          <p:stCondLst>
                                            <p:cond delay="119"/>
                                          </p:stCondLst>
                                        </p:cTn>
                                        <p:tgtEl>
                                          <p:spTgt spid="26"/>
                                        </p:tgtEl>
                                        <p:attrNameLst>
                                          <p:attrName>style.visibility</p:attrName>
                                        </p:attrNameLst>
                                      </p:cBhvr>
                                      <p:to>
                                        <p:strVal val="hidden"/>
                                      </p:to>
                                    </p:set>
                                  </p:childTnLst>
                                </p:cTn>
                              </p:par>
                              <p:par>
                                <p:cTn id="182" presetID="10" presetClass="exit" presetSubtype="0" accel="15000" decel="15000" fill="hold" grpId="2" nodeType="withEffect">
                                  <p:stCondLst>
                                    <p:cond delay="14960"/>
                                  </p:stCondLst>
                                  <p:childTnLst>
                                    <p:animEffect transition="out" filter="fade">
                                      <p:cBhvr>
                                        <p:cTn id="183" dur="120"/>
                                        <p:tgtEl>
                                          <p:spTgt spid="33"/>
                                        </p:tgtEl>
                                      </p:cBhvr>
                                    </p:animEffect>
                                    <p:set>
                                      <p:cBhvr>
                                        <p:cTn id="184" dur="1" fill="hold">
                                          <p:stCondLst>
                                            <p:cond delay="119"/>
                                          </p:stCondLst>
                                        </p:cTn>
                                        <p:tgtEl>
                                          <p:spTgt spid="33"/>
                                        </p:tgtEl>
                                        <p:attrNameLst>
                                          <p:attrName>style.visibility</p:attrName>
                                        </p:attrNameLst>
                                      </p:cBhvr>
                                      <p:to>
                                        <p:strVal val="hidden"/>
                                      </p:to>
                                    </p:set>
                                  </p:childTnLst>
                                </p:cTn>
                              </p:par>
                              <p:par>
                                <p:cTn id="185" presetID="10" presetClass="exit" presetSubtype="0" accel="15000" decel="15000" fill="hold" grpId="2" nodeType="withEffect">
                                  <p:stCondLst>
                                    <p:cond delay="15240"/>
                                  </p:stCondLst>
                                  <p:childTnLst>
                                    <p:animEffect transition="out" filter="fade">
                                      <p:cBhvr>
                                        <p:cTn id="186" dur="120"/>
                                        <p:tgtEl>
                                          <p:spTgt spid="40"/>
                                        </p:tgtEl>
                                      </p:cBhvr>
                                    </p:animEffect>
                                    <p:set>
                                      <p:cBhvr>
                                        <p:cTn id="187" dur="1" fill="hold">
                                          <p:stCondLst>
                                            <p:cond delay="119"/>
                                          </p:stCondLst>
                                        </p:cTn>
                                        <p:tgtEl>
                                          <p:spTgt spid="40"/>
                                        </p:tgtEl>
                                        <p:attrNameLst>
                                          <p:attrName>style.visibility</p:attrName>
                                        </p:attrNameLst>
                                      </p:cBhvr>
                                      <p:to>
                                        <p:strVal val="hidden"/>
                                      </p:to>
                                    </p:set>
                                  </p:childTnLst>
                                </p:cTn>
                              </p:par>
                              <p:par>
                                <p:cTn id="188" presetID="10" presetClass="exit" presetSubtype="0" accel="15000" decel="15000" fill="hold" grpId="2" nodeType="withEffect">
                                  <p:stCondLst>
                                    <p:cond delay="15520"/>
                                  </p:stCondLst>
                                  <p:childTnLst>
                                    <p:animEffect transition="out" filter="fade">
                                      <p:cBhvr>
                                        <p:cTn id="189" dur="120"/>
                                        <p:tgtEl>
                                          <p:spTgt spid="47"/>
                                        </p:tgtEl>
                                      </p:cBhvr>
                                    </p:animEffect>
                                    <p:set>
                                      <p:cBhvr>
                                        <p:cTn id="190" dur="1" fill="hold">
                                          <p:stCondLst>
                                            <p:cond delay="119"/>
                                          </p:stCondLst>
                                        </p:cTn>
                                        <p:tgtEl>
                                          <p:spTgt spid="47"/>
                                        </p:tgtEl>
                                        <p:attrNameLst>
                                          <p:attrName>style.visibility</p:attrName>
                                        </p:attrNameLst>
                                      </p:cBhvr>
                                      <p:to>
                                        <p:strVal val="hidden"/>
                                      </p:to>
                                    </p:set>
                                  </p:childTnLst>
                                </p:cTn>
                              </p:par>
                              <p:par>
                                <p:cTn id="191" presetID="10" presetClass="exit" presetSubtype="0" accel="15000" decel="15000" fill="hold" grpId="2" nodeType="withEffect">
                                  <p:stCondLst>
                                    <p:cond delay="15800"/>
                                  </p:stCondLst>
                                  <p:childTnLst>
                                    <p:animEffect transition="out" filter="fade">
                                      <p:cBhvr>
                                        <p:cTn id="192" dur="120"/>
                                        <p:tgtEl>
                                          <p:spTgt spid="54"/>
                                        </p:tgtEl>
                                      </p:cBhvr>
                                    </p:animEffect>
                                    <p:set>
                                      <p:cBhvr>
                                        <p:cTn id="193" dur="1" fill="hold">
                                          <p:stCondLst>
                                            <p:cond delay="119"/>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2" grpId="1" animBg="1"/>
      <p:bldP spid="12" grpId="2" animBg="1"/>
      <p:bldP spid="15" grpId="0" animBg="1"/>
      <p:bldP spid="16" grpId="0" animBg="1"/>
      <p:bldP spid="17" grpId="0" animBg="1"/>
      <p:bldP spid="19" grpId="0" animBg="1"/>
      <p:bldP spid="19" grpId="1" animBg="1"/>
      <p:bldP spid="19" grpId="2" animBg="1"/>
      <p:bldP spid="22" grpId="0" animBg="1"/>
      <p:bldP spid="23" grpId="0" animBg="1"/>
      <p:bldP spid="24" grpId="0" animBg="1"/>
      <p:bldP spid="26" grpId="0" animBg="1"/>
      <p:bldP spid="26" grpId="1" animBg="1"/>
      <p:bldP spid="26" grpId="2" animBg="1"/>
      <p:bldP spid="29" grpId="0" animBg="1"/>
      <p:bldP spid="30" grpId="0" animBg="1"/>
      <p:bldP spid="31" grpId="0" animBg="1"/>
      <p:bldP spid="33" grpId="0" animBg="1"/>
      <p:bldP spid="33" grpId="1" animBg="1"/>
      <p:bldP spid="33" grpId="2" animBg="1"/>
      <p:bldP spid="36" grpId="0" animBg="1"/>
      <p:bldP spid="37" grpId="0" animBg="1"/>
      <p:bldP spid="38" grpId="0" animBg="1"/>
      <p:bldP spid="40" grpId="0" animBg="1"/>
      <p:bldP spid="40" grpId="1" animBg="1"/>
      <p:bldP spid="40" grpId="2" animBg="1"/>
      <p:bldP spid="43" grpId="0" animBg="1"/>
      <p:bldP spid="44" grpId="0" animBg="1"/>
      <p:bldP spid="45" grpId="0" animBg="1"/>
      <p:bldP spid="47" grpId="0" animBg="1"/>
      <p:bldP spid="47" grpId="1" animBg="1"/>
      <p:bldP spid="47" grpId="2" animBg="1"/>
      <p:bldP spid="50" grpId="0" animBg="1"/>
      <p:bldP spid="51" grpId="0" animBg="1"/>
      <p:bldP spid="52" grpId="0" animBg="1"/>
      <p:bldP spid="54" grpId="0" animBg="1"/>
      <p:bldP spid="54" grpId="1" animBg="1"/>
      <p:bldP spid="54" grpId="2"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ENSEMBLE / IDS                         VOTE</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04</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UNSW-NB15 · sơ đồ minh họa pipeline offline theo mã nguồn; không phải traffic triển khai</a:t>
            </a:r>
          </a:p>
        </p:txBody>
      </p:sp>
      <p:sp>
        <p:nvSpPr>
          <p:cNvPr id="5" name="hero-title"/>
          <p:cNvSpPr txBox="1"/>
          <p:nvPr/>
        </p:nvSpPr>
        <p:spPr>
          <a:xfrm>
            <a:off x="502920" y="822960"/>
            <a:ext cx="9144000" cy="1164336"/>
          </a:xfrm>
          <a:prstGeom prst="rect">
            <a:avLst/>
          </a:prstGeom>
          <a:noFill/>
        </p:spPr>
        <p:txBody>
          <a:bodyPr wrap="square" lIns="0" tIns="0" rIns="0" bIns="0">
            <a:spAutoFit/>
          </a:bodyPr>
          <a:lstStyle/>
          <a:p>
            <a:pPr>
              <a:spcAft>
                <a:spcPts val="0"/>
              </a:spcAft>
              <a:defRPr sz="7600" b="1">
                <a:solidFill>
                  <a:srgbClr val="10162F"/>
                </a:solidFill>
                <a:latin typeface="Arial"/>
              </a:defRPr>
            </a:pPr>
            <a:r>
              <a:t>VOTING</a:t>
            </a:r>
          </a:p>
        </p:txBody>
      </p:sp>
      <p:sp>
        <p:nvSpPr>
          <p:cNvPr id="6" name="text-5"/>
          <p:cNvSpPr txBox="1"/>
          <p:nvPr/>
        </p:nvSpPr>
        <p:spPr>
          <a:xfrm>
            <a:off x="594360" y="1874519"/>
            <a:ext cx="10058400" cy="548640"/>
          </a:xfrm>
          <a:prstGeom prst="rect">
            <a:avLst/>
          </a:prstGeom>
          <a:noFill/>
        </p:spPr>
        <p:txBody>
          <a:bodyPr wrap="square" lIns="0" tIns="0" rIns="0" bIns="0">
            <a:spAutoFit/>
          </a:bodyPr>
          <a:lstStyle/>
          <a:p>
            <a:pPr>
              <a:spcAft>
                <a:spcPts val="0"/>
              </a:spcAft>
              <a:defRPr sz="2900" b="0">
                <a:solidFill>
                  <a:srgbClr val="10162F"/>
                </a:solidFill>
                <a:latin typeface="Aptos"/>
              </a:defRPr>
            </a:pPr>
            <a:r>
              <a:t>Luật gộp được định trước.</a:t>
            </a:r>
          </a:p>
        </p:txBody>
      </p:sp>
      <p:sp>
        <p:nvSpPr>
          <p:cNvPr id="7" name="shape-6"/>
          <p:cNvSpPr/>
          <p:nvPr/>
        </p:nvSpPr>
        <p:spPr>
          <a:xfrm>
            <a:off x="1463040" y="2606040"/>
            <a:ext cx="731520" cy="731520"/>
          </a:xfrm>
          <a:prstGeom prst="ellipse">
            <a:avLst/>
          </a:prstGeom>
          <a:noFill/>
          <a:ln w="19050">
            <a:solidFill>
              <a:srgbClr val="795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7"/>
          <p:cNvSpPr txBox="1"/>
          <p:nvPr/>
        </p:nvSpPr>
        <p:spPr>
          <a:xfrm>
            <a:off x="1325880" y="2807208"/>
            <a:ext cx="1005840" cy="365760"/>
          </a:xfrm>
          <a:prstGeom prst="rect">
            <a:avLst/>
          </a:prstGeom>
          <a:noFill/>
        </p:spPr>
        <p:txBody>
          <a:bodyPr wrap="square" lIns="0" tIns="0" rIns="0" bIns="0">
            <a:spAutoFit/>
          </a:bodyPr>
          <a:lstStyle/>
          <a:p>
            <a:pPr algn="ctr">
              <a:spcAft>
                <a:spcPts val="0"/>
              </a:spcAft>
              <a:defRPr sz="1700" b="1">
                <a:solidFill>
                  <a:srgbClr val="7958F5"/>
                </a:solidFill>
                <a:latin typeface="Consolas"/>
              </a:defRPr>
            </a:pPr>
            <a:r>
              <a:t>LR</a:t>
            </a:r>
          </a:p>
        </p:txBody>
      </p:sp>
      <p:cxnSp>
        <p:nvCxnSpPr>
          <p:cNvPr id="9" name="line-8"/>
          <p:cNvCxnSpPr/>
          <p:nvPr/>
        </p:nvCxnSpPr>
        <p:spPr>
          <a:xfrm>
            <a:off x="2286000" y="2971800"/>
            <a:ext cx="4846320" cy="1005839"/>
          </a:xfrm>
          <a:prstGeom prst="line">
            <a:avLst/>
          </a:prstGeom>
          <a:ln w="20320">
            <a:solidFill>
              <a:srgbClr val="7958F5"/>
            </a:solidFill>
            <a:tailEnd type="triangle"/>
          </a:ln>
        </p:spPr>
        <p:style>
          <a:lnRef idx="2">
            <a:schemeClr val="accent1"/>
          </a:lnRef>
          <a:fillRef idx="0">
            <a:schemeClr val="accent1"/>
          </a:fillRef>
          <a:effectRef idx="1">
            <a:schemeClr val="accent1"/>
          </a:effectRef>
          <a:fontRef idx="minor">
            <a:schemeClr val="tx1"/>
          </a:fontRef>
        </p:style>
      </p:cxnSp>
      <p:sp>
        <p:nvSpPr>
          <p:cNvPr id="10" name="shape-9"/>
          <p:cNvSpPr/>
          <p:nvPr/>
        </p:nvSpPr>
        <p:spPr>
          <a:xfrm>
            <a:off x="2235708" y="2921508"/>
            <a:ext cx="100584" cy="100584"/>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hape-10"/>
          <p:cNvSpPr/>
          <p:nvPr/>
        </p:nvSpPr>
        <p:spPr>
          <a:xfrm>
            <a:off x="1463040" y="3611879"/>
            <a:ext cx="731520" cy="731520"/>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11"/>
          <p:cNvSpPr txBox="1"/>
          <p:nvPr/>
        </p:nvSpPr>
        <p:spPr>
          <a:xfrm>
            <a:off x="1325880" y="3813048"/>
            <a:ext cx="1005840" cy="365760"/>
          </a:xfrm>
          <a:prstGeom prst="rect">
            <a:avLst/>
          </a:prstGeom>
          <a:noFill/>
        </p:spPr>
        <p:txBody>
          <a:bodyPr wrap="square" lIns="0" tIns="0" rIns="0" bIns="0">
            <a:spAutoFit/>
          </a:bodyPr>
          <a:lstStyle/>
          <a:p>
            <a:pPr algn="ctr">
              <a:spcAft>
                <a:spcPts val="0"/>
              </a:spcAft>
              <a:defRPr sz="1700" b="1">
                <a:solidFill>
                  <a:srgbClr val="24C3D9"/>
                </a:solidFill>
                <a:latin typeface="Consolas"/>
              </a:defRPr>
            </a:pPr>
            <a:r>
              <a:t>DT</a:t>
            </a:r>
          </a:p>
        </p:txBody>
      </p:sp>
      <p:cxnSp>
        <p:nvCxnSpPr>
          <p:cNvPr id="13" name="line-12"/>
          <p:cNvCxnSpPr/>
          <p:nvPr/>
        </p:nvCxnSpPr>
        <p:spPr>
          <a:xfrm>
            <a:off x="2286000" y="3977639"/>
            <a:ext cx="4846320" cy="0"/>
          </a:xfrm>
          <a:prstGeom prst="line">
            <a:avLst/>
          </a:prstGeom>
          <a:ln w="20320">
            <a:solidFill>
              <a:srgbClr val="24C3D9"/>
            </a:solidFill>
            <a:tailEnd type="triangle"/>
          </a:ln>
        </p:spPr>
        <p:style>
          <a:lnRef idx="2">
            <a:schemeClr val="accent1"/>
          </a:lnRef>
          <a:fillRef idx="0">
            <a:schemeClr val="accent1"/>
          </a:fillRef>
          <a:effectRef idx="1">
            <a:schemeClr val="accent1"/>
          </a:effectRef>
          <a:fontRef idx="minor">
            <a:schemeClr val="tx1"/>
          </a:fontRef>
        </p:style>
      </p:cxnSp>
      <p:sp>
        <p:nvSpPr>
          <p:cNvPr id="14" name="shape-13"/>
          <p:cNvSpPr/>
          <p:nvPr/>
        </p:nvSpPr>
        <p:spPr>
          <a:xfrm>
            <a:off x="2235708" y="392734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hape-14"/>
          <p:cNvSpPr/>
          <p:nvPr/>
        </p:nvSpPr>
        <p:spPr>
          <a:xfrm>
            <a:off x="1463040" y="4617720"/>
            <a:ext cx="731520" cy="731520"/>
          </a:xfrm>
          <a:prstGeom prst="ellipse">
            <a:avLst/>
          </a:prstGeom>
          <a:noFill/>
          <a:ln w="19050">
            <a:solidFill>
              <a:srgbClr val="FF70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15"/>
          <p:cNvSpPr txBox="1"/>
          <p:nvPr/>
        </p:nvSpPr>
        <p:spPr>
          <a:xfrm>
            <a:off x="1325880" y="4818888"/>
            <a:ext cx="1005840" cy="365760"/>
          </a:xfrm>
          <a:prstGeom prst="rect">
            <a:avLst/>
          </a:prstGeom>
          <a:noFill/>
        </p:spPr>
        <p:txBody>
          <a:bodyPr wrap="square" lIns="0" tIns="0" rIns="0" bIns="0">
            <a:spAutoFit/>
          </a:bodyPr>
          <a:lstStyle/>
          <a:p>
            <a:pPr algn="ctr">
              <a:spcAft>
                <a:spcPts val="0"/>
              </a:spcAft>
              <a:defRPr sz="1700" b="1">
                <a:solidFill>
                  <a:srgbClr val="FF7058"/>
                </a:solidFill>
                <a:latin typeface="Consolas"/>
              </a:defRPr>
            </a:pPr>
            <a:r>
              <a:t>RF</a:t>
            </a:r>
          </a:p>
        </p:txBody>
      </p:sp>
      <p:cxnSp>
        <p:nvCxnSpPr>
          <p:cNvPr id="17" name="line-16"/>
          <p:cNvCxnSpPr/>
          <p:nvPr/>
        </p:nvCxnSpPr>
        <p:spPr>
          <a:xfrm flipV="1">
            <a:off x="2286000" y="3977639"/>
            <a:ext cx="4846320" cy="1005841"/>
          </a:xfrm>
          <a:prstGeom prst="line">
            <a:avLst/>
          </a:prstGeom>
          <a:ln w="20320">
            <a:solidFill>
              <a:srgbClr val="FF7058"/>
            </a:solidFill>
            <a:tailEnd type="triangle"/>
          </a:ln>
        </p:spPr>
        <p:style>
          <a:lnRef idx="2">
            <a:schemeClr val="accent1"/>
          </a:lnRef>
          <a:fillRef idx="0">
            <a:schemeClr val="accent1"/>
          </a:fillRef>
          <a:effectRef idx="1">
            <a:schemeClr val="accent1"/>
          </a:effectRef>
          <a:fontRef idx="minor">
            <a:schemeClr val="tx1"/>
          </a:fontRef>
        </p:style>
      </p:cxnSp>
      <p:sp>
        <p:nvSpPr>
          <p:cNvPr id="18" name="shape-17"/>
          <p:cNvSpPr/>
          <p:nvPr/>
        </p:nvSpPr>
        <p:spPr>
          <a:xfrm>
            <a:off x="2235708" y="4933188"/>
            <a:ext cx="100584" cy="100584"/>
          </a:xfrm>
          <a:prstGeom prst="ellipse">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hape-18"/>
          <p:cNvSpPr/>
          <p:nvPr/>
        </p:nvSpPr>
        <p:spPr>
          <a:xfrm>
            <a:off x="7132320" y="3611880"/>
            <a:ext cx="731520" cy="731520"/>
          </a:xfrm>
          <a:prstGeom prst="diamond">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19"/>
          <p:cNvSpPr txBox="1"/>
          <p:nvPr/>
        </p:nvSpPr>
        <p:spPr>
          <a:xfrm>
            <a:off x="8412480" y="2743200"/>
            <a:ext cx="3108960" cy="1097280"/>
          </a:xfrm>
          <a:prstGeom prst="rect">
            <a:avLst/>
          </a:prstGeom>
          <a:noFill/>
        </p:spPr>
        <p:txBody>
          <a:bodyPr wrap="square" lIns="0" tIns="0" rIns="0" bIns="0">
            <a:spAutoFit/>
          </a:bodyPr>
          <a:lstStyle/>
          <a:p>
            <a:pPr>
              <a:spcAft>
                <a:spcPts val="0"/>
              </a:spcAft>
              <a:defRPr sz="3300" b="1">
                <a:solidFill>
                  <a:srgbClr val="7958F5"/>
                </a:solidFill>
                <a:latin typeface="Aptos"/>
              </a:defRPr>
            </a:pPr>
            <a:r>
              <a:t>ĐA SỐ</a:t>
            </a:r>
          </a:p>
          <a:p>
            <a:pPr>
              <a:spcAft>
                <a:spcPts val="0"/>
              </a:spcAft>
              <a:defRPr sz="3300" b="1">
                <a:solidFill>
                  <a:srgbClr val="7958F5"/>
                </a:solidFill>
                <a:latin typeface="Aptos"/>
              </a:defRPr>
            </a:pPr>
            <a:r>
              <a:t>PHIẾU</a:t>
            </a:r>
          </a:p>
        </p:txBody>
      </p:sp>
      <p:sp>
        <p:nvSpPr>
          <p:cNvPr id="21" name="text-20"/>
          <p:cNvSpPr txBox="1"/>
          <p:nvPr/>
        </p:nvSpPr>
        <p:spPr>
          <a:xfrm>
            <a:off x="8412480" y="4389120"/>
            <a:ext cx="3200400" cy="1097280"/>
          </a:xfrm>
          <a:prstGeom prst="rect">
            <a:avLst/>
          </a:prstGeom>
          <a:noFill/>
        </p:spPr>
        <p:txBody>
          <a:bodyPr wrap="square" lIns="0" tIns="0" rIns="0" bIns="0">
            <a:spAutoFit/>
          </a:bodyPr>
          <a:lstStyle/>
          <a:p>
            <a:pPr>
              <a:spcAft>
                <a:spcPts val="0"/>
              </a:spcAft>
              <a:defRPr sz="2900" b="1">
                <a:solidFill>
                  <a:srgbClr val="10162F"/>
                </a:solidFill>
                <a:latin typeface="Aptos"/>
              </a:defRPr>
            </a:pPr>
            <a:r>
              <a:t>TRUNG BÌNH</a:t>
            </a:r>
          </a:p>
          <a:p>
            <a:pPr>
              <a:spcAft>
                <a:spcPts val="0"/>
              </a:spcAft>
              <a:defRPr sz="2900" b="1">
                <a:solidFill>
                  <a:srgbClr val="10162F"/>
                </a:solidFill>
                <a:latin typeface="Aptos"/>
              </a:defRPr>
            </a:pPr>
            <a:r>
              <a:t>XÁC SUẤT</a:t>
            </a:r>
          </a:p>
        </p:txBody>
      </p:sp>
      <p:sp>
        <p:nvSpPr>
          <p:cNvPr id="22" name="text-21"/>
          <p:cNvSpPr txBox="1"/>
          <p:nvPr/>
        </p:nvSpPr>
        <p:spPr>
          <a:xfrm>
            <a:off x="594360" y="5852160"/>
            <a:ext cx="10972800" cy="594360"/>
          </a:xfrm>
          <a:prstGeom prst="rect">
            <a:avLst/>
          </a:prstGeom>
          <a:noFill/>
        </p:spPr>
        <p:txBody>
          <a:bodyPr wrap="square" lIns="0" tIns="0" rIns="0" bIns="0">
            <a:spAutoFit/>
          </a:bodyPr>
          <a:lstStyle/>
          <a:p>
            <a:pPr>
              <a:spcAft>
                <a:spcPts val="0"/>
              </a:spcAft>
              <a:defRPr sz="2400" b="0">
                <a:solidFill>
                  <a:srgbClr val="10162F"/>
                </a:solidFill>
                <a:latin typeface="Aptos"/>
              </a:defRPr>
            </a:pPr>
            <a:r>
              <a:t>Khác cách học chưa bảo đảm sửa được lỗi chung.</a:t>
            </a:r>
          </a:p>
        </p:txBody>
      </p:sp>
    </p:spTree>
  </p:cSld>
  <p:clrMapOvr>
    <a:masterClrMapping/>
  </p:clrMapOvr>
  <mc:AlternateContent xmlns:mc="http://schemas.openxmlformats.org/markup-compatibility/2006" xmlns:p14="http://schemas.microsoft.com/office/powerpoint/2010/main">
    <mc:Choice Requires="p14">
      <p:transition spd="slow" p14:dur="2000" advTm="17000"/>
    </mc:Choice>
    <mc:Fallback xmlns="">
      <p:transition spd="slow" advTm="17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1500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accel="15000" decel="15000" fill="hold" grpId="0" nodeType="withEffect">
                                  <p:stCondLst>
                                    <p:cond delay="7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accel="15000" decel="15000" fill="hold" grpId="0" nodeType="withEffect">
                                  <p:stCondLst>
                                    <p:cond delay="9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accel="15000" decel="15000" fill="hold" grpId="0" nodeType="withEffect">
                                  <p:stCondLst>
                                    <p:cond delay="11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accel="15000" decel="15000" fill="hold" grpId="0" nodeType="withEffect">
                                  <p:stCondLst>
                                    <p:cond delay="130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accel="15000" decel="15000" fill="hold" grpId="0" nodeType="withEffect">
                                  <p:stCondLst>
                                    <p:cond delay="150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22" presetClass="entr" presetSubtype="8" accel="15000" decel="15000" fill="hold" nodeType="withEffect">
                                  <p:stCondLst>
                                    <p:cond delay="200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800"/>
                                        <p:tgtEl>
                                          <p:spTgt spid="9"/>
                                        </p:tgtEl>
                                      </p:cBhvr>
                                    </p:animEffect>
                                  </p:childTnLst>
                                </p:cTn>
                              </p:par>
                              <p:par>
                                <p:cTn id="26" presetID="22" presetClass="entr" presetSubtype="8" accel="15000" decel="15000" fill="hold" nodeType="withEffect">
                                  <p:stCondLst>
                                    <p:cond delay="2400"/>
                                  </p:stCondLst>
                                  <p:childTnLst>
                                    <p:set>
                                      <p:cBhvr>
                                        <p:cTn id="27" dur="1" fill="hold">
                                          <p:stCondLst>
                                            <p:cond delay="0"/>
                                          </p:stCondLst>
                                        </p:cTn>
                                        <p:tgtEl>
                                          <p:spTgt spid="13"/>
                                        </p:tgtEl>
                                        <p:attrNameLst>
                                          <p:attrName>style.visibility</p:attrName>
                                        </p:attrNameLst>
                                      </p:cBhvr>
                                      <p:to>
                                        <p:strVal val="visible"/>
                                      </p:to>
                                    </p:set>
                                    <p:animEffect transition="in" filter="wipe(left)">
                                      <p:cBhvr>
                                        <p:cTn id="28" dur="800"/>
                                        <p:tgtEl>
                                          <p:spTgt spid="13"/>
                                        </p:tgtEl>
                                      </p:cBhvr>
                                    </p:animEffect>
                                  </p:childTnLst>
                                </p:cTn>
                              </p:par>
                              <p:par>
                                <p:cTn id="29" presetID="22" presetClass="entr" presetSubtype="8" accel="15000" decel="15000" fill="hold" nodeType="withEffect">
                                  <p:stCondLst>
                                    <p:cond delay="280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800"/>
                                        <p:tgtEl>
                                          <p:spTgt spid="17"/>
                                        </p:tgtEl>
                                      </p:cBhvr>
                                    </p:animEffect>
                                  </p:childTnLst>
                                </p:cTn>
                              </p:par>
                              <p:par>
                                <p:cTn id="32" presetID="10" presetClass="entr" presetSubtype="0" accel="15000" decel="15000" fill="hold" grpId="0" nodeType="withEffect">
                                  <p:stCondLst>
                                    <p:cond delay="300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20"/>
                                        <p:tgtEl>
                                          <p:spTgt spid="10"/>
                                        </p:tgtEl>
                                      </p:cBhvr>
                                    </p:animEffect>
                                  </p:childTnLst>
                                </p:cTn>
                              </p:par>
                              <p:par>
                                <p:cTn id="35" presetID="0" presetClass="entr" presetSubtype="0" repeatCount="5000" accel="15000" decel="15000" fill="hold" grpId="1" nodeType="withEffect">
                                  <p:stCondLst>
                                    <p:cond delay="3120"/>
                                  </p:stCondLst>
                                  <p:childTnLst>
                                    <p:set>
                                      <p:cBhvr>
                                        <p:cTn id="36" dur="1" fill="hold">
                                          <p:stCondLst>
                                            <p:cond delay="0"/>
                                          </p:stCondLst>
                                        </p:cTn>
                                        <p:tgtEl>
                                          <p:spTgt spid="10"/>
                                        </p:tgtEl>
                                        <p:attrNameLst>
                                          <p:attrName>style.visibility</p:attrName>
                                        </p:attrNameLst>
                                      </p:cBhvr>
                                      <p:to>
                                        <p:strVal val="visible"/>
                                      </p:to>
                                    </p:set>
                                    <p:animMotion origin="layout" path="M 0 0 L 0.39750001 0.14666667 E" pathEditMode="relative">
                                      <p:cBhvr from="" to="">
                                        <p:cTn id="37" dur="1700" fill="hold">
                                          <p:stCondLst>
                                            <p:cond delay="0"/>
                                          </p:stCondLst>
                                        </p:cTn>
                                        <p:tgtEl>
                                          <p:spTgt spid="10"/>
                                        </p:tgtEl>
                                        <p:attrNameLst>
                                          <p:attrName>ppt_x</p:attrName>
                                          <p:attrName>ppt_y</p:attrName>
                                        </p:attrNameLst>
                                      </p:cBhvr>
                                    </p:animMotion>
                                  </p:childTnLst>
                                </p:cTn>
                              </p:par>
                              <p:par>
                                <p:cTn id="38" presetID="10" presetClass="entr" presetSubtype="0" accel="15000" decel="15000" fill="hold" grpId="0" nodeType="withEffect">
                                  <p:stCondLst>
                                    <p:cond delay="360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120"/>
                                        <p:tgtEl>
                                          <p:spTgt spid="14"/>
                                        </p:tgtEl>
                                      </p:cBhvr>
                                    </p:animEffect>
                                  </p:childTnLst>
                                </p:cTn>
                              </p:par>
                              <p:par>
                                <p:cTn id="41" presetID="0" presetClass="entr" presetSubtype="0" repeatCount="5000" accel="15000" decel="15000" fill="hold" grpId="1" nodeType="withEffect">
                                  <p:stCondLst>
                                    <p:cond delay="3720"/>
                                  </p:stCondLst>
                                  <p:childTnLst>
                                    <p:set>
                                      <p:cBhvr>
                                        <p:cTn id="42" dur="1" fill="hold">
                                          <p:stCondLst>
                                            <p:cond delay="0"/>
                                          </p:stCondLst>
                                        </p:cTn>
                                        <p:tgtEl>
                                          <p:spTgt spid="14"/>
                                        </p:tgtEl>
                                        <p:attrNameLst>
                                          <p:attrName>style.visibility</p:attrName>
                                        </p:attrNameLst>
                                      </p:cBhvr>
                                      <p:to>
                                        <p:strVal val="visible"/>
                                      </p:to>
                                    </p:set>
                                    <p:animMotion origin="layout" path="M 0 0 L 0.39750001 0.00000000 E" pathEditMode="relative">
                                      <p:cBhvr from="" to="">
                                        <p:cTn id="43" dur="1700" fill="hold">
                                          <p:stCondLst>
                                            <p:cond delay="0"/>
                                          </p:stCondLst>
                                        </p:cTn>
                                        <p:tgtEl>
                                          <p:spTgt spid="14"/>
                                        </p:tgtEl>
                                        <p:attrNameLst>
                                          <p:attrName>ppt_x</p:attrName>
                                          <p:attrName>ppt_y</p:attrName>
                                        </p:attrNameLst>
                                      </p:cBhvr>
                                    </p:animMotion>
                                  </p:childTnLst>
                                </p:cTn>
                              </p:par>
                              <p:par>
                                <p:cTn id="44" presetID="10" presetClass="entr" presetSubtype="0" accel="15000" decel="15000" fill="hold" grpId="0" nodeType="withEffect">
                                  <p:stCondLst>
                                    <p:cond delay="420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20"/>
                                        <p:tgtEl>
                                          <p:spTgt spid="18"/>
                                        </p:tgtEl>
                                      </p:cBhvr>
                                    </p:animEffect>
                                  </p:childTnLst>
                                </p:cTn>
                              </p:par>
                              <p:par>
                                <p:cTn id="47" presetID="0" presetClass="entr" presetSubtype="0" repeatCount="5000" accel="15000" decel="15000" fill="hold" grpId="1" nodeType="withEffect">
                                  <p:stCondLst>
                                    <p:cond delay="4320"/>
                                  </p:stCondLst>
                                  <p:childTnLst>
                                    <p:set>
                                      <p:cBhvr>
                                        <p:cTn id="48" dur="1" fill="hold">
                                          <p:stCondLst>
                                            <p:cond delay="0"/>
                                          </p:stCondLst>
                                        </p:cTn>
                                        <p:tgtEl>
                                          <p:spTgt spid="18"/>
                                        </p:tgtEl>
                                        <p:attrNameLst>
                                          <p:attrName>style.visibility</p:attrName>
                                        </p:attrNameLst>
                                      </p:cBhvr>
                                      <p:to>
                                        <p:strVal val="visible"/>
                                      </p:to>
                                    </p:set>
                                    <p:animMotion origin="layout" path="M 0 0 L 0.39750001 -0.14666667 E" pathEditMode="relative">
                                      <p:cBhvr from="" to="">
                                        <p:cTn id="49" dur="1700" fill="hold">
                                          <p:stCondLst>
                                            <p:cond delay="0"/>
                                          </p:stCondLst>
                                        </p:cTn>
                                        <p:tgtEl>
                                          <p:spTgt spid="18"/>
                                        </p:tgtEl>
                                        <p:attrNameLst>
                                          <p:attrName>ppt_x</p:attrName>
                                          <p:attrName>ppt_y</p:attrName>
                                        </p:attrNameLst>
                                      </p:cBhvr>
                                    </p:animMotion>
                                  </p:childTnLst>
                                </p:cTn>
                              </p:par>
                              <p:par>
                                <p:cTn id="50" presetID="10" presetClass="entr" presetSubtype="0" accel="15000" decel="15000" fill="hold" grpId="0" nodeType="withEffect">
                                  <p:stCondLst>
                                    <p:cond delay="700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xit" presetSubtype="0" accel="15000" decel="15000" fill="hold" grpId="2" nodeType="withEffect">
                                  <p:stCondLst>
                                    <p:cond delay="11620"/>
                                  </p:stCondLst>
                                  <p:childTnLst>
                                    <p:animEffect transition="out" filter="fade">
                                      <p:cBhvr>
                                        <p:cTn id="54" dur="120"/>
                                        <p:tgtEl>
                                          <p:spTgt spid="10"/>
                                        </p:tgtEl>
                                      </p:cBhvr>
                                    </p:animEffect>
                                    <p:set>
                                      <p:cBhvr>
                                        <p:cTn id="55" dur="1" fill="hold">
                                          <p:stCondLst>
                                            <p:cond delay="119"/>
                                          </p:stCondLst>
                                        </p:cTn>
                                        <p:tgtEl>
                                          <p:spTgt spid="10"/>
                                        </p:tgtEl>
                                        <p:attrNameLst>
                                          <p:attrName>style.visibility</p:attrName>
                                        </p:attrNameLst>
                                      </p:cBhvr>
                                      <p:to>
                                        <p:strVal val="hidden"/>
                                      </p:to>
                                    </p:set>
                                  </p:childTnLst>
                                </p:cTn>
                              </p:par>
                              <p:par>
                                <p:cTn id="56" presetID="10" presetClass="exit" presetSubtype="0" accel="15000" decel="15000" fill="hold" grpId="2" nodeType="withEffect">
                                  <p:stCondLst>
                                    <p:cond delay="12220"/>
                                  </p:stCondLst>
                                  <p:childTnLst>
                                    <p:animEffect transition="out" filter="fade">
                                      <p:cBhvr>
                                        <p:cTn id="57" dur="120"/>
                                        <p:tgtEl>
                                          <p:spTgt spid="14"/>
                                        </p:tgtEl>
                                      </p:cBhvr>
                                    </p:animEffect>
                                    <p:set>
                                      <p:cBhvr>
                                        <p:cTn id="58" dur="1" fill="hold">
                                          <p:stCondLst>
                                            <p:cond delay="119"/>
                                          </p:stCondLst>
                                        </p:cTn>
                                        <p:tgtEl>
                                          <p:spTgt spid="14"/>
                                        </p:tgtEl>
                                        <p:attrNameLst>
                                          <p:attrName>style.visibility</p:attrName>
                                        </p:attrNameLst>
                                      </p:cBhvr>
                                      <p:to>
                                        <p:strVal val="hidden"/>
                                      </p:to>
                                    </p:set>
                                  </p:childTnLst>
                                </p:cTn>
                              </p:par>
                              <p:par>
                                <p:cTn id="59" presetID="10" presetClass="exit" presetSubtype="0" accel="15000" decel="15000" fill="hold" grpId="2" nodeType="withEffect">
                                  <p:stCondLst>
                                    <p:cond delay="12820"/>
                                  </p:stCondLst>
                                  <p:childTnLst>
                                    <p:animEffect transition="out" filter="fade">
                                      <p:cBhvr>
                                        <p:cTn id="60" dur="120"/>
                                        <p:tgtEl>
                                          <p:spTgt spid="18"/>
                                        </p:tgtEl>
                                      </p:cBhvr>
                                    </p:animEffect>
                                    <p:set>
                                      <p:cBhvr>
                                        <p:cTn id="61" dur="1" fill="hold">
                                          <p:stCondLst>
                                            <p:cond delay="11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10" grpId="1" animBg="1"/>
      <p:bldP spid="10" grpId="2" animBg="1"/>
      <p:bldP spid="11" grpId="0" animBg="1"/>
      <p:bldP spid="12" grpId="0"/>
      <p:bldP spid="14" grpId="0" animBg="1"/>
      <p:bldP spid="14" grpId="1" animBg="1"/>
      <p:bldP spid="14" grpId="2" animBg="1"/>
      <p:bldP spid="15" grpId="0" animBg="1"/>
      <p:bldP spid="16" grpId="0"/>
      <p:bldP spid="18" grpId="0" animBg="1"/>
      <p:bldP spid="18" grpId="1" animBg="1"/>
      <p:bldP spid="18" grpId="2" animBg="1"/>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62F"/>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F8F5EE"/>
                </a:solidFill>
                <a:latin typeface="Consolas"/>
              </a:defRPr>
            </a:pPr>
            <a:r>
              <a:t>ENSEMBLE / IDS                         STACK</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F8F5EE"/>
                </a:solidFill>
                <a:latin typeface="Consolas"/>
              </a:defRPr>
            </a:pPr>
            <a:r>
              <a:t>04</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F8F5EE"/>
                </a:solidFill>
                <a:latin typeface="Aptos"/>
              </a:defRPr>
            </a:pPr>
            <a:r>
              <a:t>UNSW-NB15 · sơ đồ minh họa pipeline offline theo mã nguồn; không phải traffic triển khai</a:t>
            </a:r>
          </a:p>
        </p:txBody>
      </p:sp>
      <p:sp>
        <p:nvSpPr>
          <p:cNvPr id="5" name="hero-title"/>
          <p:cNvSpPr txBox="1"/>
          <p:nvPr/>
        </p:nvSpPr>
        <p:spPr>
          <a:xfrm>
            <a:off x="502920" y="868680"/>
            <a:ext cx="7132320" cy="1164336"/>
          </a:xfrm>
          <a:prstGeom prst="rect">
            <a:avLst/>
          </a:prstGeom>
          <a:noFill/>
        </p:spPr>
        <p:txBody>
          <a:bodyPr wrap="square" lIns="0" tIns="0" rIns="0" bIns="0">
            <a:spAutoFit/>
          </a:bodyPr>
          <a:lstStyle/>
          <a:p>
            <a:pPr>
              <a:spcAft>
                <a:spcPts val="0"/>
              </a:spcAft>
              <a:defRPr sz="7600" b="1">
                <a:solidFill>
                  <a:srgbClr val="F8F5EE"/>
                </a:solidFill>
                <a:latin typeface="Arial"/>
              </a:defRPr>
            </a:pPr>
            <a:r>
              <a:t>STACKING</a:t>
            </a:r>
          </a:p>
        </p:txBody>
      </p:sp>
      <p:sp>
        <p:nvSpPr>
          <p:cNvPr id="6" name="text-5"/>
          <p:cNvSpPr txBox="1"/>
          <p:nvPr/>
        </p:nvSpPr>
        <p:spPr>
          <a:xfrm>
            <a:off x="594360" y="1920240"/>
            <a:ext cx="8229600" cy="548640"/>
          </a:xfrm>
          <a:prstGeom prst="rect">
            <a:avLst/>
          </a:prstGeom>
          <a:noFill/>
        </p:spPr>
        <p:txBody>
          <a:bodyPr wrap="square" lIns="0" tIns="0" rIns="0" bIns="0">
            <a:spAutoFit/>
          </a:bodyPr>
          <a:lstStyle/>
          <a:p>
            <a:pPr>
              <a:spcAft>
                <a:spcPts val="0"/>
              </a:spcAft>
              <a:defRPr sz="3000" b="0">
                <a:solidFill>
                  <a:srgbClr val="B4B8CB"/>
                </a:solidFill>
                <a:latin typeface="Aptos"/>
              </a:defRPr>
            </a:pPr>
            <a:r>
              <a:t>Luật gộp được học từ OOF.</a:t>
            </a:r>
          </a:p>
        </p:txBody>
      </p:sp>
      <p:sp>
        <p:nvSpPr>
          <p:cNvPr id="7" name="shape-6"/>
          <p:cNvSpPr/>
          <p:nvPr/>
        </p:nvSpPr>
        <p:spPr>
          <a:xfrm>
            <a:off x="932688" y="2852928"/>
            <a:ext cx="694944" cy="694944"/>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7"/>
          <p:cNvSpPr txBox="1"/>
          <p:nvPr/>
        </p:nvSpPr>
        <p:spPr>
          <a:xfrm>
            <a:off x="795528" y="3035808"/>
            <a:ext cx="969264" cy="365760"/>
          </a:xfrm>
          <a:prstGeom prst="rect">
            <a:avLst/>
          </a:prstGeom>
          <a:noFill/>
        </p:spPr>
        <p:txBody>
          <a:bodyPr wrap="square" lIns="0" tIns="0" rIns="0" bIns="0">
            <a:spAutoFit/>
          </a:bodyPr>
          <a:lstStyle/>
          <a:p>
            <a:pPr algn="ctr">
              <a:spcAft>
                <a:spcPts val="0"/>
              </a:spcAft>
              <a:defRPr sz="1700" b="1">
                <a:solidFill>
                  <a:srgbClr val="24C3D9"/>
                </a:solidFill>
                <a:latin typeface="Consolas"/>
              </a:defRPr>
            </a:pPr>
            <a:r>
              <a:t>LR</a:t>
            </a:r>
          </a:p>
        </p:txBody>
      </p:sp>
      <p:cxnSp>
        <p:nvCxnSpPr>
          <p:cNvPr id="9" name="line-8"/>
          <p:cNvCxnSpPr/>
          <p:nvPr/>
        </p:nvCxnSpPr>
        <p:spPr>
          <a:xfrm>
            <a:off x="1920240" y="3200400"/>
            <a:ext cx="4023360" cy="960120"/>
          </a:xfrm>
          <a:prstGeom prst="line">
            <a:avLst/>
          </a:prstGeom>
          <a:ln w="19050">
            <a:solidFill>
              <a:srgbClr val="24C3D9"/>
            </a:solidFill>
            <a:tailEnd type="triangle"/>
          </a:ln>
        </p:spPr>
        <p:style>
          <a:lnRef idx="2">
            <a:schemeClr val="accent1"/>
          </a:lnRef>
          <a:fillRef idx="0">
            <a:schemeClr val="accent1"/>
          </a:fillRef>
          <a:effectRef idx="1">
            <a:schemeClr val="accent1"/>
          </a:effectRef>
          <a:fontRef idx="minor">
            <a:schemeClr val="tx1"/>
          </a:fontRef>
        </p:style>
      </p:cxnSp>
      <p:sp>
        <p:nvSpPr>
          <p:cNvPr id="10" name="text-9"/>
          <p:cNvSpPr txBox="1"/>
          <p:nvPr/>
        </p:nvSpPr>
        <p:spPr>
          <a:xfrm>
            <a:off x="2743200" y="2743200"/>
            <a:ext cx="2743200" cy="365760"/>
          </a:xfrm>
          <a:prstGeom prst="rect">
            <a:avLst/>
          </a:prstGeom>
          <a:noFill/>
        </p:spPr>
        <p:txBody>
          <a:bodyPr wrap="square" lIns="0" tIns="0" rIns="0" bIns="0">
            <a:spAutoFit/>
          </a:bodyPr>
          <a:lstStyle/>
          <a:p>
            <a:pPr>
              <a:spcAft>
                <a:spcPts val="0"/>
              </a:spcAft>
              <a:defRPr sz="1700" b="0">
                <a:solidFill>
                  <a:srgbClr val="24C3D9"/>
                </a:solidFill>
                <a:latin typeface="Consolas"/>
              </a:defRPr>
            </a:pPr>
            <a:r>
              <a:t>p(Attack)</a:t>
            </a:r>
          </a:p>
        </p:txBody>
      </p:sp>
      <p:sp>
        <p:nvSpPr>
          <p:cNvPr id="11" name="shape-10"/>
          <p:cNvSpPr/>
          <p:nvPr/>
        </p:nvSpPr>
        <p:spPr>
          <a:xfrm>
            <a:off x="1869948" y="315010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hape-11"/>
          <p:cNvSpPr/>
          <p:nvPr/>
        </p:nvSpPr>
        <p:spPr>
          <a:xfrm>
            <a:off x="932688" y="3950208"/>
            <a:ext cx="694944" cy="694944"/>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12"/>
          <p:cNvSpPr txBox="1"/>
          <p:nvPr/>
        </p:nvSpPr>
        <p:spPr>
          <a:xfrm>
            <a:off x="795528" y="4133088"/>
            <a:ext cx="969264" cy="365760"/>
          </a:xfrm>
          <a:prstGeom prst="rect">
            <a:avLst/>
          </a:prstGeom>
          <a:noFill/>
        </p:spPr>
        <p:txBody>
          <a:bodyPr wrap="square" lIns="0" tIns="0" rIns="0" bIns="0">
            <a:spAutoFit/>
          </a:bodyPr>
          <a:lstStyle/>
          <a:p>
            <a:pPr algn="ctr">
              <a:spcAft>
                <a:spcPts val="0"/>
              </a:spcAft>
              <a:defRPr sz="1700" b="1">
                <a:solidFill>
                  <a:srgbClr val="24C3D9"/>
                </a:solidFill>
                <a:latin typeface="Consolas"/>
              </a:defRPr>
            </a:pPr>
            <a:r>
              <a:t>DT</a:t>
            </a:r>
          </a:p>
        </p:txBody>
      </p:sp>
      <p:cxnSp>
        <p:nvCxnSpPr>
          <p:cNvPr id="14" name="line-13"/>
          <p:cNvCxnSpPr/>
          <p:nvPr/>
        </p:nvCxnSpPr>
        <p:spPr>
          <a:xfrm flipV="1">
            <a:off x="1920240" y="4160520"/>
            <a:ext cx="4023360" cy="137160"/>
          </a:xfrm>
          <a:prstGeom prst="line">
            <a:avLst/>
          </a:prstGeom>
          <a:ln w="19050">
            <a:solidFill>
              <a:srgbClr val="24C3D9"/>
            </a:solidFill>
            <a:tailEnd type="triangle"/>
          </a:ln>
        </p:spPr>
        <p:style>
          <a:lnRef idx="2">
            <a:schemeClr val="accent1"/>
          </a:lnRef>
          <a:fillRef idx="0">
            <a:schemeClr val="accent1"/>
          </a:fillRef>
          <a:effectRef idx="1">
            <a:schemeClr val="accent1"/>
          </a:effectRef>
          <a:fontRef idx="minor">
            <a:schemeClr val="tx1"/>
          </a:fontRef>
        </p:style>
      </p:cxnSp>
      <p:sp>
        <p:nvSpPr>
          <p:cNvPr id="15" name="text-14"/>
          <p:cNvSpPr txBox="1"/>
          <p:nvPr/>
        </p:nvSpPr>
        <p:spPr>
          <a:xfrm>
            <a:off x="2743200" y="3840480"/>
            <a:ext cx="2743200" cy="365760"/>
          </a:xfrm>
          <a:prstGeom prst="rect">
            <a:avLst/>
          </a:prstGeom>
          <a:noFill/>
        </p:spPr>
        <p:txBody>
          <a:bodyPr wrap="square" lIns="0" tIns="0" rIns="0" bIns="0">
            <a:spAutoFit/>
          </a:bodyPr>
          <a:lstStyle/>
          <a:p>
            <a:pPr>
              <a:spcAft>
                <a:spcPts val="0"/>
              </a:spcAft>
              <a:defRPr sz="1700" b="0">
                <a:solidFill>
                  <a:srgbClr val="24C3D9"/>
                </a:solidFill>
                <a:latin typeface="Consolas"/>
              </a:defRPr>
            </a:pPr>
            <a:r>
              <a:t>p(Attack)</a:t>
            </a:r>
          </a:p>
        </p:txBody>
      </p:sp>
      <p:sp>
        <p:nvSpPr>
          <p:cNvPr id="16" name="shape-15"/>
          <p:cNvSpPr/>
          <p:nvPr/>
        </p:nvSpPr>
        <p:spPr>
          <a:xfrm>
            <a:off x="1869948" y="424738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hape-16"/>
          <p:cNvSpPr/>
          <p:nvPr/>
        </p:nvSpPr>
        <p:spPr>
          <a:xfrm>
            <a:off x="932688" y="5047488"/>
            <a:ext cx="694944" cy="694944"/>
          </a:xfrm>
          <a:prstGeom prst="ellipse">
            <a:avLst/>
          </a:prstGeom>
          <a:noFill/>
          <a:ln w="19050">
            <a:solidFill>
              <a:srgbClr val="24C3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17"/>
          <p:cNvSpPr txBox="1"/>
          <p:nvPr/>
        </p:nvSpPr>
        <p:spPr>
          <a:xfrm>
            <a:off x="795528" y="5230368"/>
            <a:ext cx="969264" cy="365760"/>
          </a:xfrm>
          <a:prstGeom prst="rect">
            <a:avLst/>
          </a:prstGeom>
          <a:noFill/>
        </p:spPr>
        <p:txBody>
          <a:bodyPr wrap="square" lIns="0" tIns="0" rIns="0" bIns="0">
            <a:spAutoFit/>
          </a:bodyPr>
          <a:lstStyle/>
          <a:p>
            <a:pPr algn="ctr">
              <a:spcAft>
                <a:spcPts val="0"/>
              </a:spcAft>
              <a:defRPr sz="1700" b="1">
                <a:solidFill>
                  <a:srgbClr val="24C3D9"/>
                </a:solidFill>
                <a:latin typeface="Consolas"/>
              </a:defRPr>
            </a:pPr>
            <a:r>
              <a:t>RF</a:t>
            </a:r>
          </a:p>
        </p:txBody>
      </p:sp>
      <p:cxnSp>
        <p:nvCxnSpPr>
          <p:cNvPr id="19" name="line-18"/>
          <p:cNvCxnSpPr/>
          <p:nvPr/>
        </p:nvCxnSpPr>
        <p:spPr>
          <a:xfrm flipV="1">
            <a:off x="1920240" y="4160520"/>
            <a:ext cx="4023360" cy="1234440"/>
          </a:xfrm>
          <a:prstGeom prst="line">
            <a:avLst/>
          </a:prstGeom>
          <a:ln w="19050">
            <a:solidFill>
              <a:srgbClr val="24C3D9"/>
            </a:solidFill>
            <a:tailEnd type="triangle"/>
          </a:ln>
        </p:spPr>
        <p:style>
          <a:lnRef idx="2">
            <a:schemeClr val="accent1"/>
          </a:lnRef>
          <a:fillRef idx="0">
            <a:schemeClr val="accent1"/>
          </a:fillRef>
          <a:effectRef idx="1">
            <a:schemeClr val="accent1"/>
          </a:effectRef>
          <a:fontRef idx="minor">
            <a:schemeClr val="tx1"/>
          </a:fontRef>
        </p:style>
      </p:cxnSp>
      <p:sp>
        <p:nvSpPr>
          <p:cNvPr id="20" name="text-19"/>
          <p:cNvSpPr txBox="1"/>
          <p:nvPr/>
        </p:nvSpPr>
        <p:spPr>
          <a:xfrm>
            <a:off x="2743200" y="5577840"/>
            <a:ext cx="2743200" cy="365760"/>
          </a:xfrm>
          <a:prstGeom prst="rect">
            <a:avLst/>
          </a:prstGeom>
          <a:noFill/>
        </p:spPr>
        <p:txBody>
          <a:bodyPr wrap="square" lIns="0" tIns="0" rIns="0" bIns="0">
            <a:spAutoFit/>
          </a:bodyPr>
          <a:lstStyle/>
          <a:p>
            <a:pPr>
              <a:spcAft>
                <a:spcPts val="0"/>
              </a:spcAft>
              <a:defRPr sz="1700" b="0">
                <a:solidFill>
                  <a:srgbClr val="24C3D9"/>
                </a:solidFill>
                <a:latin typeface="Consolas"/>
              </a:defRPr>
            </a:pPr>
            <a:r>
              <a:t>p(Attack)</a:t>
            </a:r>
          </a:p>
        </p:txBody>
      </p:sp>
      <p:sp>
        <p:nvSpPr>
          <p:cNvPr id="21" name="shape-20"/>
          <p:cNvSpPr/>
          <p:nvPr/>
        </p:nvSpPr>
        <p:spPr>
          <a:xfrm>
            <a:off x="1869948" y="5344668"/>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shape-21"/>
          <p:cNvSpPr/>
          <p:nvPr/>
        </p:nvSpPr>
        <p:spPr>
          <a:xfrm>
            <a:off x="5943600" y="3337560"/>
            <a:ext cx="1645920" cy="1645920"/>
          </a:xfrm>
          <a:prstGeom prst="diamond">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22"/>
          <p:cNvSpPr txBox="1"/>
          <p:nvPr/>
        </p:nvSpPr>
        <p:spPr>
          <a:xfrm>
            <a:off x="6254496" y="3675887"/>
            <a:ext cx="1005840" cy="731520"/>
          </a:xfrm>
          <a:prstGeom prst="rect">
            <a:avLst/>
          </a:prstGeom>
          <a:noFill/>
        </p:spPr>
        <p:txBody>
          <a:bodyPr wrap="square" lIns="0" tIns="0" rIns="0" bIns="0">
            <a:spAutoFit/>
          </a:bodyPr>
          <a:lstStyle/>
          <a:p>
            <a:pPr algn="ctr">
              <a:spcAft>
                <a:spcPts val="0"/>
              </a:spcAft>
              <a:defRPr sz="2300" b="1">
                <a:solidFill>
                  <a:srgbClr val="F8F5EE"/>
                </a:solidFill>
                <a:latin typeface="Aptos"/>
              </a:defRPr>
            </a:pPr>
            <a:r>
              <a:t>META</a:t>
            </a:r>
          </a:p>
          <a:p>
            <a:pPr algn="ctr">
              <a:spcAft>
                <a:spcPts val="0"/>
              </a:spcAft>
              <a:defRPr sz="2300" b="1">
                <a:solidFill>
                  <a:srgbClr val="F8F5EE"/>
                </a:solidFill>
                <a:latin typeface="Aptos"/>
              </a:defRPr>
            </a:pPr>
            <a:r>
              <a:t>LR</a:t>
            </a:r>
          </a:p>
        </p:txBody>
      </p:sp>
      <p:cxnSp>
        <p:nvCxnSpPr>
          <p:cNvPr id="24" name="line-23"/>
          <p:cNvCxnSpPr/>
          <p:nvPr/>
        </p:nvCxnSpPr>
        <p:spPr>
          <a:xfrm>
            <a:off x="7818120" y="4160520"/>
            <a:ext cx="1920240" cy="0"/>
          </a:xfrm>
          <a:prstGeom prst="line">
            <a:avLst/>
          </a:prstGeom>
          <a:ln w="25400">
            <a:solidFill>
              <a:srgbClr val="C5F66A"/>
            </a:solidFill>
            <a:tailEnd type="triangle"/>
          </a:ln>
        </p:spPr>
        <p:style>
          <a:lnRef idx="2">
            <a:schemeClr val="accent1"/>
          </a:lnRef>
          <a:fillRef idx="0">
            <a:schemeClr val="accent1"/>
          </a:fillRef>
          <a:effectRef idx="1">
            <a:schemeClr val="accent1"/>
          </a:effectRef>
          <a:fontRef idx="minor">
            <a:schemeClr val="tx1"/>
          </a:fontRef>
        </p:style>
      </p:cxnSp>
      <p:sp>
        <p:nvSpPr>
          <p:cNvPr id="25" name="text-24"/>
          <p:cNvSpPr txBox="1"/>
          <p:nvPr/>
        </p:nvSpPr>
        <p:spPr>
          <a:xfrm>
            <a:off x="9966960" y="3566160"/>
            <a:ext cx="1828800" cy="1097280"/>
          </a:xfrm>
          <a:prstGeom prst="rect">
            <a:avLst/>
          </a:prstGeom>
          <a:noFill/>
        </p:spPr>
        <p:txBody>
          <a:bodyPr wrap="square" lIns="0" tIns="0" rIns="0" bIns="0">
            <a:spAutoFit/>
          </a:bodyPr>
          <a:lstStyle/>
          <a:p>
            <a:pPr>
              <a:spcAft>
                <a:spcPts val="0"/>
              </a:spcAft>
              <a:defRPr sz="2700" b="1">
                <a:solidFill>
                  <a:srgbClr val="C5F66A"/>
                </a:solidFill>
                <a:latin typeface="Aptos"/>
              </a:defRPr>
            </a:pPr>
            <a:r>
              <a:t>Normal</a:t>
            </a:r>
          </a:p>
          <a:p>
            <a:pPr>
              <a:spcAft>
                <a:spcPts val="0"/>
              </a:spcAft>
              <a:defRPr sz="2700" b="1">
                <a:solidFill>
                  <a:srgbClr val="C5F66A"/>
                </a:solidFill>
                <a:latin typeface="Aptos"/>
              </a:defRPr>
            </a:pPr>
            <a:r>
              <a:t>/ Attack</a:t>
            </a:r>
          </a:p>
        </p:txBody>
      </p:sp>
      <p:sp>
        <p:nvSpPr>
          <p:cNvPr id="26" name="shape-25"/>
          <p:cNvSpPr/>
          <p:nvPr/>
        </p:nvSpPr>
        <p:spPr>
          <a:xfrm>
            <a:off x="7813548" y="4110228"/>
            <a:ext cx="100584" cy="100584"/>
          </a:xfrm>
          <a:prstGeom prst="ellipse">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26"/>
          <p:cNvSpPr txBox="1"/>
          <p:nvPr/>
        </p:nvSpPr>
        <p:spPr>
          <a:xfrm>
            <a:off x="8778240" y="1143000"/>
            <a:ext cx="2834640" cy="548640"/>
          </a:xfrm>
          <a:prstGeom prst="rect">
            <a:avLst/>
          </a:prstGeom>
          <a:noFill/>
        </p:spPr>
        <p:txBody>
          <a:bodyPr wrap="square" lIns="0" tIns="0" rIns="0" bIns="0">
            <a:spAutoFit/>
          </a:bodyPr>
          <a:lstStyle/>
          <a:p>
            <a:pPr>
              <a:spcAft>
                <a:spcPts val="0"/>
              </a:spcAft>
              <a:defRPr sz="2400" b="1">
                <a:solidFill>
                  <a:srgbClr val="C5F66A"/>
                </a:solidFill>
                <a:latin typeface="Consolas"/>
              </a:defRPr>
            </a:pPr>
            <a:r>
              <a:t>INFERENCE</a:t>
            </a:r>
          </a:p>
        </p:txBody>
      </p:sp>
      <p:sp>
        <p:nvSpPr>
          <p:cNvPr id="28" name="text-27"/>
          <p:cNvSpPr txBox="1"/>
          <p:nvPr/>
        </p:nvSpPr>
        <p:spPr>
          <a:xfrm>
            <a:off x="594360" y="5989320"/>
            <a:ext cx="10972800" cy="594360"/>
          </a:xfrm>
          <a:prstGeom prst="rect">
            <a:avLst/>
          </a:prstGeom>
          <a:noFill/>
        </p:spPr>
        <p:txBody>
          <a:bodyPr wrap="square" lIns="0" tIns="0" rIns="0" bIns="0">
            <a:spAutoFit/>
          </a:bodyPr>
          <a:lstStyle/>
          <a:p>
            <a:pPr>
              <a:spcAft>
                <a:spcPts val="0"/>
              </a:spcAft>
              <a:defRPr sz="2000" b="0">
                <a:solidFill>
                  <a:srgbClr val="F8F5EE"/>
                </a:solidFill>
                <a:latin typeface="Aptos"/>
              </a:defRPr>
            </a:pPr>
            <a:r>
              <a:t>FIT: OOF → meta LR      INFERENCE: base đã học → xác suất → meta</a:t>
            </a:r>
          </a:p>
        </p:txBody>
      </p:sp>
    </p:spTree>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15000" fill="hold" grpId="0" nodeType="withEffect">
                                  <p:stCondLst>
                                    <p:cond delay="4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accel="15000" decel="15000" fill="hold" grpId="0" nodeType="withEffect">
                                  <p:stCondLst>
                                    <p:cond delay="6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accel="15000" decel="15000" fill="hold" grpId="0" nodeType="withEffect">
                                  <p:stCondLst>
                                    <p:cond delay="6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accel="15000" decel="15000" fill="hold" grpId="0" nodeType="withEffect">
                                  <p:stCondLst>
                                    <p:cond delay="8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accel="15000" decel="15000" fill="hold" grpId="0" nodeType="withEffect">
                                  <p:stCondLst>
                                    <p:cond delay="8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accel="15000" decel="15000" fill="hold" grpId="0" nodeType="withEffect">
                                  <p:stCondLst>
                                    <p:cond delay="10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22" presetClass="entr" presetSubtype="8" accel="15000" decel="15000" fill="hold" nodeType="withEffect">
                                  <p:stCondLst>
                                    <p:cond delay="150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700"/>
                                        <p:tgtEl>
                                          <p:spTgt spid="9"/>
                                        </p:tgtEl>
                                      </p:cBhvr>
                                    </p:animEffect>
                                  </p:childTnLst>
                                </p:cTn>
                              </p:par>
                              <p:par>
                                <p:cTn id="26" presetID="22" presetClass="entr" presetSubtype="8" accel="15000" decel="15000" fill="hold" nodeType="withEffect">
                                  <p:stCondLst>
                                    <p:cond delay="180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700"/>
                                        <p:tgtEl>
                                          <p:spTgt spid="14"/>
                                        </p:tgtEl>
                                      </p:cBhvr>
                                    </p:animEffect>
                                  </p:childTnLst>
                                </p:cTn>
                              </p:par>
                              <p:par>
                                <p:cTn id="29" presetID="10" presetClass="entr" presetSubtype="0" accel="15000" decel="15000" fill="hold" grpId="0" nodeType="withEffect">
                                  <p:stCondLst>
                                    <p:cond delay="20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22" presetClass="entr" presetSubtype="8" accel="15000" decel="15000" fill="hold" nodeType="withEffect">
                                  <p:stCondLst>
                                    <p:cond delay="2100"/>
                                  </p:stCondLst>
                                  <p:childTnLst>
                                    <p:set>
                                      <p:cBhvr>
                                        <p:cTn id="33" dur="1" fill="hold">
                                          <p:stCondLst>
                                            <p:cond delay="0"/>
                                          </p:stCondLst>
                                        </p:cTn>
                                        <p:tgtEl>
                                          <p:spTgt spid="19"/>
                                        </p:tgtEl>
                                        <p:attrNameLst>
                                          <p:attrName>style.visibility</p:attrName>
                                        </p:attrNameLst>
                                      </p:cBhvr>
                                      <p:to>
                                        <p:strVal val="visible"/>
                                      </p:to>
                                    </p:set>
                                    <p:animEffect transition="in" filter="wipe(left)">
                                      <p:cBhvr>
                                        <p:cTn id="34" dur="700"/>
                                        <p:tgtEl>
                                          <p:spTgt spid="19"/>
                                        </p:tgtEl>
                                      </p:cBhvr>
                                    </p:animEffect>
                                  </p:childTnLst>
                                </p:cTn>
                              </p:par>
                              <p:par>
                                <p:cTn id="35" presetID="10" presetClass="entr" presetSubtype="0" accel="15000" decel="15000" fill="hold" grpId="0" nodeType="withEffect">
                                  <p:stCondLst>
                                    <p:cond delay="240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par>
                                <p:cTn id="38" presetID="10" presetClass="entr" presetSubtype="0" accel="15000" decel="15000" fill="hold" grpId="0" nodeType="withEffect">
                                  <p:stCondLst>
                                    <p:cond delay="280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accel="15000" decel="15000" fill="hold" grpId="0" nodeType="withEffect">
                                  <p:stCondLst>
                                    <p:cond delay="300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20"/>
                                        <p:tgtEl>
                                          <p:spTgt spid="11"/>
                                        </p:tgtEl>
                                      </p:cBhvr>
                                    </p:animEffect>
                                  </p:childTnLst>
                                </p:cTn>
                              </p:par>
                              <p:par>
                                <p:cTn id="44" presetID="10" presetClass="entr" presetSubtype="0" accel="15000" decel="15000" fill="hold" grpId="0" nodeType="withEffect">
                                  <p:stCondLst>
                                    <p:cond delay="300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700"/>
                                        <p:tgtEl>
                                          <p:spTgt spid="22"/>
                                        </p:tgtEl>
                                      </p:cBhvr>
                                    </p:animEffect>
                                  </p:childTnLst>
                                </p:cTn>
                              </p:par>
                              <p:par>
                                <p:cTn id="47" presetID="0" presetClass="entr" presetSubtype="0" repeatCount="6000" accel="15000" decel="15000" fill="hold" grpId="1" nodeType="withEffect">
                                  <p:stCondLst>
                                    <p:cond delay="3120"/>
                                  </p:stCondLst>
                                  <p:childTnLst>
                                    <p:set>
                                      <p:cBhvr>
                                        <p:cTn id="48" dur="1" fill="hold">
                                          <p:stCondLst>
                                            <p:cond delay="0"/>
                                          </p:stCondLst>
                                        </p:cTn>
                                        <p:tgtEl>
                                          <p:spTgt spid="11"/>
                                        </p:tgtEl>
                                        <p:attrNameLst>
                                          <p:attrName>style.visibility</p:attrName>
                                        </p:attrNameLst>
                                      </p:cBhvr>
                                      <p:to>
                                        <p:strVal val="visible"/>
                                      </p:to>
                                    </p:set>
                                    <p:animMotion origin="layout" path="M 0 0 L 0.33000001 0.14000000 E" pathEditMode="relative">
                                      <p:cBhvr from="" to="">
                                        <p:cTn id="49" dur="2000" fill="hold">
                                          <p:stCondLst>
                                            <p:cond delay="0"/>
                                          </p:stCondLst>
                                        </p:cTn>
                                        <p:tgtEl>
                                          <p:spTgt spid="11"/>
                                        </p:tgtEl>
                                        <p:attrNameLst>
                                          <p:attrName>ppt_x</p:attrName>
                                          <p:attrName>ppt_y</p:attrName>
                                        </p:attrNameLst>
                                      </p:cBhvr>
                                    </p:animMotion>
                                  </p:childTnLst>
                                </p:cTn>
                              </p:par>
                              <p:par>
                                <p:cTn id="50" presetID="10" presetClass="entr" presetSubtype="0" accel="15000" decel="15000" fill="hold" grpId="0" nodeType="withEffect">
                                  <p:stCondLst>
                                    <p:cond delay="350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120"/>
                                        <p:tgtEl>
                                          <p:spTgt spid="16"/>
                                        </p:tgtEl>
                                      </p:cBhvr>
                                    </p:animEffect>
                                  </p:childTnLst>
                                </p:cTn>
                              </p:par>
                              <p:par>
                                <p:cTn id="53" presetID="0" presetClass="entr" presetSubtype="0" repeatCount="6000" accel="15000" decel="15000" fill="hold" grpId="1" nodeType="withEffect">
                                  <p:stCondLst>
                                    <p:cond delay="3620"/>
                                  </p:stCondLst>
                                  <p:childTnLst>
                                    <p:set>
                                      <p:cBhvr>
                                        <p:cTn id="54" dur="1" fill="hold">
                                          <p:stCondLst>
                                            <p:cond delay="0"/>
                                          </p:stCondLst>
                                        </p:cTn>
                                        <p:tgtEl>
                                          <p:spTgt spid="16"/>
                                        </p:tgtEl>
                                        <p:attrNameLst>
                                          <p:attrName>style.visibility</p:attrName>
                                        </p:attrNameLst>
                                      </p:cBhvr>
                                      <p:to>
                                        <p:strVal val="visible"/>
                                      </p:to>
                                    </p:set>
                                    <p:animMotion origin="layout" path="M 0 0 L 0.33000001 -0.02000000 E" pathEditMode="relative">
                                      <p:cBhvr from="" to="">
                                        <p:cTn id="55" dur="2000" fill="hold">
                                          <p:stCondLst>
                                            <p:cond delay="0"/>
                                          </p:stCondLst>
                                        </p:cTn>
                                        <p:tgtEl>
                                          <p:spTgt spid="16"/>
                                        </p:tgtEl>
                                        <p:attrNameLst>
                                          <p:attrName>ppt_x</p:attrName>
                                          <p:attrName>ppt_y</p:attrName>
                                        </p:attrNameLst>
                                      </p:cBhvr>
                                    </p:animMotion>
                                  </p:childTnLst>
                                </p:cTn>
                              </p:par>
                              <p:par>
                                <p:cTn id="56" presetID="10" presetClass="entr" presetSubtype="0" accel="15000" decel="15000" fill="hold" grpId="0" nodeType="withEffect">
                                  <p:stCondLst>
                                    <p:cond delay="40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120"/>
                                        <p:tgtEl>
                                          <p:spTgt spid="21"/>
                                        </p:tgtEl>
                                      </p:cBhvr>
                                    </p:animEffect>
                                  </p:childTnLst>
                                </p:cTn>
                              </p:par>
                              <p:par>
                                <p:cTn id="59" presetID="0" presetClass="entr" presetSubtype="0" repeatCount="6000" accel="15000" decel="15000" fill="hold" grpId="1" nodeType="withEffect">
                                  <p:stCondLst>
                                    <p:cond delay="4120"/>
                                  </p:stCondLst>
                                  <p:childTnLst>
                                    <p:set>
                                      <p:cBhvr>
                                        <p:cTn id="60" dur="1" fill="hold">
                                          <p:stCondLst>
                                            <p:cond delay="0"/>
                                          </p:stCondLst>
                                        </p:cTn>
                                        <p:tgtEl>
                                          <p:spTgt spid="21"/>
                                        </p:tgtEl>
                                        <p:attrNameLst>
                                          <p:attrName>style.visibility</p:attrName>
                                        </p:attrNameLst>
                                      </p:cBhvr>
                                      <p:to>
                                        <p:strVal val="visible"/>
                                      </p:to>
                                    </p:set>
                                    <p:animMotion origin="layout" path="M 0 0 L 0.33000001 -0.18000000 E" pathEditMode="relative">
                                      <p:cBhvr from="" to="">
                                        <p:cTn id="61" dur="2000" fill="hold">
                                          <p:stCondLst>
                                            <p:cond delay="0"/>
                                          </p:stCondLst>
                                        </p:cTn>
                                        <p:tgtEl>
                                          <p:spTgt spid="21"/>
                                        </p:tgtEl>
                                        <p:attrNameLst>
                                          <p:attrName>ppt_x</p:attrName>
                                          <p:attrName>ppt_y</p:attrName>
                                        </p:attrNameLst>
                                      </p:cBhvr>
                                    </p:animMotion>
                                  </p:childTnLst>
                                </p:cTn>
                              </p:par>
                              <p:par>
                                <p:cTn id="62" presetID="22" presetClass="entr" presetSubtype="8" accel="15000" decel="15000" fill="hold" nodeType="withEffect">
                                  <p:stCondLst>
                                    <p:cond delay="5000"/>
                                  </p:stCondLst>
                                  <p:childTnLst>
                                    <p:set>
                                      <p:cBhvr>
                                        <p:cTn id="63" dur="1" fill="hold">
                                          <p:stCondLst>
                                            <p:cond delay="0"/>
                                          </p:stCondLst>
                                        </p:cTn>
                                        <p:tgtEl>
                                          <p:spTgt spid="24"/>
                                        </p:tgtEl>
                                        <p:attrNameLst>
                                          <p:attrName>style.visibility</p:attrName>
                                        </p:attrNameLst>
                                      </p:cBhvr>
                                      <p:to>
                                        <p:strVal val="visible"/>
                                      </p:to>
                                    </p:set>
                                    <p:animEffect transition="in" filter="wipe(left)">
                                      <p:cBhvr>
                                        <p:cTn id="64" dur="800"/>
                                        <p:tgtEl>
                                          <p:spTgt spid="24"/>
                                        </p:tgtEl>
                                      </p:cBhvr>
                                    </p:animEffect>
                                  </p:childTnLst>
                                </p:cTn>
                              </p:par>
                              <p:par>
                                <p:cTn id="65" presetID="10" presetClass="entr" presetSubtype="0" accel="15000" decel="15000" fill="hold" grpId="0" nodeType="withEffect">
                                  <p:stCondLst>
                                    <p:cond delay="60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accel="15000" decel="15000" fill="hold" grpId="0" nodeType="withEffect">
                                  <p:stCondLst>
                                    <p:cond delay="700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120"/>
                                        <p:tgtEl>
                                          <p:spTgt spid="26"/>
                                        </p:tgtEl>
                                      </p:cBhvr>
                                    </p:animEffect>
                                  </p:childTnLst>
                                </p:cTn>
                              </p:par>
                              <p:par>
                                <p:cTn id="71" presetID="0" presetClass="entr" presetSubtype="0" repeatCount="5000" accel="15000" decel="15000" fill="hold" grpId="1" nodeType="withEffect">
                                  <p:stCondLst>
                                    <p:cond delay="7120"/>
                                  </p:stCondLst>
                                  <p:childTnLst>
                                    <p:set>
                                      <p:cBhvr>
                                        <p:cTn id="72" dur="1" fill="hold">
                                          <p:stCondLst>
                                            <p:cond delay="0"/>
                                          </p:stCondLst>
                                        </p:cTn>
                                        <p:tgtEl>
                                          <p:spTgt spid="26"/>
                                        </p:tgtEl>
                                        <p:attrNameLst>
                                          <p:attrName>style.visibility</p:attrName>
                                        </p:attrNameLst>
                                      </p:cBhvr>
                                      <p:to>
                                        <p:strVal val="visible"/>
                                      </p:to>
                                    </p:set>
                                    <p:animMotion origin="layout" path="M 0 0 L 0.15750000 0.00000000 E" pathEditMode="relative">
                                      <p:cBhvr from="" to="">
                                        <p:cTn id="73" dur="2000" fill="hold">
                                          <p:stCondLst>
                                            <p:cond delay="0"/>
                                          </p:stCondLst>
                                        </p:cTn>
                                        <p:tgtEl>
                                          <p:spTgt spid="26"/>
                                        </p:tgtEl>
                                        <p:attrNameLst>
                                          <p:attrName>ppt_x</p:attrName>
                                          <p:attrName>ppt_y</p:attrName>
                                        </p:attrNameLst>
                                      </p:cBhvr>
                                    </p:animMotion>
                                  </p:childTnLst>
                                </p:cTn>
                              </p:par>
                              <p:par>
                                <p:cTn id="74" presetID="10" presetClass="exit" presetSubtype="0" accel="15000" decel="15000" fill="hold" grpId="2" nodeType="withEffect">
                                  <p:stCondLst>
                                    <p:cond delay="15120"/>
                                  </p:stCondLst>
                                  <p:childTnLst>
                                    <p:animEffect transition="out" filter="fade">
                                      <p:cBhvr>
                                        <p:cTn id="75" dur="120"/>
                                        <p:tgtEl>
                                          <p:spTgt spid="11"/>
                                        </p:tgtEl>
                                      </p:cBhvr>
                                    </p:animEffect>
                                    <p:set>
                                      <p:cBhvr>
                                        <p:cTn id="76" dur="1" fill="hold">
                                          <p:stCondLst>
                                            <p:cond delay="119"/>
                                          </p:stCondLst>
                                        </p:cTn>
                                        <p:tgtEl>
                                          <p:spTgt spid="11"/>
                                        </p:tgtEl>
                                        <p:attrNameLst>
                                          <p:attrName>style.visibility</p:attrName>
                                        </p:attrNameLst>
                                      </p:cBhvr>
                                      <p:to>
                                        <p:strVal val="hidden"/>
                                      </p:to>
                                    </p:set>
                                  </p:childTnLst>
                                </p:cTn>
                              </p:par>
                              <p:par>
                                <p:cTn id="77" presetID="10" presetClass="exit" presetSubtype="0" accel="15000" decel="15000" fill="hold" grpId="2" nodeType="withEffect">
                                  <p:stCondLst>
                                    <p:cond delay="15620"/>
                                  </p:stCondLst>
                                  <p:childTnLst>
                                    <p:animEffect transition="out" filter="fade">
                                      <p:cBhvr>
                                        <p:cTn id="78" dur="120"/>
                                        <p:tgtEl>
                                          <p:spTgt spid="16"/>
                                        </p:tgtEl>
                                      </p:cBhvr>
                                    </p:animEffect>
                                    <p:set>
                                      <p:cBhvr>
                                        <p:cTn id="79" dur="1" fill="hold">
                                          <p:stCondLst>
                                            <p:cond delay="119"/>
                                          </p:stCondLst>
                                        </p:cTn>
                                        <p:tgtEl>
                                          <p:spTgt spid="16"/>
                                        </p:tgtEl>
                                        <p:attrNameLst>
                                          <p:attrName>style.visibility</p:attrName>
                                        </p:attrNameLst>
                                      </p:cBhvr>
                                      <p:to>
                                        <p:strVal val="hidden"/>
                                      </p:to>
                                    </p:set>
                                  </p:childTnLst>
                                </p:cTn>
                              </p:par>
                              <p:par>
                                <p:cTn id="80" presetID="10" presetClass="exit" presetSubtype="0" accel="15000" decel="15000" fill="hold" grpId="2" nodeType="withEffect">
                                  <p:stCondLst>
                                    <p:cond delay="16120"/>
                                  </p:stCondLst>
                                  <p:childTnLst>
                                    <p:animEffect transition="out" filter="fade">
                                      <p:cBhvr>
                                        <p:cTn id="81" dur="120"/>
                                        <p:tgtEl>
                                          <p:spTgt spid="21"/>
                                        </p:tgtEl>
                                      </p:cBhvr>
                                    </p:animEffect>
                                    <p:set>
                                      <p:cBhvr>
                                        <p:cTn id="82" dur="1" fill="hold">
                                          <p:stCondLst>
                                            <p:cond delay="119"/>
                                          </p:stCondLst>
                                        </p:cTn>
                                        <p:tgtEl>
                                          <p:spTgt spid="21"/>
                                        </p:tgtEl>
                                        <p:attrNameLst>
                                          <p:attrName>style.visibility</p:attrName>
                                        </p:attrNameLst>
                                      </p:cBhvr>
                                      <p:to>
                                        <p:strVal val="hidden"/>
                                      </p:to>
                                    </p:set>
                                  </p:childTnLst>
                                </p:cTn>
                              </p:par>
                              <p:par>
                                <p:cTn id="83" presetID="10" presetClass="exit" presetSubtype="0" accel="15000" decel="15000" fill="hold" grpId="2" nodeType="withEffect">
                                  <p:stCondLst>
                                    <p:cond delay="17120"/>
                                  </p:stCondLst>
                                  <p:childTnLst>
                                    <p:animEffect transition="out" filter="fade">
                                      <p:cBhvr>
                                        <p:cTn id="84" dur="120"/>
                                        <p:tgtEl>
                                          <p:spTgt spid="26"/>
                                        </p:tgtEl>
                                      </p:cBhvr>
                                    </p:animEffect>
                                    <p:set>
                                      <p:cBhvr>
                                        <p:cTn id="85" dur="1" fill="hold">
                                          <p:stCondLst>
                                            <p:cond delay="11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p:bldP spid="11" grpId="0" animBg="1"/>
      <p:bldP spid="11" grpId="1" animBg="1"/>
      <p:bldP spid="11" grpId="2" animBg="1"/>
      <p:bldP spid="12" grpId="0" animBg="1"/>
      <p:bldP spid="13" grpId="0"/>
      <p:bldP spid="15" grpId="0"/>
      <p:bldP spid="16" grpId="0" animBg="1"/>
      <p:bldP spid="16" grpId="1" animBg="1"/>
      <p:bldP spid="16" grpId="2" animBg="1"/>
      <p:bldP spid="17" grpId="0" animBg="1"/>
      <p:bldP spid="18" grpId="0"/>
      <p:bldP spid="20" grpId="0"/>
      <p:bldP spid="21" grpId="0" animBg="1"/>
      <p:bldP spid="21" grpId="1" animBg="1"/>
      <p:bldP spid="21" grpId="2" animBg="1"/>
      <p:bldP spid="22" grpId="0" animBg="1"/>
      <p:bldP spid="25" grpId="0"/>
      <p:bldP spid="26" grpId="0" animBg="1"/>
      <p:bldP spid="26" grpId="1" animBg="1"/>
      <p:bldP spid="26" grpId="2"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ENSEMBLE / IDS                         SCORE</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05</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Official TEST lịch sử · 82.332 bản ghi · RF42 so với Stacking42 · ngưỡng 0,5</a:t>
            </a:r>
          </a:p>
        </p:txBody>
      </p:sp>
      <p:sp>
        <p:nvSpPr>
          <p:cNvPr id="5" name="hero-title"/>
          <p:cNvSpPr txBox="1"/>
          <p:nvPr/>
        </p:nvSpPr>
        <p:spPr>
          <a:xfrm>
            <a:off x="502920" y="868680"/>
            <a:ext cx="6858000" cy="1645920"/>
          </a:xfrm>
          <a:prstGeom prst="rect">
            <a:avLst/>
          </a:prstGeom>
          <a:noFill/>
        </p:spPr>
        <p:txBody>
          <a:bodyPr wrap="square" lIns="0" tIns="0" rIns="0" bIns="0">
            <a:spAutoFit/>
          </a:bodyPr>
          <a:lstStyle/>
          <a:p>
            <a:pPr>
              <a:spcAft>
                <a:spcPts val="0"/>
              </a:spcAft>
              <a:defRPr sz="5400" b="1">
                <a:solidFill>
                  <a:srgbClr val="10162F"/>
                </a:solidFill>
                <a:latin typeface="Arial"/>
              </a:defRPr>
            </a:pPr>
            <a:r>
              <a:t>GẦN NHAU</a:t>
            </a:r>
          </a:p>
          <a:p>
            <a:pPr>
              <a:spcAft>
                <a:spcPts val="0"/>
              </a:spcAft>
              <a:defRPr sz="5400" b="1">
                <a:solidFill>
                  <a:srgbClr val="10162F"/>
                </a:solidFill>
                <a:latin typeface="Arial"/>
              </a:defRPr>
            </a:pPr>
            <a:r>
              <a:t>ĐẾN MỨC NÀO?</a:t>
            </a:r>
          </a:p>
        </p:txBody>
      </p:sp>
      <p:sp>
        <p:nvSpPr>
          <p:cNvPr id="6" name="text-5"/>
          <p:cNvSpPr txBox="1"/>
          <p:nvPr/>
        </p:nvSpPr>
        <p:spPr>
          <a:xfrm>
            <a:off x="594360" y="2971800"/>
            <a:ext cx="5303520" cy="411480"/>
          </a:xfrm>
          <a:prstGeom prst="rect">
            <a:avLst/>
          </a:prstGeom>
          <a:noFill/>
        </p:spPr>
        <p:txBody>
          <a:bodyPr wrap="square" lIns="0" tIns="0" rIns="0" bIns="0">
            <a:spAutoFit/>
          </a:bodyPr>
          <a:lstStyle/>
          <a:p>
            <a:pPr>
              <a:spcAft>
                <a:spcPts val="0"/>
              </a:spcAft>
              <a:defRPr sz="2500" b="1">
                <a:solidFill>
                  <a:srgbClr val="10162F"/>
                </a:solidFill>
                <a:latin typeface="Aptos"/>
              </a:defRPr>
            </a:pPr>
            <a:r>
              <a:t>RF42</a:t>
            </a:r>
          </a:p>
        </p:txBody>
      </p:sp>
      <p:sp>
        <p:nvSpPr>
          <p:cNvPr id="7" name="text-6"/>
          <p:cNvSpPr txBox="1"/>
          <p:nvPr/>
        </p:nvSpPr>
        <p:spPr>
          <a:xfrm>
            <a:off x="594360" y="3520440"/>
            <a:ext cx="5303520" cy="1097280"/>
          </a:xfrm>
          <a:prstGeom prst="rect">
            <a:avLst/>
          </a:prstGeom>
          <a:noFill/>
        </p:spPr>
        <p:txBody>
          <a:bodyPr wrap="square" lIns="0" tIns="0" rIns="0" bIns="0">
            <a:spAutoFit/>
          </a:bodyPr>
          <a:lstStyle/>
          <a:p>
            <a:pPr>
              <a:spcAft>
                <a:spcPts val="0"/>
              </a:spcAft>
              <a:defRPr sz="5800" b="1">
                <a:solidFill>
                  <a:srgbClr val="10162F"/>
                </a:solidFill>
                <a:latin typeface="Arial"/>
              </a:defRPr>
            </a:pPr>
            <a:r>
              <a:t>0,863343</a:t>
            </a:r>
          </a:p>
        </p:txBody>
      </p:sp>
      <p:sp>
        <p:nvSpPr>
          <p:cNvPr id="8" name="text-7"/>
          <p:cNvSpPr txBox="1"/>
          <p:nvPr/>
        </p:nvSpPr>
        <p:spPr>
          <a:xfrm>
            <a:off x="6355080" y="2971800"/>
            <a:ext cx="5303520" cy="411480"/>
          </a:xfrm>
          <a:prstGeom prst="rect">
            <a:avLst/>
          </a:prstGeom>
          <a:noFill/>
        </p:spPr>
        <p:txBody>
          <a:bodyPr wrap="square" lIns="0" tIns="0" rIns="0" bIns="0">
            <a:spAutoFit/>
          </a:bodyPr>
          <a:lstStyle/>
          <a:p>
            <a:pPr>
              <a:spcAft>
                <a:spcPts val="0"/>
              </a:spcAft>
              <a:defRPr sz="2500" b="1">
                <a:solidFill>
                  <a:srgbClr val="7958F5"/>
                </a:solidFill>
                <a:latin typeface="Aptos"/>
              </a:defRPr>
            </a:pPr>
            <a:r>
              <a:t>Stacking42</a:t>
            </a:r>
          </a:p>
        </p:txBody>
      </p:sp>
      <p:sp>
        <p:nvSpPr>
          <p:cNvPr id="9" name="text-8"/>
          <p:cNvSpPr txBox="1"/>
          <p:nvPr/>
        </p:nvSpPr>
        <p:spPr>
          <a:xfrm>
            <a:off x="6355080" y="3520440"/>
            <a:ext cx="5303520" cy="1097280"/>
          </a:xfrm>
          <a:prstGeom prst="rect">
            <a:avLst/>
          </a:prstGeom>
          <a:noFill/>
        </p:spPr>
        <p:txBody>
          <a:bodyPr wrap="square" lIns="0" tIns="0" rIns="0" bIns="0">
            <a:spAutoFit/>
          </a:bodyPr>
          <a:lstStyle/>
          <a:p>
            <a:pPr>
              <a:spcAft>
                <a:spcPts val="0"/>
              </a:spcAft>
              <a:defRPr sz="5800" b="1">
                <a:solidFill>
                  <a:srgbClr val="7958F5"/>
                </a:solidFill>
                <a:latin typeface="Arial"/>
              </a:defRPr>
            </a:pPr>
            <a:r>
              <a:t>0,863840</a:t>
            </a:r>
          </a:p>
        </p:txBody>
      </p:sp>
      <p:sp>
        <p:nvSpPr>
          <p:cNvPr id="10" name="text-9"/>
          <p:cNvSpPr txBox="1"/>
          <p:nvPr/>
        </p:nvSpPr>
        <p:spPr>
          <a:xfrm>
            <a:off x="594360" y="4846320"/>
            <a:ext cx="10972800" cy="548640"/>
          </a:xfrm>
          <a:prstGeom prst="rect">
            <a:avLst/>
          </a:prstGeom>
          <a:noFill/>
        </p:spPr>
        <p:txBody>
          <a:bodyPr wrap="square" lIns="0" tIns="0" rIns="0" bIns="0">
            <a:spAutoFit/>
          </a:bodyPr>
          <a:lstStyle/>
          <a:p>
            <a:pPr>
              <a:spcAft>
                <a:spcPts val="0"/>
              </a:spcAft>
              <a:defRPr sz="3200" b="1">
                <a:solidFill>
                  <a:srgbClr val="10162F"/>
                </a:solidFill>
                <a:latin typeface="Aptos"/>
              </a:defRPr>
            </a:pPr>
            <a:r>
              <a:t>Δ Macro-F1  +0,000497</a:t>
            </a:r>
          </a:p>
        </p:txBody>
      </p:sp>
      <p:sp>
        <p:nvSpPr>
          <p:cNvPr id="11" name="text-10"/>
          <p:cNvSpPr txBox="1"/>
          <p:nvPr/>
        </p:nvSpPr>
        <p:spPr>
          <a:xfrm>
            <a:off x="594360" y="5623560"/>
            <a:ext cx="10972800" cy="548640"/>
          </a:xfrm>
          <a:prstGeom prst="rect">
            <a:avLst/>
          </a:prstGeom>
          <a:noFill/>
        </p:spPr>
        <p:txBody>
          <a:bodyPr wrap="square" lIns="0" tIns="0" rIns="0" bIns="0">
            <a:spAutoFit/>
          </a:bodyPr>
          <a:lstStyle/>
          <a:p>
            <a:pPr>
              <a:spcAft>
                <a:spcPts val="0"/>
              </a:spcAft>
              <a:defRPr sz="2500" b="0">
                <a:solidFill>
                  <a:srgbClr val="4C5064"/>
                </a:solidFill>
                <a:latin typeface="Aptos"/>
              </a:defRPr>
            </a:pPr>
            <a:r>
              <a:t>CI 95% của Δ Macro-F1 / Δ MCC chứa 0.</a:t>
            </a:r>
          </a:p>
        </p:txBody>
      </p:sp>
      <p:cxnSp>
        <p:nvCxnSpPr>
          <p:cNvPr id="12" name="line-11"/>
          <p:cNvCxnSpPr/>
          <p:nvPr/>
        </p:nvCxnSpPr>
        <p:spPr>
          <a:xfrm>
            <a:off x="8390892" y="1234440"/>
            <a:ext cx="2964036" cy="0"/>
          </a:xfrm>
          <a:prstGeom prst="line">
            <a:avLst/>
          </a:prstGeom>
          <a:ln w="38100">
            <a:solidFill>
              <a:srgbClr val="7958F5"/>
            </a:solidFill>
          </a:ln>
        </p:spPr>
        <p:style>
          <a:lnRef idx="2">
            <a:schemeClr val="accent1"/>
          </a:lnRef>
          <a:fillRef idx="0">
            <a:schemeClr val="accent1"/>
          </a:fillRef>
          <a:effectRef idx="1">
            <a:schemeClr val="accent1"/>
          </a:effectRef>
          <a:fontRef idx="minor">
            <a:schemeClr val="tx1"/>
          </a:fontRef>
        </p:style>
      </p:cxnSp>
      <p:cxnSp>
        <p:nvCxnSpPr>
          <p:cNvPr id="13" name="line-12"/>
          <p:cNvCxnSpPr/>
          <p:nvPr/>
        </p:nvCxnSpPr>
        <p:spPr>
          <a:xfrm>
            <a:off x="8961120" y="960120"/>
            <a:ext cx="0" cy="548640"/>
          </a:xfrm>
          <a:prstGeom prst="line">
            <a:avLst/>
          </a:prstGeom>
          <a:ln w="12700">
            <a:solidFill>
              <a:srgbClr val="10162F"/>
            </a:solidFill>
          </a:ln>
        </p:spPr>
        <p:style>
          <a:lnRef idx="2">
            <a:schemeClr val="accent1"/>
          </a:lnRef>
          <a:fillRef idx="0">
            <a:schemeClr val="accent1"/>
          </a:fillRef>
          <a:effectRef idx="1">
            <a:schemeClr val="accent1"/>
          </a:effectRef>
          <a:fontRef idx="minor">
            <a:schemeClr val="tx1"/>
          </a:fontRef>
        </p:style>
      </p:cxnSp>
      <p:sp>
        <p:nvSpPr>
          <p:cNvPr id="14" name="text-13"/>
          <p:cNvSpPr txBox="1"/>
          <p:nvPr/>
        </p:nvSpPr>
        <p:spPr>
          <a:xfrm>
            <a:off x="8887968" y="1600200"/>
            <a:ext cx="365760" cy="228600"/>
          </a:xfrm>
          <a:prstGeom prst="rect">
            <a:avLst/>
          </a:prstGeom>
          <a:noFill/>
        </p:spPr>
        <p:txBody>
          <a:bodyPr wrap="square" lIns="0" tIns="0" rIns="0" bIns="0">
            <a:spAutoFit/>
          </a:bodyPr>
          <a:lstStyle/>
          <a:p>
            <a:pPr>
              <a:spcAft>
                <a:spcPts val="0"/>
              </a:spcAft>
              <a:defRPr sz="1200" b="0">
                <a:solidFill>
                  <a:srgbClr val="10162F"/>
                </a:solidFill>
                <a:latin typeface="Consolas"/>
              </a:defRPr>
            </a:pPr>
            <a:r>
              <a:t>0</a:t>
            </a:r>
          </a:p>
        </p:txBody>
      </p:sp>
      <p:sp>
        <p:nvSpPr>
          <p:cNvPr id="15" name="shape-14"/>
          <p:cNvSpPr/>
          <p:nvPr/>
        </p:nvSpPr>
        <p:spPr>
          <a:xfrm>
            <a:off x="9819174" y="1184148"/>
            <a:ext cx="100584" cy="100584"/>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15"/>
          <p:cNvSpPr txBox="1"/>
          <p:nvPr/>
        </p:nvSpPr>
        <p:spPr>
          <a:xfrm>
            <a:off x="8229600" y="777240"/>
            <a:ext cx="3383280" cy="274320"/>
          </a:xfrm>
          <a:prstGeom prst="rect">
            <a:avLst/>
          </a:prstGeom>
          <a:noFill/>
        </p:spPr>
        <p:txBody>
          <a:bodyPr wrap="square" lIns="0" tIns="0" rIns="0" bIns="0">
            <a:spAutoFit/>
          </a:bodyPr>
          <a:lstStyle/>
          <a:p>
            <a:pPr>
              <a:spcAft>
                <a:spcPts val="0"/>
              </a:spcAft>
              <a:defRPr sz="1300" b="1">
                <a:solidFill>
                  <a:srgbClr val="10162F"/>
                </a:solidFill>
                <a:latin typeface="Aptos"/>
              </a:defRPr>
            </a:pPr>
            <a:r>
              <a:t>CI 95% Δ Macro-F1</a:t>
            </a:r>
          </a:p>
        </p:txBody>
      </p:sp>
      <p:sp>
        <p:nvSpPr>
          <p:cNvPr id="17" name="text-16"/>
          <p:cNvSpPr txBox="1"/>
          <p:nvPr/>
        </p:nvSpPr>
        <p:spPr>
          <a:xfrm>
            <a:off x="8229600" y="1984248"/>
            <a:ext cx="3474720" cy="274320"/>
          </a:xfrm>
          <a:prstGeom prst="rect">
            <a:avLst/>
          </a:prstGeom>
          <a:noFill/>
        </p:spPr>
        <p:txBody>
          <a:bodyPr wrap="square" lIns="0" tIns="0" rIns="0" bIns="0">
            <a:spAutoFit/>
          </a:bodyPr>
          <a:lstStyle/>
          <a:p>
            <a:pPr>
              <a:spcAft>
                <a:spcPts val="0"/>
              </a:spcAft>
              <a:defRPr sz="1000" b="0">
                <a:solidFill>
                  <a:srgbClr val="4C5064"/>
                </a:solidFill>
                <a:latin typeface="Consolas"/>
              </a:defRPr>
            </a:pPr>
            <a:r>
              <a:t>−0,000312              +0,001309</a:t>
            </a:r>
          </a:p>
        </p:txBody>
      </p:sp>
    </p:spTree>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15000" fill="hold" grpId="0" nodeType="with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2" presetClass="entr" presetSubtype="8" accel="15000" decel="15000" fill="hold" grpId="0" nodeType="withEffect">
                                  <p:stCondLst>
                                    <p:cond delay="150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1000"/>
                                        <p:tgtEl>
                                          <p:spTgt spid="7"/>
                                        </p:tgtEl>
                                      </p:cBhvr>
                                    </p:animEffect>
                                  </p:childTnLst>
                                </p:cTn>
                              </p:par>
                              <p:par>
                                <p:cTn id="11" presetID="10" presetClass="entr" presetSubtype="0" accel="15000" decel="15000" fill="hold" grpId="0" nodeType="withEffect">
                                  <p:stCondLst>
                                    <p:cond delay="40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22" presetClass="entr" presetSubtype="8" accel="15000" decel="15000" fill="hold" grpId="0" nodeType="withEffect">
                                  <p:stCondLst>
                                    <p:cond delay="450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1000"/>
                                        <p:tgtEl>
                                          <p:spTgt spid="9"/>
                                        </p:tgtEl>
                                      </p:cBhvr>
                                    </p:animEffect>
                                  </p:childTnLst>
                                </p:cTn>
                              </p:par>
                              <p:par>
                                <p:cTn id="17" presetID="2" presetClass="entr" presetSubtype="8" accel="15000" decel="15000" fill="hold" grpId="0" nodeType="withEffect">
                                  <p:stCondLst>
                                    <p:cond delay="800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00" fill="hold"/>
                                        <p:tgtEl>
                                          <p:spTgt spid="10"/>
                                        </p:tgtEl>
                                        <p:attrNameLst>
                                          <p:attrName>ppt_x</p:attrName>
                                        </p:attrNameLst>
                                      </p:cBhvr>
                                      <p:tavLst>
                                        <p:tav tm="0">
                                          <p:val>
                                            <p:strVal val="0-#ppt_w/2"/>
                                          </p:val>
                                        </p:tav>
                                        <p:tav tm="100000">
                                          <p:val>
                                            <p:strVal val="#ppt_x"/>
                                          </p:val>
                                        </p:tav>
                                      </p:tavLst>
                                    </p:anim>
                                    <p:anim calcmode="lin" valueType="num">
                                      <p:cBhvr additive="base">
                                        <p:cTn id="20" dur="700" fill="hold"/>
                                        <p:tgtEl>
                                          <p:spTgt spid="10"/>
                                        </p:tgtEl>
                                        <p:attrNameLst>
                                          <p:attrName>ppt_y</p:attrName>
                                        </p:attrNameLst>
                                      </p:cBhvr>
                                      <p:tavLst>
                                        <p:tav tm="0">
                                          <p:val>
                                            <p:strVal val="#ppt_y"/>
                                          </p:val>
                                        </p:tav>
                                        <p:tav tm="100000">
                                          <p:val>
                                            <p:strVal val="#ppt_y"/>
                                          </p:val>
                                        </p:tav>
                                      </p:tavLst>
                                    </p:anim>
                                  </p:childTnLst>
                                </p:cTn>
                              </p:par>
                              <p:par>
                                <p:cTn id="21" presetID="10" presetClass="entr" presetSubtype="0" accel="15000" decel="15000" fill="hold" grpId="0" nodeType="withEffect">
                                  <p:stCondLst>
                                    <p:cond delay="120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4" presetID="22" presetClass="entr" presetSubtype="8" accel="15000" decel="15000" fill="hold" nodeType="withEffect">
                                  <p:stCondLst>
                                    <p:cond delay="1300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1000"/>
                                        <p:tgtEl>
                                          <p:spTgt spid="12"/>
                                        </p:tgtEl>
                                      </p:cBhvr>
                                    </p:animEffect>
                                  </p:childTnLst>
                                </p:cTn>
                              </p:par>
                              <p:par>
                                <p:cTn id="27" presetID="10" presetClass="entr" presetSubtype="0" accel="15000" decel="15000" fill="hold" grpId="0" nodeType="withEffect">
                                  <p:stCondLst>
                                    <p:cond delay="1400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162F"/>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F8F5EE"/>
                </a:solidFill>
                <a:latin typeface="Consolas"/>
              </a:defRPr>
            </a:pPr>
            <a:r>
              <a:t>ENSEMBLE / IDS                         FP</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F8F5EE"/>
                </a:solidFill>
                <a:latin typeface="Consolas"/>
              </a:defRPr>
            </a:pPr>
            <a:r>
              <a:t>05</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F8F5EE"/>
                </a:solidFill>
                <a:latin typeface="Aptos"/>
              </a:defRPr>
            </a:pPr>
            <a:r>
              <a:t>Official TEST lịch sử · 82.332 bản ghi · RF42 so với Stacking42 · ngưỡng 0,5</a:t>
            </a:r>
          </a:p>
        </p:txBody>
      </p:sp>
      <p:sp>
        <p:nvSpPr>
          <p:cNvPr id="5" name="hero-title"/>
          <p:cNvSpPr txBox="1"/>
          <p:nvPr/>
        </p:nvSpPr>
        <p:spPr>
          <a:xfrm>
            <a:off x="502920" y="868680"/>
            <a:ext cx="10972800" cy="1005840"/>
          </a:xfrm>
          <a:prstGeom prst="rect">
            <a:avLst/>
          </a:prstGeom>
          <a:noFill/>
        </p:spPr>
        <p:txBody>
          <a:bodyPr wrap="square" lIns="0" tIns="0" rIns="0" bIns="0">
            <a:spAutoFit/>
          </a:bodyPr>
          <a:lstStyle/>
          <a:p>
            <a:pPr>
              <a:spcAft>
                <a:spcPts val="0"/>
              </a:spcAft>
              <a:defRPr sz="5200" b="1">
                <a:solidFill>
                  <a:srgbClr val="F8F5EE"/>
                </a:solidFill>
                <a:latin typeface="Arial"/>
              </a:defRPr>
            </a:pPr>
            <a:r>
              <a:t>BỚT CẢNH BÁO GIẢ.</a:t>
            </a:r>
          </a:p>
        </p:txBody>
      </p:sp>
      <p:sp>
        <p:nvSpPr>
          <p:cNvPr id="6" name="text-5"/>
          <p:cNvSpPr txBox="1"/>
          <p:nvPr/>
        </p:nvSpPr>
        <p:spPr>
          <a:xfrm>
            <a:off x="411480" y="1965960"/>
            <a:ext cx="6492240" cy="2273300"/>
          </a:xfrm>
          <a:prstGeom prst="rect">
            <a:avLst/>
          </a:prstGeom>
          <a:noFill/>
        </p:spPr>
        <p:txBody>
          <a:bodyPr wrap="square" lIns="0" tIns="0" rIns="0" bIns="0">
            <a:spAutoFit/>
          </a:bodyPr>
          <a:lstStyle/>
          <a:p>
            <a:pPr>
              <a:spcAft>
                <a:spcPts val="0"/>
              </a:spcAft>
              <a:defRPr sz="15000" b="1">
                <a:solidFill>
                  <a:srgbClr val="24C3D9"/>
                </a:solidFill>
                <a:latin typeface="Arial"/>
              </a:defRPr>
            </a:pPr>
            <a:r>
              <a:t>−142</a:t>
            </a:r>
          </a:p>
        </p:txBody>
      </p:sp>
      <p:sp>
        <p:nvSpPr>
          <p:cNvPr id="7" name="text-6"/>
          <p:cNvSpPr txBox="1"/>
          <p:nvPr/>
        </p:nvSpPr>
        <p:spPr>
          <a:xfrm>
            <a:off x="8001000" y="2286000"/>
            <a:ext cx="2743200" cy="1074419"/>
          </a:xfrm>
          <a:prstGeom prst="rect">
            <a:avLst/>
          </a:prstGeom>
          <a:noFill/>
        </p:spPr>
        <p:txBody>
          <a:bodyPr wrap="square" lIns="0" tIns="0" rIns="0" bIns="0">
            <a:spAutoFit/>
          </a:bodyPr>
          <a:lstStyle/>
          <a:p>
            <a:pPr>
              <a:spcAft>
                <a:spcPts val="0"/>
              </a:spcAft>
              <a:defRPr sz="7000" b="1">
                <a:solidFill>
                  <a:srgbClr val="24C3D9"/>
                </a:solidFill>
                <a:latin typeface="Consolas"/>
              </a:defRPr>
            </a:pPr>
            <a:r>
              <a:t>FP</a:t>
            </a:r>
          </a:p>
        </p:txBody>
      </p:sp>
      <p:sp>
        <p:nvSpPr>
          <p:cNvPr id="8" name="text-7"/>
          <p:cNvSpPr txBox="1"/>
          <p:nvPr/>
        </p:nvSpPr>
        <p:spPr>
          <a:xfrm>
            <a:off x="594360" y="4069080"/>
            <a:ext cx="2103120" cy="365760"/>
          </a:xfrm>
          <a:prstGeom prst="rect">
            <a:avLst/>
          </a:prstGeom>
          <a:noFill/>
        </p:spPr>
        <p:txBody>
          <a:bodyPr wrap="square" lIns="0" tIns="0" rIns="0" bIns="0">
            <a:spAutoFit/>
          </a:bodyPr>
          <a:lstStyle/>
          <a:p>
            <a:pPr>
              <a:spcAft>
                <a:spcPts val="0"/>
              </a:spcAft>
              <a:defRPr sz="1900" b="0">
                <a:solidFill>
                  <a:srgbClr val="B4B8CB"/>
                </a:solidFill>
                <a:latin typeface="Aptos"/>
              </a:defRPr>
            </a:pPr>
            <a:r>
              <a:t>RF42</a:t>
            </a:r>
          </a:p>
        </p:txBody>
      </p:sp>
      <p:sp>
        <p:nvSpPr>
          <p:cNvPr id="9" name="fp-bar-0"/>
          <p:cNvSpPr/>
          <p:nvPr/>
        </p:nvSpPr>
        <p:spPr>
          <a:xfrm>
            <a:off x="2971800" y="4297680"/>
            <a:ext cx="6569024" cy="237744"/>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9"/>
          <p:cNvSpPr txBox="1"/>
          <p:nvPr/>
        </p:nvSpPr>
        <p:spPr>
          <a:xfrm>
            <a:off x="10149840" y="4187952"/>
            <a:ext cx="1508760" cy="457200"/>
          </a:xfrm>
          <a:prstGeom prst="rect">
            <a:avLst/>
          </a:prstGeom>
          <a:noFill/>
        </p:spPr>
        <p:txBody>
          <a:bodyPr wrap="square" lIns="0" tIns="0" rIns="0" bIns="0">
            <a:spAutoFit/>
          </a:bodyPr>
          <a:lstStyle/>
          <a:p>
            <a:pPr>
              <a:spcAft>
                <a:spcPts val="0"/>
              </a:spcAft>
              <a:defRPr sz="2700" b="1">
                <a:solidFill>
                  <a:srgbClr val="F8F5EE"/>
                </a:solidFill>
                <a:latin typeface="Consolas"/>
              </a:defRPr>
            </a:pPr>
            <a:r>
              <a:t>10.003</a:t>
            </a:r>
          </a:p>
        </p:txBody>
      </p:sp>
      <p:sp>
        <p:nvSpPr>
          <p:cNvPr id="11" name="text-10"/>
          <p:cNvSpPr txBox="1"/>
          <p:nvPr/>
        </p:nvSpPr>
        <p:spPr>
          <a:xfrm>
            <a:off x="594360" y="4846320"/>
            <a:ext cx="2103120" cy="365760"/>
          </a:xfrm>
          <a:prstGeom prst="rect">
            <a:avLst/>
          </a:prstGeom>
          <a:noFill/>
        </p:spPr>
        <p:txBody>
          <a:bodyPr wrap="square" lIns="0" tIns="0" rIns="0" bIns="0">
            <a:spAutoFit/>
          </a:bodyPr>
          <a:lstStyle/>
          <a:p>
            <a:pPr>
              <a:spcAft>
                <a:spcPts val="0"/>
              </a:spcAft>
              <a:defRPr sz="1900" b="0">
                <a:solidFill>
                  <a:srgbClr val="B4B8CB"/>
                </a:solidFill>
                <a:latin typeface="Aptos"/>
              </a:defRPr>
            </a:pPr>
            <a:r>
              <a:t>Stacking42</a:t>
            </a:r>
          </a:p>
        </p:txBody>
      </p:sp>
      <p:sp>
        <p:nvSpPr>
          <p:cNvPr id="12" name="fp-bar-1"/>
          <p:cNvSpPr/>
          <p:nvPr/>
        </p:nvSpPr>
        <p:spPr>
          <a:xfrm>
            <a:off x="2971800" y="5074920"/>
            <a:ext cx="6475772" cy="237744"/>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12"/>
          <p:cNvSpPr txBox="1"/>
          <p:nvPr/>
        </p:nvSpPr>
        <p:spPr>
          <a:xfrm>
            <a:off x="10149840" y="4965192"/>
            <a:ext cx="1508760" cy="457200"/>
          </a:xfrm>
          <a:prstGeom prst="rect">
            <a:avLst/>
          </a:prstGeom>
          <a:noFill/>
        </p:spPr>
        <p:txBody>
          <a:bodyPr wrap="square" lIns="0" tIns="0" rIns="0" bIns="0">
            <a:spAutoFit/>
          </a:bodyPr>
          <a:lstStyle/>
          <a:p>
            <a:pPr>
              <a:spcAft>
                <a:spcPts val="0"/>
              </a:spcAft>
              <a:defRPr sz="2700" b="1">
                <a:solidFill>
                  <a:srgbClr val="24C3D9"/>
                </a:solidFill>
                <a:latin typeface="Consolas"/>
              </a:defRPr>
            </a:pPr>
            <a:r>
              <a:t>9.861</a:t>
            </a:r>
          </a:p>
        </p:txBody>
      </p:sp>
      <p:cxnSp>
        <p:nvCxnSpPr>
          <p:cNvPr id="14" name="line-13"/>
          <p:cNvCxnSpPr/>
          <p:nvPr/>
        </p:nvCxnSpPr>
        <p:spPr>
          <a:xfrm>
            <a:off x="2971800" y="6035040"/>
            <a:ext cx="7223760" cy="0"/>
          </a:xfrm>
          <a:prstGeom prst="line">
            <a:avLst/>
          </a:prstGeom>
          <a:ln w="12700">
            <a:solidFill>
              <a:srgbClr val="B4B8CB"/>
            </a:solidFill>
          </a:ln>
        </p:spPr>
        <p:style>
          <a:lnRef idx="2">
            <a:schemeClr val="accent1"/>
          </a:lnRef>
          <a:fillRef idx="0">
            <a:schemeClr val="accent1"/>
          </a:fillRef>
          <a:effectRef idx="1">
            <a:schemeClr val="accent1"/>
          </a:effectRef>
          <a:fontRef idx="minor">
            <a:schemeClr val="tx1"/>
          </a:fontRef>
        </p:style>
      </p:cxnSp>
      <p:sp>
        <p:nvSpPr>
          <p:cNvPr id="15" name="text-14"/>
          <p:cNvSpPr txBox="1"/>
          <p:nvPr/>
        </p:nvSpPr>
        <p:spPr>
          <a:xfrm>
            <a:off x="2926080" y="6144768"/>
            <a:ext cx="457200" cy="228600"/>
          </a:xfrm>
          <a:prstGeom prst="rect">
            <a:avLst/>
          </a:prstGeom>
          <a:noFill/>
        </p:spPr>
        <p:txBody>
          <a:bodyPr wrap="square" lIns="0" tIns="0" rIns="0" bIns="0">
            <a:spAutoFit/>
          </a:bodyPr>
          <a:lstStyle/>
          <a:p>
            <a:pPr>
              <a:spcAft>
                <a:spcPts val="0"/>
              </a:spcAft>
              <a:defRPr sz="1200" b="0">
                <a:solidFill>
                  <a:srgbClr val="B4B8CB"/>
                </a:solidFill>
                <a:latin typeface="Aptos"/>
              </a:defRPr>
            </a:pPr>
            <a:r>
              <a:t>0</a:t>
            </a:r>
          </a:p>
        </p:txBody>
      </p:sp>
      <p:sp>
        <p:nvSpPr>
          <p:cNvPr id="16" name="text-15"/>
          <p:cNvSpPr txBox="1"/>
          <p:nvPr/>
        </p:nvSpPr>
        <p:spPr>
          <a:xfrm>
            <a:off x="8686800" y="6144768"/>
            <a:ext cx="1828800" cy="228600"/>
          </a:xfrm>
          <a:prstGeom prst="rect">
            <a:avLst/>
          </a:prstGeom>
          <a:noFill/>
        </p:spPr>
        <p:txBody>
          <a:bodyPr wrap="square" lIns="0" tIns="0" rIns="0" bIns="0">
            <a:spAutoFit/>
          </a:bodyPr>
          <a:lstStyle/>
          <a:p>
            <a:pPr>
              <a:spcAft>
                <a:spcPts val="0"/>
              </a:spcAft>
              <a:defRPr sz="1200" b="0">
                <a:solidFill>
                  <a:srgbClr val="B4B8CB"/>
                </a:solidFill>
                <a:latin typeface="Aptos"/>
              </a:defRPr>
            </a:pPr>
            <a:r>
              <a:t>11.000 FP</a:t>
            </a:r>
          </a:p>
        </p:txBody>
      </p:sp>
      <p:sp>
        <p:nvSpPr>
          <p:cNvPr id="17" name="shape-16"/>
          <p:cNvSpPr/>
          <p:nvPr/>
        </p:nvSpPr>
        <p:spPr>
          <a:xfrm>
            <a:off x="2921508" y="4366260"/>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hape-17"/>
          <p:cNvSpPr/>
          <p:nvPr/>
        </p:nvSpPr>
        <p:spPr>
          <a:xfrm>
            <a:off x="2921508" y="4366260"/>
            <a:ext cx="100584" cy="100584"/>
          </a:xfrm>
          <a:prstGeom prst="ellipse">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15000" decel="15000" fill="hold" grpId="0"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900" fill="hold"/>
                                        <p:tgtEl>
                                          <p:spTgt spid="6"/>
                                        </p:tgtEl>
                                        <p:attrNameLst>
                                          <p:attrName>ppt_x</p:attrName>
                                        </p:attrNameLst>
                                      </p:cBhvr>
                                      <p:tavLst>
                                        <p:tav tm="0">
                                          <p:val>
                                            <p:strVal val="0-#ppt_w/2"/>
                                          </p:val>
                                        </p:tav>
                                        <p:tav tm="100000">
                                          <p:val>
                                            <p:strVal val="#ppt_x"/>
                                          </p:val>
                                        </p:tav>
                                      </p:tavLst>
                                    </p:anim>
                                    <p:anim calcmode="lin" valueType="num">
                                      <p:cBhvr additive="base">
                                        <p:cTn id="8" dur="900" fill="hold"/>
                                        <p:tgtEl>
                                          <p:spTgt spid="6"/>
                                        </p:tgtEl>
                                        <p:attrNameLst>
                                          <p:attrName>ppt_y</p:attrName>
                                        </p:attrNameLst>
                                      </p:cBhvr>
                                      <p:tavLst>
                                        <p:tav tm="0">
                                          <p:val>
                                            <p:strVal val="#ppt_y"/>
                                          </p:val>
                                        </p:tav>
                                        <p:tav tm="100000">
                                          <p:val>
                                            <p:strVal val="#ppt_y"/>
                                          </p:val>
                                        </p:tav>
                                      </p:tavLst>
                                    </p:anim>
                                  </p:childTnLst>
                                </p:cTn>
                              </p:par>
                              <p:par>
                                <p:cTn id="9" presetID="22" presetClass="entr" presetSubtype="8" accel="15000" decel="15000" fill="hold" grpId="0" nodeType="withEffect">
                                  <p:stCondLst>
                                    <p:cond delay="300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2100"/>
                                        <p:tgtEl>
                                          <p:spTgt spid="9"/>
                                        </p:tgtEl>
                                      </p:cBhvr>
                                    </p:animEffect>
                                  </p:childTnLst>
                                </p:cTn>
                              </p:par>
                              <p:par>
                                <p:cTn id="12" presetID="10" presetClass="entr" presetSubtype="0" accel="15000" decel="15000" fill="hold" grpId="0" nodeType="withEffect">
                                  <p:stCondLst>
                                    <p:cond delay="50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22" presetClass="entr" presetSubtype="8" accel="15000" decel="15000" fill="hold" grpId="0" nodeType="withEffect">
                                  <p:stCondLst>
                                    <p:cond delay="600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2100"/>
                                        <p:tgtEl>
                                          <p:spTgt spid="12"/>
                                        </p:tgtEl>
                                      </p:cBhvr>
                                    </p:animEffect>
                                  </p:childTnLst>
                                </p:cTn>
                              </p:par>
                              <p:par>
                                <p:cTn id="18" presetID="10" presetClass="entr" presetSubtype="0" accel="15000" decel="15000" fill="hold" grpId="0" nodeType="withEffect">
                                  <p:stCondLst>
                                    <p:cond delay="800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accel="15000" decel="15000" fill="hold" grpId="0" nodeType="withEffect">
                                  <p:stCondLst>
                                    <p:cond delay="1000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20"/>
                                        <p:tgtEl>
                                          <p:spTgt spid="17"/>
                                        </p:tgtEl>
                                      </p:cBhvr>
                                    </p:animEffect>
                                  </p:childTnLst>
                                </p:cTn>
                              </p:par>
                              <p:par>
                                <p:cTn id="24" presetID="0" presetClass="entr" presetSubtype="0" repeatCount="3000" accel="15000" decel="15000" fill="hold" grpId="1" nodeType="withEffect">
                                  <p:stCondLst>
                                    <p:cond delay="10120"/>
                                  </p:stCondLst>
                                  <p:childTnLst>
                                    <p:set>
                                      <p:cBhvr>
                                        <p:cTn id="25" dur="1" fill="hold">
                                          <p:stCondLst>
                                            <p:cond delay="0"/>
                                          </p:stCondLst>
                                        </p:cTn>
                                        <p:tgtEl>
                                          <p:spTgt spid="17"/>
                                        </p:tgtEl>
                                        <p:attrNameLst>
                                          <p:attrName>style.visibility</p:attrName>
                                        </p:attrNameLst>
                                      </p:cBhvr>
                                      <p:to>
                                        <p:strVal val="visible"/>
                                      </p:to>
                                    </p:set>
                                    <p:animMotion origin="layout" path="M 0 0 L 0.52875001 0.00000000 E" pathEditMode="relative">
                                      <p:cBhvr from="" to="">
                                        <p:cTn id="26" dur="2000" fill="hold">
                                          <p:stCondLst>
                                            <p:cond delay="0"/>
                                          </p:stCondLst>
                                        </p:cTn>
                                        <p:tgtEl>
                                          <p:spTgt spid="17"/>
                                        </p:tgtEl>
                                        <p:attrNameLst>
                                          <p:attrName>ppt_x</p:attrName>
                                          <p:attrName>ppt_y</p:attrName>
                                        </p:attrNameLst>
                                      </p:cBhvr>
                                    </p:animMotion>
                                  </p:childTnLst>
                                </p:cTn>
                              </p:par>
                              <p:par>
                                <p:cTn id="27" presetID="10" presetClass="entr" presetSubtype="0" accel="15000" decel="15000" fill="hold" grpId="0" nodeType="withEffect">
                                  <p:stCondLst>
                                    <p:cond delay="1200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120"/>
                                        <p:tgtEl>
                                          <p:spTgt spid="18"/>
                                        </p:tgtEl>
                                      </p:cBhvr>
                                    </p:animEffect>
                                  </p:childTnLst>
                                </p:cTn>
                              </p:par>
                              <p:par>
                                <p:cTn id="30" presetID="0" presetClass="entr" presetSubtype="0" repeatCount="3000" accel="15000" decel="15000" fill="hold" grpId="1" nodeType="withEffect">
                                  <p:stCondLst>
                                    <p:cond delay="12120"/>
                                  </p:stCondLst>
                                  <p:childTnLst>
                                    <p:set>
                                      <p:cBhvr>
                                        <p:cTn id="31" dur="1" fill="hold">
                                          <p:stCondLst>
                                            <p:cond delay="0"/>
                                          </p:stCondLst>
                                        </p:cTn>
                                        <p:tgtEl>
                                          <p:spTgt spid="18"/>
                                        </p:tgtEl>
                                        <p:attrNameLst>
                                          <p:attrName>style.visibility</p:attrName>
                                        </p:attrNameLst>
                                      </p:cBhvr>
                                      <p:to>
                                        <p:strVal val="visible"/>
                                      </p:to>
                                    </p:set>
                                    <p:animMotion origin="layout" path="M 0 0 L 0.52875001 0.00000000 E" pathEditMode="relative">
                                      <p:cBhvr from="" to="">
                                        <p:cTn id="32" dur="2000" fill="hold">
                                          <p:stCondLst>
                                            <p:cond delay="0"/>
                                          </p:stCondLst>
                                        </p:cTn>
                                        <p:tgtEl>
                                          <p:spTgt spid="18"/>
                                        </p:tgtEl>
                                        <p:attrNameLst>
                                          <p:attrName>ppt_x</p:attrName>
                                          <p:attrName>ppt_y</p:attrName>
                                        </p:attrNameLst>
                                      </p:cBhvr>
                                    </p:animMotion>
                                  </p:childTnLst>
                                </p:cTn>
                              </p:par>
                              <p:par>
                                <p:cTn id="33" presetID="10" presetClass="exit" presetSubtype="0" accel="15000" decel="15000" fill="hold" grpId="2" nodeType="withEffect">
                                  <p:stCondLst>
                                    <p:cond delay="16120"/>
                                  </p:stCondLst>
                                  <p:childTnLst>
                                    <p:animEffect transition="out" filter="fade">
                                      <p:cBhvr>
                                        <p:cTn id="34" dur="120"/>
                                        <p:tgtEl>
                                          <p:spTgt spid="17"/>
                                        </p:tgtEl>
                                      </p:cBhvr>
                                    </p:animEffect>
                                    <p:set>
                                      <p:cBhvr>
                                        <p:cTn id="35" dur="1" fill="hold">
                                          <p:stCondLst>
                                            <p:cond delay="119"/>
                                          </p:stCondLst>
                                        </p:cTn>
                                        <p:tgtEl>
                                          <p:spTgt spid="17"/>
                                        </p:tgtEl>
                                        <p:attrNameLst>
                                          <p:attrName>style.visibility</p:attrName>
                                        </p:attrNameLst>
                                      </p:cBhvr>
                                      <p:to>
                                        <p:strVal val="hidden"/>
                                      </p:to>
                                    </p:set>
                                  </p:childTnLst>
                                </p:cTn>
                              </p:par>
                              <p:par>
                                <p:cTn id="36" presetID="10" presetClass="exit" presetSubtype="0" accel="15000" decel="15000" fill="hold" grpId="2" nodeType="withEffect">
                                  <p:stCondLst>
                                    <p:cond delay="18120"/>
                                  </p:stCondLst>
                                  <p:childTnLst>
                                    <p:animEffect transition="out" filter="fade">
                                      <p:cBhvr>
                                        <p:cTn id="37" dur="120"/>
                                        <p:tgtEl>
                                          <p:spTgt spid="18"/>
                                        </p:tgtEl>
                                      </p:cBhvr>
                                    </p:animEffect>
                                    <p:set>
                                      <p:cBhvr>
                                        <p:cTn id="38" dur="1" fill="hold">
                                          <p:stCondLst>
                                            <p:cond delay="11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0" grpId="0"/>
      <p:bldP spid="12" grpId="0" animBg="1"/>
      <p:bldP spid="13" grpId="0"/>
      <p:bldP spid="17" grpId="0" animBg="1"/>
      <p:bldP spid="17" grpId="1" animBg="1"/>
      <p:bldP spid="17" grpId="2" animBg="1"/>
      <p:bldP spid="18" grpId="0" animBg="1"/>
      <p:bldP spid="18" grpId="1" animBg="1"/>
      <p:bldP spid="18" grpId="2"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7058"/>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ENSEMBLE / IDS                         FN</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05</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Official TEST lịch sử · 82.332 bản ghi · RF42 so với Stacking42 · ngưỡng 0,5</a:t>
            </a:r>
          </a:p>
        </p:txBody>
      </p:sp>
      <p:sp>
        <p:nvSpPr>
          <p:cNvPr id="5" name="text-4"/>
          <p:cNvSpPr txBox="1"/>
          <p:nvPr/>
        </p:nvSpPr>
        <p:spPr>
          <a:xfrm>
            <a:off x="548640" y="914400"/>
            <a:ext cx="10058400" cy="548640"/>
          </a:xfrm>
          <a:prstGeom prst="rect">
            <a:avLst/>
          </a:prstGeom>
          <a:noFill/>
        </p:spPr>
        <p:txBody>
          <a:bodyPr wrap="square" lIns="0" tIns="0" rIns="0" bIns="0">
            <a:spAutoFit/>
          </a:bodyPr>
          <a:lstStyle/>
          <a:p>
            <a:pPr>
              <a:spcAft>
                <a:spcPts val="0"/>
              </a:spcAft>
              <a:defRPr sz="2400" b="1">
                <a:solidFill>
                  <a:srgbClr val="10162F"/>
                </a:solidFill>
                <a:latin typeface="Consolas"/>
              </a:defRPr>
            </a:pPr>
            <a:r>
              <a:t>PHẦN ĐỔI LẠI</a:t>
            </a:r>
          </a:p>
        </p:txBody>
      </p:sp>
      <p:sp>
        <p:nvSpPr>
          <p:cNvPr id="6" name="text-5"/>
          <p:cNvSpPr txBox="1"/>
          <p:nvPr/>
        </p:nvSpPr>
        <p:spPr>
          <a:xfrm>
            <a:off x="365760" y="1508760"/>
            <a:ext cx="8412480" cy="2797809"/>
          </a:xfrm>
          <a:prstGeom prst="rect">
            <a:avLst/>
          </a:prstGeom>
          <a:noFill/>
        </p:spPr>
        <p:txBody>
          <a:bodyPr wrap="square" lIns="0" tIns="0" rIns="0" bIns="0">
            <a:spAutoFit/>
          </a:bodyPr>
          <a:lstStyle/>
          <a:p>
            <a:pPr>
              <a:spcAft>
                <a:spcPts val="0"/>
              </a:spcAft>
              <a:defRPr sz="18500" b="1">
                <a:solidFill>
                  <a:srgbClr val="10162F"/>
                </a:solidFill>
                <a:latin typeface="Arial"/>
              </a:defRPr>
            </a:pPr>
            <a:r>
              <a:t>+118</a:t>
            </a:r>
          </a:p>
        </p:txBody>
      </p:sp>
      <p:sp>
        <p:nvSpPr>
          <p:cNvPr id="7" name="hero-title"/>
          <p:cNvSpPr txBox="1"/>
          <p:nvPr/>
        </p:nvSpPr>
        <p:spPr>
          <a:xfrm>
            <a:off x="548640" y="3931920"/>
            <a:ext cx="7315200" cy="1371600"/>
          </a:xfrm>
          <a:prstGeom prst="rect">
            <a:avLst/>
          </a:prstGeom>
          <a:noFill/>
        </p:spPr>
        <p:txBody>
          <a:bodyPr wrap="square" lIns="0" tIns="0" rIns="0" bIns="0">
            <a:spAutoFit/>
          </a:bodyPr>
          <a:lstStyle/>
          <a:p>
            <a:pPr>
              <a:spcAft>
                <a:spcPts val="0"/>
              </a:spcAft>
              <a:defRPr sz="3600" b="1">
                <a:solidFill>
                  <a:srgbClr val="10162F"/>
                </a:solidFill>
                <a:latin typeface="Arial"/>
              </a:defRPr>
            </a:pPr>
            <a:r>
              <a:t>BẢN GHI TẤN CÔNG</a:t>
            </a:r>
          </a:p>
          <a:p>
            <a:pPr>
              <a:spcAft>
                <a:spcPts val="0"/>
              </a:spcAft>
              <a:defRPr sz="3600" b="1">
                <a:solidFill>
                  <a:srgbClr val="10162F"/>
                </a:solidFill>
                <a:latin typeface="Arial"/>
              </a:defRPr>
            </a:pPr>
            <a:r>
              <a:t>BỊ BỎ SÓT THÊM.</a:t>
            </a:r>
          </a:p>
        </p:txBody>
      </p:sp>
      <p:sp>
        <p:nvSpPr>
          <p:cNvPr id="8" name="fn-bar-0"/>
          <p:cNvSpPr/>
          <p:nvPr/>
        </p:nvSpPr>
        <p:spPr>
          <a:xfrm>
            <a:off x="8549640" y="3616360"/>
            <a:ext cx="822960" cy="1778599"/>
          </a:xfrm>
          <a:prstGeom prst="rect">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8"/>
          <p:cNvSpPr txBox="1"/>
          <p:nvPr/>
        </p:nvSpPr>
        <p:spPr>
          <a:xfrm>
            <a:off x="8503919" y="2423160"/>
            <a:ext cx="1325880" cy="502920"/>
          </a:xfrm>
          <a:prstGeom prst="rect">
            <a:avLst/>
          </a:prstGeom>
          <a:noFill/>
        </p:spPr>
        <p:txBody>
          <a:bodyPr wrap="square" lIns="0" tIns="0" rIns="0" bIns="0">
            <a:spAutoFit/>
          </a:bodyPr>
          <a:lstStyle/>
          <a:p>
            <a:pPr>
              <a:spcAft>
                <a:spcPts val="0"/>
              </a:spcAft>
              <a:defRPr sz="2800" b="1">
                <a:solidFill>
                  <a:srgbClr val="10162F"/>
                </a:solidFill>
                <a:latin typeface="Consolas"/>
              </a:defRPr>
            </a:pPr>
            <a:r>
              <a:t>734</a:t>
            </a:r>
          </a:p>
        </p:txBody>
      </p:sp>
      <p:sp>
        <p:nvSpPr>
          <p:cNvPr id="10" name="text-9"/>
          <p:cNvSpPr txBox="1"/>
          <p:nvPr/>
        </p:nvSpPr>
        <p:spPr>
          <a:xfrm>
            <a:off x="8458200" y="5532120"/>
            <a:ext cx="1417320" cy="365760"/>
          </a:xfrm>
          <a:prstGeom prst="rect">
            <a:avLst/>
          </a:prstGeom>
          <a:noFill/>
        </p:spPr>
        <p:txBody>
          <a:bodyPr wrap="square" lIns="0" tIns="0" rIns="0" bIns="0">
            <a:spAutoFit/>
          </a:bodyPr>
          <a:lstStyle/>
          <a:p>
            <a:pPr>
              <a:spcAft>
                <a:spcPts val="0"/>
              </a:spcAft>
              <a:defRPr sz="1200" b="1">
                <a:solidFill>
                  <a:srgbClr val="10162F"/>
                </a:solidFill>
                <a:latin typeface="Consolas"/>
              </a:defRPr>
            </a:pPr>
            <a:r>
              <a:t>RF42</a:t>
            </a:r>
          </a:p>
        </p:txBody>
      </p:sp>
      <p:sp>
        <p:nvSpPr>
          <p:cNvPr id="11" name="fn-bar-1"/>
          <p:cNvSpPr/>
          <p:nvPr/>
        </p:nvSpPr>
        <p:spPr>
          <a:xfrm>
            <a:off x="9966960" y="3330427"/>
            <a:ext cx="822960" cy="2064532"/>
          </a:xfrm>
          <a:prstGeom prst="rect">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11"/>
          <p:cNvSpPr txBox="1"/>
          <p:nvPr/>
        </p:nvSpPr>
        <p:spPr>
          <a:xfrm>
            <a:off x="9921240" y="2423160"/>
            <a:ext cx="1325880" cy="502920"/>
          </a:xfrm>
          <a:prstGeom prst="rect">
            <a:avLst/>
          </a:prstGeom>
          <a:noFill/>
        </p:spPr>
        <p:txBody>
          <a:bodyPr wrap="square" lIns="0" tIns="0" rIns="0" bIns="0">
            <a:spAutoFit/>
          </a:bodyPr>
          <a:lstStyle/>
          <a:p>
            <a:pPr>
              <a:spcAft>
                <a:spcPts val="0"/>
              </a:spcAft>
              <a:defRPr sz="2800" b="1">
                <a:solidFill>
                  <a:srgbClr val="10162F"/>
                </a:solidFill>
                <a:latin typeface="Consolas"/>
              </a:defRPr>
            </a:pPr>
            <a:r>
              <a:t>852</a:t>
            </a:r>
          </a:p>
        </p:txBody>
      </p:sp>
      <p:sp>
        <p:nvSpPr>
          <p:cNvPr id="13" name="text-12"/>
          <p:cNvSpPr txBox="1"/>
          <p:nvPr/>
        </p:nvSpPr>
        <p:spPr>
          <a:xfrm>
            <a:off x="9875520" y="5532120"/>
            <a:ext cx="1417320" cy="365760"/>
          </a:xfrm>
          <a:prstGeom prst="rect">
            <a:avLst/>
          </a:prstGeom>
          <a:noFill/>
        </p:spPr>
        <p:txBody>
          <a:bodyPr wrap="square" lIns="0" tIns="0" rIns="0" bIns="0">
            <a:spAutoFit/>
          </a:bodyPr>
          <a:lstStyle/>
          <a:p>
            <a:pPr>
              <a:spcAft>
                <a:spcPts val="0"/>
              </a:spcAft>
              <a:defRPr sz="1200" b="1">
                <a:solidFill>
                  <a:srgbClr val="10162F"/>
                </a:solidFill>
                <a:latin typeface="Consolas"/>
              </a:defRPr>
            </a:pPr>
            <a:r>
              <a:t>Stacking42</a:t>
            </a:r>
          </a:p>
        </p:txBody>
      </p:sp>
      <p:sp>
        <p:nvSpPr>
          <p:cNvPr id="14" name="text-13"/>
          <p:cNvSpPr txBox="1"/>
          <p:nvPr/>
        </p:nvSpPr>
        <p:spPr>
          <a:xfrm>
            <a:off x="8183879" y="6035040"/>
            <a:ext cx="3474720" cy="274320"/>
          </a:xfrm>
          <a:prstGeom prst="rect">
            <a:avLst/>
          </a:prstGeom>
          <a:noFill/>
        </p:spPr>
        <p:txBody>
          <a:bodyPr wrap="square" lIns="0" tIns="0" rIns="0" bIns="0">
            <a:spAutoFit/>
          </a:bodyPr>
          <a:lstStyle/>
          <a:p>
            <a:pPr>
              <a:spcAft>
                <a:spcPts val="0"/>
              </a:spcAft>
              <a:defRPr sz="1400" b="0">
                <a:solidFill>
                  <a:srgbClr val="10162F"/>
                </a:solidFill>
                <a:latin typeface="Aptos"/>
              </a:defRPr>
            </a:pPr>
            <a:r>
              <a:t>FN: thang riêng 0–1.000</a:t>
            </a:r>
          </a:p>
        </p:txBody>
      </p:sp>
      <p:sp>
        <p:nvSpPr>
          <p:cNvPr id="15" name="text-14"/>
          <p:cNvSpPr txBox="1"/>
          <p:nvPr/>
        </p:nvSpPr>
        <p:spPr>
          <a:xfrm>
            <a:off x="594360" y="5897880"/>
            <a:ext cx="7315200" cy="594360"/>
          </a:xfrm>
          <a:prstGeom prst="rect">
            <a:avLst/>
          </a:prstGeom>
          <a:noFill/>
        </p:spPr>
        <p:txBody>
          <a:bodyPr wrap="square" lIns="0" tIns="0" rIns="0" bIns="0">
            <a:spAutoFit/>
          </a:bodyPr>
          <a:lstStyle/>
          <a:p>
            <a:pPr>
              <a:spcAft>
                <a:spcPts val="0"/>
              </a:spcAft>
              <a:defRPr sz="1800" b="0">
                <a:solidFill>
                  <a:srgbClr val="10162F"/>
                </a:solidFill>
                <a:latin typeface="Aptos"/>
              </a:defRPr>
            </a:pPr>
            <a:r>
              <a:t>Số bản ghi trên cùng TEST; chưa phải số sự cố độc lập.</a:t>
            </a:r>
          </a:p>
        </p:txBody>
      </p:sp>
    </p:spTree>
  </p:cSld>
  <p:clrMapOvr>
    <a:masterClrMapping/>
  </p:clrMapOvr>
  <mc:AlternateContent xmlns:mc="http://schemas.openxmlformats.org/markup-compatibility/2006" xmlns:p14="http://schemas.microsoft.com/office/powerpoint/2010/main">
    <mc:Choice Requires="p14">
      <p:transition spd="slow" p14:dur="2000" advTm="25000"/>
    </mc:Choice>
    <mc:Fallback xmlns="">
      <p:transition spd="slow"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15000" decel="15000" fill="hold" grpId="0"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100" fill="hold"/>
                                        <p:tgtEl>
                                          <p:spTgt spid="6"/>
                                        </p:tgtEl>
                                        <p:attrNameLst>
                                          <p:attrName>ppt_x</p:attrName>
                                        </p:attrNameLst>
                                      </p:cBhvr>
                                      <p:tavLst>
                                        <p:tav tm="0">
                                          <p:val>
                                            <p:strVal val="0-#ppt_w/2"/>
                                          </p:val>
                                        </p:tav>
                                        <p:tav tm="100000">
                                          <p:val>
                                            <p:strVal val="#ppt_x"/>
                                          </p:val>
                                        </p:tav>
                                      </p:tavLst>
                                    </p:anim>
                                    <p:anim calcmode="lin" valueType="num">
                                      <p:cBhvr additive="base">
                                        <p:cTn id="8" dur="1100" fill="hold"/>
                                        <p:tgtEl>
                                          <p:spTgt spid="6"/>
                                        </p:tgtEl>
                                        <p:attrNameLst>
                                          <p:attrName>ppt_y</p:attrName>
                                        </p:attrNameLst>
                                      </p:cBhvr>
                                      <p:tavLst>
                                        <p:tav tm="0">
                                          <p:val>
                                            <p:strVal val="#ppt_y"/>
                                          </p:val>
                                        </p:tav>
                                        <p:tav tm="100000">
                                          <p:val>
                                            <p:strVal val="#ppt_y"/>
                                          </p:val>
                                        </p:tav>
                                      </p:tavLst>
                                    </p:anim>
                                  </p:childTnLst>
                                </p:cTn>
                              </p:par>
                              <p:par>
                                <p:cTn id="9" presetID="22" presetClass="entr" presetSubtype="8" accel="15000" decel="15000" fill="hold" grpId="0" nodeType="withEffect">
                                  <p:stCondLst>
                                    <p:cond delay="300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800"/>
                                        <p:tgtEl>
                                          <p:spTgt spid="7"/>
                                        </p:tgtEl>
                                      </p:cBhvr>
                                    </p:animEffect>
                                  </p:childTnLst>
                                </p:cTn>
                              </p:par>
                              <p:par>
                                <p:cTn id="12" presetID="0" presetClass="entr" presetSubtype="0" repeatCount="2000" accel="15000" decel="15000" autoRev="1" fill="hold" grpId="1" nodeType="withEffect">
                                  <p:stCondLst>
                                    <p:cond delay="5000"/>
                                  </p:stCondLst>
                                  <p:childTnLst>
                                    <p:set>
                                      <p:cBhvr>
                                        <p:cTn id="13" dur="1" fill="hold">
                                          <p:stCondLst>
                                            <p:cond delay="0"/>
                                          </p:stCondLst>
                                        </p:cTn>
                                        <p:tgtEl>
                                          <p:spTgt spid="6"/>
                                        </p:tgtEl>
                                        <p:attrNameLst>
                                          <p:attrName>style.visibility</p:attrName>
                                        </p:attrNameLst>
                                      </p:cBhvr>
                                      <p:to>
                                        <p:strVal val="visible"/>
                                      </p:to>
                                    </p:set>
                                    <p:animScale>
                                      <p:cBhvr>
                                        <p:cTn id="14" dur="1400" fill="hold">
                                          <p:stCondLst>
                                            <p:cond delay="0"/>
                                          </p:stCondLst>
                                        </p:cTn>
                                        <p:tgtEl>
                                          <p:spTgt spid="6"/>
                                        </p:tgtEl>
                                      </p:cBhvr>
                                      <p:from x="100000" y="100000"/>
                                      <p:to x="106000" y="106000"/>
                                    </p:animScale>
                                  </p:childTnLst>
                                </p:cTn>
                              </p:par>
                              <p:par>
                                <p:cTn id="15" presetID="22" presetClass="entr" presetSubtype="8" accel="15000" decel="15000" fill="hold" grpId="0" nodeType="withEffect">
                                  <p:stCondLst>
                                    <p:cond delay="900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2000"/>
                                        <p:tgtEl>
                                          <p:spTgt spid="8"/>
                                        </p:tgtEl>
                                      </p:cBhvr>
                                    </p:animEffect>
                                  </p:childTnLst>
                                </p:cTn>
                              </p:par>
                              <p:par>
                                <p:cTn id="18" presetID="10" presetClass="entr" presetSubtype="0" accel="15000" decel="15000" fill="hold" grpId="0" nodeType="withEffect">
                                  <p:stCondLst>
                                    <p:cond delay="1100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22" presetClass="entr" presetSubtype="8" accel="15000" decel="15000" fill="hold" grpId="0" nodeType="withEffect">
                                  <p:stCondLst>
                                    <p:cond delay="1200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2000"/>
                                        <p:tgtEl>
                                          <p:spTgt spid="11"/>
                                        </p:tgtEl>
                                      </p:cBhvr>
                                    </p:animEffect>
                                  </p:childTnLst>
                                </p:cTn>
                              </p:par>
                              <p:par>
                                <p:cTn id="24" presetID="10" presetClass="entr" presetSubtype="0" accel="15000" decel="15000" fill="hold" grpId="0" nodeType="withEffect">
                                  <p:stCondLst>
                                    <p:cond delay="1400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8" grpId="0" animBg="1"/>
      <p:bldP spid="9" grpId="0"/>
      <p:bldP spid="11" grpId="0" animBg="1"/>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ENSEMBLE / IDS                         MATRIX</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06</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P21 hậu nghiệm trên TRAIN · 5 FIT seed · cùng 35.069 dòng internal validation</a:t>
            </a:r>
          </a:p>
        </p:txBody>
      </p:sp>
      <p:sp>
        <p:nvSpPr>
          <p:cNvPr id="5" name="hero-title"/>
          <p:cNvSpPr txBox="1"/>
          <p:nvPr/>
        </p:nvSpPr>
        <p:spPr>
          <a:xfrm>
            <a:off x="502920" y="914400"/>
            <a:ext cx="10972800" cy="1600200"/>
          </a:xfrm>
          <a:prstGeom prst="rect">
            <a:avLst/>
          </a:prstGeom>
          <a:noFill/>
        </p:spPr>
        <p:txBody>
          <a:bodyPr wrap="square" lIns="0" tIns="0" rIns="0" bIns="0">
            <a:spAutoFit/>
          </a:bodyPr>
          <a:lstStyle/>
          <a:p>
            <a:pPr>
              <a:spcAft>
                <a:spcPts val="0"/>
              </a:spcAft>
              <a:defRPr sz="5000" b="1">
                <a:solidFill>
                  <a:srgbClr val="10162F"/>
                </a:solidFill>
                <a:latin typeface="Arial"/>
              </a:defRPr>
            </a:pPr>
            <a:r>
              <a:t>5 LƯỢT FIT.</a:t>
            </a:r>
          </a:p>
          <a:p>
            <a:pPr>
              <a:spcAft>
                <a:spcPts val="0"/>
              </a:spcAft>
              <a:defRPr sz="5000" b="1">
                <a:solidFill>
                  <a:srgbClr val="10162F"/>
                </a:solidFill>
                <a:latin typeface="Arial"/>
              </a:defRPr>
            </a:pPr>
            <a:r>
              <a:t>1 VALIDATION CHUNG.</a:t>
            </a:r>
          </a:p>
        </p:txBody>
      </p:sp>
      <p:sp>
        <p:nvSpPr>
          <p:cNvPr id="6" name="text-5"/>
          <p:cNvSpPr txBox="1"/>
          <p:nvPr/>
        </p:nvSpPr>
        <p:spPr>
          <a:xfrm>
            <a:off x="1920240" y="2834640"/>
            <a:ext cx="1463040" cy="320040"/>
          </a:xfrm>
          <a:prstGeom prst="rect">
            <a:avLst/>
          </a:prstGeom>
          <a:noFill/>
        </p:spPr>
        <p:txBody>
          <a:bodyPr wrap="square" lIns="0" tIns="0" rIns="0" bIns="0">
            <a:spAutoFit/>
          </a:bodyPr>
          <a:lstStyle/>
          <a:p>
            <a:pPr algn="ctr">
              <a:spcAft>
                <a:spcPts val="0"/>
              </a:spcAft>
              <a:defRPr sz="1600" b="1">
                <a:solidFill>
                  <a:srgbClr val="7958F5"/>
                </a:solidFill>
                <a:latin typeface="Consolas"/>
              </a:defRPr>
            </a:pPr>
            <a:r>
              <a:t>RF42</a:t>
            </a:r>
          </a:p>
        </p:txBody>
      </p:sp>
      <p:sp>
        <p:nvSpPr>
          <p:cNvPr id="7" name="text-6"/>
          <p:cNvSpPr txBox="1"/>
          <p:nvPr/>
        </p:nvSpPr>
        <p:spPr>
          <a:xfrm>
            <a:off x="3383280" y="2834640"/>
            <a:ext cx="1463040" cy="320040"/>
          </a:xfrm>
          <a:prstGeom prst="rect">
            <a:avLst/>
          </a:prstGeom>
          <a:noFill/>
        </p:spPr>
        <p:txBody>
          <a:bodyPr wrap="square" lIns="0" tIns="0" rIns="0" bIns="0">
            <a:spAutoFit/>
          </a:bodyPr>
          <a:lstStyle/>
          <a:p>
            <a:pPr algn="ctr">
              <a:spcAft>
                <a:spcPts val="0"/>
              </a:spcAft>
              <a:defRPr sz="1600" b="1">
                <a:solidFill>
                  <a:srgbClr val="7958F5"/>
                </a:solidFill>
                <a:latin typeface="Consolas"/>
              </a:defRPr>
            </a:pPr>
            <a:r>
              <a:t>RF17</a:t>
            </a:r>
          </a:p>
        </p:txBody>
      </p:sp>
      <p:sp>
        <p:nvSpPr>
          <p:cNvPr id="8" name="text-7"/>
          <p:cNvSpPr txBox="1"/>
          <p:nvPr/>
        </p:nvSpPr>
        <p:spPr>
          <a:xfrm>
            <a:off x="4846320" y="2834640"/>
            <a:ext cx="1463040" cy="320040"/>
          </a:xfrm>
          <a:prstGeom prst="rect">
            <a:avLst/>
          </a:prstGeom>
          <a:noFill/>
        </p:spPr>
        <p:txBody>
          <a:bodyPr wrap="square" lIns="0" tIns="0" rIns="0" bIns="0">
            <a:spAutoFit/>
          </a:bodyPr>
          <a:lstStyle/>
          <a:p>
            <a:pPr algn="ctr">
              <a:spcAft>
                <a:spcPts val="0"/>
              </a:spcAft>
              <a:defRPr sz="1600" b="1">
                <a:solidFill>
                  <a:srgbClr val="7958F5"/>
                </a:solidFill>
                <a:latin typeface="Consolas"/>
              </a:defRPr>
            </a:pPr>
            <a:r>
              <a:t>Balanced</a:t>
            </a:r>
          </a:p>
        </p:txBody>
      </p:sp>
      <p:sp>
        <p:nvSpPr>
          <p:cNvPr id="9" name="text-8"/>
          <p:cNvSpPr txBox="1"/>
          <p:nvPr/>
        </p:nvSpPr>
        <p:spPr>
          <a:xfrm>
            <a:off x="6309360" y="2834640"/>
            <a:ext cx="1463040" cy="320040"/>
          </a:xfrm>
          <a:prstGeom prst="rect">
            <a:avLst/>
          </a:prstGeom>
          <a:noFill/>
        </p:spPr>
        <p:txBody>
          <a:bodyPr wrap="square" lIns="0" tIns="0" rIns="0" bIns="0">
            <a:spAutoFit/>
          </a:bodyPr>
          <a:lstStyle/>
          <a:p>
            <a:pPr algn="ctr">
              <a:spcAft>
                <a:spcPts val="0"/>
              </a:spcAft>
              <a:defRPr sz="1600" b="1">
                <a:solidFill>
                  <a:srgbClr val="7958F5"/>
                </a:solidFill>
                <a:latin typeface="Consolas"/>
              </a:defRPr>
            </a:pPr>
            <a:r>
              <a:t>Oversample</a:t>
            </a:r>
          </a:p>
        </p:txBody>
      </p:sp>
      <p:sp>
        <p:nvSpPr>
          <p:cNvPr id="10" name="text-9"/>
          <p:cNvSpPr txBox="1"/>
          <p:nvPr/>
        </p:nvSpPr>
        <p:spPr>
          <a:xfrm>
            <a:off x="7772400" y="2834640"/>
            <a:ext cx="1463040" cy="320040"/>
          </a:xfrm>
          <a:prstGeom prst="rect">
            <a:avLst/>
          </a:prstGeom>
          <a:noFill/>
        </p:spPr>
        <p:txBody>
          <a:bodyPr wrap="square" lIns="0" tIns="0" rIns="0" bIns="0">
            <a:spAutoFit/>
          </a:bodyPr>
          <a:lstStyle/>
          <a:p>
            <a:pPr algn="ctr">
              <a:spcAft>
                <a:spcPts val="0"/>
              </a:spcAft>
              <a:defRPr sz="1600" b="1">
                <a:solidFill>
                  <a:srgbClr val="7958F5"/>
                </a:solidFill>
                <a:latin typeface="Consolas"/>
              </a:defRPr>
            </a:pPr>
            <a:r>
              <a:t>Stack-Lite</a:t>
            </a:r>
          </a:p>
        </p:txBody>
      </p:sp>
      <p:sp>
        <p:nvSpPr>
          <p:cNvPr id="11" name="text-10"/>
          <p:cNvSpPr txBox="1"/>
          <p:nvPr/>
        </p:nvSpPr>
        <p:spPr>
          <a:xfrm>
            <a:off x="731520" y="3410712"/>
            <a:ext cx="1097280" cy="274320"/>
          </a:xfrm>
          <a:prstGeom prst="rect">
            <a:avLst/>
          </a:prstGeom>
          <a:noFill/>
        </p:spPr>
        <p:txBody>
          <a:bodyPr wrap="square" lIns="0" tIns="0" rIns="0" bIns="0">
            <a:spAutoFit/>
          </a:bodyPr>
          <a:lstStyle/>
          <a:p>
            <a:pPr>
              <a:spcAft>
                <a:spcPts val="0"/>
              </a:spcAft>
              <a:defRPr sz="1600" b="0">
                <a:solidFill>
                  <a:srgbClr val="10162F"/>
                </a:solidFill>
                <a:latin typeface="Consolas"/>
              </a:defRPr>
            </a:pPr>
            <a:r>
              <a:t>1103</a:t>
            </a:r>
          </a:p>
        </p:txBody>
      </p:sp>
      <p:sp>
        <p:nvSpPr>
          <p:cNvPr id="12" name="shape-11"/>
          <p:cNvSpPr/>
          <p:nvPr/>
        </p:nvSpPr>
        <p:spPr>
          <a:xfrm>
            <a:off x="2391156" y="3470148"/>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hape-12"/>
          <p:cNvSpPr/>
          <p:nvPr/>
        </p:nvSpPr>
        <p:spPr>
          <a:xfrm>
            <a:off x="3854196" y="3470148"/>
            <a:ext cx="155448" cy="155448"/>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hape-13"/>
          <p:cNvSpPr/>
          <p:nvPr/>
        </p:nvSpPr>
        <p:spPr>
          <a:xfrm>
            <a:off x="5317236" y="3470148"/>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hape-14"/>
          <p:cNvSpPr/>
          <p:nvPr/>
        </p:nvSpPr>
        <p:spPr>
          <a:xfrm>
            <a:off x="6780276" y="3470148"/>
            <a:ext cx="155448" cy="155448"/>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hape-15"/>
          <p:cNvSpPr/>
          <p:nvPr/>
        </p:nvSpPr>
        <p:spPr>
          <a:xfrm>
            <a:off x="8243316" y="3470148"/>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line-16"/>
          <p:cNvCxnSpPr/>
          <p:nvPr/>
        </p:nvCxnSpPr>
        <p:spPr>
          <a:xfrm>
            <a:off x="8915400" y="3547872"/>
            <a:ext cx="1143000" cy="841248"/>
          </a:xfrm>
          <a:prstGeom prst="line">
            <a:avLst/>
          </a:prstGeom>
          <a:ln w="16510">
            <a:solidFill>
              <a:srgbClr val="7958F5"/>
            </a:solidFill>
            <a:tailEnd type="triangle"/>
          </a:ln>
        </p:spPr>
        <p:style>
          <a:lnRef idx="2">
            <a:schemeClr val="accent1"/>
          </a:lnRef>
          <a:fillRef idx="0">
            <a:schemeClr val="accent1"/>
          </a:fillRef>
          <a:effectRef idx="1">
            <a:schemeClr val="accent1"/>
          </a:effectRef>
          <a:fontRef idx="minor">
            <a:schemeClr val="tx1"/>
          </a:fontRef>
        </p:style>
      </p:cxnSp>
      <p:sp>
        <p:nvSpPr>
          <p:cNvPr id="18" name="shape-17"/>
          <p:cNvSpPr/>
          <p:nvPr/>
        </p:nvSpPr>
        <p:spPr>
          <a:xfrm>
            <a:off x="8773668" y="3497579"/>
            <a:ext cx="100584" cy="100584"/>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18"/>
          <p:cNvSpPr txBox="1"/>
          <p:nvPr/>
        </p:nvSpPr>
        <p:spPr>
          <a:xfrm>
            <a:off x="731520" y="3822191"/>
            <a:ext cx="1097280" cy="274320"/>
          </a:xfrm>
          <a:prstGeom prst="rect">
            <a:avLst/>
          </a:prstGeom>
          <a:noFill/>
        </p:spPr>
        <p:txBody>
          <a:bodyPr wrap="square" lIns="0" tIns="0" rIns="0" bIns="0">
            <a:spAutoFit/>
          </a:bodyPr>
          <a:lstStyle/>
          <a:p>
            <a:pPr>
              <a:spcAft>
                <a:spcPts val="0"/>
              </a:spcAft>
              <a:defRPr sz="1600" b="0">
                <a:solidFill>
                  <a:srgbClr val="10162F"/>
                </a:solidFill>
                <a:latin typeface="Consolas"/>
              </a:defRPr>
            </a:pPr>
            <a:r>
              <a:t>2207</a:t>
            </a:r>
          </a:p>
        </p:txBody>
      </p:sp>
      <p:sp>
        <p:nvSpPr>
          <p:cNvPr id="20" name="shape-19"/>
          <p:cNvSpPr/>
          <p:nvPr/>
        </p:nvSpPr>
        <p:spPr>
          <a:xfrm>
            <a:off x="2391156" y="3881627"/>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hape-20"/>
          <p:cNvSpPr/>
          <p:nvPr/>
        </p:nvSpPr>
        <p:spPr>
          <a:xfrm>
            <a:off x="3854196" y="3881627"/>
            <a:ext cx="155448" cy="155448"/>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shape-21"/>
          <p:cNvSpPr/>
          <p:nvPr/>
        </p:nvSpPr>
        <p:spPr>
          <a:xfrm>
            <a:off x="5317236" y="3881627"/>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hape-22"/>
          <p:cNvSpPr/>
          <p:nvPr/>
        </p:nvSpPr>
        <p:spPr>
          <a:xfrm>
            <a:off x="6780276" y="3881627"/>
            <a:ext cx="155448" cy="155448"/>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hape-23"/>
          <p:cNvSpPr/>
          <p:nvPr/>
        </p:nvSpPr>
        <p:spPr>
          <a:xfrm>
            <a:off x="8243316" y="3881627"/>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line-24"/>
          <p:cNvCxnSpPr/>
          <p:nvPr/>
        </p:nvCxnSpPr>
        <p:spPr>
          <a:xfrm>
            <a:off x="8915400" y="3959351"/>
            <a:ext cx="1143000" cy="429769"/>
          </a:xfrm>
          <a:prstGeom prst="line">
            <a:avLst/>
          </a:prstGeom>
          <a:ln w="16510">
            <a:solidFill>
              <a:srgbClr val="7958F5"/>
            </a:solidFill>
            <a:tailEnd type="triangle"/>
          </a:ln>
        </p:spPr>
        <p:style>
          <a:lnRef idx="2">
            <a:schemeClr val="accent1"/>
          </a:lnRef>
          <a:fillRef idx="0">
            <a:schemeClr val="accent1"/>
          </a:fillRef>
          <a:effectRef idx="1">
            <a:schemeClr val="accent1"/>
          </a:effectRef>
          <a:fontRef idx="minor">
            <a:schemeClr val="tx1"/>
          </a:fontRef>
        </p:style>
      </p:cxnSp>
      <p:sp>
        <p:nvSpPr>
          <p:cNvPr id="26" name="shape-25"/>
          <p:cNvSpPr/>
          <p:nvPr/>
        </p:nvSpPr>
        <p:spPr>
          <a:xfrm>
            <a:off x="8773668" y="3909059"/>
            <a:ext cx="100584" cy="100584"/>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26"/>
          <p:cNvSpPr txBox="1"/>
          <p:nvPr/>
        </p:nvSpPr>
        <p:spPr>
          <a:xfrm>
            <a:off x="731520" y="4233672"/>
            <a:ext cx="1097280" cy="274320"/>
          </a:xfrm>
          <a:prstGeom prst="rect">
            <a:avLst/>
          </a:prstGeom>
          <a:noFill/>
        </p:spPr>
        <p:txBody>
          <a:bodyPr wrap="square" lIns="0" tIns="0" rIns="0" bIns="0">
            <a:spAutoFit/>
          </a:bodyPr>
          <a:lstStyle/>
          <a:p>
            <a:pPr>
              <a:spcAft>
                <a:spcPts val="0"/>
              </a:spcAft>
              <a:defRPr sz="1600" b="0">
                <a:solidFill>
                  <a:srgbClr val="10162F"/>
                </a:solidFill>
                <a:latin typeface="Consolas"/>
              </a:defRPr>
            </a:pPr>
            <a:r>
              <a:t>3301</a:t>
            </a:r>
          </a:p>
        </p:txBody>
      </p:sp>
      <p:sp>
        <p:nvSpPr>
          <p:cNvPr id="28" name="shape-27"/>
          <p:cNvSpPr/>
          <p:nvPr/>
        </p:nvSpPr>
        <p:spPr>
          <a:xfrm>
            <a:off x="2391156" y="4293107"/>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shape-28"/>
          <p:cNvSpPr/>
          <p:nvPr/>
        </p:nvSpPr>
        <p:spPr>
          <a:xfrm>
            <a:off x="3854196" y="4293107"/>
            <a:ext cx="155448" cy="155448"/>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shape-29"/>
          <p:cNvSpPr/>
          <p:nvPr/>
        </p:nvSpPr>
        <p:spPr>
          <a:xfrm>
            <a:off x="5317236" y="4293107"/>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shape-30"/>
          <p:cNvSpPr/>
          <p:nvPr/>
        </p:nvSpPr>
        <p:spPr>
          <a:xfrm>
            <a:off x="6780276" y="4293107"/>
            <a:ext cx="155448" cy="155448"/>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shape-31"/>
          <p:cNvSpPr/>
          <p:nvPr/>
        </p:nvSpPr>
        <p:spPr>
          <a:xfrm>
            <a:off x="8243316" y="4293107"/>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line-32"/>
          <p:cNvCxnSpPr/>
          <p:nvPr/>
        </p:nvCxnSpPr>
        <p:spPr>
          <a:xfrm>
            <a:off x="8915400" y="4370831"/>
            <a:ext cx="1143000" cy="18289"/>
          </a:xfrm>
          <a:prstGeom prst="line">
            <a:avLst/>
          </a:prstGeom>
          <a:ln w="16510">
            <a:solidFill>
              <a:srgbClr val="7958F5"/>
            </a:solidFill>
            <a:tailEnd type="triangle"/>
          </a:ln>
        </p:spPr>
        <p:style>
          <a:lnRef idx="2">
            <a:schemeClr val="accent1"/>
          </a:lnRef>
          <a:fillRef idx="0">
            <a:schemeClr val="accent1"/>
          </a:fillRef>
          <a:effectRef idx="1">
            <a:schemeClr val="accent1"/>
          </a:effectRef>
          <a:fontRef idx="minor">
            <a:schemeClr val="tx1"/>
          </a:fontRef>
        </p:style>
      </p:cxnSp>
      <p:sp>
        <p:nvSpPr>
          <p:cNvPr id="34" name="shape-33"/>
          <p:cNvSpPr/>
          <p:nvPr/>
        </p:nvSpPr>
        <p:spPr>
          <a:xfrm>
            <a:off x="8773668" y="4320540"/>
            <a:ext cx="100584" cy="100584"/>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34"/>
          <p:cNvSpPr txBox="1"/>
          <p:nvPr/>
        </p:nvSpPr>
        <p:spPr>
          <a:xfrm>
            <a:off x="731520" y="4645152"/>
            <a:ext cx="1097280" cy="274320"/>
          </a:xfrm>
          <a:prstGeom prst="rect">
            <a:avLst/>
          </a:prstGeom>
          <a:noFill/>
        </p:spPr>
        <p:txBody>
          <a:bodyPr wrap="square" lIns="0" tIns="0" rIns="0" bIns="0">
            <a:spAutoFit/>
          </a:bodyPr>
          <a:lstStyle/>
          <a:p>
            <a:pPr>
              <a:spcAft>
                <a:spcPts val="0"/>
              </a:spcAft>
              <a:defRPr sz="1600" b="0">
                <a:solidFill>
                  <a:srgbClr val="10162F"/>
                </a:solidFill>
                <a:latin typeface="Consolas"/>
              </a:defRPr>
            </a:pPr>
            <a:r>
              <a:t>4409</a:t>
            </a:r>
          </a:p>
        </p:txBody>
      </p:sp>
      <p:sp>
        <p:nvSpPr>
          <p:cNvPr id="36" name="shape-35"/>
          <p:cNvSpPr/>
          <p:nvPr/>
        </p:nvSpPr>
        <p:spPr>
          <a:xfrm>
            <a:off x="2391156" y="4704588"/>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shape-36"/>
          <p:cNvSpPr/>
          <p:nvPr/>
        </p:nvSpPr>
        <p:spPr>
          <a:xfrm>
            <a:off x="3854196" y="4704588"/>
            <a:ext cx="155448" cy="155448"/>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shape-37"/>
          <p:cNvSpPr/>
          <p:nvPr/>
        </p:nvSpPr>
        <p:spPr>
          <a:xfrm>
            <a:off x="5317236" y="4704588"/>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shape-38"/>
          <p:cNvSpPr/>
          <p:nvPr/>
        </p:nvSpPr>
        <p:spPr>
          <a:xfrm>
            <a:off x="6780276" y="4704588"/>
            <a:ext cx="155448" cy="155448"/>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shape-39"/>
          <p:cNvSpPr/>
          <p:nvPr/>
        </p:nvSpPr>
        <p:spPr>
          <a:xfrm>
            <a:off x="8243316" y="4704588"/>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line-40"/>
          <p:cNvCxnSpPr/>
          <p:nvPr/>
        </p:nvCxnSpPr>
        <p:spPr>
          <a:xfrm flipV="1">
            <a:off x="8915400" y="4389120"/>
            <a:ext cx="1143000" cy="393192"/>
          </a:xfrm>
          <a:prstGeom prst="line">
            <a:avLst/>
          </a:prstGeom>
          <a:ln w="16510">
            <a:solidFill>
              <a:srgbClr val="7958F5"/>
            </a:solidFill>
            <a:tailEnd type="triangle"/>
          </a:ln>
        </p:spPr>
        <p:style>
          <a:lnRef idx="2">
            <a:schemeClr val="accent1"/>
          </a:lnRef>
          <a:fillRef idx="0">
            <a:schemeClr val="accent1"/>
          </a:fillRef>
          <a:effectRef idx="1">
            <a:schemeClr val="accent1"/>
          </a:effectRef>
          <a:fontRef idx="minor">
            <a:schemeClr val="tx1"/>
          </a:fontRef>
        </p:style>
      </p:cxnSp>
      <p:sp>
        <p:nvSpPr>
          <p:cNvPr id="42" name="shape-41"/>
          <p:cNvSpPr/>
          <p:nvPr/>
        </p:nvSpPr>
        <p:spPr>
          <a:xfrm>
            <a:off x="8773668" y="4732020"/>
            <a:ext cx="100584" cy="100584"/>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42"/>
          <p:cNvSpPr txBox="1"/>
          <p:nvPr/>
        </p:nvSpPr>
        <p:spPr>
          <a:xfrm>
            <a:off x="731520" y="5056632"/>
            <a:ext cx="1097280" cy="274320"/>
          </a:xfrm>
          <a:prstGeom prst="rect">
            <a:avLst/>
          </a:prstGeom>
          <a:noFill/>
        </p:spPr>
        <p:txBody>
          <a:bodyPr wrap="square" lIns="0" tIns="0" rIns="0" bIns="0">
            <a:spAutoFit/>
          </a:bodyPr>
          <a:lstStyle/>
          <a:p>
            <a:pPr>
              <a:spcAft>
                <a:spcPts val="0"/>
              </a:spcAft>
              <a:defRPr sz="1600" b="0">
                <a:solidFill>
                  <a:srgbClr val="10162F"/>
                </a:solidFill>
                <a:latin typeface="Consolas"/>
              </a:defRPr>
            </a:pPr>
            <a:r>
              <a:t>5501</a:t>
            </a:r>
          </a:p>
        </p:txBody>
      </p:sp>
      <p:sp>
        <p:nvSpPr>
          <p:cNvPr id="44" name="shape-43"/>
          <p:cNvSpPr/>
          <p:nvPr/>
        </p:nvSpPr>
        <p:spPr>
          <a:xfrm>
            <a:off x="2391156" y="5116068"/>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shape-44"/>
          <p:cNvSpPr/>
          <p:nvPr/>
        </p:nvSpPr>
        <p:spPr>
          <a:xfrm>
            <a:off x="3854196" y="5116068"/>
            <a:ext cx="155448" cy="155448"/>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shape-45"/>
          <p:cNvSpPr/>
          <p:nvPr/>
        </p:nvSpPr>
        <p:spPr>
          <a:xfrm>
            <a:off x="5317236" y="5116068"/>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shape-46"/>
          <p:cNvSpPr/>
          <p:nvPr/>
        </p:nvSpPr>
        <p:spPr>
          <a:xfrm>
            <a:off x="6780276" y="5116068"/>
            <a:ext cx="155448" cy="155448"/>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shape-47"/>
          <p:cNvSpPr/>
          <p:nvPr/>
        </p:nvSpPr>
        <p:spPr>
          <a:xfrm>
            <a:off x="8243316" y="5116068"/>
            <a:ext cx="155448" cy="155448"/>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9" name="line-48"/>
          <p:cNvCxnSpPr/>
          <p:nvPr/>
        </p:nvCxnSpPr>
        <p:spPr>
          <a:xfrm flipV="1">
            <a:off x="8915400" y="4389120"/>
            <a:ext cx="1143000" cy="804672"/>
          </a:xfrm>
          <a:prstGeom prst="line">
            <a:avLst/>
          </a:prstGeom>
          <a:ln w="16510">
            <a:solidFill>
              <a:srgbClr val="7958F5"/>
            </a:solidFill>
            <a:tailEnd type="triangle"/>
          </a:ln>
        </p:spPr>
        <p:style>
          <a:lnRef idx="2">
            <a:schemeClr val="accent1"/>
          </a:lnRef>
          <a:fillRef idx="0">
            <a:schemeClr val="accent1"/>
          </a:fillRef>
          <a:effectRef idx="1">
            <a:schemeClr val="accent1"/>
          </a:effectRef>
          <a:fontRef idx="minor">
            <a:schemeClr val="tx1"/>
          </a:fontRef>
        </p:style>
      </p:cxnSp>
      <p:sp>
        <p:nvSpPr>
          <p:cNvPr id="50" name="shape-49"/>
          <p:cNvSpPr/>
          <p:nvPr/>
        </p:nvSpPr>
        <p:spPr>
          <a:xfrm>
            <a:off x="8773668" y="5143500"/>
            <a:ext cx="100584" cy="100584"/>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shape-50"/>
          <p:cNvSpPr/>
          <p:nvPr/>
        </p:nvSpPr>
        <p:spPr>
          <a:xfrm>
            <a:off x="10259568" y="3858768"/>
            <a:ext cx="1060704" cy="1060704"/>
          </a:xfrm>
          <a:prstGeom prst="ellipse">
            <a:avLst/>
          </a:prstGeom>
          <a:noFill/>
          <a:ln w="19050">
            <a:solidFill>
              <a:srgbClr val="795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51"/>
          <p:cNvSpPr txBox="1"/>
          <p:nvPr/>
        </p:nvSpPr>
        <p:spPr>
          <a:xfrm>
            <a:off x="9875520" y="5166360"/>
            <a:ext cx="2011680" cy="457200"/>
          </a:xfrm>
          <a:prstGeom prst="rect">
            <a:avLst/>
          </a:prstGeom>
          <a:noFill/>
        </p:spPr>
        <p:txBody>
          <a:bodyPr wrap="square" lIns="0" tIns="0" rIns="0" bIns="0">
            <a:spAutoFit/>
          </a:bodyPr>
          <a:lstStyle/>
          <a:p>
            <a:pPr>
              <a:spcAft>
                <a:spcPts val="0"/>
              </a:spcAft>
              <a:defRPr sz="2600" b="1">
                <a:solidFill>
                  <a:srgbClr val="7958F5"/>
                </a:solidFill>
                <a:latin typeface="Consolas"/>
              </a:defRPr>
            </a:pPr>
            <a:r>
              <a:t>35.069</a:t>
            </a:r>
          </a:p>
        </p:txBody>
      </p:sp>
      <p:sp>
        <p:nvSpPr>
          <p:cNvPr id="53" name="text-52"/>
          <p:cNvSpPr txBox="1"/>
          <p:nvPr/>
        </p:nvSpPr>
        <p:spPr>
          <a:xfrm>
            <a:off x="731520" y="5852160"/>
            <a:ext cx="5486400" cy="457200"/>
          </a:xfrm>
          <a:prstGeom prst="rect">
            <a:avLst/>
          </a:prstGeom>
          <a:noFill/>
        </p:spPr>
        <p:txBody>
          <a:bodyPr wrap="square" lIns="0" tIns="0" rIns="0" bIns="0">
            <a:spAutoFit/>
          </a:bodyPr>
          <a:lstStyle/>
          <a:p>
            <a:pPr>
              <a:spcAft>
                <a:spcPts val="0"/>
              </a:spcAft>
              <a:defRPr sz="2400" b="0">
                <a:solidFill>
                  <a:srgbClr val="10162F"/>
                </a:solidFill>
                <a:latin typeface="Aptos"/>
              </a:defRPr>
            </a:pPr>
            <a:r>
              <a:t>60.000 dòng FIT / seed</a:t>
            </a:r>
          </a:p>
        </p:txBody>
      </p:sp>
      <p:sp>
        <p:nvSpPr>
          <p:cNvPr id="54" name="text-53"/>
          <p:cNvSpPr txBox="1"/>
          <p:nvPr/>
        </p:nvSpPr>
        <p:spPr>
          <a:xfrm>
            <a:off x="7406640" y="5852160"/>
            <a:ext cx="4297680" cy="457200"/>
          </a:xfrm>
          <a:prstGeom prst="rect">
            <a:avLst/>
          </a:prstGeom>
          <a:noFill/>
        </p:spPr>
        <p:txBody>
          <a:bodyPr wrap="square" lIns="0" tIns="0" rIns="0" bIns="0">
            <a:spAutoFit/>
          </a:bodyPr>
          <a:lstStyle/>
          <a:p>
            <a:pPr>
              <a:spcAft>
                <a:spcPts val="0"/>
              </a:spcAft>
              <a:defRPr sz="2100" b="0">
                <a:solidFill>
                  <a:srgbClr val="7958F5"/>
                </a:solidFill>
                <a:latin typeface="Aptos"/>
              </a:defRPr>
            </a:pPr>
            <a:r>
              <a:t>cùng một validation</a:t>
            </a:r>
          </a:p>
        </p:txBody>
      </p:sp>
    </p:spTree>
  </p:cSld>
  <p:clrMapOvr>
    <a:masterClrMapping/>
  </p:clrMapOvr>
  <mc:AlternateContent xmlns:mc="http://schemas.openxmlformats.org/markup-compatibility/2006" xmlns:p14="http://schemas.microsoft.com/office/powerpoint/2010/main">
    <mc:Choice Requires="p14">
      <p:transition spd="slow" p14:dur="2000" advTm="25000"/>
    </mc:Choice>
    <mc:Fallback xmlns="">
      <p:transition spd="slow"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15000" fill="hold" grpId="0" nodeType="withEffect">
                                  <p:stCondLst>
                                    <p:cond delay="5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accel="15000" decel="15000" fill="hold" grpId="0" nodeType="withEffect">
                                  <p:stCondLst>
                                    <p:cond delay="10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par>
                                <p:cTn id="11" presetID="10" presetClass="entr" presetSubtype="0" accel="15000" decel="15000" fill="hold" grpId="0" nodeType="withEffect">
                                  <p:stCondLst>
                                    <p:cond delay="115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50"/>
                                        <p:tgtEl>
                                          <p:spTgt spid="13"/>
                                        </p:tgtEl>
                                      </p:cBhvr>
                                    </p:animEffect>
                                  </p:childTnLst>
                                </p:cTn>
                              </p:par>
                              <p:par>
                                <p:cTn id="14" presetID="10" presetClass="entr" presetSubtype="0" accel="15000" decel="15000" fill="hold" grpId="0" nodeType="withEffect">
                                  <p:stCondLst>
                                    <p:cond delay="130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250"/>
                                        <p:tgtEl>
                                          <p:spTgt spid="14"/>
                                        </p:tgtEl>
                                      </p:cBhvr>
                                    </p:animEffect>
                                  </p:childTnLst>
                                </p:cTn>
                              </p:par>
                              <p:par>
                                <p:cTn id="17" presetID="10" presetClass="entr" presetSubtype="0" accel="15000" decel="15000" fill="hold" grpId="0" nodeType="withEffect">
                                  <p:stCondLst>
                                    <p:cond delay="145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250"/>
                                        <p:tgtEl>
                                          <p:spTgt spid="15"/>
                                        </p:tgtEl>
                                      </p:cBhvr>
                                    </p:animEffect>
                                  </p:childTnLst>
                                </p:cTn>
                              </p:par>
                              <p:par>
                                <p:cTn id="20" presetID="10" presetClass="entr" presetSubtype="0" accel="15000" decel="15000" fill="hold" grpId="0" nodeType="withEffect">
                                  <p:stCondLst>
                                    <p:cond delay="160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250"/>
                                        <p:tgtEl>
                                          <p:spTgt spid="16"/>
                                        </p:tgtEl>
                                      </p:cBhvr>
                                    </p:animEffect>
                                  </p:childTnLst>
                                </p:cTn>
                              </p:par>
                              <p:par>
                                <p:cTn id="23" presetID="22" presetClass="entr" presetSubtype="8" accel="15000" decel="15000" fill="hold" nodeType="withEffect">
                                  <p:stCondLst>
                                    <p:cond delay="240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600"/>
                                        <p:tgtEl>
                                          <p:spTgt spid="17"/>
                                        </p:tgtEl>
                                      </p:cBhvr>
                                    </p:animEffect>
                                  </p:childTnLst>
                                </p:cTn>
                              </p:par>
                              <p:par>
                                <p:cTn id="26" presetID="10" presetClass="entr" presetSubtype="0" accel="15000" decel="15000" fill="hold" grpId="0" nodeType="withEffect">
                                  <p:stCondLst>
                                    <p:cond delay="250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300"/>
                                        <p:tgtEl>
                                          <p:spTgt spid="19"/>
                                        </p:tgtEl>
                                      </p:cBhvr>
                                    </p:animEffect>
                                  </p:childTnLst>
                                </p:cTn>
                              </p:par>
                              <p:par>
                                <p:cTn id="29" presetID="10" presetClass="entr" presetSubtype="0" accel="15000" decel="15000" fill="hold" grpId="0" nodeType="withEffect">
                                  <p:stCondLst>
                                    <p:cond delay="300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250"/>
                                        <p:tgtEl>
                                          <p:spTgt spid="20"/>
                                        </p:tgtEl>
                                      </p:cBhvr>
                                    </p:animEffect>
                                  </p:childTnLst>
                                </p:cTn>
                              </p:par>
                              <p:par>
                                <p:cTn id="32" presetID="10" presetClass="entr" presetSubtype="0" accel="15000" decel="15000" fill="hold" grpId="0" nodeType="withEffect">
                                  <p:stCondLst>
                                    <p:cond delay="3000"/>
                                  </p:stCondLst>
                                  <p:childTnLst>
                                    <p:set>
                                      <p:cBhvr>
                                        <p:cTn id="33" dur="1" fill="hold">
                                          <p:stCondLst>
                                            <p:cond delay="0"/>
                                          </p:stCondLst>
                                        </p:cTn>
                                        <p:tgtEl>
                                          <p:spTgt spid="51"/>
                                        </p:tgtEl>
                                        <p:attrNameLst>
                                          <p:attrName>style.visibility</p:attrName>
                                        </p:attrNameLst>
                                      </p:cBhvr>
                                      <p:to>
                                        <p:strVal val="visible"/>
                                      </p:to>
                                    </p:set>
                                    <p:animEffect transition="in" filter="fade">
                                      <p:cBhvr>
                                        <p:cTn id="34" dur="600"/>
                                        <p:tgtEl>
                                          <p:spTgt spid="51"/>
                                        </p:tgtEl>
                                      </p:cBhvr>
                                    </p:animEffect>
                                  </p:childTnLst>
                                </p:cTn>
                              </p:par>
                              <p:par>
                                <p:cTn id="35" presetID="10" presetClass="entr" presetSubtype="0" accel="15000" decel="15000" fill="hold" grpId="0" nodeType="withEffect">
                                  <p:stCondLst>
                                    <p:cond delay="310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120"/>
                                        <p:tgtEl>
                                          <p:spTgt spid="18"/>
                                        </p:tgtEl>
                                      </p:cBhvr>
                                    </p:animEffect>
                                  </p:childTnLst>
                                </p:cTn>
                              </p:par>
                              <p:par>
                                <p:cTn id="38" presetID="10" presetClass="entr" presetSubtype="0" accel="15000" decel="15000" fill="hold" grpId="0" nodeType="withEffect">
                                  <p:stCondLst>
                                    <p:cond delay="315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250"/>
                                        <p:tgtEl>
                                          <p:spTgt spid="21"/>
                                        </p:tgtEl>
                                      </p:cBhvr>
                                    </p:animEffect>
                                  </p:childTnLst>
                                </p:cTn>
                              </p:par>
                              <p:par>
                                <p:cTn id="41" presetID="0" presetClass="entr" presetSubtype="0" accel="15000" decel="15000" fill="hold" grpId="1" nodeType="withEffect">
                                  <p:stCondLst>
                                    <p:cond delay="3220"/>
                                  </p:stCondLst>
                                  <p:childTnLst>
                                    <p:set>
                                      <p:cBhvr>
                                        <p:cTn id="42" dur="1" fill="hold">
                                          <p:stCondLst>
                                            <p:cond delay="0"/>
                                          </p:stCondLst>
                                        </p:cTn>
                                        <p:tgtEl>
                                          <p:spTgt spid="18"/>
                                        </p:tgtEl>
                                        <p:attrNameLst>
                                          <p:attrName>style.visibility</p:attrName>
                                        </p:attrNameLst>
                                      </p:cBhvr>
                                      <p:to>
                                        <p:strVal val="visible"/>
                                      </p:to>
                                    </p:set>
                                    <p:animMotion origin="layout" path="M 0 0 L 0.09750000 0.12266667 E" pathEditMode="relative">
                                      <p:cBhvr from="" to="">
                                        <p:cTn id="43" dur="1200" fill="hold">
                                          <p:stCondLst>
                                            <p:cond delay="0"/>
                                          </p:stCondLst>
                                        </p:cTn>
                                        <p:tgtEl>
                                          <p:spTgt spid="18"/>
                                        </p:tgtEl>
                                        <p:attrNameLst>
                                          <p:attrName>ppt_x</p:attrName>
                                          <p:attrName>ppt_y</p:attrName>
                                        </p:attrNameLst>
                                      </p:cBhvr>
                                    </p:animMotion>
                                  </p:childTnLst>
                                </p:cTn>
                              </p:par>
                              <p:par>
                                <p:cTn id="44" presetID="10" presetClass="entr" presetSubtype="0" accel="15000" decel="15000" fill="hold" grpId="0" nodeType="withEffect">
                                  <p:stCondLst>
                                    <p:cond delay="330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250"/>
                                        <p:tgtEl>
                                          <p:spTgt spid="22"/>
                                        </p:tgtEl>
                                      </p:cBhvr>
                                    </p:animEffect>
                                  </p:childTnLst>
                                </p:cTn>
                              </p:par>
                              <p:par>
                                <p:cTn id="47" presetID="10" presetClass="entr" presetSubtype="0" accel="15000" decel="15000" fill="hold" grpId="0" nodeType="withEffect">
                                  <p:stCondLst>
                                    <p:cond delay="345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250"/>
                                        <p:tgtEl>
                                          <p:spTgt spid="23"/>
                                        </p:tgtEl>
                                      </p:cBhvr>
                                    </p:animEffect>
                                  </p:childTnLst>
                                </p:cTn>
                              </p:par>
                              <p:par>
                                <p:cTn id="50" presetID="10" presetClass="entr" presetSubtype="0" accel="15000" decel="15000" fill="hold" grpId="0" nodeType="withEffect">
                                  <p:stCondLst>
                                    <p:cond delay="360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250"/>
                                        <p:tgtEl>
                                          <p:spTgt spid="24"/>
                                        </p:tgtEl>
                                      </p:cBhvr>
                                    </p:animEffect>
                                  </p:childTnLst>
                                </p:cTn>
                              </p:par>
                              <p:par>
                                <p:cTn id="53" presetID="22" presetClass="entr" presetSubtype="8" accel="15000" decel="15000" fill="hold" nodeType="withEffect">
                                  <p:stCondLst>
                                    <p:cond delay="4400"/>
                                  </p:stCondLst>
                                  <p:childTnLst>
                                    <p:set>
                                      <p:cBhvr>
                                        <p:cTn id="54" dur="1" fill="hold">
                                          <p:stCondLst>
                                            <p:cond delay="0"/>
                                          </p:stCondLst>
                                        </p:cTn>
                                        <p:tgtEl>
                                          <p:spTgt spid="25"/>
                                        </p:tgtEl>
                                        <p:attrNameLst>
                                          <p:attrName>style.visibility</p:attrName>
                                        </p:attrNameLst>
                                      </p:cBhvr>
                                      <p:to>
                                        <p:strVal val="visible"/>
                                      </p:to>
                                    </p:set>
                                    <p:animEffect transition="in" filter="wipe(left)">
                                      <p:cBhvr>
                                        <p:cTn id="55" dur="600"/>
                                        <p:tgtEl>
                                          <p:spTgt spid="25"/>
                                        </p:tgtEl>
                                      </p:cBhvr>
                                    </p:animEffect>
                                  </p:childTnLst>
                                </p:cTn>
                              </p:par>
                              <p:par>
                                <p:cTn id="56" presetID="10" presetClass="exit" presetSubtype="0" accel="15000" decel="15000" fill="hold" grpId="2" nodeType="withEffect">
                                  <p:stCondLst>
                                    <p:cond delay="4420"/>
                                  </p:stCondLst>
                                  <p:childTnLst>
                                    <p:animEffect transition="out" filter="fade">
                                      <p:cBhvr>
                                        <p:cTn id="57" dur="120"/>
                                        <p:tgtEl>
                                          <p:spTgt spid="18"/>
                                        </p:tgtEl>
                                      </p:cBhvr>
                                    </p:animEffect>
                                    <p:set>
                                      <p:cBhvr>
                                        <p:cTn id="58" dur="1" fill="hold">
                                          <p:stCondLst>
                                            <p:cond delay="119"/>
                                          </p:stCondLst>
                                        </p:cTn>
                                        <p:tgtEl>
                                          <p:spTgt spid="18"/>
                                        </p:tgtEl>
                                        <p:attrNameLst>
                                          <p:attrName>style.visibility</p:attrName>
                                        </p:attrNameLst>
                                      </p:cBhvr>
                                      <p:to>
                                        <p:strVal val="hidden"/>
                                      </p:to>
                                    </p:set>
                                  </p:childTnLst>
                                </p:cTn>
                              </p:par>
                              <p:par>
                                <p:cTn id="59" presetID="10" presetClass="entr" presetSubtype="0" accel="15000" decel="15000" fill="hold" grpId="0" nodeType="withEffect">
                                  <p:stCondLst>
                                    <p:cond delay="450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300"/>
                                        <p:tgtEl>
                                          <p:spTgt spid="27"/>
                                        </p:tgtEl>
                                      </p:cBhvr>
                                    </p:animEffect>
                                  </p:childTnLst>
                                </p:cTn>
                              </p:par>
                              <p:par>
                                <p:cTn id="62" presetID="10" presetClass="entr" presetSubtype="0" accel="15000" decel="15000" fill="hold" grpId="0" nodeType="withEffect">
                                  <p:stCondLst>
                                    <p:cond delay="500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250"/>
                                        <p:tgtEl>
                                          <p:spTgt spid="28"/>
                                        </p:tgtEl>
                                      </p:cBhvr>
                                    </p:animEffect>
                                  </p:childTnLst>
                                </p:cTn>
                              </p:par>
                              <p:par>
                                <p:cTn id="65" presetID="0" presetClass="entr" presetSubtype="0" repeatCount="6000" accel="15000" decel="15000" autoRev="1" fill="hold" grpId="1" nodeType="withEffect">
                                  <p:stCondLst>
                                    <p:cond delay="5000"/>
                                  </p:stCondLst>
                                  <p:childTnLst>
                                    <p:set>
                                      <p:cBhvr>
                                        <p:cTn id="66" dur="1" fill="hold">
                                          <p:stCondLst>
                                            <p:cond delay="0"/>
                                          </p:stCondLst>
                                        </p:cTn>
                                        <p:tgtEl>
                                          <p:spTgt spid="51"/>
                                        </p:tgtEl>
                                        <p:attrNameLst>
                                          <p:attrName>style.visibility</p:attrName>
                                        </p:attrNameLst>
                                      </p:cBhvr>
                                      <p:to>
                                        <p:strVal val="visible"/>
                                      </p:to>
                                    </p:set>
                                    <p:animScale>
                                      <p:cBhvr>
                                        <p:cTn id="67" dur="1200" fill="hold">
                                          <p:stCondLst>
                                            <p:cond delay="0"/>
                                          </p:stCondLst>
                                        </p:cTn>
                                        <p:tgtEl>
                                          <p:spTgt spid="51"/>
                                        </p:tgtEl>
                                      </p:cBhvr>
                                      <p:from x="100000" y="100000"/>
                                      <p:to x="111000" y="111000"/>
                                    </p:animScale>
                                  </p:childTnLst>
                                </p:cTn>
                              </p:par>
                              <p:par>
                                <p:cTn id="68" presetID="10" presetClass="entr" presetSubtype="0" accel="15000" decel="15000" fill="hold" grpId="0" nodeType="withEffect">
                                  <p:stCondLst>
                                    <p:cond delay="510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120"/>
                                        <p:tgtEl>
                                          <p:spTgt spid="26"/>
                                        </p:tgtEl>
                                      </p:cBhvr>
                                    </p:animEffect>
                                  </p:childTnLst>
                                </p:cTn>
                              </p:par>
                              <p:par>
                                <p:cTn id="71" presetID="10" presetClass="entr" presetSubtype="0" accel="15000" decel="15000" fill="hold" grpId="0" nodeType="withEffect">
                                  <p:stCondLst>
                                    <p:cond delay="515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250"/>
                                        <p:tgtEl>
                                          <p:spTgt spid="29"/>
                                        </p:tgtEl>
                                      </p:cBhvr>
                                    </p:animEffect>
                                  </p:childTnLst>
                                </p:cTn>
                              </p:par>
                              <p:par>
                                <p:cTn id="74" presetID="0" presetClass="entr" presetSubtype="0" accel="15000" decel="15000" fill="hold" grpId="1" nodeType="withEffect">
                                  <p:stCondLst>
                                    <p:cond delay="5220"/>
                                  </p:stCondLst>
                                  <p:childTnLst>
                                    <p:set>
                                      <p:cBhvr>
                                        <p:cTn id="75" dur="1" fill="hold">
                                          <p:stCondLst>
                                            <p:cond delay="0"/>
                                          </p:stCondLst>
                                        </p:cTn>
                                        <p:tgtEl>
                                          <p:spTgt spid="26"/>
                                        </p:tgtEl>
                                        <p:attrNameLst>
                                          <p:attrName>style.visibility</p:attrName>
                                        </p:attrNameLst>
                                      </p:cBhvr>
                                      <p:to>
                                        <p:strVal val="visible"/>
                                      </p:to>
                                    </p:set>
                                    <p:animMotion origin="layout" path="M 0 0 L 0.09750000 0.06266667 E" pathEditMode="relative">
                                      <p:cBhvr from="" to="">
                                        <p:cTn id="76" dur="1200" fill="hold">
                                          <p:stCondLst>
                                            <p:cond delay="0"/>
                                          </p:stCondLst>
                                        </p:cTn>
                                        <p:tgtEl>
                                          <p:spTgt spid="26"/>
                                        </p:tgtEl>
                                        <p:attrNameLst>
                                          <p:attrName>ppt_x</p:attrName>
                                          <p:attrName>ppt_y</p:attrName>
                                        </p:attrNameLst>
                                      </p:cBhvr>
                                    </p:animMotion>
                                  </p:childTnLst>
                                </p:cTn>
                              </p:par>
                              <p:par>
                                <p:cTn id="77" presetID="10" presetClass="entr" presetSubtype="0" accel="15000" decel="15000" fill="hold" grpId="0" nodeType="withEffect">
                                  <p:stCondLst>
                                    <p:cond delay="530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250"/>
                                        <p:tgtEl>
                                          <p:spTgt spid="30"/>
                                        </p:tgtEl>
                                      </p:cBhvr>
                                    </p:animEffect>
                                  </p:childTnLst>
                                </p:cTn>
                              </p:par>
                              <p:par>
                                <p:cTn id="80" presetID="10" presetClass="entr" presetSubtype="0" accel="15000" decel="15000" fill="hold" grpId="0" nodeType="withEffect">
                                  <p:stCondLst>
                                    <p:cond delay="545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250"/>
                                        <p:tgtEl>
                                          <p:spTgt spid="31"/>
                                        </p:tgtEl>
                                      </p:cBhvr>
                                    </p:animEffect>
                                  </p:childTnLst>
                                </p:cTn>
                              </p:par>
                              <p:par>
                                <p:cTn id="83" presetID="10" presetClass="entr" presetSubtype="0" accel="15000" decel="15000" fill="hold" grpId="0" nodeType="withEffect">
                                  <p:stCondLst>
                                    <p:cond delay="560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250"/>
                                        <p:tgtEl>
                                          <p:spTgt spid="32"/>
                                        </p:tgtEl>
                                      </p:cBhvr>
                                    </p:animEffect>
                                  </p:childTnLst>
                                </p:cTn>
                              </p:par>
                              <p:par>
                                <p:cTn id="86" presetID="22" presetClass="entr" presetSubtype="8" accel="15000" decel="15000" fill="hold" nodeType="withEffect">
                                  <p:stCondLst>
                                    <p:cond delay="6400"/>
                                  </p:stCondLst>
                                  <p:childTnLst>
                                    <p:set>
                                      <p:cBhvr>
                                        <p:cTn id="87" dur="1" fill="hold">
                                          <p:stCondLst>
                                            <p:cond delay="0"/>
                                          </p:stCondLst>
                                        </p:cTn>
                                        <p:tgtEl>
                                          <p:spTgt spid="33"/>
                                        </p:tgtEl>
                                        <p:attrNameLst>
                                          <p:attrName>style.visibility</p:attrName>
                                        </p:attrNameLst>
                                      </p:cBhvr>
                                      <p:to>
                                        <p:strVal val="visible"/>
                                      </p:to>
                                    </p:set>
                                    <p:animEffect transition="in" filter="wipe(left)">
                                      <p:cBhvr>
                                        <p:cTn id="88" dur="600"/>
                                        <p:tgtEl>
                                          <p:spTgt spid="33"/>
                                        </p:tgtEl>
                                      </p:cBhvr>
                                    </p:animEffect>
                                  </p:childTnLst>
                                </p:cTn>
                              </p:par>
                              <p:par>
                                <p:cTn id="89" presetID="10" presetClass="exit" presetSubtype="0" accel="15000" decel="15000" fill="hold" grpId="2" nodeType="withEffect">
                                  <p:stCondLst>
                                    <p:cond delay="6420"/>
                                  </p:stCondLst>
                                  <p:childTnLst>
                                    <p:animEffect transition="out" filter="fade">
                                      <p:cBhvr>
                                        <p:cTn id="90" dur="120"/>
                                        <p:tgtEl>
                                          <p:spTgt spid="26"/>
                                        </p:tgtEl>
                                      </p:cBhvr>
                                    </p:animEffect>
                                    <p:set>
                                      <p:cBhvr>
                                        <p:cTn id="91" dur="1" fill="hold">
                                          <p:stCondLst>
                                            <p:cond delay="119"/>
                                          </p:stCondLst>
                                        </p:cTn>
                                        <p:tgtEl>
                                          <p:spTgt spid="26"/>
                                        </p:tgtEl>
                                        <p:attrNameLst>
                                          <p:attrName>style.visibility</p:attrName>
                                        </p:attrNameLst>
                                      </p:cBhvr>
                                      <p:to>
                                        <p:strVal val="hidden"/>
                                      </p:to>
                                    </p:set>
                                  </p:childTnLst>
                                </p:cTn>
                              </p:par>
                              <p:par>
                                <p:cTn id="92" presetID="10" presetClass="entr" presetSubtype="0" accel="15000" decel="15000" fill="hold" grpId="0" nodeType="withEffect">
                                  <p:stCondLst>
                                    <p:cond delay="650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300"/>
                                        <p:tgtEl>
                                          <p:spTgt spid="35"/>
                                        </p:tgtEl>
                                      </p:cBhvr>
                                    </p:animEffect>
                                  </p:childTnLst>
                                </p:cTn>
                              </p:par>
                              <p:par>
                                <p:cTn id="95" presetID="10" presetClass="entr" presetSubtype="0" accel="15000" decel="15000" fill="hold" grpId="0" nodeType="withEffect">
                                  <p:stCondLst>
                                    <p:cond delay="700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250"/>
                                        <p:tgtEl>
                                          <p:spTgt spid="36"/>
                                        </p:tgtEl>
                                      </p:cBhvr>
                                    </p:animEffect>
                                  </p:childTnLst>
                                </p:cTn>
                              </p:par>
                              <p:par>
                                <p:cTn id="98" presetID="10" presetClass="entr" presetSubtype="0" accel="15000" decel="15000" fill="hold" grpId="0" nodeType="withEffect">
                                  <p:stCondLst>
                                    <p:cond delay="710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120"/>
                                        <p:tgtEl>
                                          <p:spTgt spid="34"/>
                                        </p:tgtEl>
                                      </p:cBhvr>
                                    </p:animEffect>
                                  </p:childTnLst>
                                </p:cTn>
                              </p:par>
                              <p:par>
                                <p:cTn id="101" presetID="10" presetClass="entr" presetSubtype="0" accel="15000" decel="15000" fill="hold" grpId="0" nodeType="withEffect">
                                  <p:stCondLst>
                                    <p:cond delay="715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250"/>
                                        <p:tgtEl>
                                          <p:spTgt spid="37"/>
                                        </p:tgtEl>
                                      </p:cBhvr>
                                    </p:animEffect>
                                  </p:childTnLst>
                                </p:cTn>
                              </p:par>
                              <p:par>
                                <p:cTn id="104" presetID="0" presetClass="entr" presetSubtype="0" accel="15000" decel="15000" fill="hold" grpId="1" nodeType="withEffect">
                                  <p:stCondLst>
                                    <p:cond delay="7220"/>
                                  </p:stCondLst>
                                  <p:childTnLst>
                                    <p:set>
                                      <p:cBhvr>
                                        <p:cTn id="105" dur="1" fill="hold">
                                          <p:stCondLst>
                                            <p:cond delay="0"/>
                                          </p:stCondLst>
                                        </p:cTn>
                                        <p:tgtEl>
                                          <p:spTgt spid="34"/>
                                        </p:tgtEl>
                                        <p:attrNameLst>
                                          <p:attrName>style.visibility</p:attrName>
                                        </p:attrNameLst>
                                      </p:cBhvr>
                                      <p:to>
                                        <p:strVal val="visible"/>
                                      </p:to>
                                    </p:set>
                                    <p:animMotion origin="layout" path="M 0 0 L 0.09750000 0.00266667 E" pathEditMode="relative">
                                      <p:cBhvr from="" to="">
                                        <p:cTn id="106" dur="1200" fill="hold">
                                          <p:stCondLst>
                                            <p:cond delay="0"/>
                                          </p:stCondLst>
                                        </p:cTn>
                                        <p:tgtEl>
                                          <p:spTgt spid="34"/>
                                        </p:tgtEl>
                                        <p:attrNameLst>
                                          <p:attrName>ppt_x</p:attrName>
                                          <p:attrName>ppt_y</p:attrName>
                                        </p:attrNameLst>
                                      </p:cBhvr>
                                    </p:animMotion>
                                  </p:childTnLst>
                                </p:cTn>
                              </p:par>
                              <p:par>
                                <p:cTn id="107" presetID="10" presetClass="entr" presetSubtype="0" accel="15000" decel="15000" fill="hold" grpId="0" nodeType="withEffect">
                                  <p:stCondLst>
                                    <p:cond delay="730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250"/>
                                        <p:tgtEl>
                                          <p:spTgt spid="38"/>
                                        </p:tgtEl>
                                      </p:cBhvr>
                                    </p:animEffect>
                                  </p:childTnLst>
                                </p:cTn>
                              </p:par>
                              <p:par>
                                <p:cTn id="110" presetID="10" presetClass="entr" presetSubtype="0" accel="15000" decel="15000" fill="hold" grpId="0" nodeType="withEffect">
                                  <p:stCondLst>
                                    <p:cond delay="745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250"/>
                                        <p:tgtEl>
                                          <p:spTgt spid="39"/>
                                        </p:tgtEl>
                                      </p:cBhvr>
                                    </p:animEffect>
                                  </p:childTnLst>
                                </p:cTn>
                              </p:par>
                              <p:par>
                                <p:cTn id="113" presetID="10" presetClass="entr" presetSubtype="0" accel="15000" decel="15000" fill="hold" grpId="0" nodeType="withEffect">
                                  <p:stCondLst>
                                    <p:cond delay="760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250"/>
                                        <p:tgtEl>
                                          <p:spTgt spid="40"/>
                                        </p:tgtEl>
                                      </p:cBhvr>
                                    </p:animEffect>
                                  </p:childTnLst>
                                </p:cTn>
                              </p:par>
                              <p:par>
                                <p:cTn id="116" presetID="22" presetClass="entr" presetSubtype="8" accel="15000" decel="15000" fill="hold" nodeType="withEffect">
                                  <p:stCondLst>
                                    <p:cond delay="8400"/>
                                  </p:stCondLst>
                                  <p:childTnLst>
                                    <p:set>
                                      <p:cBhvr>
                                        <p:cTn id="117" dur="1" fill="hold">
                                          <p:stCondLst>
                                            <p:cond delay="0"/>
                                          </p:stCondLst>
                                        </p:cTn>
                                        <p:tgtEl>
                                          <p:spTgt spid="41"/>
                                        </p:tgtEl>
                                        <p:attrNameLst>
                                          <p:attrName>style.visibility</p:attrName>
                                        </p:attrNameLst>
                                      </p:cBhvr>
                                      <p:to>
                                        <p:strVal val="visible"/>
                                      </p:to>
                                    </p:set>
                                    <p:animEffect transition="in" filter="wipe(left)">
                                      <p:cBhvr>
                                        <p:cTn id="118" dur="600"/>
                                        <p:tgtEl>
                                          <p:spTgt spid="41"/>
                                        </p:tgtEl>
                                      </p:cBhvr>
                                    </p:animEffect>
                                  </p:childTnLst>
                                </p:cTn>
                              </p:par>
                              <p:par>
                                <p:cTn id="119" presetID="10" presetClass="exit" presetSubtype="0" accel="15000" decel="15000" fill="hold" grpId="2" nodeType="withEffect">
                                  <p:stCondLst>
                                    <p:cond delay="8420"/>
                                  </p:stCondLst>
                                  <p:childTnLst>
                                    <p:animEffect transition="out" filter="fade">
                                      <p:cBhvr>
                                        <p:cTn id="120" dur="120"/>
                                        <p:tgtEl>
                                          <p:spTgt spid="34"/>
                                        </p:tgtEl>
                                      </p:cBhvr>
                                    </p:animEffect>
                                    <p:set>
                                      <p:cBhvr>
                                        <p:cTn id="121" dur="1" fill="hold">
                                          <p:stCondLst>
                                            <p:cond delay="119"/>
                                          </p:stCondLst>
                                        </p:cTn>
                                        <p:tgtEl>
                                          <p:spTgt spid="34"/>
                                        </p:tgtEl>
                                        <p:attrNameLst>
                                          <p:attrName>style.visibility</p:attrName>
                                        </p:attrNameLst>
                                      </p:cBhvr>
                                      <p:to>
                                        <p:strVal val="hidden"/>
                                      </p:to>
                                    </p:set>
                                  </p:childTnLst>
                                </p:cTn>
                              </p:par>
                              <p:par>
                                <p:cTn id="122" presetID="10" presetClass="entr" presetSubtype="0" accel="15000" decel="15000" fill="hold" grpId="0" nodeType="withEffect">
                                  <p:stCondLst>
                                    <p:cond delay="850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300"/>
                                        <p:tgtEl>
                                          <p:spTgt spid="43"/>
                                        </p:tgtEl>
                                      </p:cBhvr>
                                    </p:animEffect>
                                  </p:childTnLst>
                                </p:cTn>
                              </p:par>
                              <p:par>
                                <p:cTn id="125" presetID="10" presetClass="entr" presetSubtype="0" accel="15000" decel="15000" fill="hold" grpId="0" nodeType="withEffect">
                                  <p:stCondLst>
                                    <p:cond delay="900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250"/>
                                        <p:tgtEl>
                                          <p:spTgt spid="44"/>
                                        </p:tgtEl>
                                      </p:cBhvr>
                                    </p:animEffect>
                                  </p:childTnLst>
                                </p:cTn>
                              </p:par>
                              <p:par>
                                <p:cTn id="128" presetID="10" presetClass="entr" presetSubtype="0" accel="15000" decel="15000" fill="hold" grpId="0" nodeType="withEffect">
                                  <p:stCondLst>
                                    <p:cond delay="910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120"/>
                                        <p:tgtEl>
                                          <p:spTgt spid="42"/>
                                        </p:tgtEl>
                                      </p:cBhvr>
                                    </p:animEffect>
                                  </p:childTnLst>
                                </p:cTn>
                              </p:par>
                              <p:par>
                                <p:cTn id="131" presetID="10" presetClass="entr" presetSubtype="0" accel="15000" decel="15000" fill="hold" grpId="0" nodeType="withEffect">
                                  <p:stCondLst>
                                    <p:cond delay="9150"/>
                                  </p:stCondLst>
                                  <p:childTnLst>
                                    <p:set>
                                      <p:cBhvr>
                                        <p:cTn id="132" dur="1" fill="hold">
                                          <p:stCondLst>
                                            <p:cond delay="0"/>
                                          </p:stCondLst>
                                        </p:cTn>
                                        <p:tgtEl>
                                          <p:spTgt spid="45"/>
                                        </p:tgtEl>
                                        <p:attrNameLst>
                                          <p:attrName>style.visibility</p:attrName>
                                        </p:attrNameLst>
                                      </p:cBhvr>
                                      <p:to>
                                        <p:strVal val="visible"/>
                                      </p:to>
                                    </p:set>
                                    <p:animEffect transition="in" filter="fade">
                                      <p:cBhvr>
                                        <p:cTn id="133" dur="250"/>
                                        <p:tgtEl>
                                          <p:spTgt spid="45"/>
                                        </p:tgtEl>
                                      </p:cBhvr>
                                    </p:animEffect>
                                  </p:childTnLst>
                                </p:cTn>
                              </p:par>
                              <p:par>
                                <p:cTn id="134" presetID="0" presetClass="entr" presetSubtype="0" accel="15000" decel="15000" fill="hold" grpId="1" nodeType="withEffect">
                                  <p:stCondLst>
                                    <p:cond delay="9220"/>
                                  </p:stCondLst>
                                  <p:childTnLst>
                                    <p:set>
                                      <p:cBhvr>
                                        <p:cTn id="135" dur="1" fill="hold">
                                          <p:stCondLst>
                                            <p:cond delay="0"/>
                                          </p:stCondLst>
                                        </p:cTn>
                                        <p:tgtEl>
                                          <p:spTgt spid="42"/>
                                        </p:tgtEl>
                                        <p:attrNameLst>
                                          <p:attrName>style.visibility</p:attrName>
                                        </p:attrNameLst>
                                      </p:cBhvr>
                                      <p:to>
                                        <p:strVal val="visible"/>
                                      </p:to>
                                    </p:set>
                                    <p:animMotion origin="layout" path="M 0 0 L 0.09750000 -0.05733333 E" pathEditMode="relative">
                                      <p:cBhvr from="" to="">
                                        <p:cTn id="136" dur="1200" fill="hold">
                                          <p:stCondLst>
                                            <p:cond delay="0"/>
                                          </p:stCondLst>
                                        </p:cTn>
                                        <p:tgtEl>
                                          <p:spTgt spid="42"/>
                                        </p:tgtEl>
                                        <p:attrNameLst>
                                          <p:attrName>ppt_x</p:attrName>
                                          <p:attrName>ppt_y</p:attrName>
                                        </p:attrNameLst>
                                      </p:cBhvr>
                                    </p:animMotion>
                                  </p:childTnLst>
                                </p:cTn>
                              </p:par>
                              <p:par>
                                <p:cTn id="137" presetID="10" presetClass="entr" presetSubtype="0" accel="15000" decel="15000" fill="hold" grpId="0" nodeType="withEffect">
                                  <p:stCondLst>
                                    <p:cond delay="9300"/>
                                  </p:stCondLst>
                                  <p:childTnLst>
                                    <p:set>
                                      <p:cBhvr>
                                        <p:cTn id="138" dur="1" fill="hold">
                                          <p:stCondLst>
                                            <p:cond delay="0"/>
                                          </p:stCondLst>
                                        </p:cTn>
                                        <p:tgtEl>
                                          <p:spTgt spid="46"/>
                                        </p:tgtEl>
                                        <p:attrNameLst>
                                          <p:attrName>style.visibility</p:attrName>
                                        </p:attrNameLst>
                                      </p:cBhvr>
                                      <p:to>
                                        <p:strVal val="visible"/>
                                      </p:to>
                                    </p:set>
                                    <p:animEffect transition="in" filter="fade">
                                      <p:cBhvr>
                                        <p:cTn id="139" dur="250"/>
                                        <p:tgtEl>
                                          <p:spTgt spid="46"/>
                                        </p:tgtEl>
                                      </p:cBhvr>
                                    </p:animEffect>
                                  </p:childTnLst>
                                </p:cTn>
                              </p:par>
                              <p:par>
                                <p:cTn id="140" presetID="10" presetClass="entr" presetSubtype="0" accel="15000" decel="15000" fill="hold" grpId="0" nodeType="withEffect">
                                  <p:stCondLst>
                                    <p:cond delay="945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250"/>
                                        <p:tgtEl>
                                          <p:spTgt spid="47"/>
                                        </p:tgtEl>
                                      </p:cBhvr>
                                    </p:animEffect>
                                  </p:childTnLst>
                                </p:cTn>
                              </p:par>
                              <p:par>
                                <p:cTn id="143" presetID="10" presetClass="entr" presetSubtype="0" accel="15000" decel="15000" fill="hold" grpId="0" nodeType="withEffect">
                                  <p:stCondLst>
                                    <p:cond delay="9600"/>
                                  </p:stCondLst>
                                  <p:childTnLst>
                                    <p:set>
                                      <p:cBhvr>
                                        <p:cTn id="144" dur="1" fill="hold">
                                          <p:stCondLst>
                                            <p:cond delay="0"/>
                                          </p:stCondLst>
                                        </p:cTn>
                                        <p:tgtEl>
                                          <p:spTgt spid="48"/>
                                        </p:tgtEl>
                                        <p:attrNameLst>
                                          <p:attrName>style.visibility</p:attrName>
                                        </p:attrNameLst>
                                      </p:cBhvr>
                                      <p:to>
                                        <p:strVal val="visible"/>
                                      </p:to>
                                    </p:set>
                                    <p:animEffect transition="in" filter="fade">
                                      <p:cBhvr>
                                        <p:cTn id="145" dur="250"/>
                                        <p:tgtEl>
                                          <p:spTgt spid="48"/>
                                        </p:tgtEl>
                                      </p:cBhvr>
                                    </p:animEffect>
                                  </p:childTnLst>
                                </p:cTn>
                              </p:par>
                              <p:par>
                                <p:cTn id="146" presetID="22" presetClass="entr" presetSubtype="8" accel="15000" decel="15000" fill="hold" nodeType="withEffect">
                                  <p:stCondLst>
                                    <p:cond delay="10400"/>
                                  </p:stCondLst>
                                  <p:childTnLst>
                                    <p:set>
                                      <p:cBhvr>
                                        <p:cTn id="147" dur="1" fill="hold">
                                          <p:stCondLst>
                                            <p:cond delay="0"/>
                                          </p:stCondLst>
                                        </p:cTn>
                                        <p:tgtEl>
                                          <p:spTgt spid="49"/>
                                        </p:tgtEl>
                                        <p:attrNameLst>
                                          <p:attrName>style.visibility</p:attrName>
                                        </p:attrNameLst>
                                      </p:cBhvr>
                                      <p:to>
                                        <p:strVal val="visible"/>
                                      </p:to>
                                    </p:set>
                                    <p:animEffect transition="in" filter="wipe(left)">
                                      <p:cBhvr>
                                        <p:cTn id="148" dur="600"/>
                                        <p:tgtEl>
                                          <p:spTgt spid="49"/>
                                        </p:tgtEl>
                                      </p:cBhvr>
                                    </p:animEffect>
                                  </p:childTnLst>
                                </p:cTn>
                              </p:par>
                              <p:par>
                                <p:cTn id="149" presetID="10" presetClass="exit" presetSubtype="0" accel="15000" decel="15000" fill="hold" grpId="2" nodeType="withEffect">
                                  <p:stCondLst>
                                    <p:cond delay="10420"/>
                                  </p:stCondLst>
                                  <p:childTnLst>
                                    <p:animEffect transition="out" filter="fade">
                                      <p:cBhvr>
                                        <p:cTn id="150" dur="120"/>
                                        <p:tgtEl>
                                          <p:spTgt spid="42"/>
                                        </p:tgtEl>
                                      </p:cBhvr>
                                    </p:animEffect>
                                    <p:set>
                                      <p:cBhvr>
                                        <p:cTn id="151" dur="1" fill="hold">
                                          <p:stCondLst>
                                            <p:cond delay="119"/>
                                          </p:stCondLst>
                                        </p:cTn>
                                        <p:tgtEl>
                                          <p:spTgt spid="42"/>
                                        </p:tgtEl>
                                        <p:attrNameLst>
                                          <p:attrName>style.visibility</p:attrName>
                                        </p:attrNameLst>
                                      </p:cBhvr>
                                      <p:to>
                                        <p:strVal val="hidden"/>
                                      </p:to>
                                    </p:set>
                                  </p:childTnLst>
                                </p:cTn>
                              </p:par>
                              <p:par>
                                <p:cTn id="152" presetID="10" presetClass="entr" presetSubtype="0" accel="15000" decel="15000" fill="hold" grpId="0" nodeType="withEffect">
                                  <p:stCondLst>
                                    <p:cond delay="11100"/>
                                  </p:stCondLst>
                                  <p:childTnLst>
                                    <p:set>
                                      <p:cBhvr>
                                        <p:cTn id="153" dur="1" fill="hold">
                                          <p:stCondLst>
                                            <p:cond delay="0"/>
                                          </p:stCondLst>
                                        </p:cTn>
                                        <p:tgtEl>
                                          <p:spTgt spid="50"/>
                                        </p:tgtEl>
                                        <p:attrNameLst>
                                          <p:attrName>style.visibility</p:attrName>
                                        </p:attrNameLst>
                                      </p:cBhvr>
                                      <p:to>
                                        <p:strVal val="visible"/>
                                      </p:to>
                                    </p:set>
                                    <p:animEffect transition="in" filter="fade">
                                      <p:cBhvr>
                                        <p:cTn id="154" dur="120"/>
                                        <p:tgtEl>
                                          <p:spTgt spid="50"/>
                                        </p:tgtEl>
                                      </p:cBhvr>
                                    </p:animEffect>
                                  </p:childTnLst>
                                </p:cTn>
                              </p:par>
                              <p:par>
                                <p:cTn id="155" presetID="0" presetClass="entr" presetSubtype="0" accel="15000" decel="15000" fill="hold" grpId="1" nodeType="withEffect">
                                  <p:stCondLst>
                                    <p:cond delay="11220"/>
                                  </p:stCondLst>
                                  <p:childTnLst>
                                    <p:set>
                                      <p:cBhvr>
                                        <p:cTn id="156" dur="1" fill="hold">
                                          <p:stCondLst>
                                            <p:cond delay="0"/>
                                          </p:stCondLst>
                                        </p:cTn>
                                        <p:tgtEl>
                                          <p:spTgt spid="50"/>
                                        </p:tgtEl>
                                        <p:attrNameLst>
                                          <p:attrName>style.visibility</p:attrName>
                                        </p:attrNameLst>
                                      </p:cBhvr>
                                      <p:to>
                                        <p:strVal val="visible"/>
                                      </p:to>
                                    </p:set>
                                    <p:animMotion origin="layout" path="M 0 0 L 0.09750000 -0.11733333 E" pathEditMode="relative">
                                      <p:cBhvr from="" to="">
                                        <p:cTn id="157" dur="1200" fill="hold">
                                          <p:stCondLst>
                                            <p:cond delay="0"/>
                                          </p:stCondLst>
                                        </p:cTn>
                                        <p:tgtEl>
                                          <p:spTgt spid="50"/>
                                        </p:tgtEl>
                                        <p:attrNameLst>
                                          <p:attrName>ppt_x</p:attrName>
                                          <p:attrName>ppt_y</p:attrName>
                                        </p:attrNameLst>
                                      </p:cBhvr>
                                    </p:animMotion>
                                  </p:childTnLst>
                                </p:cTn>
                              </p:par>
                              <p:par>
                                <p:cTn id="158" presetID="10" presetClass="exit" presetSubtype="0" accel="15000" decel="15000" fill="hold" grpId="2" nodeType="withEffect">
                                  <p:stCondLst>
                                    <p:cond delay="12420"/>
                                  </p:stCondLst>
                                  <p:childTnLst>
                                    <p:animEffect transition="out" filter="fade">
                                      <p:cBhvr>
                                        <p:cTn id="159" dur="120"/>
                                        <p:tgtEl>
                                          <p:spTgt spid="50"/>
                                        </p:tgtEl>
                                      </p:cBhvr>
                                    </p:animEffect>
                                    <p:set>
                                      <p:cBhvr>
                                        <p:cTn id="160" dur="1" fill="hold">
                                          <p:stCondLst>
                                            <p:cond delay="119"/>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animBg="1"/>
      <p:bldP spid="14" grpId="0" animBg="1"/>
      <p:bldP spid="15" grpId="0" animBg="1"/>
      <p:bldP spid="16" grpId="0" animBg="1"/>
      <p:bldP spid="18" grpId="0" animBg="1"/>
      <p:bldP spid="18" grpId="1" animBg="1"/>
      <p:bldP spid="18" grpId="2" animBg="1"/>
      <p:bldP spid="19" grpId="0"/>
      <p:bldP spid="20" grpId="0" animBg="1"/>
      <p:bldP spid="21" grpId="0" animBg="1"/>
      <p:bldP spid="22" grpId="0" animBg="1"/>
      <p:bldP spid="23" grpId="0" animBg="1"/>
      <p:bldP spid="24" grpId="0" animBg="1"/>
      <p:bldP spid="26" grpId="0" animBg="1"/>
      <p:bldP spid="26" grpId="1" animBg="1"/>
      <p:bldP spid="26" grpId="2" animBg="1"/>
      <p:bldP spid="27" grpId="0"/>
      <p:bldP spid="28" grpId="0" animBg="1"/>
      <p:bldP spid="29" grpId="0" animBg="1"/>
      <p:bldP spid="30" grpId="0" animBg="1"/>
      <p:bldP spid="31" grpId="0" animBg="1"/>
      <p:bldP spid="32" grpId="0" animBg="1"/>
      <p:bldP spid="34" grpId="0" animBg="1"/>
      <p:bldP spid="34" grpId="1" animBg="1"/>
      <p:bldP spid="34" grpId="2" animBg="1"/>
      <p:bldP spid="35" grpId="0"/>
      <p:bldP spid="36" grpId="0" animBg="1"/>
      <p:bldP spid="37" grpId="0" animBg="1"/>
      <p:bldP spid="38" grpId="0" animBg="1"/>
      <p:bldP spid="39" grpId="0" animBg="1"/>
      <p:bldP spid="40" grpId="0" animBg="1"/>
      <p:bldP spid="42" grpId="0" animBg="1"/>
      <p:bldP spid="42" grpId="1" animBg="1"/>
      <p:bldP spid="42" grpId="2" animBg="1"/>
      <p:bldP spid="43" grpId="0"/>
      <p:bldP spid="44" grpId="0" animBg="1"/>
      <p:bldP spid="45" grpId="0" animBg="1"/>
      <p:bldP spid="46" grpId="0" animBg="1"/>
      <p:bldP spid="47" grpId="0" animBg="1"/>
      <p:bldP spid="48" grpId="0" animBg="1"/>
      <p:bldP spid="50" grpId="0" animBg="1"/>
      <p:bldP spid="50" grpId="1" animBg="1"/>
      <p:bldP spid="50" grpId="2" animBg="1"/>
      <p:bldP spid="51" grpId="0" animBg="1"/>
      <p:bldP spid="51"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162F"/>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F8F5EE"/>
                </a:solidFill>
                <a:latin typeface="Consolas"/>
              </a:defRPr>
            </a:pPr>
            <a:r>
              <a:t>ENSEMBLE / IDS                         SELECTION</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F8F5EE"/>
                </a:solidFill>
                <a:latin typeface="Consolas"/>
              </a:defRPr>
            </a:pPr>
            <a:r>
              <a:t>06</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F8F5EE"/>
                </a:solidFill>
                <a:latin typeface="Aptos"/>
              </a:defRPr>
            </a:pPr>
            <a:r>
              <a:t>P21 hậu nghiệm trên TRAIN · 5 FIT seed · cùng 35.069 dòng internal validation</a:t>
            </a:r>
          </a:p>
        </p:txBody>
      </p:sp>
      <p:sp>
        <p:nvSpPr>
          <p:cNvPr id="5" name="hero-title"/>
          <p:cNvSpPr txBox="1"/>
          <p:nvPr/>
        </p:nvSpPr>
        <p:spPr>
          <a:xfrm>
            <a:off x="502920" y="868680"/>
            <a:ext cx="6858000" cy="1737360"/>
          </a:xfrm>
          <a:prstGeom prst="rect">
            <a:avLst/>
          </a:prstGeom>
          <a:noFill/>
        </p:spPr>
        <p:txBody>
          <a:bodyPr wrap="square" lIns="0" tIns="0" rIns="0" bIns="0">
            <a:spAutoFit/>
          </a:bodyPr>
          <a:lstStyle/>
          <a:p>
            <a:pPr>
              <a:spcAft>
                <a:spcPts val="0"/>
              </a:spcAft>
              <a:defRPr sz="5500" b="1">
                <a:solidFill>
                  <a:srgbClr val="F8F5EE"/>
                </a:solidFill>
                <a:latin typeface="Arial"/>
              </a:defRPr>
            </a:pPr>
            <a:r>
              <a:t>BỚT BIẾN.</a:t>
            </a:r>
          </a:p>
          <a:p>
            <a:pPr>
              <a:spcAft>
                <a:spcPts val="0"/>
              </a:spcAft>
              <a:defRPr sz="5500" b="1">
                <a:solidFill>
                  <a:srgbClr val="F8F5EE"/>
                </a:solidFill>
                <a:latin typeface="Arial"/>
              </a:defRPr>
            </a:pPr>
            <a:r>
              <a:t>BỚT CHI PHÍ?</a:t>
            </a:r>
          </a:p>
        </p:txBody>
      </p:sp>
      <p:sp>
        <p:nvSpPr>
          <p:cNvPr id="6" name="text-5"/>
          <p:cNvSpPr txBox="1"/>
          <p:nvPr/>
        </p:nvSpPr>
        <p:spPr>
          <a:xfrm>
            <a:off x="7406640" y="1097280"/>
            <a:ext cx="4389120" cy="365760"/>
          </a:xfrm>
          <a:prstGeom prst="rect">
            <a:avLst/>
          </a:prstGeom>
          <a:noFill/>
        </p:spPr>
        <p:txBody>
          <a:bodyPr wrap="square" lIns="0" tIns="0" rIns="0" bIns="0">
            <a:spAutoFit/>
          </a:bodyPr>
          <a:lstStyle/>
          <a:p>
            <a:pPr>
              <a:spcAft>
                <a:spcPts val="0"/>
              </a:spcAft>
              <a:defRPr sz="1800" b="0">
                <a:solidFill>
                  <a:srgbClr val="B4B8CB"/>
                </a:solidFill>
                <a:latin typeface="Aptos"/>
              </a:defRPr>
            </a:pPr>
            <a:r>
              <a:t>P21 · Macro-F1 trung bình</a:t>
            </a:r>
          </a:p>
        </p:txBody>
      </p:sp>
      <p:sp>
        <p:nvSpPr>
          <p:cNvPr id="7" name="text-6"/>
          <p:cNvSpPr txBox="1"/>
          <p:nvPr/>
        </p:nvSpPr>
        <p:spPr>
          <a:xfrm>
            <a:off x="7406640" y="1691640"/>
            <a:ext cx="4389120" cy="1280160"/>
          </a:xfrm>
          <a:prstGeom prst="rect">
            <a:avLst/>
          </a:prstGeom>
          <a:noFill/>
        </p:spPr>
        <p:txBody>
          <a:bodyPr wrap="square" lIns="0" tIns="0" rIns="0" bIns="0">
            <a:spAutoFit/>
          </a:bodyPr>
          <a:lstStyle/>
          <a:p>
            <a:pPr>
              <a:spcAft>
                <a:spcPts val="0"/>
              </a:spcAft>
              <a:defRPr sz="2100" b="0">
                <a:solidFill>
                  <a:srgbClr val="F8F5EE"/>
                </a:solidFill>
                <a:latin typeface="Consolas"/>
              </a:defRPr>
            </a:pPr>
            <a:r>
              <a:t>RF42-Lite   0,945220</a:t>
            </a:r>
          </a:p>
          <a:p>
            <a:pPr>
              <a:spcAft>
                <a:spcPts val="0"/>
              </a:spcAft>
              <a:defRPr sz="2100" b="0">
                <a:solidFill>
                  <a:srgbClr val="F8F5EE"/>
                </a:solidFill>
                <a:latin typeface="Consolas"/>
              </a:defRPr>
            </a:pPr>
            <a:r>
              <a:t>Stack-Lite  0,944731</a:t>
            </a:r>
          </a:p>
          <a:p>
            <a:pPr>
              <a:spcAft>
                <a:spcPts val="0"/>
              </a:spcAft>
              <a:defRPr sz="2100" b="0">
                <a:solidFill>
                  <a:srgbClr val="F8F5EE"/>
                </a:solidFill>
                <a:latin typeface="Consolas"/>
              </a:defRPr>
            </a:pPr>
            <a:r>
              <a:t>RF17-Lite   0,936751</a:t>
            </a:r>
          </a:p>
        </p:txBody>
      </p:sp>
      <p:sp>
        <p:nvSpPr>
          <p:cNvPr id="8" name="text-7"/>
          <p:cNvSpPr txBox="1"/>
          <p:nvPr/>
        </p:nvSpPr>
        <p:spPr>
          <a:xfrm>
            <a:off x="594360" y="3520440"/>
            <a:ext cx="2331720" cy="370078"/>
          </a:xfrm>
          <a:prstGeom prst="rect">
            <a:avLst/>
          </a:prstGeom>
          <a:noFill/>
        </p:spPr>
        <p:txBody>
          <a:bodyPr wrap="square" lIns="0" tIns="0" rIns="0" bIns="0">
            <a:spAutoFit/>
          </a:bodyPr>
          <a:lstStyle/>
          <a:p>
            <a:pPr>
              <a:spcAft>
                <a:spcPts val="0"/>
              </a:spcAft>
              <a:defRPr sz="2300" b="1">
                <a:solidFill>
                  <a:srgbClr val="F8F5EE"/>
                </a:solidFill>
                <a:latin typeface="Aptos"/>
              </a:defRPr>
            </a:pPr>
            <a:r>
              <a:t>RF42-Lite</a:t>
            </a:r>
          </a:p>
        </p:txBody>
      </p:sp>
      <p:sp>
        <p:nvSpPr>
          <p:cNvPr id="9" name="cost-0-0"/>
          <p:cNvSpPr/>
          <p:nvPr/>
        </p:nvSpPr>
        <p:spPr>
          <a:xfrm>
            <a:off x="3063240" y="3657600"/>
            <a:ext cx="4976530" cy="365760"/>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9"/>
          <p:cNvSpPr txBox="1"/>
          <p:nvPr/>
        </p:nvSpPr>
        <p:spPr>
          <a:xfrm>
            <a:off x="594360" y="4480559"/>
            <a:ext cx="2331720" cy="370078"/>
          </a:xfrm>
          <a:prstGeom prst="rect">
            <a:avLst/>
          </a:prstGeom>
          <a:noFill/>
        </p:spPr>
        <p:txBody>
          <a:bodyPr wrap="square" lIns="0" tIns="0" rIns="0" bIns="0">
            <a:spAutoFit/>
          </a:bodyPr>
          <a:lstStyle/>
          <a:p>
            <a:pPr>
              <a:spcAft>
                <a:spcPts val="0"/>
              </a:spcAft>
              <a:defRPr sz="2300" b="1">
                <a:solidFill>
                  <a:srgbClr val="F8F5EE"/>
                </a:solidFill>
                <a:latin typeface="Aptos"/>
              </a:defRPr>
            </a:pPr>
            <a:r>
              <a:t>RF17-Lite</a:t>
            </a:r>
          </a:p>
        </p:txBody>
      </p:sp>
      <p:sp>
        <p:nvSpPr>
          <p:cNvPr id="11" name="cost-1-0"/>
          <p:cNvSpPr/>
          <p:nvPr/>
        </p:nvSpPr>
        <p:spPr>
          <a:xfrm>
            <a:off x="3063240" y="4617720"/>
            <a:ext cx="4649005" cy="365760"/>
          </a:xfrm>
          <a:prstGeom prst="rect">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ost-1-1"/>
          <p:cNvSpPr/>
          <p:nvPr/>
        </p:nvSpPr>
        <p:spPr>
          <a:xfrm>
            <a:off x="7712245" y="4617720"/>
            <a:ext cx="1746085" cy="365760"/>
          </a:xfrm>
          <a:prstGeom prst="rect">
            <a:avLst/>
          </a:prstGeom>
          <a:solidFill>
            <a:srgbClr val="C5F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12"/>
          <p:cNvSpPr txBox="1"/>
          <p:nvPr/>
        </p:nvSpPr>
        <p:spPr>
          <a:xfrm>
            <a:off x="594360" y="5559552"/>
            <a:ext cx="10972800" cy="594360"/>
          </a:xfrm>
          <a:prstGeom prst="rect">
            <a:avLst/>
          </a:prstGeom>
          <a:noFill/>
        </p:spPr>
        <p:txBody>
          <a:bodyPr wrap="square" lIns="0" tIns="0" rIns="0" bIns="0">
            <a:spAutoFit/>
          </a:bodyPr>
          <a:lstStyle/>
          <a:p>
            <a:pPr>
              <a:spcAft>
                <a:spcPts val="0"/>
              </a:spcAft>
              <a:defRPr sz="3200" b="1">
                <a:solidFill>
                  <a:srgbClr val="C5F66A"/>
                </a:solidFill>
                <a:latin typeface="Consolas"/>
              </a:defRPr>
            </a:pPr>
            <a:r>
              <a:t>225,250 + 84,600 = 309,850 s</a:t>
            </a:r>
          </a:p>
        </p:txBody>
      </p:sp>
      <p:sp>
        <p:nvSpPr>
          <p:cNvPr id="14" name="text-13"/>
          <p:cNvSpPr txBox="1"/>
          <p:nvPr/>
        </p:nvSpPr>
        <p:spPr>
          <a:xfrm>
            <a:off x="3063240" y="5120640"/>
            <a:ext cx="8503920" cy="320040"/>
          </a:xfrm>
          <a:prstGeom prst="rect">
            <a:avLst/>
          </a:prstGeom>
          <a:noFill/>
        </p:spPr>
        <p:txBody>
          <a:bodyPr wrap="square" lIns="0" tIns="0" rIns="0" bIns="0">
            <a:spAutoFit/>
          </a:bodyPr>
          <a:lstStyle/>
          <a:p>
            <a:pPr>
              <a:spcAft>
                <a:spcPts val="0"/>
              </a:spcAft>
              <a:defRPr sz="1700" b="0">
                <a:solidFill>
                  <a:srgbClr val="F8F5EE"/>
                </a:solidFill>
                <a:latin typeface="Aptos"/>
              </a:defRPr>
            </a:pPr>
            <a:r>
              <a:t>Violet: chọn biến 225,250 s   |   Lime: fit RF17 84,600 s</a:t>
            </a:r>
          </a:p>
        </p:txBody>
      </p:sp>
      <p:sp>
        <p:nvSpPr>
          <p:cNvPr id="15" name="text-14"/>
          <p:cNvSpPr txBox="1"/>
          <p:nvPr/>
        </p:nvSpPr>
        <p:spPr>
          <a:xfrm>
            <a:off x="594360" y="6080760"/>
            <a:ext cx="10972800" cy="274320"/>
          </a:xfrm>
          <a:prstGeom prst="rect">
            <a:avLst/>
          </a:prstGeom>
          <a:noFill/>
        </p:spPr>
        <p:txBody>
          <a:bodyPr wrap="square" lIns="0" tIns="0" rIns="0" bIns="0">
            <a:spAutoFit/>
          </a:bodyPr>
          <a:lstStyle/>
          <a:p>
            <a:pPr>
              <a:spcAft>
                <a:spcPts val="0"/>
              </a:spcAft>
              <a:defRPr sz="1600" b="0">
                <a:solidFill>
                  <a:srgbClr val="B4B8CB"/>
                </a:solidFill>
                <a:latin typeface="Aptos"/>
              </a:defRPr>
            </a:pPr>
            <a:r>
              <a:t>RF42 fit: 241,119 s · RF17: chọn biến + fit · chưa phải end-to-end</a:t>
            </a:r>
          </a:p>
        </p:txBody>
      </p:sp>
    </p:spTree>
  </p:cSld>
  <p:clrMapOvr>
    <a:masterClrMapping/>
  </p:clrMapOvr>
  <mc:AlternateContent xmlns:mc="http://schemas.openxmlformats.org/markup-compatibility/2006" xmlns:p14="http://schemas.microsoft.com/office/powerpoint/2010/main">
    <mc:Choice Requires="p14">
      <p:transition spd="slow" p14:dur="2000" advTm="25000"/>
    </mc:Choice>
    <mc:Fallback xmlns="">
      <p:transition spd="slow"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accel="15000" decel="15000" fill="hold" grpId="0" nodeType="withEffect">
                                  <p:stCondLst>
                                    <p:cond delay="200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2000"/>
                                        <p:tgtEl>
                                          <p:spTgt spid="9"/>
                                        </p:tgtEl>
                                      </p:cBhvr>
                                    </p:animEffect>
                                  </p:childTnLst>
                                </p:cTn>
                              </p:par>
                              <p:par>
                                <p:cTn id="8" presetID="22" presetClass="entr" presetSubtype="8" accel="15000" decel="15000" fill="hold" grpId="0" nodeType="withEffect">
                                  <p:stCondLst>
                                    <p:cond delay="800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2000"/>
                                        <p:tgtEl>
                                          <p:spTgt spid="11"/>
                                        </p:tgtEl>
                                      </p:cBhvr>
                                    </p:animEffect>
                                  </p:childTnLst>
                                </p:cTn>
                              </p:par>
                              <p:par>
                                <p:cTn id="11" presetID="22" presetClass="entr" presetSubtype="8" accel="15000" decel="15000" fill="hold" grpId="0" nodeType="withEffect">
                                  <p:stCondLst>
                                    <p:cond delay="1100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2000"/>
                                        <p:tgtEl>
                                          <p:spTgt spid="12"/>
                                        </p:tgtEl>
                                      </p:cBhvr>
                                    </p:animEffect>
                                  </p:childTnLst>
                                </p:cTn>
                              </p:par>
                              <p:par>
                                <p:cTn id="14" presetID="10" presetClass="entr" presetSubtype="0" accel="15000" decel="15000" fill="hold" grpId="0" nodeType="withEffect">
                                  <p:stCondLst>
                                    <p:cond delay="150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ENSEMBLE / IDS                         RATES</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07</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P21 hậu nghiệm trên TRAIN · 5 FIT seed · cùng 35.069 dòng internal validation</a:t>
            </a:r>
          </a:p>
        </p:txBody>
      </p:sp>
      <p:sp>
        <p:nvSpPr>
          <p:cNvPr id="5" name="hero-title"/>
          <p:cNvSpPr txBox="1"/>
          <p:nvPr/>
        </p:nvSpPr>
        <p:spPr>
          <a:xfrm>
            <a:off x="502920" y="822960"/>
            <a:ext cx="10972800" cy="1417320"/>
          </a:xfrm>
          <a:prstGeom prst="rect">
            <a:avLst/>
          </a:prstGeom>
          <a:noFill/>
        </p:spPr>
        <p:txBody>
          <a:bodyPr wrap="square" lIns="0" tIns="0" rIns="0" bIns="0">
            <a:spAutoFit/>
          </a:bodyPr>
          <a:lstStyle/>
          <a:p>
            <a:pPr>
              <a:spcAft>
                <a:spcPts val="0"/>
              </a:spcAft>
              <a:defRPr sz="4500" b="1">
                <a:solidFill>
                  <a:srgbClr val="10162F"/>
                </a:solidFill>
                <a:latin typeface="Arial"/>
              </a:defRPr>
            </a:pPr>
            <a:r>
              <a:t>ÍT CẢNH BÁO GIẢ HƠN.</a:t>
            </a:r>
          </a:p>
          <a:p>
            <a:pPr>
              <a:spcAft>
                <a:spcPts val="0"/>
              </a:spcAft>
              <a:defRPr sz="4500" b="1">
                <a:solidFill>
                  <a:srgbClr val="10162F"/>
                </a:solidFill>
                <a:latin typeface="Arial"/>
              </a:defRPr>
            </a:pPr>
            <a:r>
              <a:t>BỎ SÓT NHIỀU HƠN.</a:t>
            </a:r>
          </a:p>
        </p:txBody>
      </p:sp>
      <p:cxnSp>
        <p:nvCxnSpPr>
          <p:cNvPr id="6" name="line-5"/>
          <p:cNvCxnSpPr/>
          <p:nvPr/>
        </p:nvCxnSpPr>
        <p:spPr>
          <a:xfrm>
            <a:off x="1920240" y="2423160"/>
            <a:ext cx="0" cy="3063240"/>
          </a:xfrm>
          <a:prstGeom prst="line">
            <a:avLst/>
          </a:prstGeom>
          <a:ln w="19050">
            <a:solidFill>
              <a:srgbClr val="10162F"/>
            </a:solidFill>
          </a:ln>
        </p:spPr>
        <p:style>
          <a:lnRef idx="2">
            <a:schemeClr val="accent1"/>
          </a:lnRef>
          <a:fillRef idx="0">
            <a:schemeClr val="accent1"/>
          </a:fillRef>
          <a:effectRef idx="1">
            <a:schemeClr val="accent1"/>
          </a:effectRef>
          <a:fontRef idx="minor">
            <a:schemeClr val="tx1"/>
          </a:fontRef>
        </p:style>
      </p:cxnSp>
      <p:cxnSp>
        <p:nvCxnSpPr>
          <p:cNvPr id="7" name="line-6"/>
          <p:cNvCxnSpPr/>
          <p:nvPr/>
        </p:nvCxnSpPr>
        <p:spPr>
          <a:xfrm>
            <a:off x="1920240" y="5486400"/>
            <a:ext cx="8321040" cy="0"/>
          </a:xfrm>
          <a:prstGeom prst="line">
            <a:avLst/>
          </a:prstGeom>
          <a:ln w="19050">
            <a:solidFill>
              <a:srgbClr val="10162F"/>
            </a:solidFill>
          </a:ln>
        </p:spPr>
        <p:style>
          <a:lnRef idx="2">
            <a:schemeClr val="accent1"/>
          </a:lnRef>
          <a:fillRef idx="0">
            <a:schemeClr val="accent1"/>
          </a:fillRef>
          <a:effectRef idx="1">
            <a:schemeClr val="accent1"/>
          </a:effectRef>
          <a:fontRef idx="minor">
            <a:schemeClr val="tx1"/>
          </a:fontRef>
        </p:style>
      </p:cxnSp>
      <p:sp>
        <p:nvSpPr>
          <p:cNvPr id="8" name="text-7"/>
          <p:cNvSpPr txBox="1"/>
          <p:nvPr/>
        </p:nvSpPr>
        <p:spPr>
          <a:xfrm>
            <a:off x="1828800" y="5577840"/>
            <a:ext cx="548640" cy="274320"/>
          </a:xfrm>
          <a:prstGeom prst="rect">
            <a:avLst/>
          </a:prstGeom>
          <a:noFill/>
        </p:spPr>
        <p:txBody>
          <a:bodyPr wrap="square" lIns="0" tIns="0" rIns="0" bIns="0">
            <a:spAutoFit/>
          </a:bodyPr>
          <a:lstStyle/>
          <a:p>
            <a:pPr>
              <a:spcAft>
                <a:spcPts val="0"/>
              </a:spcAft>
              <a:defRPr sz="1300" b="0">
                <a:solidFill>
                  <a:srgbClr val="4C5064"/>
                </a:solidFill>
                <a:latin typeface="Consolas"/>
              </a:defRPr>
            </a:pPr>
            <a:r>
              <a:t>0</a:t>
            </a:r>
          </a:p>
        </p:txBody>
      </p:sp>
      <p:sp>
        <p:nvSpPr>
          <p:cNvPr id="9" name="text-8"/>
          <p:cNvSpPr txBox="1"/>
          <p:nvPr/>
        </p:nvSpPr>
        <p:spPr>
          <a:xfrm>
            <a:off x="4419600" y="5577840"/>
            <a:ext cx="548640" cy="274320"/>
          </a:xfrm>
          <a:prstGeom prst="rect">
            <a:avLst/>
          </a:prstGeom>
          <a:noFill/>
        </p:spPr>
        <p:txBody>
          <a:bodyPr wrap="square" lIns="0" tIns="0" rIns="0" bIns="0">
            <a:spAutoFit/>
          </a:bodyPr>
          <a:lstStyle/>
          <a:p>
            <a:pPr>
              <a:spcAft>
                <a:spcPts val="0"/>
              </a:spcAft>
              <a:defRPr sz="1300" b="0">
                <a:solidFill>
                  <a:srgbClr val="4C5064"/>
                </a:solidFill>
                <a:latin typeface="Consolas"/>
              </a:defRPr>
            </a:pPr>
            <a:r>
              <a:t>4</a:t>
            </a:r>
          </a:p>
        </p:txBody>
      </p:sp>
      <p:sp>
        <p:nvSpPr>
          <p:cNvPr id="10" name="text-9"/>
          <p:cNvSpPr txBox="1"/>
          <p:nvPr/>
        </p:nvSpPr>
        <p:spPr>
          <a:xfrm>
            <a:off x="7010399" y="5577840"/>
            <a:ext cx="548640" cy="274320"/>
          </a:xfrm>
          <a:prstGeom prst="rect">
            <a:avLst/>
          </a:prstGeom>
          <a:noFill/>
        </p:spPr>
        <p:txBody>
          <a:bodyPr wrap="square" lIns="0" tIns="0" rIns="0" bIns="0">
            <a:spAutoFit/>
          </a:bodyPr>
          <a:lstStyle/>
          <a:p>
            <a:pPr>
              <a:spcAft>
                <a:spcPts val="0"/>
              </a:spcAft>
              <a:defRPr sz="1300" b="0">
                <a:solidFill>
                  <a:srgbClr val="4C5064"/>
                </a:solidFill>
                <a:latin typeface="Consolas"/>
              </a:defRPr>
            </a:pPr>
            <a:r>
              <a:t>8</a:t>
            </a:r>
          </a:p>
        </p:txBody>
      </p:sp>
      <p:sp>
        <p:nvSpPr>
          <p:cNvPr id="11" name="text-10"/>
          <p:cNvSpPr txBox="1"/>
          <p:nvPr/>
        </p:nvSpPr>
        <p:spPr>
          <a:xfrm>
            <a:off x="9601200" y="5577840"/>
            <a:ext cx="548640" cy="274320"/>
          </a:xfrm>
          <a:prstGeom prst="rect">
            <a:avLst/>
          </a:prstGeom>
          <a:noFill/>
        </p:spPr>
        <p:txBody>
          <a:bodyPr wrap="square" lIns="0" tIns="0" rIns="0" bIns="0">
            <a:spAutoFit/>
          </a:bodyPr>
          <a:lstStyle/>
          <a:p>
            <a:pPr>
              <a:spcAft>
                <a:spcPts val="0"/>
              </a:spcAft>
              <a:defRPr sz="1300" b="0">
                <a:solidFill>
                  <a:srgbClr val="4C5064"/>
                </a:solidFill>
                <a:latin typeface="Consolas"/>
              </a:defRPr>
            </a:pPr>
            <a:r>
              <a:t>12</a:t>
            </a:r>
          </a:p>
        </p:txBody>
      </p:sp>
      <p:sp>
        <p:nvSpPr>
          <p:cNvPr id="12" name="text-11"/>
          <p:cNvSpPr txBox="1"/>
          <p:nvPr/>
        </p:nvSpPr>
        <p:spPr>
          <a:xfrm>
            <a:off x="1417320" y="5394960"/>
            <a:ext cx="457200" cy="274320"/>
          </a:xfrm>
          <a:prstGeom prst="rect">
            <a:avLst/>
          </a:prstGeom>
          <a:noFill/>
        </p:spPr>
        <p:txBody>
          <a:bodyPr wrap="square" lIns="0" tIns="0" rIns="0" bIns="0">
            <a:spAutoFit/>
          </a:bodyPr>
          <a:lstStyle/>
          <a:p>
            <a:pPr>
              <a:spcAft>
                <a:spcPts val="0"/>
              </a:spcAft>
              <a:defRPr sz="1300" b="0">
                <a:solidFill>
                  <a:srgbClr val="4C5064"/>
                </a:solidFill>
                <a:latin typeface="Consolas"/>
              </a:defRPr>
            </a:pPr>
            <a:r>
              <a:t>0</a:t>
            </a:r>
          </a:p>
        </p:txBody>
      </p:sp>
      <p:sp>
        <p:nvSpPr>
          <p:cNvPr id="13" name="text-12"/>
          <p:cNvSpPr txBox="1"/>
          <p:nvPr/>
        </p:nvSpPr>
        <p:spPr>
          <a:xfrm>
            <a:off x="1417320" y="4279392"/>
            <a:ext cx="457200" cy="274320"/>
          </a:xfrm>
          <a:prstGeom prst="rect">
            <a:avLst/>
          </a:prstGeom>
          <a:noFill/>
        </p:spPr>
        <p:txBody>
          <a:bodyPr wrap="square" lIns="0" tIns="0" rIns="0" bIns="0">
            <a:spAutoFit/>
          </a:bodyPr>
          <a:lstStyle/>
          <a:p>
            <a:pPr>
              <a:spcAft>
                <a:spcPts val="0"/>
              </a:spcAft>
              <a:defRPr sz="1300" b="0">
                <a:solidFill>
                  <a:srgbClr val="4C5064"/>
                </a:solidFill>
                <a:latin typeface="Consolas"/>
              </a:defRPr>
            </a:pPr>
            <a:r>
              <a:t>2</a:t>
            </a:r>
          </a:p>
        </p:txBody>
      </p:sp>
      <p:sp>
        <p:nvSpPr>
          <p:cNvPr id="14" name="text-13"/>
          <p:cNvSpPr txBox="1"/>
          <p:nvPr/>
        </p:nvSpPr>
        <p:spPr>
          <a:xfrm>
            <a:off x="1417320" y="3163824"/>
            <a:ext cx="457200" cy="274320"/>
          </a:xfrm>
          <a:prstGeom prst="rect">
            <a:avLst/>
          </a:prstGeom>
          <a:noFill/>
        </p:spPr>
        <p:txBody>
          <a:bodyPr wrap="square" lIns="0" tIns="0" rIns="0" bIns="0">
            <a:spAutoFit/>
          </a:bodyPr>
          <a:lstStyle/>
          <a:p>
            <a:pPr>
              <a:spcAft>
                <a:spcPts val="0"/>
              </a:spcAft>
              <a:defRPr sz="1300" b="0">
                <a:solidFill>
                  <a:srgbClr val="4C5064"/>
                </a:solidFill>
                <a:latin typeface="Consolas"/>
              </a:defRPr>
            </a:pPr>
            <a:r>
              <a:t>4</a:t>
            </a:r>
          </a:p>
        </p:txBody>
      </p:sp>
      <p:sp>
        <p:nvSpPr>
          <p:cNvPr id="15" name="text-14"/>
          <p:cNvSpPr txBox="1"/>
          <p:nvPr/>
        </p:nvSpPr>
        <p:spPr>
          <a:xfrm>
            <a:off x="594360" y="2423160"/>
            <a:ext cx="1371600" cy="365760"/>
          </a:xfrm>
          <a:prstGeom prst="rect">
            <a:avLst/>
          </a:prstGeom>
          <a:noFill/>
        </p:spPr>
        <p:txBody>
          <a:bodyPr wrap="square" lIns="0" tIns="0" rIns="0" bIns="0">
            <a:spAutoFit/>
          </a:bodyPr>
          <a:lstStyle/>
          <a:p>
            <a:pPr>
              <a:spcAft>
                <a:spcPts val="0"/>
              </a:spcAft>
              <a:defRPr sz="1800" b="1">
                <a:solidFill>
                  <a:srgbClr val="10162F"/>
                </a:solidFill>
                <a:latin typeface="Consolas"/>
              </a:defRPr>
            </a:pPr>
            <a:r>
              <a:t>FNR %</a:t>
            </a:r>
          </a:p>
        </p:txBody>
      </p:sp>
      <p:sp>
        <p:nvSpPr>
          <p:cNvPr id="16" name="text-15"/>
          <p:cNvSpPr txBox="1"/>
          <p:nvPr/>
        </p:nvSpPr>
        <p:spPr>
          <a:xfrm>
            <a:off x="10332720" y="5532120"/>
            <a:ext cx="1371600" cy="365760"/>
          </a:xfrm>
          <a:prstGeom prst="rect">
            <a:avLst/>
          </a:prstGeom>
          <a:noFill/>
        </p:spPr>
        <p:txBody>
          <a:bodyPr wrap="square" lIns="0" tIns="0" rIns="0" bIns="0">
            <a:spAutoFit/>
          </a:bodyPr>
          <a:lstStyle/>
          <a:p>
            <a:pPr>
              <a:spcAft>
                <a:spcPts val="0"/>
              </a:spcAft>
              <a:defRPr sz="1800" b="1">
                <a:solidFill>
                  <a:srgbClr val="10162F"/>
                </a:solidFill>
                <a:latin typeface="Consolas"/>
              </a:defRPr>
            </a:pPr>
            <a:r>
              <a:t>FPR %</a:t>
            </a:r>
          </a:p>
        </p:txBody>
      </p:sp>
      <p:sp>
        <p:nvSpPr>
          <p:cNvPr id="17" name="shape-16"/>
          <p:cNvSpPr/>
          <p:nvPr/>
        </p:nvSpPr>
        <p:spPr>
          <a:xfrm>
            <a:off x="8068558" y="4066035"/>
            <a:ext cx="164592" cy="164592"/>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17"/>
          <p:cNvSpPr txBox="1"/>
          <p:nvPr/>
        </p:nvSpPr>
        <p:spPr>
          <a:xfrm>
            <a:off x="8333734" y="4239771"/>
            <a:ext cx="2194560" cy="365760"/>
          </a:xfrm>
          <a:prstGeom prst="rect">
            <a:avLst/>
          </a:prstGeom>
          <a:noFill/>
        </p:spPr>
        <p:txBody>
          <a:bodyPr wrap="square" lIns="0" tIns="0" rIns="0" bIns="0">
            <a:spAutoFit/>
          </a:bodyPr>
          <a:lstStyle/>
          <a:p>
            <a:pPr>
              <a:spcAft>
                <a:spcPts val="0"/>
              </a:spcAft>
              <a:defRPr sz="2100" b="1">
                <a:solidFill>
                  <a:srgbClr val="10162F"/>
                </a:solidFill>
                <a:latin typeface="Aptos"/>
              </a:defRPr>
            </a:pPr>
            <a:r>
              <a:t>RF42</a:t>
            </a:r>
          </a:p>
        </p:txBody>
      </p:sp>
      <p:cxnSp>
        <p:nvCxnSpPr>
          <p:cNvPr id="19" name="line-18"/>
          <p:cNvCxnSpPr/>
          <p:nvPr/>
        </p:nvCxnSpPr>
        <p:spPr>
          <a:xfrm flipH="1" flipV="1">
            <a:off x="6101402" y="3150958"/>
            <a:ext cx="2049452" cy="997373"/>
          </a:xfrm>
          <a:prstGeom prst="line">
            <a:avLst/>
          </a:prstGeom>
          <a:ln w="25400">
            <a:solidFill>
              <a:srgbClr val="7958F5"/>
            </a:solidFill>
            <a:tailEnd type="triangle"/>
          </a:ln>
        </p:spPr>
        <p:style>
          <a:lnRef idx="2">
            <a:schemeClr val="accent1"/>
          </a:lnRef>
          <a:fillRef idx="0">
            <a:schemeClr val="accent1"/>
          </a:fillRef>
          <a:effectRef idx="1">
            <a:schemeClr val="accent1"/>
          </a:effectRef>
          <a:fontRef idx="minor">
            <a:schemeClr val="tx1"/>
          </a:fontRef>
        </p:style>
      </p:cxnSp>
      <p:sp>
        <p:nvSpPr>
          <p:cNvPr id="20" name="shape-19"/>
          <p:cNvSpPr/>
          <p:nvPr/>
        </p:nvSpPr>
        <p:spPr>
          <a:xfrm>
            <a:off x="8100562" y="4098039"/>
            <a:ext cx="100584" cy="100584"/>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hape-20"/>
          <p:cNvSpPr/>
          <p:nvPr/>
        </p:nvSpPr>
        <p:spPr>
          <a:xfrm>
            <a:off x="6019106" y="3068662"/>
            <a:ext cx="164592" cy="164592"/>
          </a:xfrm>
          <a:prstGeom prst="ellipse">
            <a:avLst/>
          </a:prstGeom>
          <a:solidFill>
            <a:srgbClr val="795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21"/>
          <p:cNvSpPr txBox="1"/>
          <p:nvPr/>
        </p:nvSpPr>
        <p:spPr>
          <a:xfrm>
            <a:off x="4638362" y="2602318"/>
            <a:ext cx="2194560" cy="365760"/>
          </a:xfrm>
          <a:prstGeom prst="rect">
            <a:avLst/>
          </a:prstGeom>
          <a:noFill/>
        </p:spPr>
        <p:txBody>
          <a:bodyPr wrap="square" lIns="0" tIns="0" rIns="0" bIns="0">
            <a:spAutoFit/>
          </a:bodyPr>
          <a:lstStyle/>
          <a:p>
            <a:pPr>
              <a:spcAft>
                <a:spcPts val="0"/>
              </a:spcAft>
              <a:defRPr sz="2100" b="1">
                <a:solidFill>
                  <a:srgbClr val="7958F5"/>
                </a:solidFill>
                <a:latin typeface="Aptos"/>
              </a:defRPr>
            </a:pPr>
            <a:r>
              <a:t>Balanced</a:t>
            </a:r>
          </a:p>
        </p:txBody>
      </p:sp>
      <p:cxnSp>
        <p:nvCxnSpPr>
          <p:cNvPr id="23" name="line-22"/>
          <p:cNvCxnSpPr/>
          <p:nvPr/>
        </p:nvCxnSpPr>
        <p:spPr>
          <a:xfrm flipH="1" flipV="1">
            <a:off x="6720150" y="3496784"/>
            <a:ext cx="1430704" cy="651547"/>
          </a:xfrm>
          <a:prstGeom prst="line">
            <a:avLst/>
          </a:prstGeom>
          <a:ln w="25400">
            <a:solidFill>
              <a:srgbClr val="147B88"/>
            </a:solidFill>
            <a:tailEnd type="triangle"/>
          </a:ln>
        </p:spPr>
        <p:style>
          <a:lnRef idx="2">
            <a:schemeClr val="accent1"/>
          </a:lnRef>
          <a:fillRef idx="0">
            <a:schemeClr val="accent1"/>
          </a:fillRef>
          <a:effectRef idx="1">
            <a:schemeClr val="accent1"/>
          </a:effectRef>
          <a:fontRef idx="minor">
            <a:schemeClr val="tx1"/>
          </a:fontRef>
        </p:style>
      </p:cxnSp>
      <p:sp>
        <p:nvSpPr>
          <p:cNvPr id="24" name="shape-23"/>
          <p:cNvSpPr/>
          <p:nvPr/>
        </p:nvSpPr>
        <p:spPr>
          <a:xfrm>
            <a:off x="8100562" y="4098039"/>
            <a:ext cx="100584" cy="100584"/>
          </a:xfrm>
          <a:prstGeom prst="ellipse">
            <a:avLst/>
          </a:prstGeom>
          <a:solidFill>
            <a:srgbClr val="147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hape-24"/>
          <p:cNvSpPr/>
          <p:nvPr/>
        </p:nvSpPr>
        <p:spPr>
          <a:xfrm>
            <a:off x="6637854" y="3414488"/>
            <a:ext cx="164592" cy="164592"/>
          </a:xfrm>
          <a:prstGeom prst="ellipse">
            <a:avLst/>
          </a:prstGeom>
          <a:solidFill>
            <a:srgbClr val="147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25"/>
          <p:cNvSpPr txBox="1"/>
          <p:nvPr/>
        </p:nvSpPr>
        <p:spPr>
          <a:xfrm>
            <a:off x="6903030" y="2948144"/>
            <a:ext cx="2194560" cy="365760"/>
          </a:xfrm>
          <a:prstGeom prst="rect">
            <a:avLst/>
          </a:prstGeom>
          <a:noFill/>
        </p:spPr>
        <p:txBody>
          <a:bodyPr wrap="square" lIns="0" tIns="0" rIns="0" bIns="0">
            <a:spAutoFit/>
          </a:bodyPr>
          <a:lstStyle/>
          <a:p>
            <a:pPr>
              <a:spcAft>
                <a:spcPts val="0"/>
              </a:spcAft>
              <a:defRPr sz="2100" b="1">
                <a:solidFill>
                  <a:srgbClr val="147B88"/>
                </a:solidFill>
                <a:latin typeface="Aptos"/>
              </a:defRPr>
            </a:pPr>
            <a:r>
              <a:t>Oversample</a:t>
            </a:r>
          </a:p>
        </p:txBody>
      </p:sp>
      <p:sp>
        <p:nvSpPr>
          <p:cNvPr id="27" name="text-26"/>
          <p:cNvSpPr txBox="1"/>
          <p:nvPr/>
        </p:nvSpPr>
        <p:spPr>
          <a:xfrm>
            <a:off x="594360" y="6080760"/>
            <a:ext cx="10972800" cy="594360"/>
          </a:xfrm>
          <a:prstGeom prst="rect">
            <a:avLst/>
          </a:prstGeom>
          <a:noFill/>
        </p:spPr>
        <p:txBody>
          <a:bodyPr wrap="square" lIns="0" tIns="0" rIns="0" bIns="0">
            <a:spAutoFit/>
          </a:bodyPr>
          <a:lstStyle/>
          <a:p>
            <a:pPr>
              <a:spcAft>
                <a:spcPts val="0"/>
              </a:spcAft>
              <a:defRPr sz="2000" b="0">
                <a:solidFill>
                  <a:srgbClr val="10162F"/>
                </a:solidFill>
                <a:latin typeface="Aptos"/>
              </a:defRPr>
            </a:pPr>
            <a:r>
              <a:t>Trung bình 5 FIT seed · Normal là lớp ít mẫu trong TRAIN.</a:t>
            </a:r>
          </a:p>
        </p:txBody>
      </p:sp>
    </p:spTree>
  </p:cSld>
  <p:clrMapOvr>
    <a:masterClrMapping/>
  </p:clrMapOvr>
  <mc:AlternateContent xmlns:mc="http://schemas.openxmlformats.org/markup-compatibility/2006" xmlns:p14="http://schemas.microsoft.com/office/powerpoint/2010/main">
    <mc:Choice Requires="p14">
      <p:transition spd="slow" p14:dur="2000" advTm="25000"/>
    </mc:Choice>
    <mc:Fallback xmlns="">
      <p:transition spd="slow"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15000" fill="hold" grpId="0" nodeType="withEffect">
                                  <p:stCondLst>
                                    <p:cond delay="10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accel="15000" decel="15000" fill="hold" grpId="0" nodeType="withEffect">
                                  <p:stCondLst>
                                    <p:cond delay="140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22" presetClass="entr" presetSubtype="8" accel="15000" decel="15000" fill="hold" nodeType="withEffect">
                                  <p:stCondLst>
                                    <p:cond delay="500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1700"/>
                                        <p:tgtEl>
                                          <p:spTgt spid="19"/>
                                        </p:tgtEl>
                                      </p:cBhvr>
                                    </p:animEffect>
                                  </p:childTnLst>
                                </p:cTn>
                              </p:par>
                              <p:par>
                                <p:cTn id="14" presetID="10" presetClass="entr" presetSubtype="0" accel="15000" decel="15000" fill="hold" grpId="0" nodeType="withEffect">
                                  <p:stCondLst>
                                    <p:cond delay="500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120"/>
                                        <p:tgtEl>
                                          <p:spTgt spid="20"/>
                                        </p:tgtEl>
                                      </p:cBhvr>
                                    </p:animEffect>
                                  </p:childTnLst>
                                </p:cTn>
                              </p:par>
                              <p:par>
                                <p:cTn id="17" presetID="0" presetClass="entr" presetSubtype="0" accel="15000" decel="15000" fill="hold" grpId="1" nodeType="withEffect">
                                  <p:stCondLst>
                                    <p:cond delay="5120"/>
                                  </p:stCondLst>
                                  <p:childTnLst>
                                    <p:set>
                                      <p:cBhvr>
                                        <p:cTn id="18" dur="1" fill="hold">
                                          <p:stCondLst>
                                            <p:cond delay="0"/>
                                          </p:stCondLst>
                                        </p:cTn>
                                        <p:tgtEl>
                                          <p:spTgt spid="20"/>
                                        </p:tgtEl>
                                        <p:attrNameLst>
                                          <p:attrName>style.visibility</p:attrName>
                                        </p:attrNameLst>
                                      </p:cBhvr>
                                      <p:to>
                                        <p:strVal val="visible"/>
                                      </p:to>
                                    </p:set>
                                    <p:animMotion origin="layout" path="M 0 0 L -0.16809813 -0.14543213 E" pathEditMode="relative">
                                      <p:cBhvr from="" to="">
                                        <p:cTn id="19" dur="1700" fill="hold">
                                          <p:stCondLst>
                                            <p:cond delay="0"/>
                                          </p:stCondLst>
                                        </p:cTn>
                                        <p:tgtEl>
                                          <p:spTgt spid="20"/>
                                        </p:tgtEl>
                                        <p:attrNameLst>
                                          <p:attrName>ppt_x</p:attrName>
                                          <p:attrName>ppt_y</p:attrName>
                                        </p:attrNameLst>
                                      </p:cBhvr>
                                    </p:animMotion>
                                  </p:childTnLst>
                                </p:cTn>
                              </p:par>
                              <p:par>
                                <p:cTn id="20" presetID="10" presetClass="entr" presetSubtype="0" accel="15000" decel="15000" fill="hold" grpId="0" nodeType="withEffect">
                                  <p:stCondLst>
                                    <p:cond delay="600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accel="15000" decel="15000" fill="hold" grpId="0" nodeType="withEffect">
                                  <p:stCondLst>
                                    <p:cond delay="640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xit" presetSubtype="0" accel="15000" decel="15000" fill="hold" grpId="2" nodeType="withEffect">
                                  <p:stCondLst>
                                    <p:cond delay="6820"/>
                                  </p:stCondLst>
                                  <p:childTnLst>
                                    <p:animEffect transition="out" filter="fade">
                                      <p:cBhvr>
                                        <p:cTn id="27" dur="120"/>
                                        <p:tgtEl>
                                          <p:spTgt spid="20"/>
                                        </p:tgtEl>
                                      </p:cBhvr>
                                    </p:animEffect>
                                    <p:set>
                                      <p:cBhvr>
                                        <p:cTn id="28" dur="1" fill="hold">
                                          <p:stCondLst>
                                            <p:cond delay="119"/>
                                          </p:stCondLst>
                                        </p:cTn>
                                        <p:tgtEl>
                                          <p:spTgt spid="20"/>
                                        </p:tgtEl>
                                        <p:attrNameLst>
                                          <p:attrName>style.visibility</p:attrName>
                                        </p:attrNameLst>
                                      </p:cBhvr>
                                      <p:to>
                                        <p:strVal val="hidden"/>
                                      </p:to>
                                    </p:set>
                                  </p:childTnLst>
                                </p:cTn>
                              </p:par>
                              <p:par>
                                <p:cTn id="29" presetID="22" presetClass="entr" presetSubtype="8" accel="15000" decel="15000" fill="hold" nodeType="withEffect">
                                  <p:stCondLst>
                                    <p:cond delay="1000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1700"/>
                                        <p:tgtEl>
                                          <p:spTgt spid="23"/>
                                        </p:tgtEl>
                                      </p:cBhvr>
                                    </p:animEffect>
                                  </p:childTnLst>
                                </p:cTn>
                              </p:par>
                              <p:par>
                                <p:cTn id="32" presetID="10" presetClass="entr" presetSubtype="0" accel="15000" decel="15000" fill="hold" grpId="0" nodeType="withEffect">
                                  <p:stCondLst>
                                    <p:cond delay="1000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120"/>
                                        <p:tgtEl>
                                          <p:spTgt spid="24"/>
                                        </p:tgtEl>
                                      </p:cBhvr>
                                    </p:animEffect>
                                  </p:childTnLst>
                                </p:cTn>
                              </p:par>
                              <p:par>
                                <p:cTn id="35" presetID="0" presetClass="entr" presetSubtype="0" accel="15000" decel="15000" fill="hold" grpId="1" nodeType="withEffect">
                                  <p:stCondLst>
                                    <p:cond delay="10120"/>
                                  </p:stCondLst>
                                  <p:childTnLst>
                                    <p:set>
                                      <p:cBhvr>
                                        <p:cTn id="36" dur="1" fill="hold">
                                          <p:stCondLst>
                                            <p:cond delay="0"/>
                                          </p:stCondLst>
                                        </p:cTn>
                                        <p:tgtEl>
                                          <p:spTgt spid="24"/>
                                        </p:tgtEl>
                                        <p:attrNameLst>
                                          <p:attrName>style.visibility</p:attrName>
                                        </p:attrNameLst>
                                      </p:cBhvr>
                                      <p:to>
                                        <p:strVal val="visible"/>
                                      </p:to>
                                    </p:set>
                                    <p:animMotion origin="layout" path="M 0 0 L -0.11734782 -0.09500547 E" pathEditMode="relative">
                                      <p:cBhvr from="" to="">
                                        <p:cTn id="37" dur="1700" fill="hold">
                                          <p:stCondLst>
                                            <p:cond delay="0"/>
                                          </p:stCondLst>
                                        </p:cTn>
                                        <p:tgtEl>
                                          <p:spTgt spid="24"/>
                                        </p:tgtEl>
                                        <p:attrNameLst>
                                          <p:attrName>ppt_x</p:attrName>
                                          <p:attrName>ppt_y</p:attrName>
                                        </p:attrNameLst>
                                      </p:cBhvr>
                                    </p:animMotion>
                                  </p:childTnLst>
                                </p:cTn>
                              </p:par>
                              <p:par>
                                <p:cTn id="38" presetID="10" presetClass="entr" presetSubtype="0" accel="15000" decel="15000" fill="hold" grpId="0" nodeType="withEffect">
                                  <p:stCondLst>
                                    <p:cond delay="1100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accel="15000" decel="15000" fill="hold" grpId="0" nodeType="withEffect">
                                  <p:stCondLst>
                                    <p:cond delay="1140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xit" presetSubtype="0" accel="15000" decel="15000" fill="hold" grpId="2" nodeType="withEffect">
                                  <p:stCondLst>
                                    <p:cond delay="11820"/>
                                  </p:stCondLst>
                                  <p:childTnLst>
                                    <p:animEffect transition="out" filter="fade">
                                      <p:cBhvr>
                                        <p:cTn id="45" dur="120"/>
                                        <p:tgtEl>
                                          <p:spTgt spid="24"/>
                                        </p:tgtEl>
                                      </p:cBhvr>
                                    </p:animEffect>
                                    <p:set>
                                      <p:cBhvr>
                                        <p:cTn id="46" dur="1" fill="hold">
                                          <p:stCondLst>
                                            <p:cond delay="11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20" grpId="0" animBg="1"/>
      <p:bldP spid="20" grpId="1" animBg="1"/>
      <p:bldP spid="20" grpId="2" animBg="1"/>
      <p:bldP spid="21" grpId="0" animBg="1"/>
      <p:bldP spid="22" grpId="0"/>
      <p:bldP spid="24" grpId="0" animBg="1"/>
      <p:bldP spid="24" grpId="1" animBg="1"/>
      <p:bldP spid="24" grpId="2" animBg="1"/>
      <p:bldP spid="25" grpId="0" animBg="1"/>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162F"/>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F8F5EE"/>
                </a:solidFill>
                <a:latin typeface="Consolas"/>
              </a:defRPr>
            </a:pPr>
            <a:r>
              <a:t>ENSEMBLE / IDS                         LOSS</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F8F5EE"/>
                </a:solidFill>
                <a:latin typeface="Consolas"/>
              </a:defRPr>
            </a:pPr>
            <a:r>
              <a:t>07</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F8F5EE"/>
                </a:solidFill>
                <a:latin typeface="Aptos"/>
              </a:defRPr>
            </a:pPr>
            <a:r>
              <a:t>Phân tích giả định · dự đoán official TEST lịch sử · L=FP+rFN · chỉ cặp RF42/Stacking42</a:t>
            </a:r>
          </a:p>
        </p:txBody>
      </p:sp>
      <p:sp>
        <p:nvSpPr>
          <p:cNvPr id="5" name="hero-title"/>
          <p:cNvSpPr txBox="1"/>
          <p:nvPr/>
        </p:nvSpPr>
        <p:spPr>
          <a:xfrm>
            <a:off x="502920" y="822960"/>
            <a:ext cx="10972800" cy="1143000"/>
          </a:xfrm>
          <a:prstGeom prst="rect">
            <a:avLst/>
          </a:prstGeom>
          <a:noFill/>
        </p:spPr>
        <p:txBody>
          <a:bodyPr wrap="square" lIns="0" tIns="0" rIns="0" bIns="0">
            <a:spAutoFit/>
          </a:bodyPr>
          <a:lstStyle/>
          <a:p>
            <a:pPr>
              <a:spcAft>
                <a:spcPts val="0"/>
              </a:spcAft>
              <a:defRPr sz="5800" b="1">
                <a:solidFill>
                  <a:srgbClr val="F8F5EE"/>
                </a:solidFill>
                <a:latin typeface="Arial"/>
              </a:defRPr>
            </a:pPr>
            <a:r>
              <a:t>L = FP + r × FN</a:t>
            </a:r>
          </a:p>
        </p:txBody>
      </p:sp>
      <p:sp>
        <p:nvSpPr>
          <p:cNvPr id="6" name="text-5"/>
          <p:cNvSpPr txBox="1"/>
          <p:nvPr/>
        </p:nvSpPr>
        <p:spPr>
          <a:xfrm>
            <a:off x="594360" y="1965960"/>
            <a:ext cx="10972800" cy="457200"/>
          </a:xfrm>
          <a:prstGeom prst="rect">
            <a:avLst/>
          </a:prstGeom>
          <a:noFill/>
        </p:spPr>
        <p:txBody>
          <a:bodyPr wrap="square" lIns="0" tIns="0" rIns="0" bIns="0">
            <a:spAutoFit/>
          </a:bodyPr>
          <a:lstStyle/>
          <a:p>
            <a:pPr>
              <a:spcAft>
                <a:spcPts val="0"/>
              </a:spcAft>
              <a:defRPr sz="2500" b="0">
                <a:solidFill>
                  <a:srgbClr val="B4B8CB"/>
                </a:solidFill>
                <a:latin typeface="Aptos"/>
              </a:defRPr>
            </a:pPr>
            <a:r>
              <a:t>r: chi phí giả định của FN / FP</a:t>
            </a:r>
          </a:p>
        </p:txBody>
      </p:sp>
      <p:sp>
        <p:nvSpPr>
          <p:cNvPr id="7" name="text-6"/>
          <p:cNvSpPr txBox="1"/>
          <p:nvPr/>
        </p:nvSpPr>
        <p:spPr>
          <a:xfrm>
            <a:off x="685800" y="2788920"/>
            <a:ext cx="3520440" cy="548640"/>
          </a:xfrm>
          <a:prstGeom prst="rect">
            <a:avLst/>
          </a:prstGeom>
          <a:noFill/>
        </p:spPr>
        <p:txBody>
          <a:bodyPr wrap="square" lIns="0" tIns="0" rIns="0" bIns="0">
            <a:spAutoFit/>
          </a:bodyPr>
          <a:lstStyle/>
          <a:p>
            <a:pPr>
              <a:spcAft>
                <a:spcPts val="0"/>
              </a:spcAft>
              <a:defRPr sz="2900" b="1">
                <a:solidFill>
                  <a:srgbClr val="C5F66A"/>
                </a:solidFill>
                <a:latin typeface="Consolas"/>
              </a:defRPr>
            </a:pPr>
            <a:r>
              <a:t>r = 1</a:t>
            </a:r>
          </a:p>
        </p:txBody>
      </p:sp>
      <p:sp>
        <p:nvSpPr>
          <p:cNvPr id="8" name="text-7"/>
          <p:cNvSpPr txBox="1"/>
          <p:nvPr/>
        </p:nvSpPr>
        <p:spPr>
          <a:xfrm>
            <a:off x="685800" y="3520440"/>
            <a:ext cx="1554480" cy="320040"/>
          </a:xfrm>
          <a:prstGeom prst="rect">
            <a:avLst/>
          </a:prstGeom>
          <a:noFill/>
        </p:spPr>
        <p:txBody>
          <a:bodyPr wrap="square" lIns="0" tIns="0" rIns="0" bIns="0">
            <a:spAutoFit/>
          </a:bodyPr>
          <a:lstStyle/>
          <a:p>
            <a:pPr>
              <a:spcAft>
                <a:spcPts val="0"/>
              </a:spcAft>
              <a:defRPr sz="1600" b="1">
                <a:solidFill>
                  <a:srgbClr val="24C3D9"/>
                </a:solidFill>
                <a:latin typeface="Aptos"/>
              </a:defRPr>
            </a:pPr>
            <a:r>
              <a:t>RF42</a:t>
            </a:r>
          </a:p>
        </p:txBody>
      </p:sp>
      <p:sp>
        <p:nvSpPr>
          <p:cNvPr id="9" name="loss-r0-bar0"/>
          <p:cNvSpPr/>
          <p:nvPr/>
        </p:nvSpPr>
        <p:spPr>
          <a:xfrm>
            <a:off x="685800" y="3931920"/>
            <a:ext cx="2159940" cy="256032"/>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9"/>
          <p:cNvSpPr txBox="1"/>
          <p:nvPr/>
        </p:nvSpPr>
        <p:spPr>
          <a:xfrm>
            <a:off x="2194560" y="3474720"/>
            <a:ext cx="1645920" cy="365760"/>
          </a:xfrm>
          <a:prstGeom prst="rect">
            <a:avLst/>
          </a:prstGeom>
          <a:noFill/>
        </p:spPr>
        <p:txBody>
          <a:bodyPr wrap="square" lIns="0" tIns="0" rIns="0" bIns="0">
            <a:spAutoFit/>
          </a:bodyPr>
          <a:lstStyle/>
          <a:p>
            <a:pPr>
              <a:spcAft>
                <a:spcPts val="0"/>
              </a:spcAft>
              <a:defRPr sz="1800" b="1">
                <a:solidFill>
                  <a:srgbClr val="24C3D9"/>
                </a:solidFill>
                <a:latin typeface="Consolas"/>
              </a:defRPr>
            </a:pPr>
            <a:r>
              <a:t>10 737,0</a:t>
            </a:r>
          </a:p>
        </p:txBody>
      </p:sp>
      <p:sp>
        <p:nvSpPr>
          <p:cNvPr id="11" name="text-10"/>
          <p:cNvSpPr txBox="1"/>
          <p:nvPr/>
        </p:nvSpPr>
        <p:spPr>
          <a:xfrm>
            <a:off x="685800" y="4434840"/>
            <a:ext cx="1554480" cy="320040"/>
          </a:xfrm>
          <a:prstGeom prst="rect">
            <a:avLst/>
          </a:prstGeom>
          <a:noFill/>
        </p:spPr>
        <p:txBody>
          <a:bodyPr wrap="square" lIns="0" tIns="0" rIns="0" bIns="0">
            <a:spAutoFit/>
          </a:bodyPr>
          <a:lstStyle/>
          <a:p>
            <a:pPr>
              <a:spcAft>
                <a:spcPts val="0"/>
              </a:spcAft>
              <a:defRPr sz="1600" b="1">
                <a:solidFill>
                  <a:srgbClr val="FF7058"/>
                </a:solidFill>
                <a:latin typeface="Aptos"/>
              </a:defRPr>
            </a:pPr>
            <a:r>
              <a:t>Stacking42</a:t>
            </a:r>
          </a:p>
        </p:txBody>
      </p:sp>
      <p:sp>
        <p:nvSpPr>
          <p:cNvPr id="12" name="loss-r0-bar1"/>
          <p:cNvSpPr/>
          <p:nvPr/>
        </p:nvSpPr>
        <p:spPr>
          <a:xfrm>
            <a:off x="685800" y="4846320"/>
            <a:ext cx="2155112" cy="256032"/>
          </a:xfrm>
          <a:prstGeom prst="rect">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12"/>
          <p:cNvSpPr txBox="1"/>
          <p:nvPr/>
        </p:nvSpPr>
        <p:spPr>
          <a:xfrm>
            <a:off x="2194560" y="4389120"/>
            <a:ext cx="1645920" cy="365760"/>
          </a:xfrm>
          <a:prstGeom prst="rect">
            <a:avLst/>
          </a:prstGeom>
          <a:noFill/>
        </p:spPr>
        <p:txBody>
          <a:bodyPr wrap="square" lIns="0" tIns="0" rIns="0" bIns="0">
            <a:spAutoFit/>
          </a:bodyPr>
          <a:lstStyle/>
          <a:p>
            <a:pPr>
              <a:spcAft>
                <a:spcPts val="0"/>
              </a:spcAft>
              <a:defRPr sz="1800" b="1">
                <a:solidFill>
                  <a:srgbClr val="FF7058"/>
                </a:solidFill>
                <a:latin typeface="Consolas"/>
              </a:defRPr>
            </a:pPr>
            <a:r>
              <a:t>10 713,0</a:t>
            </a:r>
          </a:p>
        </p:txBody>
      </p:sp>
      <p:sp>
        <p:nvSpPr>
          <p:cNvPr id="14" name="text-13"/>
          <p:cNvSpPr txBox="1"/>
          <p:nvPr/>
        </p:nvSpPr>
        <p:spPr>
          <a:xfrm>
            <a:off x="685800" y="5623560"/>
            <a:ext cx="3474720" cy="594360"/>
          </a:xfrm>
          <a:prstGeom prst="rect">
            <a:avLst/>
          </a:prstGeom>
          <a:noFill/>
        </p:spPr>
        <p:txBody>
          <a:bodyPr wrap="square" lIns="0" tIns="0" rIns="0" bIns="0">
            <a:spAutoFit/>
          </a:bodyPr>
          <a:lstStyle/>
          <a:p>
            <a:pPr>
              <a:spcAft>
                <a:spcPts val="0"/>
              </a:spcAft>
              <a:defRPr sz="2200" b="1">
                <a:solidFill>
                  <a:srgbClr val="F8F5EE"/>
                </a:solidFill>
                <a:latin typeface="Aptos"/>
              </a:defRPr>
            </a:pPr>
            <a:r>
              <a:t>Stacking thấp hơn</a:t>
            </a:r>
          </a:p>
        </p:txBody>
      </p:sp>
      <p:sp>
        <p:nvSpPr>
          <p:cNvPr id="15" name="text-14"/>
          <p:cNvSpPr txBox="1"/>
          <p:nvPr/>
        </p:nvSpPr>
        <p:spPr>
          <a:xfrm>
            <a:off x="4480560" y="2788920"/>
            <a:ext cx="3520440" cy="548640"/>
          </a:xfrm>
          <a:prstGeom prst="rect">
            <a:avLst/>
          </a:prstGeom>
          <a:noFill/>
        </p:spPr>
        <p:txBody>
          <a:bodyPr wrap="square" lIns="0" tIns="0" rIns="0" bIns="0">
            <a:spAutoFit/>
          </a:bodyPr>
          <a:lstStyle/>
          <a:p>
            <a:pPr>
              <a:spcAft>
                <a:spcPts val="0"/>
              </a:spcAft>
              <a:defRPr sz="2900" b="1">
                <a:solidFill>
                  <a:srgbClr val="C5F66A"/>
                </a:solidFill>
                <a:latin typeface="Consolas"/>
              </a:defRPr>
            </a:pPr>
            <a:r>
              <a:t>r = 1,2034</a:t>
            </a:r>
          </a:p>
        </p:txBody>
      </p:sp>
      <p:sp>
        <p:nvSpPr>
          <p:cNvPr id="16" name="text-15"/>
          <p:cNvSpPr txBox="1"/>
          <p:nvPr/>
        </p:nvSpPr>
        <p:spPr>
          <a:xfrm>
            <a:off x="4480560" y="3520440"/>
            <a:ext cx="1554480" cy="320040"/>
          </a:xfrm>
          <a:prstGeom prst="rect">
            <a:avLst/>
          </a:prstGeom>
          <a:noFill/>
        </p:spPr>
        <p:txBody>
          <a:bodyPr wrap="square" lIns="0" tIns="0" rIns="0" bIns="0">
            <a:spAutoFit/>
          </a:bodyPr>
          <a:lstStyle/>
          <a:p>
            <a:pPr>
              <a:spcAft>
                <a:spcPts val="0"/>
              </a:spcAft>
              <a:defRPr sz="1600" b="1">
                <a:solidFill>
                  <a:srgbClr val="24C3D9"/>
                </a:solidFill>
                <a:latin typeface="Aptos"/>
              </a:defRPr>
            </a:pPr>
            <a:r>
              <a:t>RF42</a:t>
            </a:r>
          </a:p>
        </p:txBody>
      </p:sp>
      <p:sp>
        <p:nvSpPr>
          <p:cNvPr id="17" name="loss-r1-bar0"/>
          <p:cNvSpPr/>
          <p:nvPr/>
        </p:nvSpPr>
        <p:spPr>
          <a:xfrm>
            <a:off x="4480560" y="3931920"/>
            <a:ext cx="2189972" cy="256032"/>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17"/>
          <p:cNvSpPr txBox="1"/>
          <p:nvPr/>
        </p:nvSpPr>
        <p:spPr>
          <a:xfrm>
            <a:off x="5989320" y="3474720"/>
            <a:ext cx="1645920" cy="365760"/>
          </a:xfrm>
          <a:prstGeom prst="rect">
            <a:avLst/>
          </a:prstGeom>
          <a:noFill/>
        </p:spPr>
        <p:txBody>
          <a:bodyPr wrap="square" lIns="0" tIns="0" rIns="0" bIns="0">
            <a:spAutoFit/>
          </a:bodyPr>
          <a:lstStyle/>
          <a:p>
            <a:pPr>
              <a:spcAft>
                <a:spcPts val="0"/>
              </a:spcAft>
              <a:defRPr sz="1800" b="1">
                <a:solidFill>
                  <a:srgbClr val="24C3D9"/>
                </a:solidFill>
                <a:latin typeface="Consolas"/>
              </a:defRPr>
            </a:pPr>
            <a:r>
              <a:t>10 886,3</a:t>
            </a:r>
          </a:p>
        </p:txBody>
      </p:sp>
      <p:sp>
        <p:nvSpPr>
          <p:cNvPr id="19" name="text-18"/>
          <p:cNvSpPr txBox="1"/>
          <p:nvPr/>
        </p:nvSpPr>
        <p:spPr>
          <a:xfrm>
            <a:off x="4480560" y="4434840"/>
            <a:ext cx="1554480" cy="320040"/>
          </a:xfrm>
          <a:prstGeom prst="rect">
            <a:avLst/>
          </a:prstGeom>
          <a:noFill/>
        </p:spPr>
        <p:txBody>
          <a:bodyPr wrap="square" lIns="0" tIns="0" rIns="0" bIns="0">
            <a:spAutoFit/>
          </a:bodyPr>
          <a:lstStyle/>
          <a:p>
            <a:pPr>
              <a:spcAft>
                <a:spcPts val="0"/>
              </a:spcAft>
              <a:defRPr sz="1600" b="1">
                <a:solidFill>
                  <a:srgbClr val="FF7058"/>
                </a:solidFill>
                <a:latin typeface="Aptos"/>
              </a:defRPr>
            </a:pPr>
            <a:r>
              <a:t>Stacking42</a:t>
            </a:r>
          </a:p>
        </p:txBody>
      </p:sp>
      <p:sp>
        <p:nvSpPr>
          <p:cNvPr id="20" name="loss-r1-bar1"/>
          <p:cNvSpPr/>
          <p:nvPr/>
        </p:nvSpPr>
        <p:spPr>
          <a:xfrm>
            <a:off x="4480560" y="4846320"/>
            <a:ext cx="2189972" cy="256032"/>
          </a:xfrm>
          <a:prstGeom prst="rect">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20"/>
          <p:cNvSpPr txBox="1"/>
          <p:nvPr/>
        </p:nvSpPr>
        <p:spPr>
          <a:xfrm>
            <a:off x="5989320" y="4389120"/>
            <a:ext cx="1645920" cy="365760"/>
          </a:xfrm>
          <a:prstGeom prst="rect">
            <a:avLst/>
          </a:prstGeom>
          <a:noFill/>
        </p:spPr>
        <p:txBody>
          <a:bodyPr wrap="square" lIns="0" tIns="0" rIns="0" bIns="0">
            <a:spAutoFit/>
          </a:bodyPr>
          <a:lstStyle/>
          <a:p>
            <a:pPr>
              <a:spcAft>
                <a:spcPts val="0"/>
              </a:spcAft>
              <a:defRPr sz="1800" b="1">
                <a:solidFill>
                  <a:srgbClr val="FF7058"/>
                </a:solidFill>
                <a:latin typeface="Consolas"/>
              </a:defRPr>
            </a:pPr>
            <a:r>
              <a:t>10 886,3</a:t>
            </a:r>
          </a:p>
        </p:txBody>
      </p:sp>
      <p:sp>
        <p:nvSpPr>
          <p:cNvPr id="22" name="text-21"/>
          <p:cNvSpPr txBox="1"/>
          <p:nvPr/>
        </p:nvSpPr>
        <p:spPr>
          <a:xfrm>
            <a:off x="4480560" y="5623560"/>
            <a:ext cx="3474720" cy="594360"/>
          </a:xfrm>
          <a:prstGeom prst="rect">
            <a:avLst/>
          </a:prstGeom>
          <a:noFill/>
        </p:spPr>
        <p:txBody>
          <a:bodyPr wrap="square" lIns="0" tIns="0" rIns="0" bIns="0">
            <a:spAutoFit/>
          </a:bodyPr>
          <a:lstStyle/>
          <a:p>
            <a:pPr>
              <a:spcAft>
                <a:spcPts val="0"/>
              </a:spcAft>
              <a:defRPr sz="2200" b="1">
                <a:solidFill>
                  <a:srgbClr val="F8F5EE"/>
                </a:solidFill>
                <a:latin typeface="Aptos"/>
              </a:defRPr>
            </a:pPr>
            <a:r>
              <a:t>Hai tổn thất bằng nhau</a:t>
            </a:r>
          </a:p>
        </p:txBody>
      </p:sp>
      <p:sp>
        <p:nvSpPr>
          <p:cNvPr id="23" name="text-22"/>
          <p:cNvSpPr txBox="1"/>
          <p:nvPr/>
        </p:nvSpPr>
        <p:spPr>
          <a:xfrm>
            <a:off x="8275320" y="2788920"/>
            <a:ext cx="3520440" cy="548640"/>
          </a:xfrm>
          <a:prstGeom prst="rect">
            <a:avLst/>
          </a:prstGeom>
          <a:noFill/>
        </p:spPr>
        <p:txBody>
          <a:bodyPr wrap="square" lIns="0" tIns="0" rIns="0" bIns="0">
            <a:spAutoFit/>
          </a:bodyPr>
          <a:lstStyle/>
          <a:p>
            <a:pPr>
              <a:spcAft>
                <a:spcPts val="0"/>
              </a:spcAft>
              <a:defRPr sz="2900" b="1">
                <a:solidFill>
                  <a:srgbClr val="C5F66A"/>
                </a:solidFill>
                <a:latin typeface="Consolas"/>
              </a:defRPr>
            </a:pPr>
            <a:r>
              <a:t>r = 5</a:t>
            </a:r>
          </a:p>
        </p:txBody>
      </p:sp>
      <p:sp>
        <p:nvSpPr>
          <p:cNvPr id="24" name="text-23"/>
          <p:cNvSpPr txBox="1"/>
          <p:nvPr/>
        </p:nvSpPr>
        <p:spPr>
          <a:xfrm>
            <a:off x="8275320" y="3520440"/>
            <a:ext cx="1554480" cy="320040"/>
          </a:xfrm>
          <a:prstGeom prst="rect">
            <a:avLst/>
          </a:prstGeom>
          <a:noFill/>
        </p:spPr>
        <p:txBody>
          <a:bodyPr wrap="square" lIns="0" tIns="0" rIns="0" bIns="0">
            <a:spAutoFit/>
          </a:bodyPr>
          <a:lstStyle/>
          <a:p>
            <a:pPr>
              <a:spcAft>
                <a:spcPts val="0"/>
              </a:spcAft>
              <a:defRPr sz="1600" b="1">
                <a:solidFill>
                  <a:srgbClr val="24C3D9"/>
                </a:solidFill>
                <a:latin typeface="Aptos"/>
              </a:defRPr>
            </a:pPr>
            <a:r>
              <a:t>RF42</a:t>
            </a:r>
          </a:p>
        </p:txBody>
      </p:sp>
      <p:sp>
        <p:nvSpPr>
          <p:cNvPr id="25" name="loss-r2-bar0"/>
          <p:cNvSpPr/>
          <p:nvPr/>
        </p:nvSpPr>
        <p:spPr>
          <a:xfrm>
            <a:off x="8275320" y="3931920"/>
            <a:ext cx="2750570" cy="256032"/>
          </a:xfrm>
          <a:prstGeom prst="rect">
            <a:avLst/>
          </a:prstGeom>
          <a:solidFill>
            <a:srgbClr val="24C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25"/>
          <p:cNvSpPr txBox="1"/>
          <p:nvPr/>
        </p:nvSpPr>
        <p:spPr>
          <a:xfrm>
            <a:off x="9784080" y="3474720"/>
            <a:ext cx="1645920" cy="365760"/>
          </a:xfrm>
          <a:prstGeom prst="rect">
            <a:avLst/>
          </a:prstGeom>
          <a:noFill/>
        </p:spPr>
        <p:txBody>
          <a:bodyPr wrap="square" lIns="0" tIns="0" rIns="0" bIns="0">
            <a:spAutoFit/>
          </a:bodyPr>
          <a:lstStyle/>
          <a:p>
            <a:pPr>
              <a:spcAft>
                <a:spcPts val="0"/>
              </a:spcAft>
              <a:defRPr sz="1800" b="1">
                <a:solidFill>
                  <a:srgbClr val="24C3D9"/>
                </a:solidFill>
                <a:latin typeface="Consolas"/>
              </a:defRPr>
            </a:pPr>
            <a:r>
              <a:t>13 673,0</a:t>
            </a:r>
          </a:p>
        </p:txBody>
      </p:sp>
      <p:sp>
        <p:nvSpPr>
          <p:cNvPr id="27" name="text-26"/>
          <p:cNvSpPr txBox="1"/>
          <p:nvPr/>
        </p:nvSpPr>
        <p:spPr>
          <a:xfrm>
            <a:off x="8275320" y="4434840"/>
            <a:ext cx="1554480" cy="320040"/>
          </a:xfrm>
          <a:prstGeom prst="rect">
            <a:avLst/>
          </a:prstGeom>
          <a:noFill/>
        </p:spPr>
        <p:txBody>
          <a:bodyPr wrap="square" lIns="0" tIns="0" rIns="0" bIns="0">
            <a:spAutoFit/>
          </a:bodyPr>
          <a:lstStyle/>
          <a:p>
            <a:pPr>
              <a:spcAft>
                <a:spcPts val="0"/>
              </a:spcAft>
              <a:defRPr sz="1600" b="1">
                <a:solidFill>
                  <a:srgbClr val="FF7058"/>
                </a:solidFill>
                <a:latin typeface="Aptos"/>
              </a:defRPr>
            </a:pPr>
            <a:r>
              <a:t>Stacking42</a:t>
            </a:r>
          </a:p>
        </p:txBody>
      </p:sp>
      <p:sp>
        <p:nvSpPr>
          <p:cNvPr id="28" name="loss-r2-bar1"/>
          <p:cNvSpPr/>
          <p:nvPr/>
        </p:nvSpPr>
        <p:spPr>
          <a:xfrm>
            <a:off x="8275320" y="4846320"/>
            <a:ext cx="2840693" cy="256032"/>
          </a:xfrm>
          <a:prstGeom prst="rect">
            <a:avLst/>
          </a:prstGeom>
          <a:solidFill>
            <a:srgbClr val="FF7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28"/>
          <p:cNvSpPr txBox="1"/>
          <p:nvPr/>
        </p:nvSpPr>
        <p:spPr>
          <a:xfrm>
            <a:off x="9784080" y="4389120"/>
            <a:ext cx="1645920" cy="365760"/>
          </a:xfrm>
          <a:prstGeom prst="rect">
            <a:avLst/>
          </a:prstGeom>
          <a:noFill/>
        </p:spPr>
        <p:txBody>
          <a:bodyPr wrap="square" lIns="0" tIns="0" rIns="0" bIns="0">
            <a:spAutoFit/>
          </a:bodyPr>
          <a:lstStyle/>
          <a:p>
            <a:pPr>
              <a:spcAft>
                <a:spcPts val="0"/>
              </a:spcAft>
              <a:defRPr sz="1800" b="1">
                <a:solidFill>
                  <a:srgbClr val="FF7058"/>
                </a:solidFill>
                <a:latin typeface="Consolas"/>
              </a:defRPr>
            </a:pPr>
            <a:r>
              <a:t>14 121,0</a:t>
            </a:r>
          </a:p>
        </p:txBody>
      </p:sp>
      <p:sp>
        <p:nvSpPr>
          <p:cNvPr id="30" name="text-29"/>
          <p:cNvSpPr txBox="1"/>
          <p:nvPr/>
        </p:nvSpPr>
        <p:spPr>
          <a:xfrm>
            <a:off x="8275320" y="5623560"/>
            <a:ext cx="3474720" cy="594360"/>
          </a:xfrm>
          <a:prstGeom prst="rect">
            <a:avLst/>
          </a:prstGeom>
          <a:noFill/>
        </p:spPr>
        <p:txBody>
          <a:bodyPr wrap="square" lIns="0" tIns="0" rIns="0" bIns="0">
            <a:spAutoFit/>
          </a:bodyPr>
          <a:lstStyle/>
          <a:p>
            <a:pPr>
              <a:spcAft>
                <a:spcPts val="0"/>
              </a:spcAft>
              <a:defRPr sz="2200" b="1">
                <a:solidFill>
                  <a:srgbClr val="F8F5EE"/>
                </a:solidFill>
                <a:latin typeface="Aptos"/>
              </a:defRPr>
            </a:pPr>
            <a:r>
              <a:t>RF42 thấp hơn</a:t>
            </a:r>
          </a:p>
        </p:txBody>
      </p:sp>
      <p:sp>
        <p:nvSpPr>
          <p:cNvPr id="31" name="text-30"/>
          <p:cNvSpPr txBox="1"/>
          <p:nvPr/>
        </p:nvSpPr>
        <p:spPr>
          <a:xfrm>
            <a:off x="594360" y="6263640"/>
            <a:ext cx="10972800" cy="228600"/>
          </a:xfrm>
          <a:prstGeom prst="rect">
            <a:avLst/>
          </a:prstGeom>
          <a:noFill/>
        </p:spPr>
        <p:txBody>
          <a:bodyPr wrap="square" lIns="0" tIns="0" rIns="0" bIns="0">
            <a:spAutoFit/>
          </a:bodyPr>
          <a:lstStyle/>
          <a:p>
            <a:pPr>
              <a:spcAft>
                <a:spcPts val="0"/>
              </a:spcAft>
              <a:defRPr sz="1300" b="0">
                <a:solidFill>
                  <a:srgbClr val="B4B8CB"/>
                </a:solidFill>
                <a:latin typeface="Aptos"/>
              </a:defRPr>
            </a:pPr>
            <a:r>
              <a:t>Cùng trục tổn thất quy ước 0–15.000; không phải tiền thiệt hại.</a:t>
            </a:r>
          </a:p>
        </p:txBody>
      </p:sp>
    </p:spTree>
  </p:cSld>
  <p:clrMapOvr>
    <a:masterClrMapping/>
  </p:clrMapOvr>
  <mc:AlternateContent xmlns:mc="http://schemas.openxmlformats.org/markup-compatibility/2006" xmlns:p14="http://schemas.microsoft.com/office/powerpoint/2010/main">
    <mc:Choice Requires="p14">
      <p:transition spd="slow" p14:dur="2000" advTm="25000"/>
    </mc:Choice>
    <mc:Fallback xmlns="">
      <p:transition spd="slow"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15000" fill="hold" grpId="0" nodeType="withEffect">
                                  <p:stCondLst>
                                    <p:cond delay="8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10" presetClass="entr" presetSubtype="0" accel="15000" decel="15000" fill="hold" grpId="0" nodeType="withEffect">
                                  <p:stCondLst>
                                    <p:cond delay="8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childTnLst>
                                </p:cTn>
                              </p:par>
                              <p:par>
                                <p:cTn id="11" presetID="22" presetClass="entr" presetSubtype="8" accel="15000" decel="15000" fill="hold" grpId="0" nodeType="withEffect">
                                  <p:stCondLst>
                                    <p:cond delay="80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700"/>
                                        <p:tgtEl>
                                          <p:spTgt spid="9"/>
                                        </p:tgtEl>
                                      </p:cBhvr>
                                    </p:animEffect>
                                  </p:childTnLst>
                                </p:cTn>
                              </p:par>
                              <p:par>
                                <p:cTn id="14" presetID="10" presetClass="entr" presetSubtype="0" accel="15000" decel="15000" fill="hold" grpId="0" nodeType="withEffect">
                                  <p:stCondLst>
                                    <p:cond delay="80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700"/>
                                        <p:tgtEl>
                                          <p:spTgt spid="10"/>
                                        </p:tgtEl>
                                      </p:cBhvr>
                                    </p:animEffect>
                                  </p:childTnLst>
                                </p:cTn>
                              </p:par>
                              <p:par>
                                <p:cTn id="17" presetID="10" presetClass="entr" presetSubtype="0" accel="15000" decel="15000" fill="hold" grpId="0" nodeType="withEffect">
                                  <p:stCondLst>
                                    <p:cond delay="8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700"/>
                                        <p:tgtEl>
                                          <p:spTgt spid="11"/>
                                        </p:tgtEl>
                                      </p:cBhvr>
                                    </p:animEffect>
                                  </p:childTnLst>
                                </p:cTn>
                              </p:par>
                              <p:par>
                                <p:cTn id="20" presetID="22" presetClass="entr" presetSubtype="8" accel="15000" decel="15000" fill="hold" grpId="0" nodeType="withEffect">
                                  <p:stCondLst>
                                    <p:cond delay="80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700"/>
                                        <p:tgtEl>
                                          <p:spTgt spid="12"/>
                                        </p:tgtEl>
                                      </p:cBhvr>
                                    </p:animEffect>
                                  </p:childTnLst>
                                </p:cTn>
                              </p:par>
                              <p:par>
                                <p:cTn id="23" presetID="10" presetClass="entr" presetSubtype="0" accel="15000" decel="15000" fill="hold" grpId="0" nodeType="withEffect">
                                  <p:stCondLst>
                                    <p:cond delay="80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700"/>
                                        <p:tgtEl>
                                          <p:spTgt spid="13"/>
                                        </p:tgtEl>
                                      </p:cBhvr>
                                    </p:animEffect>
                                  </p:childTnLst>
                                </p:cTn>
                              </p:par>
                              <p:par>
                                <p:cTn id="26" presetID="10" presetClass="entr" presetSubtype="0" accel="15000" decel="15000" fill="hold" grpId="0" nodeType="withEffect">
                                  <p:stCondLst>
                                    <p:cond delay="80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700"/>
                                        <p:tgtEl>
                                          <p:spTgt spid="14"/>
                                        </p:tgtEl>
                                      </p:cBhvr>
                                    </p:animEffect>
                                  </p:childTnLst>
                                </p:cTn>
                              </p:par>
                              <p:par>
                                <p:cTn id="29" presetID="10" presetClass="entr" presetSubtype="0" accel="15000" decel="15000" fill="hold" grpId="0" nodeType="withEffect">
                                  <p:stCondLst>
                                    <p:cond delay="820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700"/>
                                        <p:tgtEl>
                                          <p:spTgt spid="15"/>
                                        </p:tgtEl>
                                      </p:cBhvr>
                                    </p:animEffect>
                                  </p:childTnLst>
                                </p:cTn>
                              </p:par>
                              <p:par>
                                <p:cTn id="32" presetID="10" presetClass="entr" presetSubtype="0" accel="15000" decel="15000" fill="hold" grpId="0" nodeType="withEffect">
                                  <p:stCondLst>
                                    <p:cond delay="820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700"/>
                                        <p:tgtEl>
                                          <p:spTgt spid="16"/>
                                        </p:tgtEl>
                                      </p:cBhvr>
                                    </p:animEffect>
                                  </p:childTnLst>
                                </p:cTn>
                              </p:par>
                              <p:par>
                                <p:cTn id="35" presetID="22" presetClass="entr" presetSubtype="8" accel="15000" decel="15000" fill="hold" grpId="0" nodeType="withEffect">
                                  <p:stCondLst>
                                    <p:cond delay="820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700"/>
                                        <p:tgtEl>
                                          <p:spTgt spid="17"/>
                                        </p:tgtEl>
                                      </p:cBhvr>
                                    </p:animEffect>
                                  </p:childTnLst>
                                </p:cTn>
                              </p:par>
                              <p:par>
                                <p:cTn id="38" presetID="10" presetClass="entr" presetSubtype="0" accel="15000" decel="15000" fill="hold" grpId="0" nodeType="withEffect">
                                  <p:stCondLst>
                                    <p:cond delay="820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700"/>
                                        <p:tgtEl>
                                          <p:spTgt spid="18"/>
                                        </p:tgtEl>
                                      </p:cBhvr>
                                    </p:animEffect>
                                  </p:childTnLst>
                                </p:cTn>
                              </p:par>
                              <p:par>
                                <p:cTn id="41" presetID="10" presetClass="entr" presetSubtype="0" accel="15000" decel="15000" fill="hold" grpId="0" nodeType="withEffect">
                                  <p:stCondLst>
                                    <p:cond delay="820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700"/>
                                        <p:tgtEl>
                                          <p:spTgt spid="19"/>
                                        </p:tgtEl>
                                      </p:cBhvr>
                                    </p:animEffect>
                                  </p:childTnLst>
                                </p:cTn>
                              </p:par>
                              <p:par>
                                <p:cTn id="44" presetID="22" presetClass="entr" presetSubtype="8" accel="15000" decel="15000" fill="hold" grpId="0" nodeType="withEffect">
                                  <p:stCondLst>
                                    <p:cond delay="820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700"/>
                                        <p:tgtEl>
                                          <p:spTgt spid="20"/>
                                        </p:tgtEl>
                                      </p:cBhvr>
                                    </p:animEffect>
                                  </p:childTnLst>
                                </p:cTn>
                              </p:par>
                              <p:par>
                                <p:cTn id="47" presetID="10" presetClass="entr" presetSubtype="0" accel="15000" decel="15000" fill="hold" grpId="0" nodeType="withEffect">
                                  <p:stCondLst>
                                    <p:cond delay="82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700"/>
                                        <p:tgtEl>
                                          <p:spTgt spid="21"/>
                                        </p:tgtEl>
                                      </p:cBhvr>
                                    </p:animEffect>
                                  </p:childTnLst>
                                </p:cTn>
                              </p:par>
                              <p:par>
                                <p:cTn id="50" presetID="10" presetClass="entr" presetSubtype="0" accel="15000" decel="15000" fill="hold" grpId="0" nodeType="withEffect">
                                  <p:stCondLst>
                                    <p:cond delay="82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700"/>
                                        <p:tgtEl>
                                          <p:spTgt spid="22"/>
                                        </p:tgtEl>
                                      </p:cBhvr>
                                    </p:animEffect>
                                  </p:childTnLst>
                                </p:cTn>
                              </p:par>
                              <p:par>
                                <p:cTn id="53" presetID="10" presetClass="entr" presetSubtype="0" accel="15000" decel="15000" fill="hold" grpId="0" nodeType="withEffect">
                                  <p:stCondLst>
                                    <p:cond delay="1520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700"/>
                                        <p:tgtEl>
                                          <p:spTgt spid="23"/>
                                        </p:tgtEl>
                                      </p:cBhvr>
                                    </p:animEffect>
                                  </p:childTnLst>
                                </p:cTn>
                              </p:par>
                              <p:par>
                                <p:cTn id="56" presetID="10" presetClass="entr" presetSubtype="0" accel="15000" decel="15000" fill="hold" grpId="0" nodeType="withEffect">
                                  <p:stCondLst>
                                    <p:cond delay="1520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700"/>
                                        <p:tgtEl>
                                          <p:spTgt spid="24"/>
                                        </p:tgtEl>
                                      </p:cBhvr>
                                    </p:animEffect>
                                  </p:childTnLst>
                                </p:cTn>
                              </p:par>
                              <p:par>
                                <p:cTn id="59" presetID="22" presetClass="entr" presetSubtype="8" accel="15000" decel="15000" fill="hold" grpId="0" nodeType="withEffect">
                                  <p:stCondLst>
                                    <p:cond delay="15200"/>
                                  </p:stCondLst>
                                  <p:childTnLst>
                                    <p:set>
                                      <p:cBhvr>
                                        <p:cTn id="60" dur="1" fill="hold">
                                          <p:stCondLst>
                                            <p:cond delay="0"/>
                                          </p:stCondLst>
                                        </p:cTn>
                                        <p:tgtEl>
                                          <p:spTgt spid="25"/>
                                        </p:tgtEl>
                                        <p:attrNameLst>
                                          <p:attrName>style.visibility</p:attrName>
                                        </p:attrNameLst>
                                      </p:cBhvr>
                                      <p:to>
                                        <p:strVal val="visible"/>
                                      </p:to>
                                    </p:set>
                                    <p:animEffect transition="in" filter="wipe(left)">
                                      <p:cBhvr>
                                        <p:cTn id="61" dur="700"/>
                                        <p:tgtEl>
                                          <p:spTgt spid="25"/>
                                        </p:tgtEl>
                                      </p:cBhvr>
                                    </p:animEffect>
                                  </p:childTnLst>
                                </p:cTn>
                              </p:par>
                              <p:par>
                                <p:cTn id="62" presetID="10" presetClass="entr" presetSubtype="0" accel="15000" decel="15000" fill="hold" grpId="0" nodeType="withEffect">
                                  <p:stCondLst>
                                    <p:cond delay="1520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700"/>
                                        <p:tgtEl>
                                          <p:spTgt spid="26"/>
                                        </p:tgtEl>
                                      </p:cBhvr>
                                    </p:animEffect>
                                  </p:childTnLst>
                                </p:cTn>
                              </p:par>
                              <p:par>
                                <p:cTn id="65" presetID="10" presetClass="entr" presetSubtype="0" accel="15000" decel="15000" fill="hold" grpId="0" nodeType="withEffect">
                                  <p:stCondLst>
                                    <p:cond delay="1520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700"/>
                                        <p:tgtEl>
                                          <p:spTgt spid="27"/>
                                        </p:tgtEl>
                                      </p:cBhvr>
                                    </p:animEffect>
                                  </p:childTnLst>
                                </p:cTn>
                              </p:par>
                              <p:par>
                                <p:cTn id="68" presetID="22" presetClass="entr" presetSubtype="8" accel="15000" decel="15000" fill="hold" grpId="0" nodeType="withEffect">
                                  <p:stCondLst>
                                    <p:cond delay="15200"/>
                                  </p:stCondLst>
                                  <p:childTnLst>
                                    <p:set>
                                      <p:cBhvr>
                                        <p:cTn id="69" dur="1" fill="hold">
                                          <p:stCondLst>
                                            <p:cond delay="0"/>
                                          </p:stCondLst>
                                        </p:cTn>
                                        <p:tgtEl>
                                          <p:spTgt spid="28"/>
                                        </p:tgtEl>
                                        <p:attrNameLst>
                                          <p:attrName>style.visibility</p:attrName>
                                        </p:attrNameLst>
                                      </p:cBhvr>
                                      <p:to>
                                        <p:strVal val="visible"/>
                                      </p:to>
                                    </p:set>
                                    <p:animEffect transition="in" filter="wipe(left)">
                                      <p:cBhvr>
                                        <p:cTn id="70" dur="700"/>
                                        <p:tgtEl>
                                          <p:spTgt spid="28"/>
                                        </p:tgtEl>
                                      </p:cBhvr>
                                    </p:animEffect>
                                  </p:childTnLst>
                                </p:cTn>
                              </p:par>
                              <p:par>
                                <p:cTn id="71" presetID="10" presetClass="entr" presetSubtype="0" accel="15000" decel="15000" fill="hold" grpId="0" nodeType="withEffect">
                                  <p:stCondLst>
                                    <p:cond delay="1520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700"/>
                                        <p:tgtEl>
                                          <p:spTgt spid="29"/>
                                        </p:tgtEl>
                                      </p:cBhvr>
                                    </p:animEffect>
                                  </p:childTnLst>
                                </p:cTn>
                              </p:par>
                              <p:par>
                                <p:cTn id="74" presetID="10" presetClass="entr" presetSubtype="0" accel="15000" decel="15000" fill="hold" grpId="0" nodeType="withEffect">
                                  <p:stCondLst>
                                    <p:cond delay="1520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7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P spid="10" grpId="0"/>
      <p:bldP spid="11" grpId="0"/>
      <p:bldP spid="12" grpId="0" animBg="1"/>
      <p:bldP spid="13" grpId="0"/>
      <p:bldP spid="14" grpId="0"/>
      <p:bldP spid="15" grpId="0"/>
      <p:bldP spid="16" grpId="0"/>
      <p:bldP spid="17" grpId="0" animBg="1"/>
      <p:bldP spid="18" grpId="0"/>
      <p:bldP spid="19" grpId="0"/>
      <p:bldP spid="20" grpId="0" animBg="1"/>
      <p:bldP spid="21" grpId="0"/>
      <p:bldP spid="22" grpId="0"/>
      <p:bldP spid="23" grpId="0"/>
      <p:bldP spid="24" grpId="0"/>
      <p:bldP spid="25" grpId="0" animBg="1"/>
      <p:bldP spid="26" grpId="0"/>
      <p:bldP spid="27" grpId="0"/>
      <p:bldP spid="28" grpId="0" animBg="1"/>
      <p:bldP spid="29" grpId="0"/>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C5F66A"/>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ENSEMBLE / IDS                         CLOSE</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NCKH Ensemble IDS · Dương Ngọc Phú / Phạm Thế Vỹ / Vũ Văn Kiên / Lê Hoàng Nguyên Quân · GVHD: TS. Lê Ngọc Hiếu</a:t>
            </a:r>
          </a:p>
        </p:txBody>
      </p:sp>
      <p:sp>
        <p:nvSpPr>
          <p:cNvPr id="5" name="hero-title"/>
          <p:cNvSpPr txBox="1"/>
          <p:nvPr/>
        </p:nvSpPr>
        <p:spPr>
          <a:xfrm>
            <a:off x="502920" y="914400"/>
            <a:ext cx="7955279" cy="4114800"/>
          </a:xfrm>
          <a:prstGeom prst="rect">
            <a:avLst/>
          </a:prstGeom>
          <a:noFill/>
        </p:spPr>
        <p:txBody>
          <a:bodyPr wrap="square" lIns="0" tIns="0" rIns="0" bIns="0">
            <a:spAutoFit/>
          </a:bodyPr>
          <a:lstStyle/>
          <a:p>
            <a:pPr>
              <a:spcAft>
                <a:spcPts val="0"/>
              </a:spcAft>
              <a:defRPr sz="7000" b="1">
                <a:solidFill>
                  <a:srgbClr val="10162F"/>
                </a:solidFill>
                <a:latin typeface="Arial"/>
              </a:defRPr>
            </a:pPr>
            <a:r>
              <a:t>CHỌN TỪ</a:t>
            </a:r>
          </a:p>
          <a:p>
            <a:pPr>
              <a:spcAft>
                <a:spcPts val="0"/>
              </a:spcAft>
              <a:defRPr sz="7000" b="1">
                <a:solidFill>
                  <a:srgbClr val="10162F"/>
                </a:solidFill>
                <a:latin typeface="Arial"/>
              </a:defRPr>
            </a:pPr>
            <a:r>
              <a:t>LOẠI LỖI</a:t>
            </a:r>
          </a:p>
          <a:p>
            <a:pPr>
              <a:spcAft>
                <a:spcPts val="0"/>
              </a:spcAft>
              <a:defRPr sz="7000" b="1">
                <a:solidFill>
                  <a:srgbClr val="10162F"/>
                </a:solidFill>
                <a:latin typeface="Arial"/>
              </a:defRPr>
            </a:pPr>
            <a:r>
              <a:t>CẦN GIẢM.</a:t>
            </a:r>
          </a:p>
        </p:txBody>
      </p:sp>
      <p:sp>
        <p:nvSpPr>
          <p:cNvPr id="6" name="text-5"/>
          <p:cNvSpPr txBox="1"/>
          <p:nvPr/>
        </p:nvSpPr>
        <p:spPr>
          <a:xfrm>
            <a:off x="8138160" y="1828800"/>
            <a:ext cx="3474720" cy="848360"/>
          </a:xfrm>
          <a:prstGeom prst="rect">
            <a:avLst/>
          </a:prstGeom>
          <a:noFill/>
        </p:spPr>
        <p:txBody>
          <a:bodyPr wrap="square" lIns="0" tIns="0" rIns="0" bIns="0">
            <a:spAutoFit/>
          </a:bodyPr>
          <a:lstStyle/>
          <a:p>
            <a:pPr>
              <a:spcAft>
                <a:spcPts val="0"/>
              </a:spcAft>
              <a:defRPr sz="2700" b="1">
                <a:solidFill>
                  <a:srgbClr val="10162F"/>
                </a:solidFill>
                <a:latin typeface="Aptos"/>
              </a:defRPr>
            </a:pPr>
            <a:r>
              <a:t>Đối chiếu các cấu hình.</a:t>
            </a:r>
          </a:p>
        </p:txBody>
      </p:sp>
      <p:sp>
        <p:nvSpPr>
          <p:cNvPr id="7" name="text-6"/>
          <p:cNvSpPr txBox="1"/>
          <p:nvPr/>
        </p:nvSpPr>
        <p:spPr>
          <a:xfrm>
            <a:off x="8138160" y="2880360"/>
            <a:ext cx="3474720" cy="731520"/>
          </a:xfrm>
          <a:prstGeom prst="rect">
            <a:avLst/>
          </a:prstGeom>
          <a:noFill/>
        </p:spPr>
        <p:txBody>
          <a:bodyPr wrap="square" lIns="0" tIns="0" rIns="0" bIns="0">
            <a:spAutoFit/>
          </a:bodyPr>
          <a:lstStyle/>
          <a:p>
            <a:pPr>
              <a:spcAft>
                <a:spcPts val="0"/>
              </a:spcAft>
              <a:defRPr sz="2700" b="1">
                <a:solidFill>
                  <a:srgbClr val="10162F"/>
                </a:solidFill>
                <a:latin typeface="Aptos"/>
              </a:defRPr>
            </a:pPr>
            <a:r>
              <a:t>Kiểm soát thí nghiệm.</a:t>
            </a:r>
          </a:p>
        </p:txBody>
      </p:sp>
      <p:sp>
        <p:nvSpPr>
          <p:cNvPr id="8" name="text-7"/>
          <p:cNvSpPr txBox="1"/>
          <p:nvPr/>
        </p:nvSpPr>
        <p:spPr>
          <a:xfrm>
            <a:off x="8138160" y="3931920"/>
            <a:ext cx="3474720" cy="731520"/>
          </a:xfrm>
          <a:prstGeom prst="rect">
            <a:avLst/>
          </a:prstGeom>
          <a:noFill/>
        </p:spPr>
        <p:txBody>
          <a:bodyPr wrap="square" lIns="0" tIns="0" rIns="0" bIns="0">
            <a:spAutoFit/>
          </a:bodyPr>
          <a:lstStyle/>
          <a:p>
            <a:pPr>
              <a:spcAft>
                <a:spcPts val="0"/>
              </a:spcAft>
              <a:defRPr sz="2700" b="1">
                <a:solidFill>
                  <a:srgbClr val="10162F"/>
                </a:solidFill>
                <a:latin typeface="Aptos"/>
              </a:defRPr>
            </a:pPr>
            <a:r>
              <a:t>Nêu rõ giới hạn.</a:t>
            </a:r>
          </a:p>
        </p:txBody>
      </p:sp>
      <p:sp>
        <p:nvSpPr>
          <p:cNvPr id="9" name="text-8"/>
          <p:cNvSpPr txBox="1"/>
          <p:nvPr/>
        </p:nvSpPr>
        <p:spPr>
          <a:xfrm>
            <a:off x="594360" y="5806440"/>
            <a:ext cx="10972800" cy="548640"/>
          </a:xfrm>
          <a:prstGeom prst="rect">
            <a:avLst/>
          </a:prstGeom>
          <a:noFill/>
        </p:spPr>
        <p:txBody>
          <a:bodyPr wrap="square" lIns="0" tIns="0" rIns="0" bIns="0">
            <a:spAutoFit/>
          </a:bodyPr>
          <a:lstStyle/>
          <a:p>
            <a:pPr>
              <a:spcAft>
                <a:spcPts val="0"/>
              </a:spcAft>
              <a:defRPr sz="2600" b="0">
                <a:solidFill>
                  <a:srgbClr val="10162F"/>
                </a:solidFill>
                <a:latin typeface="Aptos"/>
              </a:defRPr>
            </a:pPr>
            <a:r>
              <a:t>Cần dữ liệu mạng mới và chi phí thực tế.</a:t>
            </a:r>
          </a:p>
        </p:txBody>
      </p:sp>
      <p:sp>
        <p:nvSpPr>
          <p:cNvPr id="10" name="shape-9"/>
          <p:cNvSpPr/>
          <p:nvPr/>
        </p:nvSpPr>
        <p:spPr>
          <a:xfrm>
            <a:off x="8087868" y="5070348"/>
            <a:ext cx="100584" cy="100584"/>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hape-10"/>
          <p:cNvSpPr/>
          <p:nvPr/>
        </p:nvSpPr>
        <p:spPr>
          <a:xfrm>
            <a:off x="8087868" y="5070348"/>
            <a:ext cx="100584" cy="100584"/>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hape-11"/>
          <p:cNvSpPr/>
          <p:nvPr/>
        </p:nvSpPr>
        <p:spPr>
          <a:xfrm>
            <a:off x="8087868" y="5070348"/>
            <a:ext cx="100584" cy="100584"/>
          </a:xfrm>
          <a:prstGeom prst="ellipse">
            <a:avLst/>
          </a:prstGeom>
          <a:solidFill>
            <a:srgbClr val="101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hlinkClick r:id="rId3" action="ppaction://hlinksldjump"/>
          </p:cNvPr>
          <p:cNvSpPr txBox="1"/>
          <p:nvPr/>
        </p:nvSpPr>
        <p:spPr>
          <a:xfrm>
            <a:off x="594360" y="6309360"/>
            <a:ext cx="640080" cy="182880"/>
          </a:xfrm>
          <a:prstGeom prst="rect">
            <a:avLst/>
          </a:prstGeom>
          <a:noFill/>
        </p:spPr>
        <p:txBody>
          <a:bodyPr wrap="none">
            <a:spAutoFit/>
          </a:bodyPr>
          <a:lstStyle/>
          <a:p>
            <a:pPr>
              <a:defRPr sz="1000"/>
            </a:pPr>
            <a:r>
              <a:t>A1</a:t>
            </a:r>
          </a:p>
        </p:txBody>
      </p:sp>
      <p:sp>
        <p:nvSpPr>
          <p:cNvPr id="14" name="TextBox 13">
            <a:hlinkClick r:id="rId4" action="ppaction://hlinksldjump"/>
          </p:cNvPr>
          <p:cNvSpPr txBox="1"/>
          <p:nvPr/>
        </p:nvSpPr>
        <p:spPr>
          <a:xfrm>
            <a:off x="1463040" y="6309360"/>
            <a:ext cx="640080" cy="182880"/>
          </a:xfrm>
          <a:prstGeom prst="rect">
            <a:avLst/>
          </a:prstGeom>
          <a:noFill/>
        </p:spPr>
        <p:txBody>
          <a:bodyPr wrap="none">
            <a:spAutoFit/>
          </a:bodyPr>
          <a:lstStyle/>
          <a:p>
            <a:pPr>
              <a:defRPr sz="1000"/>
            </a:pPr>
            <a:r>
              <a:t>A2</a:t>
            </a:r>
          </a:p>
        </p:txBody>
      </p:sp>
      <p:sp>
        <p:nvSpPr>
          <p:cNvPr id="15" name="TextBox 14">
            <a:hlinkClick r:id="rId5" action="ppaction://hlinksldjump"/>
          </p:cNvPr>
          <p:cNvSpPr txBox="1"/>
          <p:nvPr/>
        </p:nvSpPr>
        <p:spPr>
          <a:xfrm>
            <a:off x="2331720" y="6309360"/>
            <a:ext cx="640080" cy="182880"/>
          </a:xfrm>
          <a:prstGeom prst="rect">
            <a:avLst/>
          </a:prstGeom>
          <a:noFill/>
        </p:spPr>
        <p:txBody>
          <a:bodyPr wrap="none">
            <a:spAutoFit/>
          </a:bodyPr>
          <a:lstStyle/>
          <a:p>
            <a:pPr>
              <a:defRPr sz="1000"/>
            </a:pPr>
            <a:r>
              <a:t>A3</a:t>
            </a:r>
          </a:p>
        </p:txBody>
      </p:sp>
      <p:sp>
        <p:nvSpPr>
          <p:cNvPr id="16" name="TextBox 15">
            <a:hlinkClick r:id="rId6" action="ppaction://hlinksldjump"/>
          </p:cNvPr>
          <p:cNvSpPr txBox="1"/>
          <p:nvPr/>
        </p:nvSpPr>
        <p:spPr>
          <a:xfrm>
            <a:off x="3200399" y="6309360"/>
            <a:ext cx="640080" cy="182880"/>
          </a:xfrm>
          <a:prstGeom prst="rect">
            <a:avLst/>
          </a:prstGeom>
          <a:noFill/>
        </p:spPr>
        <p:txBody>
          <a:bodyPr wrap="none">
            <a:spAutoFit/>
          </a:bodyPr>
          <a:lstStyle/>
          <a:p>
            <a:pPr>
              <a:defRPr sz="1000"/>
            </a:pPr>
            <a:r>
              <a:t>A4</a:t>
            </a:r>
          </a:p>
        </p:txBody>
      </p:sp>
      <p:sp>
        <p:nvSpPr>
          <p:cNvPr id="17" name="TextBox 16">
            <a:hlinkClick r:id="rId7" action="ppaction://hlinksldjump"/>
          </p:cNvPr>
          <p:cNvSpPr txBox="1"/>
          <p:nvPr/>
        </p:nvSpPr>
        <p:spPr>
          <a:xfrm>
            <a:off x="4069080" y="6309360"/>
            <a:ext cx="640080" cy="182880"/>
          </a:xfrm>
          <a:prstGeom prst="rect">
            <a:avLst/>
          </a:prstGeom>
          <a:noFill/>
        </p:spPr>
        <p:txBody>
          <a:bodyPr wrap="none">
            <a:spAutoFit/>
          </a:bodyPr>
          <a:lstStyle/>
          <a:p>
            <a:pPr>
              <a:defRPr sz="1000"/>
            </a:pPr>
            <a:r>
              <a:t>A5</a:t>
            </a:r>
          </a:p>
        </p:txBody>
      </p:sp>
      <p:sp>
        <p:nvSpPr>
          <p:cNvPr id="18" name="TextBox 17">
            <a:hlinkClick r:id="rId8" action="ppaction://hlinksldjump"/>
          </p:cNvPr>
          <p:cNvSpPr txBox="1"/>
          <p:nvPr/>
        </p:nvSpPr>
        <p:spPr>
          <a:xfrm>
            <a:off x="4937760" y="6309360"/>
            <a:ext cx="640080" cy="182880"/>
          </a:xfrm>
          <a:prstGeom prst="rect">
            <a:avLst/>
          </a:prstGeom>
          <a:noFill/>
        </p:spPr>
        <p:txBody>
          <a:bodyPr wrap="none">
            <a:spAutoFit/>
          </a:bodyPr>
          <a:lstStyle/>
          <a:p>
            <a:pPr>
              <a:defRPr sz="1000"/>
            </a:pPr>
            <a:r>
              <a:t>A6</a:t>
            </a:r>
          </a:p>
        </p:txBody>
      </p:sp>
      <p:sp>
        <p:nvSpPr>
          <p:cNvPr id="19" name="TextBox 18">
            <a:hlinkClick r:id="rId9" action="ppaction://hlinksldjump"/>
          </p:cNvPr>
          <p:cNvSpPr txBox="1"/>
          <p:nvPr/>
        </p:nvSpPr>
        <p:spPr>
          <a:xfrm>
            <a:off x="5806440" y="6309360"/>
            <a:ext cx="640080" cy="182880"/>
          </a:xfrm>
          <a:prstGeom prst="rect">
            <a:avLst/>
          </a:prstGeom>
          <a:noFill/>
        </p:spPr>
        <p:txBody>
          <a:bodyPr wrap="none">
            <a:spAutoFit/>
          </a:bodyPr>
          <a:lstStyle/>
          <a:p>
            <a:pPr>
              <a:defRPr sz="1000"/>
            </a:pPr>
            <a:r>
              <a:t>A7</a:t>
            </a:r>
          </a:p>
        </p:txBody>
      </p:sp>
      <p:sp>
        <p:nvSpPr>
          <p:cNvPr id="20" name="TextBox 19">
            <a:hlinkClick r:id="rId10" action="ppaction://hlinksldjump"/>
          </p:cNvPr>
          <p:cNvSpPr txBox="1"/>
          <p:nvPr/>
        </p:nvSpPr>
        <p:spPr>
          <a:xfrm>
            <a:off x="6675120" y="6309360"/>
            <a:ext cx="640080" cy="182880"/>
          </a:xfrm>
          <a:prstGeom prst="rect">
            <a:avLst/>
          </a:prstGeom>
          <a:noFill/>
        </p:spPr>
        <p:txBody>
          <a:bodyPr wrap="none">
            <a:spAutoFit/>
          </a:bodyPr>
          <a:lstStyle/>
          <a:p>
            <a:pPr>
              <a:defRPr sz="1000"/>
            </a:pPr>
            <a:r>
              <a:t>A8</a:t>
            </a:r>
          </a:p>
        </p:txBody>
      </p:sp>
      <p:sp>
        <p:nvSpPr>
          <p:cNvPr id="21" name="TextBox 20">
            <a:hlinkClick r:id="rId11" action="ppaction://hlinksldjump"/>
          </p:cNvPr>
          <p:cNvSpPr txBox="1"/>
          <p:nvPr/>
        </p:nvSpPr>
        <p:spPr>
          <a:xfrm>
            <a:off x="7543800" y="6309360"/>
            <a:ext cx="640080" cy="182880"/>
          </a:xfrm>
          <a:prstGeom prst="rect">
            <a:avLst/>
          </a:prstGeom>
          <a:noFill/>
        </p:spPr>
        <p:txBody>
          <a:bodyPr wrap="none">
            <a:spAutoFit/>
          </a:bodyPr>
          <a:lstStyle/>
          <a:p>
            <a:pPr>
              <a:defRPr sz="1000"/>
            </a:pPr>
            <a:r>
              <a:t>A9</a:t>
            </a:r>
          </a:p>
        </p:txBody>
      </p:sp>
      <p:sp>
        <p:nvSpPr>
          <p:cNvPr id="22" name="TextBox 21">
            <a:hlinkClick r:id="rId12" action="ppaction://hlinksldjump"/>
          </p:cNvPr>
          <p:cNvSpPr txBox="1"/>
          <p:nvPr/>
        </p:nvSpPr>
        <p:spPr>
          <a:xfrm>
            <a:off x="8412480" y="6309360"/>
            <a:ext cx="640080" cy="182880"/>
          </a:xfrm>
          <a:prstGeom prst="rect">
            <a:avLst/>
          </a:prstGeom>
          <a:noFill/>
        </p:spPr>
        <p:txBody>
          <a:bodyPr wrap="none">
            <a:spAutoFit/>
          </a:bodyPr>
          <a:lstStyle/>
          <a:p>
            <a:pPr>
              <a:defRPr sz="1000"/>
            </a:pPr>
            <a:r>
              <a:t>A10</a:t>
            </a:r>
          </a:p>
        </p:txBody>
      </p:sp>
      <p:sp>
        <p:nvSpPr>
          <p:cNvPr id="23" name="TextBox 22">
            <a:hlinkClick r:id="rId13" action="ppaction://hlinksldjump"/>
          </p:cNvPr>
          <p:cNvSpPr txBox="1"/>
          <p:nvPr/>
        </p:nvSpPr>
        <p:spPr>
          <a:xfrm>
            <a:off x="9281160" y="6309360"/>
            <a:ext cx="640080" cy="182880"/>
          </a:xfrm>
          <a:prstGeom prst="rect">
            <a:avLst/>
          </a:prstGeom>
          <a:noFill/>
        </p:spPr>
        <p:txBody>
          <a:bodyPr wrap="none">
            <a:spAutoFit/>
          </a:bodyPr>
          <a:lstStyle/>
          <a:p>
            <a:pPr>
              <a:defRPr sz="1000"/>
            </a:pPr>
            <a:r>
              <a:t>A11</a:t>
            </a:r>
          </a:p>
        </p:txBody>
      </p:sp>
      <p:sp>
        <p:nvSpPr>
          <p:cNvPr id="24" name="TextBox 23">
            <a:hlinkClick r:id="rId14" action="ppaction://hlinksldjump"/>
          </p:cNvPr>
          <p:cNvSpPr txBox="1"/>
          <p:nvPr/>
        </p:nvSpPr>
        <p:spPr>
          <a:xfrm>
            <a:off x="10149840" y="6309360"/>
            <a:ext cx="640080" cy="182880"/>
          </a:xfrm>
          <a:prstGeom prst="rect">
            <a:avLst/>
          </a:prstGeom>
          <a:noFill/>
        </p:spPr>
        <p:txBody>
          <a:bodyPr wrap="none">
            <a:spAutoFit/>
          </a:bodyPr>
          <a:lstStyle/>
          <a:p>
            <a:pPr>
              <a:defRPr sz="1000"/>
            </a:pPr>
            <a:r>
              <a:t>A12</a:t>
            </a:r>
          </a:p>
        </p:txBody>
      </p:sp>
    </p:spTree>
  </p:cSld>
  <p:clrMapOvr>
    <a:masterClrMapping/>
  </p:clrMapOvr>
  <mc:AlternateContent xmlns:mc="http://schemas.openxmlformats.org/markup-compatibility/2006" xmlns:p14="http://schemas.microsoft.com/office/powerpoint/2010/main">
    <mc:Choice Requires="p14">
      <p:transition spd="slow" p14:dur="2000" advTm="25000"/>
    </mc:Choice>
    <mc:Fallback xmlns="">
      <p:transition spd="slow"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accel="15000" decel="15000" fill="hold" grpId="0" nodeType="withEffect">
                                  <p:stCondLst>
                                    <p:cond delay="20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700"/>
                                        <p:tgtEl>
                                          <p:spTgt spid="6"/>
                                        </p:tgtEl>
                                      </p:cBhvr>
                                    </p:animEffect>
                                  </p:childTnLst>
                                </p:cTn>
                              </p:par>
                              <p:par>
                                <p:cTn id="8" presetID="10" presetClass="entr" presetSubtype="0" accel="15000" decel="15000" fill="hold" grpId="0" nodeType="withEffect">
                                  <p:stCondLst>
                                    <p:cond delay="30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20"/>
                                        <p:tgtEl>
                                          <p:spTgt spid="10"/>
                                        </p:tgtEl>
                                      </p:cBhvr>
                                    </p:animEffect>
                                  </p:childTnLst>
                                </p:cTn>
                              </p:par>
                              <p:par>
                                <p:cTn id="11" presetID="0" presetClass="entr" presetSubtype="0" repeatCount="5000" accel="15000" decel="15000" fill="hold" grpId="1" nodeType="withEffect">
                                  <p:stCondLst>
                                    <p:cond delay="3120"/>
                                  </p:stCondLst>
                                  <p:childTnLst>
                                    <p:set>
                                      <p:cBhvr>
                                        <p:cTn id="12" dur="1" fill="hold">
                                          <p:stCondLst>
                                            <p:cond delay="0"/>
                                          </p:stCondLst>
                                        </p:cTn>
                                        <p:tgtEl>
                                          <p:spTgt spid="10"/>
                                        </p:tgtEl>
                                        <p:attrNameLst>
                                          <p:attrName>style.visibility</p:attrName>
                                        </p:attrNameLst>
                                      </p:cBhvr>
                                      <p:to>
                                        <p:strVal val="visible"/>
                                      </p:to>
                                    </p:set>
                                    <p:animMotion origin="layout" path="M 0 0 L 0.25500001 0.00000000 E" pathEditMode="relative">
                                      <p:cBhvr from="" to="">
                                        <p:cTn id="13" dur="2000" fill="hold">
                                          <p:stCondLst>
                                            <p:cond delay="0"/>
                                          </p:stCondLst>
                                        </p:cTn>
                                        <p:tgtEl>
                                          <p:spTgt spid="10"/>
                                        </p:tgtEl>
                                        <p:attrNameLst>
                                          <p:attrName>ppt_x</p:attrName>
                                          <p:attrName>ppt_y</p:attrName>
                                        </p:attrNameLst>
                                      </p:cBhvr>
                                    </p:animMotion>
                                  </p:childTnLst>
                                </p:cTn>
                              </p:par>
                              <p:par>
                                <p:cTn id="14" presetID="10" presetClass="entr" presetSubtype="0" accel="15000" decel="15000" fill="hold" grpId="0" nodeType="withEffect">
                                  <p:stCondLst>
                                    <p:cond delay="53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20"/>
                                        <p:tgtEl>
                                          <p:spTgt spid="11"/>
                                        </p:tgtEl>
                                      </p:cBhvr>
                                    </p:animEffect>
                                  </p:childTnLst>
                                </p:cTn>
                              </p:par>
                              <p:par>
                                <p:cTn id="17" presetID="0" presetClass="entr" presetSubtype="0" repeatCount="5000" accel="15000" decel="15000" fill="hold" grpId="1" nodeType="withEffect">
                                  <p:stCondLst>
                                    <p:cond delay="5420"/>
                                  </p:stCondLst>
                                  <p:childTnLst>
                                    <p:set>
                                      <p:cBhvr>
                                        <p:cTn id="18" dur="1" fill="hold">
                                          <p:stCondLst>
                                            <p:cond delay="0"/>
                                          </p:stCondLst>
                                        </p:cTn>
                                        <p:tgtEl>
                                          <p:spTgt spid="11"/>
                                        </p:tgtEl>
                                        <p:attrNameLst>
                                          <p:attrName>style.visibility</p:attrName>
                                        </p:attrNameLst>
                                      </p:cBhvr>
                                      <p:to>
                                        <p:strVal val="visible"/>
                                      </p:to>
                                    </p:set>
                                    <p:animMotion origin="layout" path="M 0 0 L 0.25500001 0.00000000 E" pathEditMode="relative">
                                      <p:cBhvr from="" to="">
                                        <p:cTn id="19" dur="2000" fill="hold">
                                          <p:stCondLst>
                                            <p:cond delay="0"/>
                                          </p:stCondLst>
                                        </p:cTn>
                                        <p:tgtEl>
                                          <p:spTgt spid="11"/>
                                        </p:tgtEl>
                                        <p:attrNameLst>
                                          <p:attrName>ppt_x</p:attrName>
                                          <p:attrName>ppt_y</p:attrName>
                                        </p:attrNameLst>
                                      </p:cBhvr>
                                    </p:animMotion>
                                  </p:childTnLst>
                                </p:cTn>
                              </p:par>
                              <p:par>
                                <p:cTn id="20" presetID="22" presetClass="entr" presetSubtype="8" accel="15000" decel="15000" fill="hold" grpId="0" nodeType="withEffect">
                                  <p:stCondLst>
                                    <p:cond delay="600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700"/>
                                        <p:tgtEl>
                                          <p:spTgt spid="7"/>
                                        </p:tgtEl>
                                      </p:cBhvr>
                                    </p:animEffect>
                                  </p:childTnLst>
                                </p:cTn>
                              </p:par>
                              <p:par>
                                <p:cTn id="23" presetID="10" presetClass="entr" presetSubtype="0" accel="15000" decel="15000" fill="hold" grpId="0" nodeType="withEffect">
                                  <p:stCondLst>
                                    <p:cond delay="76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120"/>
                                        <p:tgtEl>
                                          <p:spTgt spid="12"/>
                                        </p:tgtEl>
                                      </p:cBhvr>
                                    </p:animEffect>
                                  </p:childTnLst>
                                </p:cTn>
                              </p:par>
                              <p:par>
                                <p:cTn id="26" presetID="0" presetClass="entr" presetSubtype="0" repeatCount="5000" accel="15000" decel="15000" fill="hold" grpId="1" nodeType="withEffect">
                                  <p:stCondLst>
                                    <p:cond delay="7720"/>
                                  </p:stCondLst>
                                  <p:childTnLst>
                                    <p:set>
                                      <p:cBhvr>
                                        <p:cTn id="27" dur="1" fill="hold">
                                          <p:stCondLst>
                                            <p:cond delay="0"/>
                                          </p:stCondLst>
                                        </p:cTn>
                                        <p:tgtEl>
                                          <p:spTgt spid="12"/>
                                        </p:tgtEl>
                                        <p:attrNameLst>
                                          <p:attrName>style.visibility</p:attrName>
                                        </p:attrNameLst>
                                      </p:cBhvr>
                                      <p:to>
                                        <p:strVal val="visible"/>
                                      </p:to>
                                    </p:set>
                                    <p:animMotion origin="layout" path="M 0 0 L 0.25500001 0.00000000 E" pathEditMode="relative">
                                      <p:cBhvr from="" to="">
                                        <p:cTn id="28" dur="2000" fill="hold">
                                          <p:stCondLst>
                                            <p:cond delay="0"/>
                                          </p:stCondLst>
                                        </p:cTn>
                                        <p:tgtEl>
                                          <p:spTgt spid="12"/>
                                        </p:tgtEl>
                                        <p:attrNameLst>
                                          <p:attrName>ppt_x</p:attrName>
                                          <p:attrName>ppt_y</p:attrName>
                                        </p:attrNameLst>
                                      </p:cBhvr>
                                    </p:animMotion>
                                  </p:childTnLst>
                                </p:cTn>
                              </p:par>
                              <p:par>
                                <p:cTn id="29" presetID="22" presetClass="entr" presetSubtype="8" accel="15000" decel="15000" fill="hold" grpId="0" nodeType="withEffect">
                                  <p:stCondLst>
                                    <p:cond delay="1000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700"/>
                                        <p:tgtEl>
                                          <p:spTgt spid="8"/>
                                        </p:tgtEl>
                                      </p:cBhvr>
                                    </p:animEffect>
                                  </p:childTnLst>
                                </p:cTn>
                              </p:par>
                              <p:par>
                                <p:cTn id="32" presetID="10" presetClass="exit" presetSubtype="0" accel="15000" decel="15000" fill="hold" grpId="2" nodeType="withEffect">
                                  <p:stCondLst>
                                    <p:cond delay="13120"/>
                                  </p:stCondLst>
                                  <p:childTnLst>
                                    <p:animEffect transition="out" filter="fade">
                                      <p:cBhvr>
                                        <p:cTn id="33" dur="120"/>
                                        <p:tgtEl>
                                          <p:spTgt spid="10"/>
                                        </p:tgtEl>
                                      </p:cBhvr>
                                    </p:animEffect>
                                    <p:set>
                                      <p:cBhvr>
                                        <p:cTn id="34" dur="1" fill="hold">
                                          <p:stCondLst>
                                            <p:cond delay="119"/>
                                          </p:stCondLst>
                                        </p:cTn>
                                        <p:tgtEl>
                                          <p:spTgt spid="10"/>
                                        </p:tgtEl>
                                        <p:attrNameLst>
                                          <p:attrName>style.visibility</p:attrName>
                                        </p:attrNameLst>
                                      </p:cBhvr>
                                      <p:to>
                                        <p:strVal val="hidden"/>
                                      </p:to>
                                    </p:set>
                                  </p:childTnLst>
                                </p:cTn>
                              </p:par>
                              <p:par>
                                <p:cTn id="35" presetID="10" presetClass="entr" presetSubtype="0" accel="15000" decel="15000" fill="hold" grpId="0" nodeType="withEffect">
                                  <p:stCondLst>
                                    <p:cond delay="1500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par>
                                <p:cTn id="38" presetID="10" presetClass="exit" presetSubtype="0" accel="15000" decel="15000" fill="hold" grpId="2" nodeType="withEffect">
                                  <p:stCondLst>
                                    <p:cond delay="15420"/>
                                  </p:stCondLst>
                                  <p:childTnLst>
                                    <p:animEffect transition="out" filter="fade">
                                      <p:cBhvr>
                                        <p:cTn id="39" dur="120"/>
                                        <p:tgtEl>
                                          <p:spTgt spid="11"/>
                                        </p:tgtEl>
                                      </p:cBhvr>
                                    </p:animEffect>
                                    <p:set>
                                      <p:cBhvr>
                                        <p:cTn id="40" dur="1" fill="hold">
                                          <p:stCondLst>
                                            <p:cond delay="119"/>
                                          </p:stCondLst>
                                        </p:cTn>
                                        <p:tgtEl>
                                          <p:spTgt spid="11"/>
                                        </p:tgtEl>
                                        <p:attrNameLst>
                                          <p:attrName>style.visibility</p:attrName>
                                        </p:attrNameLst>
                                      </p:cBhvr>
                                      <p:to>
                                        <p:strVal val="hidden"/>
                                      </p:to>
                                    </p:set>
                                  </p:childTnLst>
                                </p:cTn>
                              </p:par>
                              <p:par>
                                <p:cTn id="41" presetID="10" presetClass="exit" presetSubtype="0" accel="15000" decel="15000" fill="hold" grpId="2" nodeType="withEffect">
                                  <p:stCondLst>
                                    <p:cond delay="17720"/>
                                  </p:stCondLst>
                                  <p:childTnLst>
                                    <p:animEffect transition="out" filter="fade">
                                      <p:cBhvr>
                                        <p:cTn id="42" dur="120"/>
                                        <p:tgtEl>
                                          <p:spTgt spid="12"/>
                                        </p:tgtEl>
                                      </p:cBhvr>
                                    </p:animEffect>
                                    <p:set>
                                      <p:cBhvr>
                                        <p:cTn id="43" dur="1" fill="hold">
                                          <p:stCondLst>
                                            <p:cond delay="11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animBg="1"/>
      <p:bldP spid="10" grpId="1" animBg="1"/>
      <p:bldP spid="10" grpId="2" animBg="1"/>
      <p:bldP spid="11" grpId="0" animBg="1"/>
      <p:bldP spid="11" grpId="1" animBg="1"/>
      <p:bldP spid="11" grpId="2" animBg="1"/>
      <p:bldP spid="12" grpId="0" animBg="1"/>
      <p:bldP spid="12" grpId="1" animBg="1"/>
      <p:bldP spid="12" grpId="2"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VẤN ĐÁP / A01</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V6 §3.1, §5.3–5.5; P21 aggregate</a:t>
            </a:r>
          </a:p>
        </p:txBody>
      </p:sp>
      <p:sp>
        <p:nvSpPr>
          <p:cNvPr id="5" name="text-4"/>
          <p:cNvSpPr txBox="1"/>
          <p:nvPr/>
        </p:nvSpPr>
        <p:spPr>
          <a:xfrm>
            <a:off x="502920" y="960120"/>
            <a:ext cx="2286000" cy="1194308"/>
          </a:xfrm>
          <a:prstGeom prst="rect">
            <a:avLst/>
          </a:prstGeom>
          <a:noFill/>
        </p:spPr>
        <p:txBody>
          <a:bodyPr wrap="square" lIns="0" tIns="0" rIns="0" bIns="0">
            <a:spAutoFit/>
          </a:bodyPr>
          <a:lstStyle/>
          <a:p>
            <a:pPr>
              <a:spcAft>
                <a:spcPts val="0"/>
              </a:spcAft>
              <a:defRPr sz="7800" b="1">
                <a:solidFill>
                  <a:srgbClr val="7958F5"/>
                </a:solidFill>
                <a:latin typeface="Arial"/>
              </a:defRPr>
            </a:pPr>
            <a:r>
              <a:t>01</a:t>
            </a:r>
          </a:p>
        </p:txBody>
      </p:sp>
      <p:sp>
        <p:nvSpPr>
          <p:cNvPr id="6" name="text-5"/>
          <p:cNvSpPr txBox="1"/>
          <p:nvPr/>
        </p:nvSpPr>
        <p:spPr>
          <a:xfrm>
            <a:off x="2880360" y="1051560"/>
            <a:ext cx="8732520" cy="1371600"/>
          </a:xfrm>
          <a:prstGeom prst="rect">
            <a:avLst/>
          </a:prstGeom>
          <a:noFill/>
        </p:spPr>
        <p:txBody>
          <a:bodyPr wrap="square" lIns="0" tIns="0" rIns="0" bIns="0">
            <a:spAutoFit/>
          </a:bodyPr>
          <a:lstStyle/>
          <a:p>
            <a:pPr>
              <a:spcAft>
                <a:spcPts val="0"/>
              </a:spcAft>
              <a:defRPr sz="3600" b="1">
                <a:solidFill>
                  <a:srgbClr val="10162F"/>
                </a:solidFill>
                <a:latin typeface="Aptos"/>
              </a:defRPr>
            </a:pPr>
            <a:r>
              <a:t>Nhóm có phát minh thuật toán mới không?</a:t>
            </a:r>
          </a:p>
        </p:txBody>
      </p:sp>
      <p:sp>
        <p:nvSpPr>
          <p:cNvPr id="7" name="text-6"/>
          <p:cNvSpPr txBox="1"/>
          <p:nvPr/>
        </p:nvSpPr>
        <p:spPr>
          <a:xfrm>
            <a:off x="2880360" y="2743199"/>
            <a:ext cx="8869680" cy="1549400"/>
          </a:xfrm>
          <a:prstGeom prst="rect">
            <a:avLst/>
          </a:prstGeom>
          <a:noFill/>
        </p:spPr>
        <p:txBody>
          <a:bodyPr wrap="square" lIns="0" tIns="0" rIns="0" bIns="0">
            <a:spAutoFit/>
          </a:bodyPr>
          <a:lstStyle/>
          <a:p>
            <a:pPr>
              <a:spcAft>
                <a:spcPts val="0"/>
              </a:spcAft>
              <a:defRPr sz="2500" b="0">
                <a:solidFill>
                  <a:srgbClr val="10162F"/>
                </a:solidFill>
                <a:latin typeface="Aptos"/>
              </a:defRPr>
            </a:pPr>
            <a:r>
              <a:rPr lang="en-US"/>
              <a:t>Nhóm không đề xuất thuật toán mới. Nhóm đối chiếu các cấu hình, bổ sung thí nghiệm P21 và chỉ ra mô hình đang giảm loại lỗi nào, tăng loại lỗi nào. Đó là đóng góp trong phạm vi đề tài; nhóm không khẳng định đây là cách làm mới của toàn lĩnh vực.</a:t>
            </a:r>
            <a:endParaRPr/>
          </a:p>
        </p:txBody>
      </p:sp>
      <p:sp>
        <p:nvSpPr>
          <p:cNvPr id="8" name="text-7"/>
          <p:cNvSpPr txBox="1"/>
          <p:nvPr/>
        </p:nvSpPr>
        <p:spPr>
          <a:xfrm>
            <a:off x="2880360" y="5897880"/>
            <a:ext cx="8686800" cy="365760"/>
          </a:xfrm>
          <a:prstGeom prst="rect">
            <a:avLst/>
          </a:prstGeom>
          <a:noFill/>
        </p:spPr>
        <p:txBody>
          <a:bodyPr wrap="square" lIns="0" tIns="0" rIns="0" bIns="0">
            <a:spAutoFit/>
          </a:bodyPr>
          <a:lstStyle/>
          <a:p>
            <a:pPr>
              <a:spcAft>
                <a:spcPts val="0"/>
              </a:spcAft>
              <a:defRPr sz="1800" b="0">
                <a:solidFill>
                  <a:srgbClr val="4C5064"/>
                </a:solidFill>
                <a:latin typeface="Aptos"/>
              </a:defRPr>
            </a:pPr>
            <a:r>
              <a:t>Trả lời chính trong 15–25 giây.</a:t>
            </a:r>
          </a:p>
        </p:txBody>
      </p:sp>
      <p:sp>
        <p:nvSpPr>
          <p:cNvPr id="9" name="TextBox 8">
            <a:hlinkClick r:id="rId3" action="ppaction://hlinksldjump"/>
          </p:cNvPr>
          <p:cNvSpPr txBox="1"/>
          <p:nvPr/>
        </p:nvSpPr>
        <p:spPr>
          <a:xfrm>
            <a:off x="9966960" y="228600"/>
            <a:ext cx="1645920" cy="274320"/>
          </a:xfrm>
          <a:prstGeom prst="rect">
            <a:avLst/>
          </a:prstGeom>
          <a:noFill/>
        </p:spPr>
        <p:txBody>
          <a:bodyPr wrap="none">
            <a:spAutoFit/>
          </a:bodyPr>
          <a:lstStyle/>
          <a:p>
            <a:pPr>
              <a:defRPr sz="1200"/>
            </a:pPr>
            <a:r>
              <a:t>Về kết luận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VẤN ĐÁP / A02</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src/models/run_unsw_ensemble_phase7_2.py; V6 §3.3, §4.5</a:t>
            </a:r>
          </a:p>
        </p:txBody>
      </p:sp>
      <p:sp>
        <p:nvSpPr>
          <p:cNvPr id="5" name="text-4"/>
          <p:cNvSpPr txBox="1"/>
          <p:nvPr/>
        </p:nvSpPr>
        <p:spPr>
          <a:xfrm>
            <a:off x="502920" y="960120"/>
            <a:ext cx="2286000" cy="1194308"/>
          </a:xfrm>
          <a:prstGeom prst="rect">
            <a:avLst/>
          </a:prstGeom>
          <a:noFill/>
        </p:spPr>
        <p:txBody>
          <a:bodyPr wrap="square" lIns="0" tIns="0" rIns="0" bIns="0">
            <a:spAutoFit/>
          </a:bodyPr>
          <a:lstStyle/>
          <a:p>
            <a:pPr>
              <a:spcAft>
                <a:spcPts val="0"/>
              </a:spcAft>
              <a:defRPr sz="7800" b="1">
                <a:solidFill>
                  <a:srgbClr val="7958F5"/>
                </a:solidFill>
                <a:latin typeface="Arial"/>
              </a:defRPr>
            </a:pPr>
            <a:r>
              <a:t>02</a:t>
            </a:r>
          </a:p>
        </p:txBody>
      </p:sp>
      <p:sp>
        <p:nvSpPr>
          <p:cNvPr id="6" name="text-5"/>
          <p:cNvSpPr txBox="1"/>
          <p:nvPr/>
        </p:nvSpPr>
        <p:spPr>
          <a:xfrm>
            <a:off x="2880360" y="1051560"/>
            <a:ext cx="8820150" cy="1371600"/>
          </a:xfrm>
          <a:prstGeom prst="rect">
            <a:avLst/>
          </a:prstGeom>
          <a:noFill/>
        </p:spPr>
        <p:txBody>
          <a:bodyPr wrap="square" lIns="0" tIns="0" rIns="0" bIns="0">
            <a:spAutoFit/>
          </a:bodyPr>
          <a:lstStyle/>
          <a:p>
            <a:pPr>
              <a:spcAft>
                <a:spcPts val="0"/>
              </a:spcAft>
              <a:defRPr sz="3600" b="1">
                <a:solidFill>
                  <a:srgbClr val="10162F"/>
                </a:solidFill>
                <a:latin typeface="Aptos"/>
              </a:defRPr>
            </a:pPr>
            <a:r>
              <a:t>Vì sao chọn LR, DT và RF; AdaBoost ở đâu?</a:t>
            </a:r>
          </a:p>
        </p:txBody>
      </p:sp>
      <p:sp>
        <p:nvSpPr>
          <p:cNvPr id="7" name="text-6"/>
          <p:cNvSpPr txBox="1"/>
          <p:nvPr/>
        </p:nvSpPr>
        <p:spPr>
          <a:xfrm>
            <a:off x="2880360" y="2743200"/>
            <a:ext cx="8869680" cy="1923604"/>
          </a:xfrm>
          <a:prstGeom prst="rect">
            <a:avLst/>
          </a:prstGeom>
          <a:noFill/>
        </p:spPr>
        <p:txBody>
          <a:bodyPr wrap="square" lIns="0" tIns="0" rIns="0" bIns="0">
            <a:spAutoFit/>
          </a:bodyPr>
          <a:lstStyle/>
          <a:p>
            <a:pPr>
              <a:spcAft>
                <a:spcPts val="0"/>
              </a:spcAft>
              <a:defRPr sz="2500" b="0">
                <a:solidFill>
                  <a:srgbClr val="10162F"/>
                </a:solidFill>
                <a:latin typeface="Aptos"/>
              </a:defRPr>
            </a:pPr>
            <a:r>
              <a:rPr lang="vi-VN"/>
              <a:t>LR là mốc tuyến tính; DT học quy tắc phi tuyến; RF kết hợp nhiều cây để giảm phương sai. Nhóm muốn xem các cách học khác nhau có bổ sung cho nhau không. AdaBoost được đối chiếu ở development. Voting chưa hơn RF về Macro-F1 ở giai đoạn đó nên không được đưa thành kết quả TEST cuối.</a:t>
            </a:r>
            <a:endParaRPr/>
          </a:p>
        </p:txBody>
      </p:sp>
      <p:sp>
        <p:nvSpPr>
          <p:cNvPr id="8" name="text-7"/>
          <p:cNvSpPr txBox="1"/>
          <p:nvPr/>
        </p:nvSpPr>
        <p:spPr>
          <a:xfrm>
            <a:off x="2880360" y="5897880"/>
            <a:ext cx="8686800" cy="365760"/>
          </a:xfrm>
          <a:prstGeom prst="rect">
            <a:avLst/>
          </a:prstGeom>
          <a:noFill/>
        </p:spPr>
        <p:txBody>
          <a:bodyPr wrap="square" lIns="0" tIns="0" rIns="0" bIns="0">
            <a:spAutoFit/>
          </a:bodyPr>
          <a:lstStyle/>
          <a:p>
            <a:pPr>
              <a:spcAft>
                <a:spcPts val="0"/>
              </a:spcAft>
              <a:defRPr sz="1800" b="0">
                <a:solidFill>
                  <a:srgbClr val="4C5064"/>
                </a:solidFill>
                <a:latin typeface="Aptos"/>
              </a:defRPr>
            </a:pPr>
            <a:r>
              <a:t>Trả lời chính trong 15–25 giây.</a:t>
            </a:r>
          </a:p>
        </p:txBody>
      </p:sp>
      <p:sp>
        <p:nvSpPr>
          <p:cNvPr id="9" name="TextBox 8">
            <a:hlinkClick r:id="rId3" action="ppaction://hlinksldjump"/>
          </p:cNvPr>
          <p:cNvSpPr txBox="1"/>
          <p:nvPr/>
        </p:nvSpPr>
        <p:spPr>
          <a:xfrm>
            <a:off x="9966960" y="228600"/>
            <a:ext cx="1645920" cy="274320"/>
          </a:xfrm>
          <a:prstGeom prst="rect">
            <a:avLst/>
          </a:prstGeom>
          <a:noFill/>
        </p:spPr>
        <p:txBody>
          <a:bodyPr wrap="none">
            <a:spAutoFit/>
          </a:bodyPr>
          <a:lstStyle/>
          <a:p>
            <a:pPr>
              <a:defRPr sz="1200"/>
            </a:pPr>
            <a:r>
              <a:t>Về kết luận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VẤN ĐÁP / A03</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V6 §2.1, §2.5–2.6, §3.1</a:t>
            </a:r>
          </a:p>
        </p:txBody>
      </p:sp>
      <p:sp>
        <p:nvSpPr>
          <p:cNvPr id="5" name="text-4"/>
          <p:cNvSpPr txBox="1"/>
          <p:nvPr/>
        </p:nvSpPr>
        <p:spPr>
          <a:xfrm>
            <a:off x="502920" y="960120"/>
            <a:ext cx="2286000" cy="1194308"/>
          </a:xfrm>
          <a:prstGeom prst="rect">
            <a:avLst/>
          </a:prstGeom>
          <a:noFill/>
        </p:spPr>
        <p:txBody>
          <a:bodyPr wrap="square" lIns="0" tIns="0" rIns="0" bIns="0">
            <a:spAutoFit/>
          </a:bodyPr>
          <a:lstStyle/>
          <a:p>
            <a:pPr>
              <a:spcAft>
                <a:spcPts val="0"/>
              </a:spcAft>
              <a:defRPr sz="7800" b="1">
                <a:solidFill>
                  <a:srgbClr val="7958F5"/>
                </a:solidFill>
                <a:latin typeface="Arial"/>
              </a:defRPr>
            </a:pPr>
            <a:r>
              <a:t>03</a:t>
            </a:r>
          </a:p>
        </p:txBody>
      </p:sp>
      <p:sp>
        <p:nvSpPr>
          <p:cNvPr id="6" name="text-5"/>
          <p:cNvSpPr txBox="1"/>
          <p:nvPr/>
        </p:nvSpPr>
        <p:spPr>
          <a:xfrm>
            <a:off x="2880360" y="1051560"/>
            <a:ext cx="8732520" cy="1371600"/>
          </a:xfrm>
          <a:prstGeom prst="rect">
            <a:avLst/>
          </a:prstGeom>
          <a:noFill/>
        </p:spPr>
        <p:txBody>
          <a:bodyPr wrap="square" lIns="0" tIns="0" rIns="0" bIns="0">
            <a:spAutoFit/>
          </a:bodyPr>
          <a:lstStyle/>
          <a:p>
            <a:pPr>
              <a:spcAft>
                <a:spcPts val="0"/>
              </a:spcAft>
              <a:defRPr sz="3600" b="1">
                <a:solidFill>
                  <a:srgbClr val="10162F"/>
                </a:solidFill>
                <a:latin typeface="Aptos"/>
              </a:defRPr>
            </a:pPr>
            <a:r>
              <a:t>Vì sao dùng UNSW-NB15?</a:t>
            </a:r>
          </a:p>
        </p:txBody>
      </p:sp>
      <p:sp>
        <p:nvSpPr>
          <p:cNvPr id="7" name="text-6"/>
          <p:cNvSpPr txBox="1"/>
          <p:nvPr/>
        </p:nvSpPr>
        <p:spPr>
          <a:xfrm>
            <a:off x="2880360" y="2743200"/>
            <a:ext cx="8869680" cy="1538883"/>
          </a:xfrm>
          <a:prstGeom prst="rect">
            <a:avLst/>
          </a:prstGeom>
          <a:noFill/>
        </p:spPr>
        <p:txBody>
          <a:bodyPr wrap="square" lIns="0" tIns="0" rIns="0" bIns="0">
            <a:spAutoFit/>
          </a:bodyPr>
          <a:lstStyle/>
          <a:p>
            <a:pPr>
              <a:spcAft>
                <a:spcPts val="0"/>
              </a:spcAft>
              <a:defRPr sz="2500" b="0">
                <a:solidFill>
                  <a:srgbClr val="10162F"/>
                </a:solidFill>
                <a:latin typeface="Aptos"/>
              </a:defRPr>
            </a:pPr>
            <a:r>
              <a:rPr lang="vi-VN"/>
              <a:t>UNSW-NB15 có nhãn nhị phân và bộ chia chính thức, thuận tiện để đối chiếu lại kết quả. Nhóm giữ 175.341 dòng TRAIN và 82.332 dòng TEST. Tuy nhiên, một benchmark chưa đại diện cho mạng thực; cần kiểm chứng trên nguồn hoặc thời điểm khác.</a:t>
            </a:r>
            <a:endParaRPr/>
          </a:p>
        </p:txBody>
      </p:sp>
      <p:sp>
        <p:nvSpPr>
          <p:cNvPr id="8" name="text-7"/>
          <p:cNvSpPr txBox="1"/>
          <p:nvPr/>
        </p:nvSpPr>
        <p:spPr>
          <a:xfrm>
            <a:off x="2880360" y="5897880"/>
            <a:ext cx="8686800" cy="365760"/>
          </a:xfrm>
          <a:prstGeom prst="rect">
            <a:avLst/>
          </a:prstGeom>
          <a:noFill/>
        </p:spPr>
        <p:txBody>
          <a:bodyPr wrap="square" lIns="0" tIns="0" rIns="0" bIns="0">
            <a:spAutoFit/>
          </a:bodyPr>
          <a:lstStyle/>
          <a:p>
            <a:pPr>
              <a:spcAft>
                <a:spcPts val="0"/>
              </a:spcAft>
              <a:defRPr sz="1800" b="0">
                <a:solidFill>
                  <a:srgbClr val="4C5064"/>
                </a:solidFill>
                <a:latin typeface="Aptos"/>
              </a:defRPr>
            </a:pPr>
            <a:r>
              <a:t>Trả lời chính trong 15–25 giây.</a:t>
            </a:r>
          </a:p>
        </p:txBody>
      </p:sp>
      <p:sp>
        <p:nvSpPr>
          <p:cNvPr id="9" name="TextBox 8">
            <a:hlinkClick r:id="rId3" action="ppaction://hlinksldjump"/>
          </p:cNvPr>
          <p:cNvSpPr txBox="1"/>
          <p:nvPr/>
        </p:nvSpPr>
        <p:spPr>
          <a:xfrm>
            <a:off x="9966960" y="228600"/>
            <a:ext cx="1645920" cy="274320"/>
          </a:xfrm>
          <a:prstGeom prst="rect">
            <a:avLst/>
          </a:prstGeom>
          <a:noFill/>
        </p:spPr>
        <p:txBody>
          <a:bodyPr wrap="none">
            <a:spAutoFit/>
          </a:bodyPr>
          <a:lstStyle/>
          <a:p>
            <a:pPr>
              <a:defRPr sz="1200"/>
            </a:pPr>
            <a:r>
              <a:t>Về kết luận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VẤN ĐÁP / A04</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V6 §3.2–3.6; tools/p21_science_core.py</a:t>
            </a:r>
          </a:p>
        </p:txBody>
      </p:sp>
      <p:sp>
        <p:nvSpPr>
          <p:cNvPr id="5" name="text-4"/>
          <p:cNvSpPr txBox="1"/>
          <p:nvPr/>
        </p:nvSpPr>
        <p:spPr>
          <a:xfrm>
            <a:off x="502920" y="960120"/>
            <a:ext cx="2286000" cy="1194308"/>
          </a:xfrm>
          <a:prstGeom prst="rect">
            <a:avLst/>
          </a:prstGeom>
          <a:noFill/>
        </p:spPr>
        <p:txBody>
          <a:bodyPr wrap="square" lIns="0" tIns="0" rIns="0" bIns="0">
            <a:spAutoFit/>
          </a:bodyPr>
          <a:lstStyle/>
          <a:p>
            <a:pPr>
              <a:spcAft>
                <a:spcPts val="0"/>
              </a:spcAft>
              <a:defRPr sz="7800" b="1">
                <a:solidFill>
                  <a:srgbClr val="7958F5"/>
                </a:solidFill>
                <a:latin typeface="Arial"/>
              </a:defRPr>
            </a:pPr>
            <a:r>
              <a:t>04</a:t>
            </a:r>
          </a:p>
        </p:txBody>
      </p:sp>
      <p:sp>
        <p:nvSpPr>
          <p:cNvPr id="6" name="text-5"/>
          <p:cNvSpPr txBox="1"/>
          <p:nvPr/>
        </p:nvSpPr>
        <p:spPr>
          <a:xfrm>
            <a:off x="2880360" y="1051560"/>
            <a:ext cx="8732520" cy="1371600"/>
          </a:xfrm>
          <a:prstGeom prst="rect">
            <a:avLst/>
          </a:prstGeom>
          <a:noFill/>
        </p:spPr>
        <p:txBody>
          <a:bodyPr wrap="square" lIns="0" tIns="0" rIns="0" bIns="0">
            <a:spAutoFit/>
          </a:bodyPr>
          <a:lstStyle/>
          <a:p>
            <a:pPr>
              <a:spcAft>
                <a:spcPts val="0"/>
              </a:spcAft>
              <a:defRPr sz="3600" b="1">
                <a:solidFill>
                  <a:srgbClr val="10162F"/>
                </a:solidFill>
                <a:latin typeface="Aptos"/>
              </a:defRPr>
            </a:pPr>
            <a:r>
              <a:t>Quy trình có hoàn toàn tránh leakage không?</a:t>
            </a:r>
          </a:p>
        </p:txBody>
      </p:sp>
      <p:sp>
        <p:nvSpPr>
          <p:cNvPr id="7" name="text-6"/>
          <p:cNvSpPr txBox="1"/>
          <p:nvPr/>
        </p:nvSpPr>
        <p:spPr>
          <a:xfrm>
            <a:off x="2880360" y="2743200"/>
            <a:ext cx="8869680" cy="1923604"/>
          </a:xfrm>
          <a:prstGeom prst="rect">
            <a:avLst/>
          </a:prstGeom>
          <a:noFill/>
        </p:spPr>
        <p:txBody>
          <a:bodyPr wrap="square" lIns="0" tIns="0" rIns="0" bIns="0">
            <a:spAutoFit/>
          </a:bodyPr>
          <a:lstStyle/>
          <a:p>
            <a:pPr>
              <a:spcAft>
                <a:spcPts val="0"/>
              </a:spcAft>
              <a:defRPr sz="2500" b="0">
                <a:solidFill>
                  <a:srgbClr val="10162F"/>
                </a:solidFill>
                <a:latin typeface="Aptos"/>
              </a:defRPr>
            </a:pPr>
            <a:r>
              <a:rPr lang="vi-VN"/>
              <a:t>Nhóm đặt preprocessing trong pipeline và dùng dự đoán OOF cho meta learner; TEST không phục vụ tuning. Nhưng stable17 lịch sử được chọn trước CV và meta tuning chưa hoàn toàn nested, nên vẫn có nguy cơ lạc quan. P21 chọn biến trong FIT và dùng inner grouped CV; nó không sửa hồi tố kết quả cũ.</a:t>
            </a:r>
            <a:endParaRPr/>
          </a:p>
        </p:txBody>
      </p:sp>
      <p:sp>
        <p:nvSpPr>
          <p:cNvPr id="8" name="text-7"/>
          <p:cNvSpPr txBox="1"/>
          <p:nvPr/>
        </p:nvSpPr>
        <p:spPr>
          <a:xfrm>
            <a:off x="2880360" y="5897880"/>
            <a:ext cx="8686800" cy="365760"/>
          </a:xfrm>
          <a:prstGeom prst="rect">
            <a:avLst/>
          </a:prstGeom>
          <a:noFill/>
        </p:spPr>
        <p:txBody>
          <a:bodyPr wrap="square" lIns="0" tIns="0" rIns="0" bIns="0">
            <a:spAutoFit/>
          </a:bodyPr>
          <a:lstStyle/>
          <a:p>
            <a:pPr>
              <a:spcAft>
                <a:spcPts val="0"/>
              </a:spcAft>
              <a:defRPr sz="1800" b="0">
                <a:solidFill>
                  <a:srgbClr val="4C5064"/>
                </a:solidFill>
                <a:latin typeface="Aptos"/>
              </a:defRPr>
            </a:pPr>
            <a:r>
              <a:t>Trả lời chính trong 15–25 giây.</a:t>
            </a:r>
          </a:p>
        </p:txBody>
      </p:sp>
      <p:sp>
        <p:nvSpPr>
          <p:cNvPr id="9" name="TextBox 8">
            <a:hlinkClick r:id="rId3" action="ppaction://hlinksldjump"/>
          </p:cNvPr>
          <p:cNvSpPr txBox="1"/>
          <p:nvPr/>
        </p:nvSpPr>
        <p:spPr>
          <a:xfrm>
            <a:off x="9966960" y="228600"/>
            <a:ext cx="1645920" cy="274320"/>
          </a:xfrm>
          <a:prstGeom prst="rect">
            <a:avLst/>
          </a:prstGeom>
          <a:noFill/>
        </p:spPr>
        <p:txBody>
          <a:bodyPr wrap="none">
            <a:spAutoFit/>
          </a:bodyPr>
          <a:lstStyle/>
          <a:p>
            <a:pPr>
              <a:defRPr sz="1200"/>
            </a:pPr>
            <a:r>
              <a:t>Về kết luận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VẤN ĐÁP / A05</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P21 aggregate.json; V6 §3.6, §4.7</a:t>
            </a:r>
          </a:p>
        </p:txBody>
      </p:sp>
      <p:sp>
        <p:nvSpPr>
          <p:cNvPr id="5" name="text-4"/>
          <p:cNvSpPr txBox="1"/>
          <p:nvPr/>
        </p:nvSpPr>
        <p:spPr>
          <a:xfrm>
            <a:off x="502920" y="960120"/>
            <a:ext cx="2286000" cy="1194308"/>
          </a:xfrm>
          <a:prstGeom prst="rect">
            <a:avLst/>
          </a:prstGeom>
          <a:noFill/>
        </p:spPr>
        <p:txBody>
          <a:bodyPr wrap="square" lIns="0" tIns="0" rIns="0" bIns="0">
            <a:spAutoFit/>
          </a:bodyPr>
          <a:lstStyle/>
          <a:p>
            <a:pPr>
              <a:spcAft>
                <a:spcPts val="0"/>
              </a:spcAft>
              <a:defRPr sz="7800" b="1">
                <a:solidFill>
                  <a:srgbClr val="7958F5"/>
                </a:solidFill>
                <a:latin typeface="Arial"/>
              </a:defRPr>
            </a:pPr>
            <a:r>
              <a:t>05</a:t>
            </a:r>
          </a:p>
        </p:txBody>
      </p:sp>
      <p:sp>
        <p:nvSpPr>
          <p:cNvPr id="6" name="text-5"/>
          <p:cNvSpPr txBox="1"/>
          <p:nvPr/>
        </p:nvSpPr>
        <p:spPr>
          <a:xfrm>
            <a:off x="2880360" y="1051560"/>
            <a:ext cx="8732520" cy="1371600"/>
          </a:xfrm>
          <a:prstGeom prst="rect">
            <a:avLst/>
          </a:prstGeom>
          <a:noFill/>
        </p:spPr>
        <p:txBody>
          <a:bodyPr wrap="square" lIns="0" tIns="0" rIns="0" bIns="0">
            <a:spAutoFit/>
          </a:bodyPr>
          <a:lstStyle/>
          <a:p>
            <a:pPr>
              <a:spcAft>
                <a:spcPts val="0"/>
              </a:spcAft>
              <a:defRPr sz="3600" b="1">
                <a:solidFill>
                  <a:srgbClr val="10162F"/>
                </a:solidFill>
                <a:latin typeface="Aptos"/>
              </a:defRPr>
            </a:pPr>
            <a:r>
              <a:t>P21 có phải external TEST mới không?</a:t>
            </a:r>
          </a:p>
        </p:txBody>
      </p:sp>
      <p:sp>
        <p:nvSpPr>
          <p:cNvPr id="7" name="text-6"/>
          <p:cNvSpPr txBox="1"/>
          <p:nvPr/>
        </p:nvSpPr>
        <p:spPr>
          <a:xfrm>
            <a:off x="2880359" y="2743200"/>
            <a:ext cx="8869680" cy="1930400"/>
          </a:xfrm>
          <a:prstGeom prst="rect">
            <a:avLst/>
          </a:prstGeom>
          <a:noFill/>
        </p:spPr>
        <p:txBody>
          <a:bodyPr wrap="square" lIns="0" tIns="0" rIns="0" bIns="0">
            <a:spAutoFit/>
          </a:bodyPr>
          <a:lstStyle/>
          <a:p>
            <a:pPr>
              <a:spcAft>
                <a:spcPts val="0"/>
              </a:spcAft>
              <a:defRPr sz="2500" b="0">
                <a:solidFill>
                  <a:srgbClr val="10162F"/>
                </a:solidFill>
                <a:latin typeface="Aptos"/>
              </a:defRPr>
            </a:pPr>
            <a:r>
              <a:rPr lang="vi-VN"/>
              <a:t>Không. P21 dùng lại official TRAIN. Mỗi seed có 60.000 dòng FIT và cùng validation 35.069 dòng. Các vector 42 predictor trùng nhau được gom nhóm; điều này chưa chứng minh độc lập theo phiên hoặc thời gian. Năm seed phản ánh biến thiên huấn luyện, không phải năm TEST ngoài.</a:t>
            </a:r>
            <a:endParaRPr/>
          </a:p>
        </p:txBody>
      </p:sp>
      <p:sp>
        <p:nvSpPr>
          <p:cNvPr id="8" name="text-7"/>
          <p:cNvSpPr txBox="1"/>
          <p:nvPr/>
        </p:nvSpPr>
        <p:spPr>
          <a:xfrm>
            <a:off x="2880360" y="5897880"/>
            <a:ext cx="8686800" cy="365760"/>
          </a:xfrm>
          <a:prstGeom prst="rect">
            <a:avLst/>
          </a:prstGeom>
          <a:noFill/>
        </p:spPr>
        <p:txBody>
          <a:bodyPr wrap="square" lIns="0" tIns="0" rIns="0" bIns="0">
            <a:spAutoFit/>
          </a:bodyPr>
          <a:lstStyle/>
          <a:p>
            <a:pPr>
              <a:spcAft>
                <a:spcPts val="0"/>
              </a:spcAft>
              <a:defRPr sz="1800" b="0">
                <a:solidFill>
                  <a:srgbClr val="4C5064"/>
                </a:solidFill>
                <a:latin typeface="Aptos"/>
              </a:defRPr>
            </a:pPr>
            <a:r>
              <a:t>Trả lời chính trong 15–25 giây.</a:t>
            </a:r>
          </a:p>
        </p:txBody>
      </p:sp>
      <p:sp>
        <p:nvSpPr>
          <p:cNvPr id="9" name="TextBox 8">
            <a:hlinkClick r:id="rId3" action="ppaction://hlinksldjump"/>
          </p:cNvPr>
          <p:cNvSpPr txBox="1"/>
          <p:nvPr/>
        </p:nvSpPr>
        <p:spPr>
          <a:xfrm>
            <a:off x="9966960" y="228600"/>
            <a:ext cx="1645920" cy="274320"/>
          </a:xfrm>
          <a:prstGeom prst="rect">
            <a:avLst/>
          </a:prstGeom>
          <a:noFill/>
        </p:spPr>
        <p:txBody>
          <a:bodyPr wrap="none">
            <a:spAutoFit/>
          </a:bodyPr>
          <a:lstStyle/>
          <a:p>
            <a:pPr>
              <a:defRPr sz="1200"/>
            </a:pPr>
            <a:r>
              <a:t>Về kết luận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VẤN ĐÁP / A06</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V6 §3.2–3.3, §4.7.3; tools/p21_selector_core.py</a:t>
            </a:r>
          </a:p>
        </p:txBody>
      </p:sp>
      <p:sp>
        <p:nvSpPr>
          <p:cNvPr id="5" name="text-4"/>
          <p:cNvSpPr txBox="1"/>
          <p:nvPr/>
        </p:nvSpPr>
        <p:spPr>
          <a:xfrm>
            <a:off x="502920" y="960120"/>
            <a:ext cx="2286000" cy="1194308"/>
          </a:xfrm>
          <a:prstGeom prst="rect">
            <a:avLst/>
          </a:prstGeom>
          <a:noFill/>
        </p:spPr>
        <p:txBody>
          <a:bodyPr wrap="square" lIns="0" tIns="0" rIns="0" bIns="0">
            <a:spAutoFit/>
          </a:bodyPr>
          <a:lstStyle/>
          <a:p>
            <a:pPr>
              <a:spcAft>
                <a:spcPts val="0"/>
              </a:spcAft>
              <a:defRPr sz="7800" b="1">
                <a:solidFill>
                  <a:srgbClr val="7958F5"/>
                </a:solidFill>
                <a:latin typeface="Arial"/>
              </a:defRPr>
            </a:pPr>
            <a:r>
              <a:t>06</a:t>
            </a:r>
          </a:p>
        </p:txBody>
      </p:sp>
      <p:sp>
        <p:nvSpPr>
          <p:cNvPr id="6" name="text-5"/>
          <p:cNvSpPr txBox="1"/>
          <p:nvPr/>
        </p:nvSpPr>
        <p:spPr>
          <a:xfrm>
            <a:off x="2880360" y="1051560"/>
            <a:ext cx="8732520" cy="1371600"/>
          </a:xfrm>
          <a:prstGeom prst="rect">
            <a:avLst/>
          </a:prstGeom>
          <a:noFill/>
        </p:spPr>
        <p:txBody>
          <a:bodyPr wrap="square" lIns="0" tIns="0" rIns="0" bIns="0">
            <a:spAutoFit/>
          </a:bodyPr>
          <a:lstStyle/>
          <a:p>
            <a:pPr>
              <a:spcAft>
                <a:spcPts val="0"/>
              </a:spcAft>
              <a:defRPr sz="3600" b="1">
                <a:solidFill>
                  <a:srgbClr val="10162F"/>
                </a:solidFill>
                <a:latin typeface="Aptos"/>
              </a:defRPr>
            </a:pPr>
            <a:r>
              <a:t>Feature Selection hoạt động thế nào và có rẻ hơn?</a:t>
            </a:r>
          </a:p>
        </p:txBody>
      </p:sp>
      <p:sp>
        <p:nvSpPr>
          <p:cNvPr id="7" name="text-6"/>
          <p:cNvSpPr txBox="1"/>
          <p:nvPr/>
        </p:nvSpPr>
        <p:spPr>
          <a:xfrm>
            <a:off x="2880360" y="2743200"/>
            <a:ext cx="8869680" cy="1923604"/>
          </a:xfrm>
          <a:prstGeom prst="rect">
            <a:avLst/>
          </a:prstGeom>
          <a:noFill/>
        </p:spPr>
        <p:txBody>
          <a:bodyPr wrap="square" lIns="0" tIns="0" rIns="0" bIns="0">
            <a:spAutoFit/>
          </a:bodyPr>
          <a:lstStyle/>
          <a:p>
            <a:pPr>
              <a:spcAft>
                <a:spcPts val="0"/>
              </a:spcAft>
              <a:defRPr sz="2500" b="0">
                <a:solidFill>
                  <a:srgbClr val="10162F"/>
                </a:solidFill>
                <a:latin typeface="Aptos"/>
              </a:defRPr>
            </a:pPr>
            <a:r>
              <a:rPr lang="vi-VN"/>
              <a:t>P21 chọn 17 biến trong FIT bằng MI, L1 và ExtraTrees qua 5 selector seed. RF17 fit mất 84,600 giây; chọn biến mất 225,250 giây. Cộng lại 309,850 giây, cao hơn RF42 fit 241,119 giây. Đây chưa phải chi phí end-to-end. RF17 lịch sử còn đổi cấu hình rừng, nên không dùng để tách riêng tác động chọn biến.</a:t>
            </a:r>
            <a:endParaRPr/>
          </a:p>
        </p:txBody>
      </p:sp>
      <p:sp>
        <p:nvSpPr>
          <p:cNvPr id="8" name="text-7"/>
          <p:cNvSpPr txBox="1"/>
          <p:nvPr/>
        </p:nvSpPr>
        <p:spPr>
          <a:xfrm>
            <a:off x="2880360" y="5897880"/>
            <a:ext cx="8686800" cy="365760"/>
          </a:xfrm>
          <a:prstGeom prst="rect">
            <a:avLst/>
          </a:prstGeom>
          <a:noFill/>
        </p:spPr>
        <p:txBody>
          <a:bodyPr wrap="square" lIns="0" tIns="0" rIns="0" bIns="0">
            <a:spAutoFit/>
          </a:bodyPr>
          <a:lstStyle/>
          <a:p>
            <a:pPr>
              <a:spcAft>
                <a:spcPts val="0"/>
              </a:spcAft>
              <a:defRPr sz="1800" b="0">
                <a:solidFill>
                  <a:srgbClr val="4C5064"/>
                </a:solidFill>
                <a:latin typeface="Aptos"/>
              </a:defRPr>
            </a:pPr>
            <a:r>
              <a:t>Trả lời chính trong 15–25 giây.</a:t>
            </a:r>
          </a:p>
        </p:txBody>
      </p:sp>
      <p:sp>
        <p:nvSpPr>
          <p:cNvPr id="9" name="TextBox 8">
            <a:hlinkClick r:id="rId3" action="ppaction://hlinksldjump"/>
          </p:cNvPr>
          <p:cNvSpPr txBox="1"/>
          <p:nvPr/>
        </p:nvSpPr>
        <p:spPr>
          <a:xfrm>
            <a:off x="9966960" y="228600"/>
            <a:ext cx="1645920" cy="274320"/>
          </a:xfrm>
          <a:prstGeom prst="rect">
            <a:avLst/>
          </a:prstGeom>
          <a:noFill/>
        </p:spPr>
        <p:txBody>
          <a:bodyPr wrap="none">
            <a:spAutoFit/>
          </a:bodyPr>
          <a:lstStyle/>
          <a:p>
            <a:pPr>
              <a:defRPr sz="1200"/>
            </a:pPr>
            <a:r>
              <a:t>Về kết luận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VẤN ĐÁP / A07</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src/models/run_unsw_phase9_final_holdout.py:283–508; tools/p21_science_core.py</a:t>
            </a:r>
          </a:p>
        </p:txBody>
      </p:sp>
      <p:sp>
        <p:nvSpPr>
          <p:cNvPr id="5" name="text-4"/>
          <p:cNvSpPr txBox="1"/>
          <p:nvPr/>
        </p:nvSpPr>
        <p:spPr>
          <a:xfrm>
            <a:off x="502920" y="960120"/>
            <a:ext cx="2286000" cy="1194308"/>
          </a:xfrm>
          <a:prstGeom prst="rect">
            <a:avLst/>
          </a:prstGeom>
          <a:noFill/>
        </p:spPr>
        <p:txBody>
          <a:bodyPr wrap="square" lIns="0" tIns="0" rIns="0" bIns="0">
            <a:spAutoFit/>
          </a:bodyPr>
          <a:lstStyle/>
          <a:p>
            <a:pPr>
              <a:spcAft>
                <a:spcPts val="0"/>
              </a:spcAft>
              <a:defRPr sz="7800" b="1">
                <a:solidFill>
                  <a:srgbClr val="7958F5"/>
                </a:solidFill>
                <a:latin typeface="Arial"/>
              </a:defRPr>
            </a:pPr>
            <a:r>
              <a:t>07</a:t>
            </a:r>
          </a:p>
        </p:txBody>
      </p:sp>
      <p:sp>
        <p:nvSpPr>
          <p:cNvPr id="6" name="text-5"/>
          <p:cNvSpPr txBox="1"/>
          <p:nvPr/>
        </p:nvSpPr>
        <p:spPr>
          <a:xfrm>
            <a:off x="2880360" y="1051560"/>
            <a:ext cx="8732520" cy="1371600"/>
          </a:xfrm>
          <a:prstGeom prst="rect">
            <a:avLst/>
          </a:prstGeom>
          <a:noFill/>
        </p:spPr>
        <p:txBody>
          <a:bodyPr wrap="square" lIns="0" tIns="0" rIns="0" bIns="0">
            <a:spAutoFit/>
          </a:bodyPr>
          <a:lstStyle/>
          <a:p>
            <a:pPr>
              <a:spcAft>
                <a:spcPts val="0"/>
              </a:spcAft>
              <a:defRPr sz="3600" b="1">
                <a:solidFill>
                  <a:srgbClr val="10162F"/>
                </a:solidFill>
                <a:latin typeface="Aptos"/>
              </a:defRPr>
            </a:pPr>
            <a:r>
              <a:t>OOF được dùng ở đâu?</a:t>
            </a:r>
          </a:p>
        </p:txBody>
      </p:sp>
      <p:sp>
        <p:nvSpPr>
          <p:cNvPr id="7" name="text-6"/>
          <p:cNvSpPr txBox="1"/>
          <p:nvPr/>
        </p:nvSpPr>
        <p:spPr>
          <a:xfrm>
            <a:off x="2880360" y="2743200"/>
            <a:ext cx="8869680" cy="1923604"/>
          </a:xfrm>
          <a:prstGeom prst="rect">
            <a:avLst/>
          </a:prstGeom>
          <a:noFill/>
        </p:spPr>
        <p:txBody>
          <a:bodyPr wrap="square" lIns="0" tIns="0" rIns="0" bIns="0">
            <a:spAutoFit/>
          </a:bodyPr>
          <a:lstStyle/>
          <a:p>
            <a:pPr>
              <a:spcAft>
                <a:spcPts val="0"/>
              </a:spcAft>
              <a:defRPr sz="2500" b="0">
                <a:solidFill>
                  <a:srgbClr val="10162F"/>
                </a:solidFill>
                <a:latin typeface="Aptos"/>
              </a:defRPr>
            </a:pPr>
            <a:r>
              <a:rPr lang="vi-VN"/>
              <a:t>Voting dùng luật gộp cố định: đa số nhãn hoặc trung bình xác suất. Với Stacking, meta LR học từ xác suất ngoài fold của LR, DT và RF. Sau đó base learner được fit lại trên phần train. Khi dự đoán bản ghi mới, các mô hình đã fit tạo xác suất cho meta; không huấn luyện lại lúc suy luận.</a:t>
            </a:r>
            <a:endParaRPr/>
          </a:p>
        </p:txBody>
      </p:sp>
      <p:sp>
        <p:nvSpPr>
          <p:cNvPr id="8" name="text-7"/>
          <p:cNvSpPr txBox="1"/>
          <p:nvPr/>
        </p:nvSpPr>
        <p:spPr>
          <a:xfrm>
            <a:off x="2880360" y="5897880"/>
            <a:ext cx="8686800" cy="365760"/>
          </a:xfrm>
          <a:prstGeom prst="rect">
            <a:avLst/>
          </a:prstGeom>
          <a:noFill/>
        </p:spPr>
        <p:txBody>
          <a:bodyPr wrap="square" lIns="0" tIns="0" rIns="0" bIns="0">
            <a:spAutoFit/>
          </a:bodyPr>
          <a:lstStyle/>
          <a:p>
            <a:pPr>
              <a:spcAft>
                <a:spcPts val="0"/>
              </a:spcAft>
              <a:defRPr sz="1800" b="0">
                <a:solidFill>
                  <a:srgbClr val="4C5064"/>
                </a:solidFill>
                <a:latin typeface="Aptos"/>
              </a:defRPr>
            </a:pPr>
            <a:r>
              <a:t>Trả lời chính trong 15–25 giây.</a:t>
            </a:r>
          </a:p>
        </p:txBody>
      </p:sp>
      <p:sp>
        <p:nvSpPr>
          <p:cNvPr id="9" name="TextBox 8">
            <a:hlinkClick r:id="rId3" action="ppaction://hlinksldjump"/>
          </p:cNvPr>
          <p:cNvSpPr txBox="1"/>
          <p:nvPr/>
        </p:nvSpPr>
        <p:spPr>
          <a:xfrm>
            <a:off x="9966960" y="228600"/>
            <a:ext cx="1645920" cy="274320"/>
          </a:xfrm>
          <a:prstGeom prst="rect">
            <a:avLst/>
          </a:prstGeom>
          <a:noFill/>
        </p:spPr>
        <p:txBody>
          <a:bodyPr wrap="none">
            <a:spAutoFit/>
          </a:bodyPr>
          <a:lstStyle/>
          <a:p>
            <a:pPr>
              <a:defRPr sz="1200"/>
            </a:pPr>
            <a:r>
              <a:t>Về kết luận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VẤN ĐÁP / A08</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V6 §3.4; final_metrics.csv</a:t>
            </a:r>
          </a:p>
        </p:txBody>
      </p:sp>
      <p:sp>
        <p:nvSpPr>
          <p:cNvPr id="5" name="text-4"/>
          <p:cNvSpPr txBox="1"/>
          <p:nvPr/>
        </p:nvSpPr>
        <p:spPr>
          <a:xfrm>
            <a:off x="502920" y="960120"/>
            <a:ext cx="2286000" cy="1194308"/>
          </a:xfrm>
          <a:prstGeom prst="rect">
            <a:avLst/>
          </a:prstGeom>
          <a:noFill/>
        </p:spPr>
        <p:txBody>
          <a:bodyPr wrap="square" lIns="0" tIns="0" rIns="0" bIns="0">
            <a:spAutoFit/>
          </a:bodyPr>
          <a:lstStyle/>
          <a:p>
            <a:pPr>
              <a:spcAft>
                <a:spcPts val="0"/>
              </a:spcAft>
              <a:defRPr sz="7800" b="1">
                <a:solidFill>
                  <a:srgbClr val="7958F5"/>
                </a:solidFill>
                <a:latin typeface="Arial"/>
              </a:defRPr>
            </a:pPr>
            <a:r>
              <a:t>08</a:t>
            </a:r>
          </a:p>
        </p:txBody>
      </p:sp>
      <p:sp>
        <p:nvSpPr>
          <p:cNvPr id="6" name="text-5"/>
          <p:cNvSpPr txBox="1"/>
          <p:nvPr/>
        </p:nvSpPr>
        <p:spPr>
          <a:xfrm>
            <a:off x="2880360" y="1051560"/>
            <a:ext cx="8732520" cy="1371600"/>
          </a:xfrm>
          <a:prstGeom prst="rect">
            <a:avLst/>
          </a:prstGeom>
          <a:noFill/>
        </p:spPr>
        <p:txBody>
          <a:bodyPr wrap="square" lIns="0" tIns="0" rIns="0" bIns="0">
            <a:spAutoFit/>
          </a:bodyPr>
          <a:lstStyle/>
          <a:p>
            <a:pPr>
              <a:spcAft>
                <a:spcPts val="0"/>
              </a:spcAft>
              <a:defRPr sz="3600" b="1">
                <a:solidFill>
                  <a:srgbClr val="10162F"/>
                </a:solidFill>
                <a:latin typeface="Aptos"/>
              </a:defRPr>
            </a:pPr>
            <a:r>
              <a:t>Vì sao không chỉ dùng Accuracy?</a:t>
            </a:r>
          </a:p>
        </p:txBody>
      </p:sp>
      <p:sp>
        <p:nvSpPr>
          <p:cNvPr id="7" name="text-6"/>
          <p:cNvSpPr txBox="1"/>
          <p:nvPr/>
        </p:nvSpPr>
        <p:spPr>
          <a:xfrm>
            <a:off x="2880359" y="2743200"/>
            <a:ext cx="8869680" cy="1930400"/>
          </a:xfrm>
          <a:prstGeom prst="rect">
            <a:avLst/>
          </a:prstGeom>
          <a:noFill/>
        </p:spPr>
        <p:txBody>
          <a:bodyPr wrap="square" lIns="0" tIns="0" rIns="0" bIns="0">
            <a:spAutoFit/>
          </a:bodyPr>
          <a:lstStyle/>
          <a:p>
            <a:pPr>
              <a:spcAft>
                <a:spcPts val="0"/>
              </a:spcAft>
              <a:defRPr sz="2500" b="0">
                <a:solidFill>
                  <a:srgbClr val="10162F"/>
                </a:solidFill>
                <a:latin typeface="Aptos"/>
              </a:defRPr>
            </a:pPr>
            <a:r>
              <a:rPr lang="vi-VN"/>
              <a:t>Macro-F1 cho hai lớp trọng số bằng nhau, còn MCC xét cả bốn ô confusion matrix. Nhóm đọc thêm Precision, Recall, FPR và FNR để biết lỗi nằm ở đâu. Attack là lớp dương: FPR là tỷ lệ Normal bị báo Attack; FNR là tỷ lệ Attack bị bỏ qua. Accuracy một mình không cho thấy hết đánh đổi đó.</a:t>
            </a:r>
            <a:endParaRPr/>
          </a:p>
        </p:txBody>
      </p:sp>
      <p:sp>
        <p:nvSpPr>
          <p:cNvPr id="8" name="text-7"/>
          <p:cNvSpPr txBox="1"/>
          <p:nvPr/>
        </p:nvSpPr>
        <p:spPr>
          <a:xfrm>
            <a:off x="2880360" y="5897880"/>
            <a:ext cx="8686800" cy="365760"/>
          </a:xfrm>
          <a:prstGeom prst="rect">
            <a:avLst/>
          </a:prstGeom>
          <a:noFill/>
        </p:spPr>
        <p:txBody>
          <a:bodyPr wrap="square" lIns="0" tIns="0" rIns="0" bIns="0">
            <a:spAutoFit/>
          </a:bodyPr>
          <a:lstStyle/>
          <a:p>
            <a:pPr>
              <a:spcAft>
                <a:spcPts val="0"/>
              </a:spcAft>
              <a:defRPr sz="1800" b="0">
                <a:solidFill>
                  <a:srgbClr val="4C5064"/>
                </a:solidFill>
                <a:latin typeface="Aptos"/>
              </a:defRPr>
            </a:pPr>
            <a:r>
              <a:t>Trả lời chính trong 15–25 giây.</a:t>
            </a:r>
          </a:p>
        </p:txBody>
      </p:sp>
      <p:sp>
        <p:nvSpPr>
          <p:cNvPr id="9" name="TextBox 8">
            <a:hlinkClick r:id="rId3" action="ppaction://hlinksldjump"/>
          </p:cNvPr>
          <p:cNvSpPr txBox="1"/>
          <p:nvPr/>
        </p:nvSpPr>
        <p:spPr>
          <a:xfrm>
            <a:off x="9966960" y="228600"/>
            <a:ext cx="1645920" cy="274320"/>
          </a:xfrm>
          <a:prstGeom prst="rect">
            <a:avLst/>
          </a:prstGeom>
          <a:noFill/>
        </p:spPr>
        <p:txBody>
          <a:bodyPr wrap="none">
            <a:spAutoFit/>
          </a:bodyPr>
          <a:lstStyle/>
          <a:p>
            <a:pPr>
              <a:defRPr sz="1200"/>
            </a:pPr>
            <a:r>
              <a:t>Về kết luận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VẤN ĐÁP / A09</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V6 §3.4, §4.2, §5.1</a:t>
            </a:r>
          </a:p>
        </p:txBody>
      </p:sp>
      <p:sp>
        <p:nvSpPr>
          <p:cNvPr id="5" name="text-4"/>
          <p:cNvSpPr txBox="1"/>
          <p:nvPr/>
        </p:nvSpPr>
        <p:spPr>
          <a:xfrm>
            <a:off x="502920" y="960120"/>
            <a:ext cx="2286000" cy="1194308"/>
          </a:xfrm>
          <a:prstGeom prst="rect">
            <a:avLst/>
          </a:prstGeom>
          <a:noFill/>
        </p:spPr>
        <p:txBody>
          <a:bodyPr wrap="square" lIns="0" tIns="0" rIns="0" bIns="0">
            <a:spAutoFit/>
          </a:bodyPr>
          <a:lstStyle/>
          <a:p>
            <a:pPr>
              <a:spcAft>
                <a:spcPts val="0"/>
              </a:spcAft>
              <a:defRPr sz="7800" b="1">
                <a:solidFill>
                  <a:srgbClr val="7958F5"/>
                </a:solidFill>
                <a:latin typeface="Arial"/>
              </a:defRPr>
            </a:pPr>
            <a:r>
              <a:t>09</a:t>
            </a:r>
          </a:p>
        </p:txBody>
      </p:sp>
      <p:sp>
        <p:nvSpPr>
          <p:cNvPr id="6" name="text-5"/>
          <p:cNvSpPr txBox="1"/>
          <p:nvPr/>
        </p:nvSpPr>
        <p:spPr>
          <a:xfrm>
            <a:off x="2880360" y="1051560"/>
            <a:ext cx="8732520" cy="1371600"/>
          </a:xfrm>
          <a:prstGeom prst="rect">
            <a:avLst/>
          </a:prstGeom>
          <a:noFill/>
        </p:spPr>
        <p:txBody>
          <a:bodyPr wrap="square" lIns="0" tIns="0" rIns="0" bIns="0">
            <a:spAutoFit/>
          </a:bodyPr>
          <a:lstStyle/>
          <a:p>
            <a:pPr>
              <a:spcAft>
                <a:spcPts val="0"/>
              </a:spcAft>
              <a:defRPr sz="3600" b="1">
                <a:solidFill>
                  <a:srgbClr val="10162F"/>
                </a:solidFill>
                <a:latin typeface="Aptos"/>
              </a:defRPr>
            </a:pPr>
            <a:r>
              <a:t>Vì sao không nói hai mô hình tương đương?</a:t>
            </a:r>
          </a:p>
        </p:txBody>
      </p:sp>
      <p:sp>
        <p:nvSpPr>
          <p:cNvPr id="7" name="text-6"/>
          <p:cNvSpPr txBox="1"/>
          <p:nvPr/>
        </p:nvSpPr>
        <p:spPr>
          <a:xfrm>
            <a:off x="2880360" y="2743200"/>
            <a:ext cx="8869680" cy="1923604"/>
          </a:xfrm>
          <a:prstGeom prst="rect">
            <a:avLst/>
          </a:prstGeom>
          <a:noFill/>
        </p:spPr>
        <p:txBody>
          <a:bodyPr wrap="square" lIns="0" tIns="0" rIns="0" bIns="0">
            <a:spAutoFit/>
          </a:bodyPr>
          <a:lstStyle/>
          <a:p>
            <a:pPr>
              <a:spcAft>
                <a:spcPts val="0"/>
              </a:spcAft>
              <a:defRPr sz="2500" b="0">
                <a:solidFill>
                  <a:srgbClr val="10162F"/>
                </a:solidFill>
                <a:latin typeface="Aptos"/>
              </a:defRPr>
            </a:pPr>
            <a:r>
              <a:rPr lang="vi-VN"/>
              <a:t>Khoảng tin cậy của chênh lệch Macro-F1 và MCC chứa 0 nên nhóm chưa thấy khác biệt rõ theo các phép đo đó. Điều này không chứng minh hai mô hình tương đương. Bootstrap ở đây lấy mẫu theo dòng dự đoán; nó không đo biến thiên do huấn luyện lại mô hình.</a:t>
            </a:r>
            <a:endParaRPr/>
          </a:p>
        </p:txBody>
      </p:sp>
      <p:sp>
        <p:nvSpPr>
          <p:cNvPr id="8" name="text-7"/>
          <p:cNvSpPr txBox="1"/>
          <p:nvPr/>
        </p:nvSpPr>
        <p:spPr>
          <a:xfrm>
            <a:off x="2880360" y="5897880"/>
            <a:ext cx="8686800" cy="365760"/>
          </a:xfrm>
          <a:prstGeom prst="rect">
            <a:avLst/>
          </a:prstGeom>
          <a:noFill/>
        </p:spPr>
        <p:txBody>
          <a:bodyPr wrap="square" lIns="0" tIns="0" rIns="0" bIns="0">
            <a:spAutoFit/>
          </a:bodyPr>
          <a:lstStyle/>
          <a:p>
            <a:pPr>
              <a:spcAft>
                <a:spcPts val="0"/>
              </a:spcAft>
              <a:defRPr sz="1800" b="0">
                <a:solidFill>
                  <a:srgbClr val="4C5064"/>
                </a:solidFill>
                <a:latin typeface="Aptos"/>
              </a:defRPr>
            </a:pPr>
            <a:r>
              <a:t>Trả lời chính trong 15–25 giây.</a:t>
            </a:r>
          </a:p>
        </p:txBody>
      </p:sp>
      <p:sp>
        <p:nvSpPr>
          <p:cNvPr id="9" name="TextBox 8">
            <a:hlinkClick r:id="rId3" action="ppaction://hlinksldjump"/>
          </p:cNvPr>
          <p:cNvSpPr txBox="1"/>
          <p:nvPr/>
        </p:nvSpPr>
        <p:spPr>
          <a:xfrm>
            <a:off x="9966960" y="228600"/>
            <a:ext cx="1645920" cy="274320"/>
          </a:xfrm>
          <a:prstGeom prst="rect">
            <a:avLst/>
          </a:prstGeom>
          <a:noFill/>
        </p:spPr>
        <p:txBody>
          <a:bodyPr wrap="none">
            <a:spAutoFit/>
          </a:bodyPr>
          <a:lstStyle/>
          <a:p>
            <a:pPr>
              <a:defRPr sz="1200"/>
            </a:pPr>
            <a:r>
              <a:t>Về kết luận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VẤN ĐÁP / A10</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V6 §5.1; final_metrics.csv</a:t>
            </a:r>
          </a:p>
        </p:txBody>
      </p:sp>
      <p:sp>
        <p:nvSpPr>
          <p:cNvPr id="5" name="text-4"/>
          <p:cNvSpPr txBox="1"/>
          <p:nvPr/>
        </p:nvSpPr>
        <p:spPr>
          <a:xfrm>
            <a:off x="502920" y="960120"/>
            <a:ext cx="2286000" cy="1194308"/>
          </a:xfrm>
          <a:prstGeom prst="rect">
            <a:avLst/>
          </a:prstGeom>
          <a:noFill/>
        </p:spPr>
        <p:txBody>
          <a:bodyPr wrap="square" lIns="0" tIns="0" rIns="0" bIns="0">
            <a:spAutoFit/>
          </a:bodyPr>
          <a:lstStyle/>
          <a:p>
            <a:pPr>
              <a:spcAft>
                <a:spcPts val="0"/>
              </a:spcAft>
              <a:defRPr sz="7800" b="1">
                <a:solidFill>
                  <a:srgbClr val="7958F5"/>
                </a:solidFill>
                <a:latin typeface="Arial"/>
              </a:defRPr>
            </a:pPr>
            <a:r>
              <a:t>10</a:t>
            </a:r>
          </a:p>
        </p:txBody>
      </p:sp>
      <p:sp>
        <p:nvSpPr>
          <p:cNvPr id="6" name="text-5"/>
          <p:cNvSpPr txBox="1"/>
          <p:nvPr/>
        </p:nvSpPr>
        <p:spPr>
          <a:xfrm>
            <a:off x="2880360" y="1051560"/>
            <a:ext cx="8732520" cy="1371600"/>
          </a:xfrm>
          <a:prstGeom prst="rect">
            <a:avLst/>
          </a:prstGeom>
          <a:noFill/>
        </p:spPr>
        <p:txBody>
          <a:bodyPr wrap="square" lIns="0" tIns="0" rIns="0" bIns="0">
            <a:spAutoFit/>
          </a:bodyPr>
          <a:lstStyle/>
          <a:p>
            <a:pPr>
              <a:spcAft>
                <a:spcPts val="0"/>
              </a:spcAft>
              <a:defRPr sz="3600" b="1">
                <a:solidFill>
                  <a:srgbClr val="10162F"/>
                </a:solidFill>
                <a:latin typeface="Aptos"/>
              </a:defRPr>
            </a:pPr>
            <a:r>
              <a:t>Khi nào RF42 tốt hơn Stacking42?</a:t>
            </a:r>
          </a:p>
        </p:txBody>
      </p:sp>
      <p:sp>
        <p:nvSpPr>
          <p:cNvPr id="7" name="text-6"/>
          <p:cNvSpPr txBox="1"/>
          <p:nvPr/>
        </p:nvSpPr>
        <p:spPr>
          <a:xfrm>
            <a:off x="2880360" y="2743200"/>
            <a:ext cx="8869680" cy="1923604"/>
          </a:xfrm>
          <a:prstGeom prst="rect">
            <a:avLst/>
          </a:prstGeom>
          <a:noFill/>
        </p:spPr>
        <p:txBody>
          <a:bodyPr wrap="square" lIns="0" tIns="0" rIns="0" bIns="0">
            <a:spAutoFit/>
          </a:bodyPr>
          <a:lstStyle/>
          <a:p>
            <a:pPr>
              <a:spcAft>
                <a:spcPts val="0"/>
              </a:spcAft>
              <a:defRPr sz="2500" b="0">
                <a:solidFill>
                  <a:srgbClr val="10162F"/>
                </a:solidFill>
                <a:latin typeface="Aptos"/>
              </a:defRPr>
            </a:pPr>
            <a:r>
              <a:rPr lang="vi-VN"/>
              <a:t>Với đúng dự đoán official TEST đang xét, nhóm đặt L=FP+r×FN. Chênh lệch Stacking trừ RF là −142+118r. Khi r lớn hơn 142/118, khoảng 1,2034, RF có tổn thất thấp hơn. Kết luận này phụ thuộc giả định chi phí; chưa phải chi phí đo ở SOC hay chứng minh RF tốt hơn mọi mô hình.</a:t>
            </a:r>
            <a:endParaRPr/>
          </a:p>
        </p:txBody>
      </p:sp>
      <p:sp>
        <p:nvSpPr>
          <p:cNvPr id="8" name="text-7"/>
          <p:cNvSpPr txBox="1"/>
          <p:nvPr/>
        </p:nvSpPr>
        <p:spPr>
          <a:xfrm>
            <a:off x="2880360" y="5897880"/>
            <a:ext cx="8686800" cy="365760"/>
          </a:xfrm>
          <a:prstGeom prst="rect">
            <a:avLst/>
          </a:prstGeom>
          <a:noFill/>
        </p:spPr>
        <p:txBody>
          <a:bodyPr wrap="square" lIns="0" tIns="0" rIns="0" bIns="0">
            <a:spAutoFit/>
          </a:bodyPr>
          <a:lstStyle/>
          <a:p>
            <a:pPr>
              <a:spcAft>
                <a:spcPts val="0"/>
              </a:spcAft>
              <a:defRPr sz="1800" b="0">
                <a:solidFill>
                  <a:srgbClr val="4C5064"/>
                </a:solidFill>
                <a:latin typeface="Aptos"/>
              </a:defRPr>
            </a:pPr>
            <a:r>
              <a:t>Trả lời chính trong 15–25 giây.</a:t>
            </a:r>
          </a:p>
        </p:txBody>
      </p:sp>
      <p:sp>
        <p:nvSpPr>
          <p:cNvPr id="9" name="TextBox 8">
            <a:hlinkClick r:id="rId3" action="ppaction://hlinksldjump"/>
          </p:cNvPr>
          <p:cNvSpPr txBox="1"/>
          <p:nvPr/>
        </p:nvSpPr>
        <p:spPr>
          <a:xfrm>
            <a:off x="9966960" y="228600"/>
            <a:ext cx="1645920" cy="274320"/>
          </a:xfrm>
          <a:prstGeom prst="rect">
            <a:avLst/>
          </a:prstGeom>
          <a:noFill/>
        </p:spPr>
        <p:txBody>
          <a:bodyPr wrap="none">
            <a:spAutoFit/>
          </a:bodyPr>
          <a:lstStyle/>
          <a:p>
            <a:pPr>
              <a:defRPr sz="1200"/>
            </a:pPr>
            <a:r>
              <a:t>Về kết luận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VẤN ĐÁP / A11</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V6 §4.7.4; P21 aggregate.json</a:t>
            </a:r>
          </a:p>
        </p:txBody>
      </p:sp>
      <p:sp>
        <p:nvSpPr>
          <p:cNvPr id="5" name="text-4"/>
          <p:cNvSpPr txBox="1"/>
          <p:nvPr/>
        </p:nvSpPr>
        <p:spPr>
          <a:xfrm>
            <a:off x="502920" y="960120"/>
            <a:ext cx="2286000" cy="1194308"/>
          </a:xfrm>
          <a:prstGeom prst="rect">
            <a:avLst/>
          </a:prstGeom>
          <a:noFill/>
        </p:spPr>
        <p:txBody>
          <a:bodyPr wrap="square" lIns="0" tIns="0" rIns="0" bIns="0">
            <a:spAutoFit/>
          </a:bodyPr>
          <a:lstStyle/>
          <a:p>
            <a:pPr>
              <a:spcAft>
                <a:spcPts val="0"/>
              </a:spcAft>
              <a:defRPr sz="7800" b="1">
                <a:solidFill>
                  <a:srgbClr val="7958F5"/>
                </a:solidFill>
                <a:latin typeface="Arial"/>
              </a:defRPr>
            </a:pPr>
            <a:r>
              <a:t>11</a:t>
            </a:r>
          </a:p>
        </p:txBody>
      </p:sp>
      <p:sp>
        <p:nvSpPr>
          <p:cNvPr id="6" name="text-5"/>
          <p:cNvSpPr txBox="1"/>
          <p:nvPr/>
        </p:nvSpPr>
        <p:spPr>
          <a:xfrm>
            <a:off x="2880360" y="1051560"/>
            <a:ext cx="8732520" cy="1371600"/>
          </a:xfrm>
          <a:prstGeom prst="rect">
            <a:avLst/>
          </a:prstGeom>
          <a:noFill/>
        </p:spPr>
        <p:txBody>
          <a:bodyPr wrap="square" lIns="0" tIns="0" rIns="0" bIns="0">
            <a:spAutoFit/>
          </a:bodyPr>
          <a:lstStyle/>
          <a:p>
            <a:pPr>
              <a:spcAft>
                <a:spcPts val="0"/>
              </a:spcAft>
              <a:defRPr sz="3600" b="1">
                <a:solidFill>
                  <a:srgbClr val="10162F"/>
                </a:solidFill>
                <a:latin typeface="Aptos"/>
              </a:defRPr>
            </a:pPr>
            <a:r>
              <a:t>Tại sao balanced làm tăng FNR?</a:t>
            </a:r>
          </a:p>
        </p:txBody>
      </p:sp>
      <p:sp>
        <p:nvSpPr>
          <p:cNvPr id="7" name="text-6"/>
          <p:cNvSpPr txBox="1"/>
          <p:nvPr/>
        </p:nvSpPr>
        <p:spPr>
          <a:xfrm>
            <a:off x="2880360" y="2743200"/>
            <a:ext cx="8869680" cy="1923604"/>
          </a:xfrm>
          <a:prstGeom prst="rect">
            <a:avLst/>
          </a:prstGeom>
          <a:noFill/>
        </p:spPr>
        <p:txBody>
          <a:bodyPr wrap="square" lIns="0" tIns="0" rIns="0" bIns="0">
            <a:spAutoFit/>
          </a:bodyPr>
          <a:lstStyle/>
          <a:p>
            <a:pPr>
              <a:spcAft>
                <a:spcPts val="0"/>
              </a:spcAft>
              <a:defRPr sz="2500" b="0">
                <a:solidFill>
                  <a:srgbClr val="10162F"/>
                </a:solidFill>
                <a:latin typeface="Aptos"/>
              </a:defRPr>
            </a:pPr>
            <a:r>
              <a:rPr lang="vi-VN"/>
              <a:t>Normal mới là lớp ít mẫu trong TRAIN. Cấu hình balanced ưu tiên Normal hơn, và trong P21 nhóm quan sát FPR giảm nhưng FNR tăng. Cân bằng không tự động giúp phát hiện Attack tốt hơn. Nhóm giữ nguyên ngưỡng trong phép đối chứng, không chọn ngưỡng mới từ kết quả này.</a:t>
            </a:r>
            <a:endParaRPr/>
          </a:p>
        </p:txBody>
      </p:sp>
      <p:sp>
        <p:nvSpPr>
          <p:cNvPr id="8" name="text-7"/>
          <p:cNvSpPr txBox="1"/>
          <p:nvPr/>
        </p:nvSpPr>
        <p:spPr>
          <a:xfrm>
            <a:off x="2880360" y="5897880"/>
            <a:ext cx="8686800" cy="365760"/>
          </a:xfrm>
          <a:prstGeom prst="rect">
            <a:avLst/>
          </a:prstGeom>
          <a:noFill/>
        </p:spPr>
        <p:txBody>
          <a:bodyPr wrap="square" lIns="0" tIns="0" rIns="0" bIns="0">
            <a:spAutoFit/>
          </a:bodyPr>
          <a:lstStyle/>
          <a:p>
            <a:pPr>
              <a:spcAft>
                <a:spcPts val="0"/>
              </a:spcAft>
              <a:defRPr sz="1800" b="0">
                <a:solidFill>
                  <a:srgbClr val="4C5064"/>
                </a:solidFill>
                <a:latin typeface="Aptos"/>
              </a:defRPr>
            </a:pPr>
            <a:r>
              <a:t>Trả lời chính trong 15–25 giây.</a:t>
            </a:r>
          </a:p>
        </p:txBody>
      </p:sp>
      <p:sp>
        <p:nvSpPr>
          <p:cNvPr id="9" name="TextBox 8">
            <a:hlinkClick r:id="rId3" action="ppaction://hlinksldjump"/>
          </p:cNvPr>
          <p:cNvSpPr txBox="1"/>
          <p:nvPr/>
        </p:nvSpPr>
        <p:spPr>
          <a:xfrm>
            <a:off x="9966960" y="228600"/>
            <a:ext cx="1645920" cy="274320"/>
          </a:xfrm>
          <a:prstGeom prst="rect">
            <a:avLst/>
          </a:prstGeom>
          <a:noFill/>
        </p:spPr>
        <p:txBody>
          <a:bodyPr wrap="none">
            <a:spAutoFit/>
          </a:bodyPr>
          <a:lstStyle/>
          <a:p>
            <a:pPr>
              <a:defRPr sz="1200"/>
            </a:pPr>
            <a:r>
              <a:t>Về kết luận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8F5EE"/>
        </a:solidFill>
        <a:effectLst/>
      </p:bgPr>
    </p:bg>
    <p:spTree>
      <p:nvGrpSpPr>
        <p:cNvPr id="1" name=""/>
        <p:cNvGrpSpPr/>
        <p:nvPr/>
      </p:nvGrpSpPr>
      <p:grpSpPr>
        <a:xfrm>
          <a:off x="0" y="0"/>
          <a:ext cx="0" cy="0"/>
          <a:chOff x="0" y="0"/>
          <a:chExt cx="0" cy="0"/>
        </a:xfrm>
      </p:grpSpPr>
      <p:sp>
        <p:nvSpPr>
          <p:cNvPr id="2" name="section-tag"/>
          <p:cNvSpPr txBox="1"/>
          <p:nvPr/>
        </p:nvSpPr>
        <p:spPr>
          <a:xfrm>
            <a:off x="502920" y="256032"/>
            <a:ext cx="10058400" cy="274320"/>
          </a:xfrm>
          <a:prstGeom prst="rect">
            <a:avLst/>
          </a:prstGeom>
          <a:noFill/>
        </p:spPr>
        <p:txBody>
          <a:bodyPr wrap="square" lIns="0" tIns="0" rIns="0" bIns="0">
            <a:spAutoFit/>
          </a:bodyPr>
          <a:lstStyle/>
          <a:p>
            <a:pPr>
              <a:spcAft>
                <a:spcPts val="0"/>
              </a:spcAft>
              <a:defRPr sz="1200" b="0">
                <a:solidFill>
                  <a:srgbClr val="10162F"/>
                </a:solidFill>
                <a:latin typeface="Consolas"/>
              </a:defRPr>
            </a:pPr>
            <a:r>
              <a:t>VẤN ĐÁP / A12</a:t>
            </a:r>
          </a:p>
        </p:txBody>
      </p:sp>
      <p:sp>
        <p:nvSpPr>
          <p:cNvPr id="3" name="text-2"/>
          <p:cNvSpPr txBox="1"/>
          <p:nvPr/>
        </p:nvSpPr>
        <p:spPr>
          <a:xfrm>
            <a:off x="10972800" y="256032"/>
            <a:ext cx="685800" cy="274320"/>
          </a:xfrm>
          <a:prstGeom prst="rect">
            <a:avLst/>
          </a:prstGeom>
          <a:noFill/>
        </p:spPr>
        <p:txBody>
          <a:bodyPr wrap="square" lIns="0" tIns="0" rIns="0" bIns="0">
            <a:spAutoFit/>
          </a:bodyPr>
          <a:lstStyle/>
          <a:p>
            <a:pPr algn="r">
              <a:spcAft>
                <a:spcPts val="0"/>
              </a:spcAft>
              <a:defRPr sz="1300" b="0">
                <a:solidFill>
                  <a:srgbClr val="10162F"/>
                </a:solidFill>
                <a:latin typeface="Consolas"/>
              </a:defRPr>
            </a:pPr>
            <a:r>
              <a:t>08</a:t>
            </a:r>
          </a:p>
        </p:txBody>
      </p:sp>
      <p:sp>
        <p:nvSpPr>
          <p:cNvPr id="4" name="source"/>
          <p:cNvSpPr txBox="1"/>
          <p:nvPr/>
        </p:nvSpPr>
        <p:spPr>
          <a:xfrm>
            <a:off x="502920" y="6483096"/>
            <a:ext cx="10972800" cy="210312"/>
          </a:xfrm>
          <a:prstGeom prst="rect">
            <a:avLst/>
          </a:prstGeom>
          <a:noFill/>
        </p:spPr>
        <p:txBody>
          <a:bodyPr wrap="square" lIns="0" tIns="0" rIns="0" bIns="0">
            <a:spAutoFit/>
          </a:bodyPr>
          <a:lstStyle/>
          <a:p>
            <a:pPr>
              <a:spcAft>
                <a:spcPts val="0"/>
              </a:spcAft>
              <a:defRPr sz="1000" b="0">
                <a:solidFill>
                  <a:srgbClr val="10162F"/>
                </a:solidFill>
                <a:latin typeface="Aptos"/>
              </a:defRPr>
            </a:pPr>
            <a:r>
              <a:t>V6 §3.5, §5.4–5.5</a:t>
            </a:r>
          </a:p>
        </p:txBody>
      </p:sp>
      <p:sp>
        <p:nvSpPr>
          <p:cNvPr id="5" name="text-4"/>
          <p:cNvSpPr txBox="1"/>
          <p:nvPr/>
        </p:nvSpPr>
        <p:spPr>
          <a:xfrm>
            <a:off x="502920" y="960120"/>
            <a:ext cx="2286000" cy="1194308"/>
          </a:xfrm>
          <a:prstGeom prst="rect">
            <a:avLst/>
          </a:prstGeom>
          <a:noFill/>
        </p:spPr>
        <p:txBody>
          <a:bodyPr wrap="square" lIns="0" tIns="0" rIns="0" bIns="0">
            <a:spAutoFit/>
          </a:bodyPr>
          <a:lstStyle/>
          <a:p>
            <a:pPr>
              <a:spcAft>
                <a:spcPts val="0"/>
              </a:spcAft>
              <a:defRPr sz="7800" b="1">
                <a:solidFill>
                  <a:srgbClr val="7958F5"/>
                </a:solidFill>
                <a:latin typeface="Arial"/>
              </a:defRPr>
            </a:pPr>
            <a:r>
              <a:t>12</a:t>
            </a:r>
          </a:p>
        </p:txBody>
      </p:sp>
      <p:sp>
        <p:nvSpPr>
          <p:cNvPr id="6" name="text-5"/>
          <p:cNvSpPr txBox="1"/>
          <p:nvPr/>
        </p:nvSpPr>
        <p:spPr>
          <a:xfrm>
            <a:off x="2880360" y="1051560"/>
            <a:ext cx="8732520" cy="1371600"/>
          </a:xfrm>
          <a:prstGeom prst="rect">
            <a:avLst/>
          </a:prstGeom>
          <a:noFill/>
        </p:spPr>
        <p:txBody>
          <a:bodyPr wrap="square" lIns="0" tIns="0" rIns="0" bIns="0">
            <a:spAutoFit/>
          </a:bodyPr>
          <a:lstStyle/>
          <a:p>
            <a:pPr>
              <a:spcAft>
                <a:spcPts val="0"/>
              </a:spcAft>
              <a:defRPr sz="3600" b="1">
                <a:solidFill>
                  <a:srgbClr val="10162F"/>
                </a:solidFill>
                <a:latin typeface="Aptos"/>
              </a:defRPr>
            </a:pPr>
            <a:r>
              <a:t>Nhóm đã triển khai IDS mạng thật chưa?</a:t>
            </a:r>
          </a:p>
        </p:txBody>
      </p:sp>
      <p:sp>
        <p:nvSpPr>
          <p:cNvPr id="7" name="text-6"/>
          <p:cNvSpPr txBox="1"/>
          <p:nvPr/>
        </p:nvSpPr>
        <p:spPr>
          <a:xfrm>
            <a:off x="2880360" y="2743200"/>
            <a:ext cx="8869680" cy="1923604"/>
          </a:xfrm>
          <a:prstGeom prst="rect">
            <a:avLst/>
          </a:prstGeom>
          <a:noFill/>
        </p:spPr>
        <p:txBody>
          <a:bodyPr wrap="square" lIns="0" tIns="0" rIns="0" bIns="0">
            <a:spAutoFit/>
          </a:bodyPr>
          <a:lstStyle/>
          <a:p>
            <a:pPr>
              <a:spcAft>
                <a:spcPts val="0"/>
              </a:spcAft>
              <a:defRPr sz="2500" b="0">
                <a:solidFill>
                  <a:srgbClr val="10162F"/>
                </a:solidFill>
                <a:latin typeface="Aptos"/>
              </a:defRPr>
            </a:pPr>
            <a:r>
              <a:rPr lang="vi-VN"/>
              <a:t>Chưa. Nhóm đang đánh giá pipeline ngoại tuyến. P15 tái dựng theo cấu hình, không chứng minh trùng bit với artifact lịch sử. Nhóm chưa đo drift, tải phục vụ hoặc chi phí SOC. Trước khi triển khai, cần dữ liệu ngoài, kiểm tra ngưỡng trên train-validation mới và đo độ trễ toàn quy trình.</a:t>
            </a:r>
            <a:endParaRPr/>
          </a:p>
        </p:txBody>
      </p:sp>
      <p:sp>
        <p:nvSpPr>
          <p:cNvPr id="8" name="text-7"/>
          <p:cNvSpPr txBox="1"/>
          <p:nvPr/>
        </p:nvSpPr>
        <p:spPr>
          <a:xfrm>
            <a:off x="2880360" y="5897880"/>
            <a:ext cx="8686800" cy="365760"/>
          </a:xfrm>
          <a:prstGeom prst="rect">
            <a:avLst/>
          </a:prstGeom>
          <a:noFill/>
        </p:spPr>
        <p:txBody>
          <a:bodyPr wrap="square" lIns="0" tIns="0" rIns="0" bIns="0">
            <a:spAutoFit/>
          </a:bodyPr>
          <a:lstStyle/>
          <a:p>
            <a:pPr>
              <a:spcAft>
                <a:spcPts val="0"/>
              </a:spcAft>
              <a:defRPr sz="1800" b="0">
                <a:solidFill>
                  <a:srgbClr val="4C5064"/>
                </a:solidFill>
                <a:latin typeface="Aptos"/>
              </a:defRPr>
            </a:pPr>
            <a:r>
              <a:t>Trả lời chính trong 15–25 giây.</a:t>
            </a:r>
          </a:p>
        </p:txBody>
      </p:sp>
      <p:sp>
        <p:nvSpPr>
          <p:cNvPr id="9" name="TextBox 8">
            <a:hlinkClick r:id="rId3" action="ppaction://hlinksldjump"/>
          </p:cNvPr>
          <p:cNvSpPr txBox="1"/>
          <p:nvPr/>
        </p:nvSpPr>
        <p:spPr>
          <a:xfrm>
            <a:off x="9966960" y="228600"/>
            <a:ext cx="1645920" cy="274320"/>
          </a:xfrm>
          <a:prstGeom prst="rect">
            <a:avLst/>
          </a:prstGeom>
          <a:noFill/>
        </p:spPr>
        <p:txBody>
          <a:bodyPr wrap="none">
            <a:spAutoFit/>
          </a:bodyPr>
          <a:lstStyle/>
          <a:p>
            <a:pPr>
              <a:defRPr sz="1200"/>
            </a:pPr>
            <a:r>
              <a:t>Về kết luận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4173</Words>
  <Application>Microsoft Office PowerPoint</Application>
  <PresentationFormat>Widescreen</PresentationFormat>
  <Paragraphs>375</Paragraphs>
  <Slides>29</Slides>
  <Notes>29</Notes>
  <HiddenSlides>12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LENOVO</cp:lastModifiedBy>
  <cp:revision>6</cp:revision>
  <dcterms:created xsi:type="dcterms:W3CDTF">2013-01-27T09:14:16Z</dcterms:created>
  <dcterms:modified xsi:type="dcterms:W3CDTF">2026-10-19T06:03:29Z</dcterms:modified>
  <cp:category/>
</cp:coreProperties>
</file>