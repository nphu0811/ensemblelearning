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603504" y="320040"/>
            <a:ext cx="8412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14192A"/>
                </a:solidFill>
                <a:latin typeface="Liberation Sans"/>
              </a:defRPr>
            </a:pPr>
            <a:r>
              <a:t>HỌC VIỆN CÔNG NGHỆ BƯU CHÍNH VIỄN THÔNG</a:t>
            </a:r>
          </a:p>
        </p:txBody>
      </p:sp>
      <p:sp>
        <p:nvSpPr>
          <p:cNvPr id="3" name="Scene counter"/>
          <p:cNvSpPr txBox="1"/>
          <p:nvPr/>
        </p:nvSpPr>
        <p:spPr>
          <a:xfrm>
            <a:off x="10789920" y="283464"/>
            <a:ext cx="77724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4192A"/>
                </a:solidFill>
                <a:latin typeface="Liberation Sans"/>
              </a:defRPr>
            </a:pPr>
            <a:r>
              <a:t>#01</a:t>
            </a:r>
          </a:p>
        </p:txBody>
      </p:sp>
      <p:sp>
        <p:nvSpPr>
          <p:cNvPr id="4" name="Progress track"/>
          <p:cNvSpPr/>
          <p:nvPr/>
        </p:nvSpPr>
        <p:spPr>
          <a:xfrm>
            <a:off x="594360" y="6487668"/>
            <a:ext cx="10972800" cy="13716"/>
          </a:xfrm>
          <a:prstGeom prst="rect">
            <a:avLst/>
          </a:prstGeom>
          <a:solidFill>
            <a:srgbClr val="E626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rogress position"/>
          <p:cNvSpPr/>
          <p:nvPr/>
        </p:nvSpPr>
        <p:spPr>
          <a:xfrm>
            <a:off x="594360" y="6487668"/>
            <a:ext cx="1097280" cy="36576"/>
          </a:xfrm>
          <a:prstGeom prst="rect">
            <a:avLst/>
          </a:prstGeom>
          <a:solidFill>
            <a:srgbClr val="E626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unning footer"/>
          <p:cNvSpPr txBox="1"/>
          <p:nvPr/>
        </p:nvSpPr>
        <p:spPr>
          <a:xfrm>
            <a:off x="594360" y="6565392"/>
            <a:ext cx="731520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4192A"/>
                </a:solidFill>
                <a:latin typeface="Liberation Sans"/>
              </a:defRPr>
            </a:pPr>
            <a:r>
              <a:t>NCKH  /  ENSEMBLE IDS  /  UNSW-NB15</a:t>
            </a:r>
          </a:p>
        </p:txBody>
      </p:sp>
      <p:sp>
        <p:nvSpPr>
          <p:cNvPr id="7" name="PTIT red margin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E626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"/>
          <p:cNvCxnSpPr/>
          <p:nvPr/>
        </p:nvCxnSpPr>
        <p:spPr>
          <a:xfrm>
            <a:off x="182880" y="365760"/>
            <a:ext cx="2057400" cy="0"/>
          </a:xfrm>
          <a:prstGeom prst="line">
            <a:avLst/>
          </a:prstGeom>
          <a:ln w="6350">
            <a:solidFill>
              <a:srgbClr val="FF6A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"/>
          <p:cNvCxnSpPr/>
          <p:nvPr/>
        </p:nvCxnSpPr>
        <p:spPr>
          <a:xfrm>
            <a:off x="182880" y="777240"/>
            <a:ext cx="2057400" cy="0"/>
          </a:xfrm>
          <a:prstGeom prst="line">
            <a:avLst/>
          </a:prstGeom>
          <a:ln w="6350">
            <a:solidFill>
              <a:srgbClr val="FF6A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"/>
          <p:cNvCxnSpPr/>
          <p:nvPr/>
        </p:nvCxnSpPr>
        <p:spPr>
          <a:xfrm>
            <a:off x="182880" y="1188720"/>
            <a:ext cx="2057400" cy="0"/>
          </a:xfrm>
          <a:prstGeom prst="line">
            <a:avLst/>
          </a:prstGeom>
          <a:ln w="6350">
            <a:solidFill>
              <a:srgbClr val="FF6A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"/>
          <p:cNvCxnSpPr/>
          <p:nvPr/>
        </p:nvCxnSpPr>
        <p:spPr>
          <a:xfrm>
            <a:off x="182880" y="1600200"/>
            <a:ext cx="2057400" cy="0"/>
          </a:xfrm>
          <a:prstGeom prst="line">
            <a:avLst/>
          </a:prstGeom>
          <a:ln w="6350">
            <a:solidFill>
              <a:srgbClr val="FF6A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"/>
          <p:cNvCxnSpPr/>
          <p:nvPr/>
        </p:nvCxnSpPr>
        <p:spPr>
          <a:xfrm>
            <a:off x="182880" y="2011680"/>
            <a:ext cx="2057400" cy="0"/>
          </a:xfrm>
          <a:prstGeom prst="line">
            <a:avLst/>
          </a:prstGeom>
          <a:ln w="6350">
            <a:solidFill>
              <a:srgbClr val="FF6A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"/>
          <p:cNvCxnSpPr/>
          <p:nvPr/>
        </p:nvCxnSpPr>
        <p:spPr>
          <a:xfrm>
            <a:off x="182880" y="2423160"/>
            <a:ext cx="2057400" cy="0"/>
          </a:xfrm>
          <a:prstGeom prst="line">
            <a:avLst/>
          </a:prstGeom>
          <a:ln w="6350">
            <a:solidFill>
              <a:srgbClr val="FF6A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"/>
          <p:cNvCxnSpPr/>
          <p:nvPr/>
        </p:nvCxnSpPr>
        <p:spPr>
          <a:xfrm>
            <a:off x="182880" y="2834640"/>
            <a:ext cx="2057400" cy="0"/>
          </a:xfrm>
          <a:prstGeom prst="line">
            <a:avLst/>
          </a:prstGeom>
          <a:ln w="6350">
            <a:solidFill>
              <a:srgbClr val="FF6A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"/>
          <p:cNvCxnSpPr/>
          <p:nvPr/>
        </p:nvCxnSpPr>
        <p:spPr>
          <a:xfrm>
            <a:off x="182880" y="3246120"/>
            <a:ext cx="2057400" cy="0"/>
          </a:xfrm>
          <a:prstGeom prst="line">
            <a:avLst/>
          </a:prstGeom>
          <a:ln w="6350">
            <a:solidFill>
              <a:srgbClr val="FF6A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"/>
          <p:cNvCxnSpPr/>
          <p:nvPr/>
        </p:nvCxnSpPr>
        <p:spPr>
          <a:xfrm>
            <a:off x="182880" y="3657600"/>
            <a:ext cx="2057400" cy="0"/>
          </a:xfrm>
          <a:prstGeom prst="line">
            <a:avLst/>
          </a:prstGeom>
          <a:ln w="6350">
            <a:solidFill>
              <a:srgbClr val="FF6A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"/>
          <p:cNvCxnSpPr/>
          <p:nvPr/>
        </p:nvCxnSpPr>
        <p:spPr>
          <a:xfrm>
            <a:off x="182880" y="4069080"/>
            <a:ext cx="2057400" cy="0"/>
          </a:xfrm>
          <a:prstGeom prst="line">
            <a:avLst/>
          </a:prstGeom>
          <a:ln w="6350">
            <a:solidFill>
              <a:srgbClr val="FF6A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"/>
          <p:cNvCxnSpPr/>
          <p:nvPr/>
        </p:nvCxnSpPr>
        <p:spPr>
          <a:xfrm>
            <a:off x="182880" y="4480560"/>
            <a:ext cx="2057400" cy="0"/>
          </a:xfrm>
          <a:prstGeom prst="line">
            <a:avLst/>
          </a:prstGeom>
          <a:ln w="6350">
            <a:solidFill>
              <a:srgbClr val="FF6A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"/>
          <p:cNvCxnSpPr/>
          <p:nvPr/>
        </p:nvCxnSpPr>
        <p:spPr>
          <a:xfrm>
            <a:off x="182880" y="4892040"/>
            <a:ext cx="2057400" cy="0"/>
          </a:xfrm>
          <a:prstGeom prst="line">
            <a:avLst/>
          </a:prstGeom>
          <a:ln w="6350">
            <a:solidFill>
              <a:srgbClr val="FF6A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"/>
          <p:cNvCxnSpPr/>
          <p:nvPr/>
        </p:nvCxnSpPr>
        <p:spPr>
          <a:xfrm>
            <a:off x="182880" y="5303520"/>
            <a:ext cx="2057400" cy="0"/>
          </a:xfrm>
          <a:prstGeom prst="line">
            <a:avLst/>
          </a:prstGeom>
          <a:ln w="6350">
            <a:solidFill>
              <a:srgbClr val="FF6A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"/>
          <p:cNvCxnSpPr/>
          <p:nvPr/>
        </p:nvCxnSpPr>
        <p:spPr>
          <a:xfrm>
            <a:off x="182880" y="5715000"/>
            <a:ext cx="2057400" cy="0"/>
          </a:xfrm>
          <a:prstGeom prst="line">
            <a:avLst/>
          </a:prstGeom>
          <a:ln w="6350">
            <a:solidFill>
              <a:srgbClr val="FF6A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"/>
          <p:cNvCxnSpPr/>
          <p:nvPr/>
        </p:nvCxnSpPr>
        <p:spPr>
          <a:xfrm>
            <a:off x="182880" y="6126480"/>
            <a:ext cx="2057400" cy="0"/>
          </a:xfrm>
          <a:prstGeom prst="line">
            <a:avLst/>
          </a:prstGeom>
          <a:ln w="6350">
            <a:solidFill>
              <a:srgbClr val="FF6A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"/>
          <p:cNvCxnSpPr/>
          <p:nvPr/>
        </p:nvCxnSpPr>
        <p:spPr>
          <a:xfrm>
            <a:off x="182880" y="6537960"/>
            <a:ext cx="2057400" cy="0"/>
          </a:xfrm>
          <a:prstGeom prst="line">
            <a:avLst/>
          </a:prstGeom>
          <a:ln w="6350">
            <a:solidFill>
              <a:srgbClr val="FF6A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4" name="Picture 23" descr="Logo_PTIT_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0192" y="438912"/>
            <a:ext cx="777240" cy="777240"/>
          </a:xfrm>
          <a:prstGeom prst="rect">
            <a:avLst/>
          </a:prstGeom>
        </p:spPr>
      </p:pic>
      <p:sp>
        <p:nvSpPr>
          <p:cNvPr id="25" name="White PTIT monogram"/>
          <p:cNvSpPr txBox="1"/>
          <p:nvPr/>
        </p:nvSpPr>
        <p:spPr>
          <a:xfrm>
            <a:off x="411480" y="3200400"/>
            <a:ext cx="16002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3900" b="1">
                <a:solidFill>
                  <a:srgbClr val="F8F5EE"/>
                </a:solidFill>
                <a:latin typeface="Liberation Sans"/>
              </a:defRPr>
            </a:pPr>
            <a:r>
              <a:t>PTIT</a:t>
            </a:r>
          </a:p>
        </p:txBody>
      </p:sp>
      <p:sp>
        <p:nvSpPr>
          <p:cNvPr id="26" name="Academy header"/>
          <p:cNvSpPr txBox="1"/>
          <p:nvPr/>
        </p:nvSpPr>
        <p:spPr>
          <a:xfrm>
            <a:off x="2834640" y="694944"/>
            <a:ext cx="88696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E62629"/>
                </a:solidFill>
                <a:latin typeface="Liberation Sans"/>
              </a:defRPr>
            </a:pPr>
            <a:r>
              <a:t>PTIT / HỌC VIỆN CÔNG NGHỆ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E62629"/>
                </a:solidFill>
                <a:latin typeface="Liberation Sans"/>
              </a:defRPr>
            </a:pPr>
            <a:r>
              <a:t>BƯU CHÍNH VIỄN THÔNG</a:t>
            </a:r>
          </a:p>
        </p:txBody>
      </p:sp>
      <p:sp>
        <p:nvSpPr>
          <p:cNvPr id="27" name="Research hero"/>
          <p:cNvSpPr txBox="1"/>
          <p:nvPr/>
        </p:nvSpPr>
        <p:spPr>
          <a:xfrm>
            <a:off x="2743200" y="1764792"/>
            <a:ext cx="8869680" cy="2880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5700" b="1">
                <a:solidFill>
                  <a:srgbClr val="14192A"/>
                </a:solidFill>
                <a:latin typeface="Liberation Sans"/>
              </a:defRPr>
            </a:pPr>
            <a:r>
              <a:t>ENSEMBLE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5700" b="1">
                <a:solidFill>
                  <a:srgbClr val="14192A"/>
                </a:solidFill>
                <a:latin typeface="Liberation Sans"/>
              </a:defRPr>
            </a:pPr>
            <a:r>
              <a:t>LEARNING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5700" b="1">
                <a:solidFill>
                  <a:srgbClr val="14192A"/>
                </a:solidFill>
                <a:latin typeface="Liberation Sans"/>
              </a:defRPr>
            </a:pPr>
            <a:r>
              <a:t>/ NETWORK IDS</a:t>
            </a:r>
          </a:p>
        </p:txBody>
      </p:sp>
      <p:sp>
        <p:nvSpPr>
          <p:cNvPr id="28" name="Shape"/>
          <p:cNvSpPr/>
          <p:nvPr/>
        </p:nvSpPr>
        <p:spPr>
          <a:xfrm>
            <a:off x="2770632" y="4837176"/>
            <a:ext cx="6995160" cy="45720"/>
          </a:xfrm>
          <a:prstGeom prst="rect">
            <a:avLst/>
          </a:prstGeom>
          <a:solidFill>
            <a:srgbClr val="E626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fficial topic"/>
          <p:cNvSpPr txBox="1"/>
          <p:nvPr/>
        </p:nvSpPr>
        <p:spPr>
          <a:xfrm>
            <a:off x="2770632" y="5102352"/>
            <a:ext cx="8503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4192A"/>
                </a:solidFill>
                <a:latin typeface="Liberation Sans"/>
              </a:defRPr>
            </a:pPr>
            <a:r>
              <a:t>Nghiên cứu Ensemble Learning cho bài toán phát hiện xâm nhập mạng</a:t>
            </a:r>
          </a:p>
        </p:txBody>
      </p:sp>
      <p:sp>
        <p:nvSpPr>
          <p:cNvPr id="30" name="Text"/>
          <p:cNvSpPr txBox="1"/>
          <p:nvPr/>
        </p:nvSpPr>
        <p:spPr>
          <a:xfrm>
            <a:off x="2779776" y="5824728"/>
            <a:ext cx="87782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778195"/>
                </a:solidFill>
                <a:latin typeface="Liberation Sans"/>
              </a:defRPr>
            </a:pPr>
            <a:r>
              <a:t>GVHD  TS. LÊ NGỌC HIẾU   •   LỚP E23CQCE01-N</a:t>
            </a:r>
          </a:p>
        </p:txBody>
      </p:sp>
      <p:sp>
        <p:nvSpPr>
          <p:cNvPr id="31" name="Text"/>
          <p:cNvSpPr txBox="1"/>
          <p:nvPr/>
        </p:nvSpPr>
        <p:spPr>
          <a:xfrm>
            <a:off x="2779776" y="6144768"/>
            <a:ext cx="89611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4192A"/>
                </a:solidFill>
                <a:latin typeface="Liberation Sans"/>
              </a:defRPr>
            </a:pPr>
            <a:r>
              <a:t>Dương Ngọc Phú · Phạm Thế Vỹ · Vũ Văn Kiên · Lê Hoàng Nguyên Quân</a:t>
            </a:r>
          </a:p>
        </p:txBody>
      </p:sp>
      <p:sp>
        <p:nvSpPr>
          <p:cNvPr id="32" name="Animated marker 1-0"/>
          <p:cNvSpPr/>
          <p:nvPr/>
        </p:nvSpPr>
        <p:spPr>
          <a:xfrm>
            <a:off x="9418320" y="5925312"/>
            <a:ext cx="73152" cy="73152"/>
          </a:xfrm>
          <a:prstGeom prst="ellipse">
            <a:avLst/>
          </a:prstGeom>
          <a:solidFill>
            <a:srgbClr val="FF6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Animated marker 1-1"/>
          <p:cNvSpPr/>
          <p:nvPr/>
        </p:nvSpPr>
        <p:spPr>
          <a:xfrm>
            <a:off x="9710928" y="5925312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Animated marker 1-2"/>
          <p:cNvSpPr/>
          <p:nvPr/>
        </p:nvSpPr>
        <p:spPr>
          <a:xfrm>
            <a:off x="10003536" y="5925312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Animated marker 1-3"/>
          <p:cNvSpPr/>
          <p:nvPr/>
        </p:nvSpPr>
        <p:spPr>
          <a:xfrm>
            <a:off x="10296144" y="5925312"/>
            <a:ext cx="73152" cy="73152"/>
          </a:xfrm>
          <a:prstGeom prst="ellipse">
            <a:avLst/>
          </a:prstGeom>
          <a:solidFill>
            <a:srgbClr val="FF6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Animated marker 1-4"/>
          <p:cNvSpPr/>
          <p:nvPr/>
        </p:nvSpPr>
        <p:spPr>
          <a:xfrm>
            <a:off x="10588752" y="5925312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Animated marker 1-5"/>
          <p:cNvSpPr/>
          <p:nvPr/>
        </p:nvSpPr>
        <p:spPr>
          <a:xfrm>
            <a:off x="10881360" y="5925312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Animated marker 1-6"/>
          <p:cNvSpPr/>
          <p:nvPr/>
        </p:nvSpPr>
        <p:spPr>
          <a:xfrm>
            <a:off x="11173968" y="5925312"/>
            <a:ext cx="73152" cy="73152"/>
          </a:xfrm>
          <a:prstGeom prst="ellipse">
            <a:avLst/>
          </a:prstGeom>
          <a:solidFill>
            <a:srgbClr val="FF6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Animated marker 1-7"/>
          <p:cNvSpPr/>
          <p:nvPr/>
        </p:nvSpPr>
        <p:spPr>
          <a:xfrm>
            <a:off x="9418320" y="6181344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Animated marker 1-8"/>
          <p:cNvSpPr/>
          <p:nvPr/>
        </p:nvSpPr>
        <p:spPr>
          <a:xfrm>
            <a:off x="9710928" y="6181344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Animated marker 1-9"/>
          <p:cNvSpPr/>
          <p:nvPr/>
        </p:nvSpPr>
        <p:spPr>
          <a:xfrm>
            <a:off x="10003536" y="6181344"/>
            <a:ext cx="73152" cy="73152"/>
          </a:xfrm>
          <a:prstGeom prst="ellipse">
            <a:avLst/>
          </a:prstGeom>
          <a:solidFill>
            <a:srgbClr val="FF6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Animated marker 1-10"/>
          <p:cNvSpPr/>
          <p:nvPr/>
        </p:nvSpPr>
        <p:spPr>
          <a:xfrm>
            <a:off x="10296144" y="6181344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Animated marker 1-11"/>
          <p:cNvSpPr/>
          <p:nvPr/>
        </p:nvSpPr>
        <p:spPr>
          <a:xfrm>
            <a:off x="10588752" y="6181344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Animated marker 1-12"/>
          <p:cNvSpPr/>
          <p:nvPr/>
        </p:nvSpPr>
        <p:spPr>
          <a:xfrm>
            <a:off x="10881360" y="6181344"/>
            <a:ext cx="73152" cy="73152"/>
          </a:xfrm>
          <a:prstGeom prst="ellipse">
            <a:avLst/>
          </a:prstGeom>
          <a:solidFill>
            <a:srgbClr val="FF6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Animated marker 1-13"/>
          <p:cNvSpPr/>
          <p:nvPr/>
        </p:nvSpPr>
        <p:spPr>
          <a:xfrm>
            <a:off x="11173968" y="6181344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med" advClick="1">
    <p:fade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accel="15000" decel="1500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8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8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accel="15000" decel="15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0" presetClass="entr" presetSubtype="0" repeatCount="4000" accel="15000" decel="15000" fill="hold" grpId="1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0.54000001 0.00000000 E" pathEditMode="relative">
                                      <p:cBhvr from="" to="">
                                        <p:cTn id="14" dur="3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accel="15000" decel="15000" fill="hold" grpId="0" nodeType="with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0" presetClass="entr" presetSubtype="0" repeatCount="4000" accel="15000" decel="15000" fill="hold" grpId="1" nodeType="withEffect">
                                  <p:stCondLst>
                                    <p:cond delay="292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0.54000001 0.00000000 E" pathEditMode="relative">
                                      <p:cBhvr from="" to="">
                                        <p:cTn id="20" dur="3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2" presetClass="entr" presetSubtype="8" accel="15000" decel="15000" fill="hold" grpId="0" nodeType="withEffect">
                                  <p:stCondLst>
                                    <p:cond delay="4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8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8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10" presetClass="entr" presetSubtype="0" accel="15000" decel="15000" fill="hold" grpId="0" nodeType="withEffect">
                                  <p:stCondLst>
                                    <p:cond delay="46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0" presetClass="entr" presetSubtype="0" repeatCount="4000" accel="15000" decel="15000" fill="hold" grpId="1" nodeType="withEffect">
                                  <p:stCondLst>
                                    <p:cond delay="47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0.54000001 0.00000000 E" pathEditMode="relative">
                                      <p:cBhvr from="" to="">
                                        <p:cTn id="30" dur="3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1" presetID="0" presetClass="entr" presetSubtype="0" repeatCount="3000" accel="15000" decel="15000" autoRev="1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Scale>
                                      <p:cBhvr>
                                        <p:cTn id="33" dur="17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</p:cBhvr>
                                      <p:from x="100000" y="100000"/>
                                      <p:to x="112000" y="112000"/>
                                    </p:animScale>
                                  </p:childTnLst>
                                </p:cTn>
                              </p:par>
                              <p:par>
                                <p:cTn id="34" presetID="10" presetClass="exit" presetSubtype="0" accel="15000" decel="15000" fill="hold" grpId="2" nodeType="withEffect">
                                  <p:stCondLst>
                                    <p:cond delay="131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1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11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xit" presetSubtype="0" accel="15000" decel="15000" fill="hold" grpId="2" nodeType="withEffect">
                                  <p:stCondLst>
                                    <p:cond delay="149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1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11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0" presetClass="exit" presetSubtype="0" accel="15000" decel="15000" fill="hold" grpId="2" nodeType="withEffect">
                                  <p:stCondLst>
                                    <p:cond delay="167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1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11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10" grpId="0" animBg="1"/>
      <p:bldP spid="10" grpId="1" animBg="1"/>
      <p:bldP spid="10" grpId="2" animBg="1"/>
      <p:bldP spid="11" grpId="0" animBg="1"/>
      <p:bldP spid="11" grpId="1" animBg="1"/>
      <p:bldP spid="11" grpId="2" animBg="1"/>
      <p:bldP spid="12" grpId="0" animBg="1"/>
      <p:bldP spid="12" grpId="1" animBg="1"/>
      <p:bldP spid="12" grpId="2" animBg="1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9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603504" y="320040"/>
            <a:ext cx="8412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8F5EE"/>
                </a:solidFill>
                <a:latin typeface="Liberation Sans"/>
              </a:defRPr>
            </a:pPr>
            <a:r>
              <a:t>CÂU HỎI NGHIÊN CỨU</a:t>
            </a:r>
          </a:p>
        </p:txBody>
      </p:sp>
      <p:sp>
        <p:nvSpPr>
          <p:cNvPr id="3" name="Scene counter"/>
          <p:cNvSpPr txBox="1"/>
          <p:nvPr/>
        </p:nvSpPr>
        <p:spPr>
          <a:xfrm>
            <a:off x="10789920" y="283464"/>
            <a:ext cx="77724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8F5EE"/>
                </a:solidFill>
                <a:latin typeface="Liberation Sans"/>
              </a:defRPr>
            </a:pPr>
            <a:r>
              <a:t>#02</a:t>
            </a:r>
          </a:p>
        </p:txBody>
      </p:sp>
      <p:sp>
        <p:nvSpPr>
          <p:cNvPr id="4" name="Progress track"/>
          <p:cNvSpPr/>
          <p:nvPr/>
        </p:nvSpPr>
        <p:spPr>
          <a:xfrm>
            <a:off x="594360" y="6487668"/>
            <a:ext cx="10972800" cy="13716"/>
          </a:xfrm>
          <a:prstGeom prst="rect">
            <a:avLst/>
          </a:prstGeom>
          <a:solidFill>
            <a:srgbClr val="FF6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rogress position"/>
          <p:cNvSpPr/>
          <p:nvPr/>
        </p:nvSpPr>
        <p:spPr>
          <a:xfrm>
            <a:off x="594360" y="6487668"/>
            <a:ext cx="2194560" cy="36576"/>
          </a:xfrm>
          <a:prstGeom prst="rect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unning footer"/>
          <p:cNvSpPr txBox="1"/>
          <p:nvPr/>
        </p:nvSpPr>
        <p:spPr>
          <a:xfrm>
            <a:off x="594360" y="6565392"/>
            <a:ext cx="731520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8F5EE"/>
                </a:solidFill>
                <a:latin typeface="Liberation Sans"/>
              </a:defRPr>
            </a:pPr>
            <a:r>
              <a:t>NCKH  /  ENSEMBLE IDS  /  UNSW-NB15</a:t>
            </a:r>
          </a:p>
        </p:txBody>
      </p:sp>
      <p:pic>
        <p:nvPicPr>
          <p:cNvPr id="7" name="Picture 6" descr="Logo_PTIT_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9960" y="658368"/>
            <a:ext cx="438912" cy="438912"/>
          </a:xfrm>
          <a:prstGeom prst="rect">
            <a:avLst/>
          </a:prstGeom>
        </p:spPr>
      </p:pic>
      <p:sp>
        <p:nvSpPr>
          <p:cNvPr id="8" name="Shape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F6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Hero title"/>
          <p:cNvSpPr txBox="1"/>
          <p:nvPr/>
        </p:nvSpPr>
        <p:spPr>
          <a:xfrm>
            <a:off x="658368" y="1536192"/>
            <a:ext cx="10698480" cy="2423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6800" b="1">
                <a:solidFill>
                  <a:srgbClr val="F8F5EE"/>
                </a:solidFill>
                <a:latin typeface="Liberation Sans"/>
              </a:defRPr>
            </a:pPr>
            <a:r>
              <a:t>ÍT CẢNH BÁO.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6800" b="1">
                <a:solidFill>
                  <a:srgbClr val="F8F5EE"/>
                </a:solidFill>
                <a:latin typeface="Liberation Sans"/>
              </a:defRPr>
            </a:pPr>
            <a:r>
              <a:t>AN TOÀN HƠN?</a:t>
            </a:r>
          </a:p>
        </p:txBody>
      </p:sp>
      <p:sp>
        <p:nvSpPr>
          <p:cNvPr id="10" name="Text"/>
          <p:cNvSpPr txBox="1"/>
          <p:nvPr/>
        </p:nvSpPr>
        <p:spPr>
          <a:xfrm>
            <a:off x="749808" y="4754880"/>
            <a:ext cx="978408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2500" b="0">
                <a:solidFill>
                  <a:srgbClr val="1EC4D2"/>
                </a:solidFill>
                <a:latin typeface="Liberation Sans"/>
              </a:defRPr>
            </a:pPr>
            <a:r>
              <a:t>Giảm báo động giả có đồng nghĩa giảm tấn công bị bỏ sót?</a:t>
            </a:r>
          </a:p>
        </p:txBody>
      </p:sp>
      <p:sp>
        <p:nvSpPr>
          <p:cNvPr id="11" name="Open question circle"/>
          <p:cNvSpPr/>
          <p:nvPr/>
        </p:nvSpPr>
        <p:spPr>
          <a:xfrm>
            <a:off x="9601200" y="2176272"/>
            <a:ext cx="1600200" cy="1600200"/>
          </a:xfrm>
          <a:prstGeom prst="ellipse">
            <a:avLst/>
          </a:prstGeom>
          <a:noFill/>
          <a:ln w="20320">
            <a:solidFill>
              <a:srgbClr val="1EC4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Question mark"/>
          <p:cNvSpPr txBox="1"/>
          <p:nvPr/>
        </p:nvSpPr>
        <p:spPr>
          <a:xfrm>
            <a:off x="9948672" y="2404872"/>
            <a:ext cx="9144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7100" b="1">
                <a:solidFill>
                  <a:srgbClr val="C7F877"/>
                </a:solidFill>
                <a:latin typeface="Liberation Sans"/>
              </a:defRPr>
            </a:pPr>
            <a:r>
              <a:t>?</a:t>
            </a:r>
          </a:p>
        </p:txBody>
      </p:sp>
      <p:cxnSp>
        <p:nvCxnSpPr>
          <p:cNvPr id="13" name="Connector"/>
          <p:cNvCxnSpPr/>
          <p:nvPr/>
        </p:nvCxnSpPr>
        <p:spPr>
          <a:xfrm>
            <a:off x="822960" y="5687568"/>
            <a:ext cx="45720" cy="0"/>
          </a:xfrm>
          <a:prstGeom prst="line">
            <a:avLst/>
          </a:prstGeom>
          <a:ln w="25400">
            <a:solidFill>
              <a:srgbClr val="FF6A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"/>
          <p:cNvCxnSpPr/>
          <p:nvPr/>
        </p:nvCxnSpPr>
        <p:spPr>
          <a:xfrm>
            <a:off x="1033272" y="5687568"/>
            <a:ext cx="54864" cy="0"/>
          </a:xfrm>
          <a:prstGeom prst="line">
            <a:avLst/>
          </a:prstGeom>
          <a:ln w="25400">
            <a:solidFill>
              <a:srgbClr val="FF6A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"/>
          <p:cNvCxnSpPr/>
          <p:nvPr/>
        </p:nvCxnSpPr>
        <p:spPr>
          <a:xfrm>
            <a:off x="1243584" y="5687568"/>
            <a:ext cx="64008" cy="0"/>
          </a:xfrm>
          <a:prstGeom prst="line">
            <a:avLst/>
          </a:prstGeom>
          <a:ln w="25400">
            <a:solidFill>
              <a:srgbClr val="FF6A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"/>
          <p:cNvCxnSpPr/>
          <p:nvPr/>
        </p:nvCxnSpPr>
        <p:spPr>
          <a:xfrm>
            <a:off x="1453896" y="5687568"/>
            <a:ext cx="73152" cy="0"/>
          </a:xfrm>
          <a:prstGeom prst="line">
            <a:avLst/>
          </a:prstGeom>
          <a:ln w="25400">
            <a:solidFill>
              <a:srgbClr val="FF6A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"/>
          <p:cNvCxnSpPr/>
          <p:nvPr/>
        </p:nvCxnSpPr>
        <p:spPr>
          <a:xfrm>
            <a:off x="1664208" y="5687568"/>
            <a:ext cx="82296" cy="0"/>
          </a:xfrm>
          <a:prstGeom prst="line">
            <a:avLst/>
          </a:prstGeom>
          <a:ln w="25400">
            <a:solidFill>
              <a:srgbClr val="FF6A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"/>
          <p:cNvCxnSpPr/>
          <p:nvPr/>
        </p:nvCxnSpPr>
        <p:spPr>
          <a:xfrm>
            <a:off x="1874520" y="5687568"/>
            <a:ext cx="91440" cy="0"/>
          </a:xfrm>
          <a:prstGeom prst="line">
            <a:avLst/>
          </a:prstGeom>
          <a:ln w="25400">
            <a:solidFill>
              <a:srgbClr val="FF6A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"/>
          <p:cNvCxnSpPr/>
          <p:nvPr/>
        </p:nvCxnSpPr>
        <p:spPr>
          <a:xfrm>
            <a:off x="2084832" y="5687568"/>
            <a:ext cx="100583" cy="0"/>
          </a:xfrm>
          <a:prstGeom prst="line">
            <a:avLst/>
          </a:prstGeom>
          <a:ln w="25400">
            <a:solidFill>
              <a:srgbClr val="FF6A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"/>
          <p:cNvCxnSpPr/>
          <p:nvPr/>
        </p:nvCxnSpPr>
        <p:spPr>
          <a:xfrm>
            <a:off x="2295144" y="5687568"/>
            <a:ext cx="109728" cy="0"/>
          </a:xfrm>
          <a:prstGeom prst="line">
            <a:avLst/>
          </a:prstGeom>
          <a:ln w="25400">
            <a:solidFill>
              <a:srgbClr val="FF6A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Animated marker 2-0"/>
          <p:cNvSpPr/>
          <p:nvPr/>
        </p:nvSpPr>
        <p:spPr>
          <a:xfrm>
            <a:off x="9418320" y="5925312"/>
            <a:ext cx="73152" cy="73152"/>
          </a:xfrm>
          <a:prstGeom prst="ellipse">
            <a:avLst/>
          </a:prstGeom>
          <a:solidFill>
            <a:srgbClr val="FF6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nimated marker 2-1"/>
          <p:cNvSpPr/>
          <p:nvPr/>
        </p:nvSpPr>
        <p:spPr>
          <a:xfrm>
            <a:off x="9710928" y="5925312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Animated marker 2-2"/>
          <p:cNvSpPr/>
          <p:nvPr/>
        </p:nvSpPr>
        <p:spPr>
          <a:xfrm>
            <a:off x="10003536" y="5925312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Animated marker 2-3"/>
          <p:cNvSpPr/>
          <p:nvPr/>
        </p:nvSpPr>
        <p:spPr>
          <a:xfrm>
            <a:off x="10296144" y="5925312"/>
            <a:ext cx="73152" cy="73152"/>
          </a:xfrm>
          <a:prstGeom prst="ellipse">
            <a:avLst/>
          </a:prstGeom>
          <a:solidFill>
            <a:srgbClr val="FF6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Animated marker 2-4"/>
          <p:cNvSpPr/>
          <p:nvPr/>
        </p:nvSpPr>
        <p:spPr>
          <a:xfrm>
            <a:off x="10588752" y="5925312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Animated marker 2-5"/>
          <p:cNvSpPr/>
          <p:nvPr/>
        </p:nvSpPr>
        <p:spPr>
          <a:xfrm>
            <a:off x="10881360" y="5925312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Animated marker 2-6"/>
          <p:cNvSpPr/>
          <p:nvPr/>
        </p:nvSpPr>
        <p:spPr>
          <a:xfrm>
            <a:off x="11173968" y="5925312"/>
            <a:ext cx="73152" cy="73152"/>
          </a:xfrm>
          <a:prstGeom prst="ellipse">
            <a:avLst/>
          </a:prstGeom>
          <a:solidFill>
            <a:srgbClr val="FF6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Animated marker 2-7"/>
          <p:cNvSpPr/>
          <p:nvPr/>
        </p:nvSpPr>
        <p:spPr>
          <a:xfrm>
            <a:off x="9418320" y="6181344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Animated marker 2-8"/>
          <p:cNvSpPr/>
          <p:nvPr/>
        </p:nvSpPr>
        <p:spPr>
          <a:xfrm>
            <a:off x="9710928" y="6181344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Animated marker 2-9"/>
          <p:cNvSpPr/>
          <p:nvPr/>
        </p:nvSpPr>
        <p:spPr>
          <a:xfrm>
            <a:off x="10003536" y="6181344"/>
            <a:ext cx="73152" cy="73152"/>
          </a:xfrm>
          <a:prstGeom prst="ellipse">
            <a:avLst/>
          </a:prstGeom>
          <a:solidFill>
            <a:srgbClr val="FF6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Animated marker 2-10"/>
          <p:cNvSpPr/>
          <p:nvPr/>
        </p:nvSpPr>
        <p:spPr>
          <a:xfrm>
            <a:off x="10296144" y="6181344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Animated marker 2-11"/>
          <p:cNvSpPr/>
          <p:nvPr/>
        </p:nvSpPr>
        <p:spPr>
          <a:xfrm>
            <a:off x="10588752" y="6181344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Animated marker 2-12"/>
          <p:cNvSpPr/>
          <p:nvPr/>
        </p:nvSpPr>
        <p:spPr>
          <a:xfrm>
            <a:off x="10881360" y="6181344"/>
            <a:ext cx="73152" cy="73152"/>
          </a:xfrm>
          <a:prstGeom prst="ellipse">
            <a:avLst/>
          </a:prstGeom>
          <a:solidFill>
            <a:srgbClr val="FF6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Animated marker 2-13"/>
          <p:cNvSpPr/>
          <p:nvPr/>
        </p:nvSpPr>
        <p:spPr>
          <a:xfrm>
            <a:off x="11173968" y="6181344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med" advClick="1">
    <p:fade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accel="15000" decel="15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1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" presetClass="entr" presetSubtype="8" accel="15000" decel="1500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9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9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603504" y="320040"/>
            <a:ext cx="8412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14192A"/>
                </a:solidFill>
                <a:latin typeface="Liberation Sans"/>
              </a:defRPr>
            </a:pPr>
            <a:r>
              <a:t>01 / PROBLEM &amp; DATA</a:t>
            </a:r>
          </a:p>
        </p:txBody>
      </p:sp>
      <p:sp>
        <p:nvSpPr>
          <p:cNvPr id="3" name="Scene counter"/>
          <p:cNvSpPr txBox="1"/>
          <p:nvPr/>
        </p:nvSpPr>
        <p:spPr>
          <a:xfrm>
            <a:off x="10789920" y="283464"/>
            <a:ext cx="77724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4192A"/>
                </a:solidFill>
                <a:latin typeface="Liberation Sans"/>
              </a:defRPr>
            </a:pPr>
            <a:r>
              <a:t>#03</a:t>
            </a:r>
          </a:p>
        </p:txBody>
      </p:sp>
      <p:sp>
        <p:nvSpPr>
          <p:cNvPr id="4" name="Progress track"/>
          <p:cNvSpPr/>
          <p:nvPr/>
        </p:nvSpPr>
        <p:spPr>
          <a:xfrm>
            <a:off x="594360" y="6487668"/>
            <a:ext cx="10972800" cy="13716"/>
          </a:xfrm>
          <a:prstGeom prst="rect">
            <a:avLst/>
          </a:prstGeom>
          <a:solidFill>
            <a:srgbClr val="E626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rogress position"/>
          <p:cNvSpPr/>
          <p:nvPr/>
        </p:nvSpPr>
        <p:spPr>
          <a:xfrm>
            <a:off x="594360" y="6487668"/>
            <a:ext cx="3291840" cy="36576"/>
          </a:xfrm>
          <a:prstGeom prst="rect">
            <a:avLst/>
          </a:prstGeom>
          <a:solidFill>
            <a:srgbClr val="E626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unning footer"/>
          <p:cNvSpPr txBox="1"/>
          <p:nvPr/>
        </p:nvSpPr>
        <p:spPr>
          <a:xfrm>
            <a:off x="594360" y="6565392"/>
            <a:ext cx="731520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4192A"/>
                </a:solidFill>
                <a:latin typeface="Liberation Sans"/>
              </a:defRPr>
            </a:pPr>
            <a:r>
              <a:t>NCKH  /  ENSEMBLE IDS  /  UNSW-NB15</a:t>
            </a:r>
          </a:p>
        </p:txBody>
      </p:sp>
      <p:pic>
        <p:nvPicPr>
          <p:cNvPr id="7" name="Picture 6" descr="Logo_PTIT_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9960" y="658368"/>
            <a:ext cx="438912" cy="438912"/>
          </a:xfrm>
          <a:prstGeom prst="rect">
            <a:avLst/>
          </a:prstGeom>
        </p:spPr>
      </p:pic>
      <p:sp>
        <p:nvSpPr>
          <p:cNvPr id="8" name="Hero title"/>
          <p:cNvSpPr txBox="1"/>
          <p:nvPr/>
        </p:nvSpPr>
        <p:spPr>
          <a:xfrm>
            <a:off x="594360" y="804672"/>
            <a:ext cx="9784080" cy="1691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4192A"/>
                </a:solidFill>
                <a:latin typeface="Liberation Sans"/>
              </a:defRPr>
            </a:pPr>
            <a:r>
              <a:t>MỘT BỘ DỮ LIỆU.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4192A"/>
                </a:solidFill>
                <a:latin typeface="Liberation Sans"/>
              </a:defRPr>
            </a:pPr>
            <a:r>
              <a:t>HAI NHÃN.</a:t>
            </a:r>
          </a:p>
        </p:txBody>
      </p:sp>
      <p:sp>
        <p:nvSpPr>
          <p:cNvPr id="9" name="TRAIN number"/>
          <p:cNvSpPr txBox="1"/>
          <p:nvPr/>
        </p:nvSpPr>
        <p:spPr>
          <a:xfrm>
            <a:off x="685800" y="2862072"/>
            <a:ext cx="5486400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8600" b="1">
                <a:solidFill>
                  <a:srgbClr val="E62629"/>
                </a:solidFill>
                <a:latin typeface="Liberation Sans"/>
              </a:defRPr>
            </a:pPr>
            <a:r>
              <a:t>175.341</a:t>
            </a:r>
          </a:p>
        </p:txBody>
      </p:sp>
      <p:sp>
        <p:nvSpPr>
          <p:cNvPr id="10" name="Text"/>
          <p:cNvSpPr txBox="1"/>
          <p:nvPr/>
        </p:nvSpPr>
        <p:spPr>
          <a:xfrm>
            <a:off x="704088" y="4050791"/>
            <a:ext cx="4206240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778195"/>
                </a:solidFill>
                <a:latin typeface="Liberation Sans"/>
              </a:defRPr>
            </a:pPr>
            <a:r>
              <a:t>TRAIN / official</a:t>
            </a:r>
          </a:p>
        </p:txBody>
      </p:sp>
      <p:sp>
        <p:nvSpPr>
          <p:cNvPr id="11" name="TEST number"/>
          <p:cNvSpPr txBox="1"/>
          <p:nvPr/>
        </p:nvSpPr>
        <p:spPr>
          <a:xfrm>
            <a:off x="6400800" y="2862072"/>
            <a:ext cx="5303520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8000" b="1">
                <a:solidFill>
                  <a:srgbClr val="14192A"/>
                </a:solidFill>
                <a:latin typeface="Liberation Sans"/>
              </a:defRPr>
            </a:pPr>
            <a:r>
              <a:t>82.332</a:t>
            </a:r>
          </a:p>
        </p:txBody>
      </p:sp>
      <p:sp>
        <p:nvSpPr>
          <p:cNvPr id="12" name="Text"/>
          <p:cNvSpPr txBox="1"/>
          <p:nvPr/>
        </p:nvSpPr>
        <p:spPr>
          <a:xfrm>
            <a:off x="6419088" y="4050791"/>
            <a:ext cx="4206240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778195"/>
                </a:solidFill>
                <a:latin typeface="Liberation Sans"/>
              </a:defRPr>
            </a:pPr>
            <a:r>
              <a:t>TEST / official</a:t>
            </a:r>
          </a:p>
        </p:txBody>
      </p:sp>
      <p:cxnSp>
        <p:nvCxnSpPr>
          <p:cNvPr id="13" name="Connector"/>
          <p:cNvCxnSpPr/>
          <p:nvPr/>
        </p:nvCxnSpPr>
        <p:spPr>
          <a:xfrm>
            <a:off x="6044184" y="2834640"/>
            <a:ext cx="0" cy="1810512"/>
          </a:xfrm>
          <a:prstGeom prst="line">
            <a:avLst/>
          </a:prstGeom>
          <a:ln w="25400">
            <a:solidFill>
              <a:srgbClr val="E8EA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Shape"/>
          <p:cNvSpPr/>
          <p:nvPr/>
        </p:nvSpPr>
        <p:spPr>
          <a:xfrm>
            <a:off x="676656" y="5047488"/>
            <a:ext cx="2880360" cy="566928"/>
          </a:xfrm>
          <a:prstGeom prst="roundRect">
            <a:avLst/>
          </a:prstGeom>
          <a:solidFill>
            <a:srgbClr val="141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859536" y="5148072"/>
            <a:ext cx="257860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8F5EE"/>
                </a:solidFill>
                <a:latin typeface="Liberation Sans"/>
              </a:defRPr>
            </a:pPr>
            <a:r>
              <a:t>42 PREDICTORS</a:t>
            </a:r>
          </a:p>
        </p:txBody>
      </p:sp>
      <p:sp>
        <p:nvSpPr>
          <p:cNvPr id="16" name="Shape"/>
          <p:cNvSpPr/>
          <p:nvPr/>
        </p:nvSpPr>
        <p:spPr>
          <a:xfrm>
            <a:off x="3767328" y="5047488"/>
            <a:ext cx="2971800" cy="566928"/>
          </a:xfrm>
          <a:prstGeom prst="roundRect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3959352" y="5148072"/>
            <a:ext cx="26517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4192A"/>
                </a:solidFill>
                <a:latin typeface="Liberation Sans"/>
              </a:defRPr>
            </a:pPr>
            <a:r>
              <a:t>NORMAL / 0</a:t>
            </a:r>
          </a:p>
        </p:txBody>
      </p:sp>
      <p:sp>
        <p:nvSpPr>
          <p:cNvPr id="18" name="Shape"/>
          <p:cNvSpPr/>
          <p:nvPr/>
        </p:nvSpPr>
        <p:spPr>
          <a:xfrm>
            <a:off x="6940296" y="5047488"/>
            <a:ext cx="2926080" cy="566928"/>
          </a:xfrm>
          <a:prstGeom prst="roundRect">
            <a:avLst/>
          </a:prstGeom>
          <a:solidFill>
            <a:srgbClr val="FF6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7159752" y="5148072"/>
            <a:ext cx="25146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4192A"/>
                </a:solidFill>
                <a:latin typeface="Liberation Sans"/>
              </a:defRPr>
            </a:pPr>
            <a:r>
              <a:t>ATTACK / 1</a:t>
            </a:r>
          </a:p>
        </p:txBody>
      </p:sp>
      <p:sp>
        <p:nvSpPr>
          <p:cNvPr id="20" name="Animated marker 3-0"/>
          <p:cNvSpPr/>
          <p:nvPr/>
        </p:nvSpPr>
        <p:spPr>
          <a:xfrm>
            <a:off x="9418320" y="5925312"/>
            <a:ext cx="73152" cy="73152"/>
          </a:xfrm>
          <a:prstGeom prst="ellipse">
            <a:avLst/>
          </a:prstGeom>
          <a:solidFill>
            <a:srgbClr val="FF6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Animated marker 3-1"/>
          <p:cNvSpPr/>
          <p:nvPr/>
        </p:nvSpPr>
        <p:spPr>
          <a:xfrm>
            <a:off x="9710928" y="5925312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nimated marker 3-2"/>
          <p:cNvSpPr/>
          <p:nvPr/>
        </p:nvSpPr>
        <p:spPr>
          <a:xfrm>
            <a:off x="10003536" y="5925312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Animated marker 3-3"/>
          <p:cNvSpPr/>
          <p:nvPr/>
        </p:nvSpPr>
        <p:spPr>
          <a:xfrm>
            <a:off x="10296144" y="5925312"/>
            <a:ext cx="73152" cy="73152"/>
          </a:xfrm>
          <a:prstGeom prst="ellipse">
            <a:avLst/>
          </a:prstGeom>
          <a:solidFill>
            <a:srgbClr val="FF6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Animated marker 3-4"/>
          <p:cNvSpPr/>
          <p:nvPr/>
        </p:nvSpPr>
        <p:spPr>
          <a:xfrm>
            <a:off x="10588752" y="5925312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Animated marker 3-5"/>
          <p:cNvSpPr/>
          <p:nvPr/>
        </p:nvSpPr>
        <p:spPr>
          <a:xfrm>
            <a:off x="10881360" y="5925312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Animated marker 3-6"/>
          <p:cNvSpPr/>
          <p:nvPr/>
        </p:nvSpPr>
        <p:spPr>
          <a:xfrm>
            <a:off x="11173968" y="5925312"/>
            <a:ext cx="73152" cy="73152"/>
          </a:xfrm>
          <a:prstGeom prst="ellipse">
            <a:avLst/>
          </a:prstGeom>
          <a:solidFill>
            <a:srgbClr val="FF6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Animated marker 3-7"/>
          <p:cNvSpPr/>
          <p:nvPr/>
        </p:nvSpPr>
        <p:spPr>
          <a:xfrm>
            <a:off x="9418320" y="6181344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Animated marker 3-8"/>
          <p:cNvSpPr/>
          <p:nvPr/>
        </p:nvSpPr>
        <p:spPr>
          <a:xfrm>
            <a:off x="9710928" y="6181344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Animated marker 3-9"/>
          <p:cNvSpPr/>
          <p:nvPr/>
        </p:nvSpPr>
        <p:spPr>
          <a:xfrm>
            <a:off x="10003536" y="6181344"/>
            <a:ext cx="73152" cy="73152"/>
          </a:xfrm>
          <a:prstGeom prst="ellipse">
            <a:avLst/>
          </a:prstGeom>
          <a:solidFill>
            <a:srgbClr val="FF6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Animated marker 3-10"/>
          <p:cNvSpPr/>
          <p:nvPr/>
        </p:nvSpPr>
        <p:spPr>
          <a:xfrm>
            <a:off x="10296144" y="6181344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Animated marker 3-11"/>
          <p:cNvSpPr/>
          <p:nvPr/>
        </p:nvSpPr>
        <p:spPr>
          <a:xfrm>
            <a:off x="10588752" y="6181344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Animated marker 3-12"/>
          <p:cNvSpPr/>
          <p:nvPr/>
        </p:nvSpPr>
        <p:spPr>
          <a:xfrm>
            <a:off x="10881360" y="6181344"/>
            <a:ext cx="73152" cy="73152"/>
          </a:xfrm>
          <a:prstGeom prst="ellipse">
            <a:avLst/>
          </a:prstGeom>
          <a:solidFill>
            <a:srgbClr val="FF6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Animated marker 3-13"/>
          <p:cNvSpPr/>
          <p:nvPr/>
        </p:nvSpPr>
        <p:spPr>
          <a:xfrm>
            <a:off x="11173968" y="6181344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med" advClick="1">
    <p:fade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accel="15000" decel="15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accel="15000" decel="15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accel="15000" decel="1500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accel="15000" decel="1500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accel="15000" decel="1500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accel="15000" decel="1500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accel="15000" decel="15000" fill="hold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accel="15000" decel="1500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accel="15000" decel="1500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accel="15000" decel="1500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accel="15000" decel="15000" fill="hold" grpId="0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8" accel="15000" decel="15000" fill="hold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8" accel="15000" decel="15000" fill="hold" nodeType="withEffect">
                                  <p:stCondLst>
                                    <p:cond delay="33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8" accel="15000" decel="15000" fill="hold" nodeType="withEffect">
                                  <p:stCondLst>
                                    <p:cond delay="36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accel="15000" decel="15000" fill="hold" grpId="0" nodeType="withEffect">
                                  <p:stCondLst>
                                    <p:cond delay="38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0" presetClass="entr" presetSubtype="0" repeatCount="4000" accel="15000" decel="15000" fill="hold" grpId="1" nodeType="withEffect">
                                  <p:stCondLst>
                                    <p:cond delay="392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0.21000001 -0.17333333 E" pathEditMode="relative">
                                      <p:cBhvr from="" to="">
                                        <p:cTn id="52" dur="13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3" presetID="10" presetClass="entr" presetSubtype="0" accel="15000" decel="1500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accel="15000" decel="15000" fill="hold" grpId="0" nodeType="withEffect">
                                  <p:stCondLst>
                                    <p:cond delay="43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accel="15000" decel="15000" fill="hold" grpId="0" nodeType="withEffect">
                                  <p:stCondLst>
                                    <p:cond delay="44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0" presetClass="entr" presetSubtype="0" repeatCount="4000" accel="15000" decel="15000" fill="hold" grpId="1" nodeType="withEffect">
                                  <p:stCondLst>
                                    <p:cond delay="442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0.21000001 0.00000000 E" pathEditMode="relative">
                                      <p:cBhvr from="" to="">
                                        <p:cTn id="64" dur="13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5" presetID="0" presetClass="entr" presetSubtype="0" repeatCount="4000" accel="15000" decel="15000" fill="hold" grpId="1" nodeType="withEffect">
                                  <p:stCondLst>
                                    <p:cond delay="452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0.21000001 -0.17333333 E" pathEditMode="relative">
                                      <p:cBhvr from="" to="">
                                        <p:cTn id="67" dur="13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8" presetID="10" presetClass="entr" presetSubtype="0" accel="15000" decel="15000" fill="hold" grpId="0" nodeType="withEffect">
                                  <p:stCondLst>
                                    <p:cond delay="48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1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accel="15000" decel="15000" fill="hold" grpId="0" nodeType="withEffect">
                                  <p:stCondLst>
                                    <p:cond delay="49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1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0" presetClass="entr" presetSubtype="0" repeatCount="4000" accel="15000" decel="15000" fill="hold" grpId="1" nodeType="withEffect">
                                  <p:stCondLst>
                                    <p:cond delay="492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0.21000001 0.17333333 E" pathEditMode="relative">
                                      <p:cBhvr from="" to="">
                                        <p:cTn id="76" dur="13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7" presetID="0" presetClass="entr" presetSubtype="0" repeatCount="4000" accel="15000" decel="15000" fill="hold" grpId="1" nodeType="withEffect">
                                  <p:stCondLst>
                                    <p:cond delay="502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0.21000001 0.00000000 E" pathEditMode="relative">
                                      <p:cBhvr from="" to="">
                                        <p:cTn id="79" dur="13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0" presetID="10" presetClass="entr" presetSubtype="0" accel="15000" decel="15000" fill="hold" grpId="0" nodeType="withEffect">
                                  <p:stCondLst>
                                    <p:cond delay="54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1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0" presetClass="entr" presetSubtype="0" repeatCount="4000" accel="15000" decel="15000" fill="hold" grpId="1" nodeType="withEffect">
                                  <p:stCondLst>
                                    <p:cond delay="552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0.21000001 0.17333333 E" pathEditMode="relative">
                                      <p:cBhvr from="" to="">
                                        <p:cTn id="85" dur="13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6" presetID="22" presetClass="entr" presetSubtype="8" accel="15000" decel="15000" fill="hold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8" dur="8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accel="15000" decel="1500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22" presetClass="entr" presetSubtype="8" accel="15000" decel="15000" fill="hold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4" dur="8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accel="15000" decel="1500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accel="15000" decel="1500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1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0" presetClass="entr" presetSubtype="0" repeatCount="6000" accel="15000" decel="15000" fill="hold" grpId="1" nodeType="withEffect">
                                  <p:stCondLst>
                                    <p:cond delay="912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0.10500000 -0.14666667 E" pathEditMode="relative">
                                      <p:cBhvr from="" to="">
                                        <p:cTn id="103" dur="13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4" presetID="10" presetClass="exit" presetSubtype="0" accel="15000" decel="15000" fill="hold" grpId="2" nodeType="withEffect">
                                  <p:stCondLst>
                                    <p:cond delay="91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5" dur="1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11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0" presetClass="entr" presetSubtype="0" accel="15000" decel="15000" fill="hold" grpId="0" nodeType="withEffect">
                                  <p:stCondLst>
                                    <p:cond delay="96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1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xit" presetSubtype="0" accel="15000" decel="15000" fill="hold" grpId="2" nodeType="withEffect">
                                  <p:stCondLst>
                                    <p:cond delay="96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1" dur="1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11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0" presetClass="exit" presetSubtype="0" accel="15000" decel="15000" fill="hold" grpId="2" nodeType="withEffect">
                                  <p:stCondLst>
                                    <p:cond delay="97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4" dur="1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11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6" presetID="0" presetClass="entr" presetSubtype="0" repeatCount="6000" accel="15000" decel="15000" fill="hold" grpId="1" nodeType="withEffect">
                                  <p:stCondLst>
                                    <p:cond delay="972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0.10500000 0.14000000 E" pathEditMode="relative">
                                      <p:cBhvr from="" to="">
                                        <p:cTn id="118" dur="13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9" presetID="10" presetClass="exit" presetSubtype="0" accel="15000" decel="15000" fill="hold" grpId="2" nodeType="withEffect">
                                  <p:stCondLst>
                                    <p:cond delay="101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0" dur="1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11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2" presetID="10" presetClass="exit" presetSubtype="0" accel="15000" decel="15000" fill="hold" grpId="2" nodeType="withEffect">
                                  <p:stCondLst>
                                    <p:cond delay="102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3" dur="1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11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0" presetClass="exit" presetSubtype="0" accel="15000" decel="15000" fill="hold" grpId="2" nodeType="withEffect">
                                  <p:stCondLst>
                                    <p:cond delay="107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6" dur="1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11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8" presetID="10" presetClass="exit" presetSubtype="0" accel="15000" decel="15000" fill="hold" grpId="2" nodeType="withEffect">
                                  <p:stCondLst>
                                    <p:cond delay="169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9" dur="1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11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0" presetClass="exit" presetSubtype="0" accel="15000" decel="15000" fill="hold" grpId="2" nodeType="withEffect">
                                  <p:stCondLst>
                                    <p:cond delay="175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2" dur="1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11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/>
      <p:bldP spid="11" grpId="0" animBg="1"/>
      <p:bldP spid="12" grpId="0"/>
      <p:bldP spid="14" grpId="0" animBg="1"/>
      <p:bldP spid="14" grpId="1" animBg="1"/>
      <p:bldP spid="14" grpId="2" animBg="1"/>
      <p:bldP spid="15" grpId="0" animBg="1"/>
      <p:bldP spid="15" grpId="1" animBg="1"/>
      <p:bldP spid="15" grpId="2" animBg="1"/>
      <p:bldP spid="17" grpId="0" animBg="1"/>
      <p:bldP spid="18" grpId="0"/>
      <p:bldP spid="20" grpId="0" animBg="1"/>
      <p:bldP spid="20" grpId="1" animBg="1"/>
      <p:bldP spid="20" grpId="2" animBg="1"/>
      <p:bldP spid="21" grpId="0" animBg="1"/>
      <p:bldP spid="21" grpId="1" animBg="1"/>
      <p:bldP spid="21" grpId="2" animBg="1"/>
      <p:bldP spid="23" grpId="0" animBg="1"/>
      <p:bldP spid="24" grpId="0"/>
      <p:bldP spid="26" grpId="0" animBg="1"/>
      <p:bldP spid="26" grpId="1" animBg="1"/>
      <p:bldP spid="26" grpId="2" animBg="1"/>
      <p:bldP spid="27" grpId="0" animBg="1"/>
      <p:bldP spid="27" grpId="1" animBg="1"/>
      <p:bldP spid="27" grpId="2" animBg="1"/>
      <p:bldP spid="28" grpId="0" animBg="1"/>
      <p:bldP spid="31" grpId="0"/>
      <p:bldP spid="32" grpId="0" animBg="1"/>
      <p:bldP spid="32" grpId="1" animBg="1"/>
      <p:bldP spid="32" grpId="2" animBg="1"/>
      <p:bldP spid="34" grpId="0"/>
      <p:bldP spid="35" grpId="0" animBg="1"/>
      <p:bldP spid="35" grpId="1" animBg="1"/>
      <p:bldP spid="35" grpId="2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603504" y="320040"/>
            <a:ext cx="8412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14192A"/>
                </a:solidFill>
                <a:latin typeface="Liberation Sans"/>
              </a:defRPr>
            </a:pPr>
            <a:r>
              <a:t>02 / HOW WE TESTED</a:t>
            </a:r>
          </a:p>
        </p:txBody>
      </p:sp>
      <p:sp>
        <p:nvSpPr>
          <p:cNvPr id="3" name="Scene counter"/>
          <p:cNvSpPr txBox="1"/>
          <p:nvPr/>
        </p:nvSpPr>
        <p:spPr>
          <a:xfrm>
            <a:off x="10789920" y="283464"/>
            <a:ext cx="77724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4192A"/>
                </a:solidFill>
                <a:latin typeface="Liberation Sans"/>
              </a:defRPr>
            </a:pPr>
            <a:r>
              <a:t>#04</a:t>
            </a:r>
          </a:p>
        </p:txBody>
      </p:sp>
      <p:sp>
        <p:nvSpPr>
          <p:cNvPr id="4" name="Progress track"/>
          <p:cNvSpPr/>
          <p:nvPr/>
        </p:nvSpPr>
        <p:spPr>
          <a:xfrm>
            <a:off x="594360" y="6487668"/>
            <a:ext cx="10972800" cy="13716"/>
          </a:xfrm>
          <a:prstGeom prst="rect">
            <a:avLst/>
          </a:prstGeom>
          <a:solidFill>
            <a:srgbClr val="E626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rogress position"/>
          <p:cNvSpPr/>
          <p:nvPr/>
        </p:nvSpPr>
        <p:spPr>
          <a:xfrm>
            <a:off x="594360" y="6487668"/>
            <a:ext cx="4389120" cy="36576"/>
          </a:xfrm>
          <a:prstGeom prst="rect">
            <a:avLst/>
          </a:prstGeom>
          <a:solidFill>
            <a:srgbClr val="E626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unning footer"/>
          <p:cNvSpPr txBox="1"/>
          <p:nvPr/>
        </p:nvSpPr>
        <p:spPr>
          <a:xfrm>
            <a:off x="594360" y="6565392"/>
            <a:ext cx="731520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4192A"/>
                </a:solidFill>
                <a:latin typeface="Liberation Sans"/>
              </a:defRPr>
            </a:pPr>
            <a:r>
              <a:t>NCKH  /  ENSEMBLE IDS  /  UNSW-NB15</a:t>
            </a:r>
          </a:p>
        </p:txBody>
      </p:sp>
      <p:pic>
        <p:nvPicPr>
          <p:cNvPr id="7" name="Picture 6" descr="Logo_PTIT_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9960" y="658368"/>
            <a:ext cx="438912" cy="438912"/>
          </a:xfrm>
          <a:prstGeom prst="rect">
            <a:avLst/>
          </a:prstGeom>
        </p:spPr>
      </p:pic>
      <p:sp>
        <p:nvSpPr>
          <p:cNvPr id="8" name="Hero title"/>
          <p:cNvSpPr txBox="1"/>
          <p:nvPr/>
        </p:nvSpPr>
        <p:spPr>
          <a:xfrm>
            <a:off x="548640" y="850392"/>
            <a:ext cx="8778240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4900" b="1">
                <a:solidFill>
                  <a:srgbClr val="14192A"/>
                </a:solidFill>
                <a:latin typeface="Liberation Sans"/>
              </a:defRPr>
            </a:pPr>
            <a:r>
              <a:t>TỪ FLOW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4900" b="1">
                <a:solidFill>
                  <a:srgbClr val="14192A"/>
                </a:solidFill>
                <a:latin typeface="Liberation Sans"/>
              </a:defRPr>
            </a:pPr>
            <a:r>
              <a:t>ĐẾN QUYẾT ĐỊNH</a:t>
            </a:r>
          </a:p>
        </p:txBody>
      </p:sp>
      <p:sp>
        <p:nvSpPr>
          <p:cNvPr id="9" name="Text"/>
          <p:cNvSpPr txBox="1"/>
          <p:nvPr/>
        </p:nvSpPr>
        <p:spPr>
          <a:xfrm>
            <a:off x="612648" y="2487168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778195"/>
                </a:solidFill>
                <a:latin typeface="Liberation Sans"/>
              </a:defRPr>
            </a:pPr>
            <a:r>
              <a:t>FIT: OOF ở tầng kết hợp  /  INFERENCE: mô hình đã huấn luyện</a:t>
            </a:r>
          </a:p>
        </p:txBody>
      </p:sp>
      <p:cxnSp>
        <p:nvCxnSpPr>
          <p:cNvPr id="10" name="Flow connection 1"/>
          <p:cNvCxnSpPr/>
          <p:nvPr/>
        </p:nvCxnSpPr>
        <p:spPr>
          <a:xfrm>
            <a:off x="2075688" y="3886200"/>
            <a:ext cx="914400" cy="0"/>
          </a:xfrm>
          <a:prstGeom prst="line">
            <a:avLst/>
          </a:prstGeom>
          <a:ln w="50800">
            <a:solidFill>
              <a:srgbClr val="1EC4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Flow connection 2"/>
          <p:cNvCxnSpPr/>
          <p:nvPr/>
        </p:nvCxnSpPr>
        <p:spPr>
          <a:xfrm>
            <a:off x="4672584" y="3886200"/>
            <a:ext cx="1371599" cy="0"/>
          </a:xfrm>
          <a:prstGeom prst="line">
            <a:avLst/>
          </a:prstGeom>
          <a:ln w="50800">
            <a:solidFill>
              <a:srgbClr val="1EC4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Flow connection 3"/>
          <p:cNvCxnSpPr/>
          <p:nvPr/>
        </p:nvCxnSpPr>
        <p:spPr>
          <a:xfrm>
            <a:off x="7927847" y="3886200"/>
            <a:ext cx="1609345" cy="0"/>
          </a:xfrm>
          <a:prstGeom prst="line">
            <a:avLst/>
          </a:prstGeom>
          <a:ln w="50800">
            <a:solidFill>
              <a:srgbClr val="E626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Scientific flow ring 0"/>
          <p:cNvSpPr/>
          <p:nvPr/>
        </p:nvSpPr>
        <p:spPr>
          <a:xfrm>
            <a:off x="832104" y="3319272"/>
            <a:ext cx="1133856" cy="1133856"/>
          </a:xfrm>
          <a:prstGeom prst="ellipse">
            <a:avLst/>
          </a:prstGeom>
          <a:noFill/>
          <a:ln w="20320">
            <a:solidFill>
              <a:srgbClr val="1EC4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Scientific flow inner 0"/>
          <p:cNvSpPr/>
          <p:nvPr/>
        </p:nvSpPr>
        <p:spPr>
          <a:xfrm>
            <a:off x="928481" y="3415649"/>
            <a:ext cx="941100" cy="941100"/>
          </a:xfrm>
          <a:prstGeom prst="ellipse">
            <a:avLst/>
          </a:prstGeom>
          <a:solidFill>
            <a:srgbClr val="141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Scientific stage 0"/>
          <p:cNvSpPr txBox="1"/>
          <p:nvPr/>
        </p:nvSpPr>
        <p:spPr>
          <a:xfrm>
            <a:off x="923544" y="3648090"/>
            <a:ext cx="950976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8F5EE"/>
                </a:solidFill>
                <a:latin typeface="Liberation Sans"/>
              </a:defRPr>
            </a:pPr>
            <a:r>
              <a:t>FLOW</a:t>
            </a:r>
          </a:p>
        </p:txBody>
      </p:sp>
      <p:sp>
        <p:nvSpPr>
          <p:cNvPr id="16" name="Scientific flow ring 1"/>
          <p:cNvSpPr/>
          <p:nvPr/>
        </p:nvSpPr>
        <p:spPr>
          <a:xfrm>
            <a:off x="3099816" y="3154680"/>
            <a:ext cx="1463040" cy="1463040"/>
          </a:xfrm>
          <a:prstGeom prst="ellipse">
            <a:avLst/>
          </a:prstGeom>
          <a:noFill/>
          <a:ln w="20320">
            <a:solidFill>
              <a:srgbClr val="255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Scientific flow inner 1"/>
          <p:cNvSpPr/>
          <p:nvPr/>
        </p:nvSpPr>
        <p:spPr>
          <a:xfrm>
            <a:off x="3224174" y="3279038"/>
            <a:ext cx="1214323" cy="1214323"/>
          </a:xfrm>
          <a:prstGeom prst="ellipse">
            <a:avLst/>
          </a:prstGeom>
          <a:solidFill>
            <a:srgbClr val="141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Scientific stage 1"/>
          <p:cNvSpPr txBox="1"/>
          <p:nvPr/>
        </p:nvSpPr>
        <p:spPr>
          <a:xfrm>
            <a:off x="3191256" y="3578961"/>
            <a:ext cx="12801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8F5EE"/>
                </a:solidFill>
                <a:latin typeface="Liberation Sans"/>
              </a:defRPr>
            </a:pPr>
            <a:r>
              <a:t>FEATURE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8F5EE"/>
                </a:solidFill>
                <a:latin typeface="Liberation Sans"/>
              </a:defRPr>
            </a:pPr>
            <a:r>
              <a:t>VECTOR</a:t>
            </a:r>
          </a:p>
        </p:txBody>
      </p:sp>
      <p:sp>
        <p:nvSpPr>
          <p:cNvPr id="19" name="Scientific flow ring 2"/>
          <p:cNvSpPr/>
          <p:nvPr/>
        </p:nvSpPr>
        <p:spPr>
          <a:xfrm>
            <a:off x="6153912" y="3054096"/>
            <a:ext cx="1664208" cy="1664208"/>
          </a:xfrm>
          <a:prstGeom prst="ellipse">
            <a:avLst/>
          </a:prstGeom>
          <a:noFill/>
          <a:ln w="20320">
            <a:solidFill>
              <a:srgbClr val="1EC4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Scientific flow inner 2"/>
          <p:cNvSpPr/>
          <p:nvPr/>
        </p:nvSpPr>
        <p:spPr>
          <a:xfrm>
            <a:off x="6295369" y="3195553"/>
            <a:ext cx="1381292" cy="1381292"/>
          </a:xfrm>
          <a:prstGeom prst="ellipse">
            <a:avLst/>
          </a:prstGeom>
          <a:solidFill>
            <a:srgbClr val="141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Scientific stage 2"/>
          <p:cNvSpPr txBox="1"/>
          <p:nvPr/>
        </p:nvSpPr>
        <p:spPr>
          <a:xfrm>
            <a:off x="6245351" y="3536716"/>
            <a:ext cx="1481328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8F5EE"/>
                </a:solidFill>
                <a:latin typeface="Liberation Sans"/>
              </a:defRPr>
            </a:pPr>
            <a:r>
              <a:t>BASE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8F5EE"/>
                </a:solidFill>
                <a:latin typeface="Liberation Sans"/>
              </a:defRPr>
            </a:pPr>
            <a:r>
              <a:t>LEARNERS</a:t>
            </a:r>
          </a:p>
        </p:txBody>
      </p:sp>
      <p:sp>
        <p:nvSpPr>
          <p:cNvPr id="22" name="Scientific flow ring 3"/>
          <p:cNvSpPr/>
          <p:nvPr/>
        </p:nvSpPr>
        <p:spPr>
          <a:xfrm>
            <a:off x="9646920" y="3200400"/>
            <a:ext cx="1371600" cy="1371600"/>
          </a:xfrm>
          <a:prstGeom prst="ellipse">
            <a:avLst/>
          </a:prstGeom>
          <a:noFill/>
          <a:ln w="20320">
            <a:solidFill>
              <a:srgbClr val="E626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Scientific flow inner 3"/>
          <p:cNvSpPr/>
          <p:nvPr/>
        </p:nvSpPr>
        <p:spPr>
          <a:xfrm>
            <a:off x="9763506" y="3316986"/>
            <a:ext cx="1138428" cy="1138428"/>
          </a:xfrm>
          <a:prstGeom prst="ellipse">
            <a:avLst/>
          </a:prstGeom>
          <a:solidFill>
            <a:srgbClr val="E626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Scientific stage 3"/>
          <p:cNvSpPr txBox="1"/>
          <p:nvPr/>
        </p:nvSpPr>
        <p:spPr>
          <a:xfrm>
            <a:off x="9738360" y="3598164"/>
            <a:ext cx="11887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8F5EE"/>
                </a:solidFill>
                <a:latin typeface="Liberation Sans"/>
              </a:defRPr>
            </a:pPr>
            <a:r>
              <a:t>NORMAL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8F5EE"/>
                </a:solidFill>
                <a:latin typeface="Liberation Sans"/>
              </a:defRPr>
            </a:pPr>
            <a:r>
              <a:t>/ ATTACK</a:t>
            </a:r>
          </a:p>
        </p:txBody>
      </p:sp>
      <p:sp>
        <p:nvSpPr>
          <p:cNvPr id="25" name="Editable learner node"/>
          <p:cNvSpPr/>
          <p:nvPr/>
        </p:nvSpPr>
        <p:spPr>
          <a:xfrm>
            <a:off x="6163056" y="4910328"/>
            <a:ext cx="384048" cy="384048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Learner abbreviation"/>
          <p:cNvSpPr txBox="1"/>
          <p:nvPr/>
        </p:nvSpPr>
        <p:spPr>
          <a:xfrm>
            <a:off x="6199632" y="4983480"/>
            <a:ext cx="3200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4192A"/>
                </a:solidFill>
                <a:latin typeface="Liberation Sans"/>
              </a:defRPr>
            </a:pPr>
            <a:r>
              <a:t>LR</a:t>
            </a:r>
          </a:p>
        </p:txBody>
      </p:sp>
      <p:cxnSp>
        <p:nvCxnSpPr>
          <p:cNvPr id="27" name="Connector"/>
          <p:cNvCxnSpPr/>
          <p:nvPr/>
        </p:nvCxnSpPr>
        <p:spPr>
          <a:xfrm flipV="1">
            <a:off x="6345936" y="4791456"/>
            <a:ext cx="640080" cy="91440"/>
          </a:xfrm>
          <a:prstGeom prst="line">
            <a:avLst/>
          </a:prstGeom>
          <a:ln w="10795">
            <a:solidFill>
              <a:srgbClr val="7781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Editable learner node"/>
          <p:cNvSpPr/>
          <p:nvPr/>
        </p:nvSpPr>
        <p:spPr>
          <a:xfrm>
            <a:off x="6986016" y="4910328"/>
            <a:ext cx="384048" cy="384048"/>
          </a:xfrm>
          <a:prstGeom prst="ellipse">
            <a:avLst/>
          </a:prstGeom>
          <a:solidFill>
            <a:srgbClr val="867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Learner abbreviation"/>
          <p:cNvSpPr txBox="1"/>
          <p:nvPr/>
        </p:nvSpPr>
        <p:spPr>
          <a:xfrm>
            <a:off x="7022592" y="4983480"/>
            <a:ext cx="3200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4192A"/>
                </a:solidFill>
                <a:latin typeface="Liberation Sans"/>
              </a:defRPr>
            </a:pPr>
            <a:r>
              <a:t>DT</a:t>
            </a:r>
          </a:p>
        </p:txBody>
      </p:sp>
      <p:cxnSp>
        <p:nvCxnSpPr>
          <p:cNvPr id="30" name="Connector"/>
          <p:cNvCxnSpPr/>
          <p:nvPr/>
        </p:nvCxnSpPr>
        <p:spPr>
          <a:xfrm flipH="1" flipV="1">
            <a:off x="6986016" y="4791456"/>
            <a:ext cx="182880" cy="91440"/>
          </a:xfrm>
          <a:prstGeom prst="line">
            <a:avLst/>
          </a:prstGeom>
          <a:ln w="10795">
            <a:solidFill>
              <a:srgbClr val="7781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Editable learner node"/>
          <p:cNvSpPr/>
          <p:nvPr/>
        </p:nvSpPr>
        <p:spPr>
          <a:xfrm>
            <a:off x="7808976" y="4910328"/>
            <a:ext cx="384048" cy="384048"/>
          </a:xfrm>
          <a:prstGeom prst="ellipse">
            <a:avLst/>
          </a:prstGeom>
          <a:solidFill>
            <a:srgbClr val="FF6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Learner abbreviation"/>
          <p:cNvSpPr txBox="1"/>
          <p:nvPr/>
        </p:nvSpPr>
        <p:spPr>
          <a:xfrm>
            <a:off x="7845552" y="4983480"/>
            <a:ext cx="3200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4192A"/>
                </a:solidFill>
                <a:latin typeface="Liberation Sans"/>
              </a:defRPr>
            </a:pPr>
            <a:r>
              <a:t>RF</a:t>
            </a:r>
          </a:p>
        </p:txBody>
      </p:sp>
      <p:cxnSp>
        <p:nvCxnSpPr>
          <p:cNvPr id="33" name="Connector"/>
          <p:cNvCxnSpPr/>
          <p:nvPr/>
        </p:nvCxnSpPr>
        <p:spPr>
          <a:xfrm flipH="1" flipV="1">
            <a:off x="6986016" y="4791456"/>
            <a:ext cx="1005840" cy="91440"/>
          </a:xfrm>
          <a:prstGeom prst="line">
            <a:avLst/>
          </a:prstGeom>
          <a:ln w="10795">
            <a:solidFill>
              <a:srgbClr val="7781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OF label"/>
          <p:cNvSpPr/>
          <p:nvPr/>
        </p:nvSpPr>
        <p:spPr>
          <a:xfrm>
            <a:off x="5961888" y="5532120"/>
            <a:ext cx="3017520" cy="457200"/>
          </a:xfrm>
          <a:prstGeom prst="roundRect">
            <a:avLst/>
          </a:prstGeom>
          <a:solidFill>
            <a:srgbClr val="E8EA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"/>
          <p:cNvSpPr txBox="1"/>
          <p:nvPr/>
        </p:nvSpPr>
        <p:spPr>
          <a:xfrm>
            <a:off x="6126480" y="5596128"/>
            <a:ext cx="27889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4192A"/>
                </a:solidFill>
                <a:latin typeface="Liberation Sans"/>
              </a:defRPr>
            </a:pPr>
            <a:r>
              <a:t>OOF → META LEARNER (LR)</a:t>
            </a:r>
          </a:p>
        </p:txBody>
      </p:sp>
      <p:sp>
        <p:nvSpPr>
          <p:cNvPr id="36" name="Editable flow particle"/>
          <p:cNvSpPr/>
          <p:nvPr/>
        </p:nvSpPr>
        <p:spPr>
          <a:xfrm>
            <a:off x="2395728" y="3044952"/>
            <a:ext cx="68580" cy="68580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Editable flow particle"/>
          <p:cNvSpPr/>
          <p:nvPr/>
        </p:nvSpPr>
        <p:spPr>
          <a:xfrm>
            <a:off x="2587752" y="3044952"/>
            <a:ext cx="68580" cy="68580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Editable flow particle"/>
          <p:cNvSpPr/>
          <p:nvPr/>
        </p:nvSpPr>
        <p:spPr>
          <a:xfrm>
            <a:off x="2779776" y="3044952"/>
            <a:ext cx="68580" cy="68580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Editable flow particle"/>
          <p:cNvSpPr/>
          <p:nvPr/>
        </p:nvSpPr>
        <p:spPr>
          <a:xfrm>
            <a:off x="2971800" y="3044952"/>
            <a:ext cx="68580" cy="68580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Editable flow particle"/>
          <p:cNvSpPr/>
          <p:nvPr/>
        </p:nvSpPr>
        <p:spPr>
          <a:xfrm>
            <a:off x="3163824" y="3044952"/>
            <a:ext cx="68580" cy="68580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Editable flow particle"/>
          <p:cNvSpPr/>
          <p:nvPr/>
        </p:nvSpPr>
        <p:spPr>
          <a:xfrm>
            <a:off x="3355848" y="3044952"/>
            <a:ext cx="68580" cy="68580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Editable flow particle"/>
          <p:cNvSpPr/>
          <p:nvPr/>
        </p:nvSpPr>
        <p:spPr>
          <a:xfrm>
            <a:off x="3547872" y="3044952"/>
            <a:ext cx="68580" cy="68580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Editable flow particle"/>
          <p:cNvSpPr/>
          <p:nvPr/>
        </p:nvSpPr>
        <p:spPr>
          <a:xfrm>
            <a:off x="3739896" y="3044952"/>
            <a:ext cx="68580" cy="68580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Editable flow particle"/>
          <p:cNvSpPr/>
          <p:nvPr/>
        </p:nvSpPr>
        <p:spPr>
          <a:xfrm>
            <a:off x="3931920" y="3044952"/>
            <a:ext cx="68580" cy="68580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Editable flow particle"/>
          <p:cNvSpPr/>
          <p:nvPr/>
        </p:nvSpPr>
        <p:spPr>
          <a:xfrm>
            <a:off x="4123944" y="3044952"/>
            <a:ext cx="68580" cy="68580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Animated marker 4-0"/>
          <p:cNvSpPr/>
          <p:nvPr/>
        </p:nvSpPr>
        <p:spPr>
          <a:xfrm>
            <a:off x="9418320" y="5925312"/>
            <a:ext cx="73152" cy="73152"/>
          </a:xfrm>
          <a:prstGeom prst="ellipse">
            <a:avLst/>
          </a:prstGeom>
          <a:solidFill>
            <a:srgbClr val="FF6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Animated marker 4-1"/>
          <p:cNvSpPr/>
          <p:nvPr/>
        </p:nvSpPr>
        <p:spPr>
          <a:xfrm>
            <a:off x="9710928" y="5925312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Animated marker 4-2"/>
          <p:cNvSpPr/>
          <p:nvPr/>
        </p:nvSpPr>
        <p:spPr>
          <a:xfrm>
            <a:off x="10003536" y="5925312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Animated marker 4-3"/>
          <p:cNvSpPr/>
          <p:nvPr/>
        </p:nvSpPr>
        <p:spPr>
          <a:xfrm>
            <a:off x="10296144" y="5925312"/>
            <a:ext cx="73152" cy="73152"/>
          </a:xfrm>
          <a:prstGeom prst="ellipse">
            <a:avLst/>
          </a:prstGeom>
          <a:solidFill>
            <a:srgbClr val="FF6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Animated marker 4-4"/>
          <p:cNvSpPr/>
          <p:nvPr/>
        </p:nvSpPr>
        <p:spPr>
          <a:xfrm>
            <a:off x="10588752" y="5925312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Animated marker 4-5"/>
          <p:cNvSpPr/>
          <p:nvPr/>
        </p:nvSpPr>
        <p:spPr>
          <a:xfrm>
            <a:off x="10881360" y="5925312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Animated marker 4-6"/>
          <p:cNvSpPr/>
          <p:nvPr/>
        </p:nvSpPr>
        <p:spPr>
          <a:xfrm>
            <a:off x="11173968" y="5925312"/>
            <a:ext cx="73152" cy="73152"/>
          </a:xfrm>
          <a:prstGeom prst="ellipse">
            <a:avLst/>
          </a:prstGeom>
          <a:solidFill>
            <a:srgbClr val="FF6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Animated marker 4-7"/>
          <p:cNvSpPr/>
          <p:nvPr/>
        </p:nvSpPr>
        <p:spPr>
          <a:xfrm>
            <a:off x="9418320" y="6181344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Animated marker 4-8"/>
          <p:cNvSpPr/>
          <p:nvPr/>
        </p:nvSpPr>
        <p:spPr>
          <a:xfrm>
            <a:off x="9710928" y="6181344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Animated marker 4-9"/>
          <p:cNvSpPr/>
          <p:nvPr/>
        </p:nvSpPr>
        <p:spPr>
          <a:xfrm>
            <a:off x="10003536" y="6181344"/>
            <a:ext cx="73152" cy="73152"/>
          </a:xfrm>
          <a:prstGeom prst="ellipse">
            <a:avLst/>
          </a:prstGeom>
          <a:solidFill>
            <a:srgbClr val="FF6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Animated marker 4-10"/>
          <p:cNvSpPr/>
          <p:nvPr/>
        </p:nvSpPr>
        <p:spPr>
          <a:xfrm>
            <a:off x="10296144" y="6181344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Animated marker 4-11"/>
          <p:cNvSpPr/>
          <p:nvPr/>
        </p:nvSpPr>
        <p:spPr>
          <a:xfrm>
            <a:off x="10588752" y="6181344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Animated marker 4-12"/>
          <p:cNvSpPr/>
          <p:nvPr/>
        </p:nvSpPr>
        <p:spPr>
          <a:xfrm>
            <a:off x="10881360" y="6181344"/>
            <a:ext cx="73152" cy="73152"/>
          </a:xfrm>
          <a:prstGeom prst="ellipse">
            <a:avLst/>
          </a:prstGeom>
          <a:solidFill>
            <a:srgbClr val="FF6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Animated marker 4-13"/>
          <p:cNvSpPr/>
          <p:nvPr/>
        </p:nvSpPr>
        <p:spPr>
          <a:xfrm>
            <a:off x="11173968" y="6181344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med" advClick="1">
    <p:fade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accel="15000" decel="1500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accel="15000" decel="1500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accel="15000" decel="1500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accel="15000" decel="1500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4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8" accel="15000" decel="1500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4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accel="15000" decel="1500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accel="15000" decel="1500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accel="15000" decel="1500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accel="15000" decel="1500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4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8" accel="15000" decel="1500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4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accel="15000" decel="1500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accel="15000" decel="1500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accel="15000" decel="1500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accel="15000" decel="1500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8" accel="15000" decel="15000" fill="hold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4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8" accel="15000" decel="15000" fill="hold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4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accel="15000" decel="1500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accel="15000" decel="1500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2" presetClass="entr" presetSubtype="8" accel="15000" decel="15000" fill="hold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4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2" presetClass="entr" presetSubtype="8" accel="15000" decel="15000" fill="hold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4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accel="15000" decel="1500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accel="15000" decel="1500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accel="15000" decel="1500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accel="15000" decel="1500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22" presetClass="entr" presetSubtype="8" accel="15000" decel="1500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4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22" presetClass="entr" presetSubtype="8" accel="15000" decel="1500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45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accel="15000" decel="1500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accel="15000" decel="1500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accel="15000" decel="1500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22" presetClass="entr" presetSubtype="8" accel="15000" decel="15000" fill="hold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4" dur="4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22" presetClass="entr" presetSubtype="8" accel="15000" decel="15000" fill="hold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4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accel="15000" decel="1500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accel="15000" decel="1500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accel="15000" decel="15000" fill="hold" grpId="0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accel="15000" decel="1500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22" presetClass="entr" presetSubtype="8" accel="15000" decel="15000" fill="hold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2" dur="6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22" presetClass="entr" presetSubtype="8" accel="15000" decel="15000" fill="hold" nodeType="withEffect">
                                  <p:stCondLst>
                                    <p:cond delay="32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5" dur="6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22" presetClass="entr" presetSubtype="8" accel="15000" decel="15000" fill="hold" nodeType="withEffect">
                                  <p:stCondLst>
                                    <p:cond delay="340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8" dur="6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22" presetClass="entr" presetSubtype="8" accel="15000" decel="15000" fill="hold" nodeType="withEffect">
                                  <p:stCondLst>
                                    <p:cond delay="360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1" dur="6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22" presetClass="entr" presetSubtype="8" accel="15000" decel="15000" fill="hold" nodeType="withEffect">
                                  <p:stCondLst>
                                    <p:cond delay="380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4" dur="6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22" presetClass="entr" presetSubtype="8" accel="15000" decel="15000" fill="hold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7" dur="6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22" presetClass="entr" presetSubtype="8" accel="15000" decel="15000" fill="hold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0" dur="6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accel="15000" decel="1500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12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0" presetClass="entr" presetSubtype="0" repeatCount="5000" accel="15000" decel="15000" fill="hold" grpId="1" nodeType="withEffect">
                                  <p:stCondLst>
                                    <p:cond delay="512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0.40500001 0.12666667 E" pathEditMode="relative">
                                      <p:cBhvr from="" to="">
                                        <p:cTn id="136" dur="18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7" presetID="10" presetClass="entr" presetSubtype="0" accel="15000" decel="15000" fill="hold" grpId="0" nodeType="withEffect">
                                  <p:stCondLst>
                                    <p:cond delay="528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12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0" presetClass="entr" presetSubtype="0" repeatCount="5000" accel="15000" decel="15000" fill="hold" grpId="1" nodeType="withEffect">
                                  <p:stCondLst>
                                    <p:cond delay="540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0.28125001 0.08666667 E" pathEditMode="relative">
                                      <p:cBhvr from="" to="">
                                        <p:cTn id="142" dur="18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3" presetID="10" presetClass="entr" presetSubtype="0" accel="15000" decel="15000" fill="hold" grpId="0" nodeType="withEffect">
                                  <p:stCondLst>
                                    <p:cond delay="556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12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0" presetClass="entr" presetSubtype="0" repeatCount="5000" accel="15000" decel="15000" fill="hold" grpId="1" nodeType="withEffect">
                                  <p:stCondLst>
                                    <p:cond delay="568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0.15750000 0.12666667 E" pathEditMode="relative">
                                      <p:cBhvr from="" to="">
                                        <p:cTn id="148" dur="18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9" presetID="10" presetClass="entr" presetSubtype="0" accel="15000" decel="15000" fill="hold" grpId="0" nodeType="withEffect">
                                  <p:stCondLst>
                                    <p:cond delay="584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12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0" presetClass="entr" presetSubtype="0" repeatCount="5000" accel="15000" decel="15000" fill="hold" grpId="1" nodeType="withEffect">
                                  <p:stCondLst>
                                    <p:cond delay="596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0.03375000 0.08666667 E" pathEditMode="relative">
                                      <p:cBhvr from="" to="">
                                        <p:cTn id="154" dur="18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5" presetID="10" presetClass="entr" presetSubtype="0" accel="15000" decel="15000" fill="hold" grpId="0" nodeType="withEffect">
                                  <p:stCondLst>
                                    <p:cond delay="612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12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0" presetClass="entr" presetSubtype="0" repeatCount="5000" accel="15000" decel="15000" fill="hold" grpId="1" nodeType="withEffect">
                                  <p:stCondLst>
                                    <p:cond delay="624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-0.09000000 0.12666667 E" pathEditMode="relative">
                                      <p:cBhvr from="" to="">
                                        <p:cTn id="160" dur="18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1" presetID="10" presetClass="entr" presetSubtype="0" accel="15000" decel="15000" fill="hold" grpId="0" nodeType="withEffect">
                                  <p:stCondLst>
                                    <p:cond delay="640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12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0" presetClass="entr" presetSubtype="0" repeatCount="5000" accel="15000" decel="15000" fill="hold" grpId="1" nodeType="withEffect">
                                  <p:stCondLst>
                                    <p:cond delay="652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-0.21375001 0.08666667 E" pathEditMode="relative">
                                      <p:cBhvr from="" to="">
                                        <p:cTn id="166" dur="18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7" presetID="10" presetClass="entr" presetSubtype="0" accel="15000" decel="15000" fill="hold" grpId="0" nodeType="withEffect">
                                  <p:stCondLst>
                                    <p:cond delay="668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12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0" presetClass="entr" presetSubtype="0" repeatCount="5000" accel="15000" decel="15000" fill="hold" grpId="1" nodeType="withEffect">
                                  <p:stCondLst>
                                    <p:cond delay="680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-0.33750001 0.12666667 E" pathEditMode="relative">
                                      <p:cBhvr from="" to="">
                                        <p:cTn id="172" dur="18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3" presetID="10" presetClass="exit" presetSubtype="0" accel="15000" decel="15000" fill="hold" grpId="2" nodeType="withEffect">
                                  <p:stCondLst>
                                    <p:cond delay="141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4" dur="12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11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6" presetID="10" presetClass="exit" presetSubtype="0" accel="15000" decel="15000" fill="hold" grpId="2" nodeType="withEffect">
                                  <p:stCondLst>
                                    <p:cond delay="14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7" dur="12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11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9" presetID="10" presetClass="exit" presetSubtype="0" accel="15000" decel="15000" fill="hold" grpId="2" nodeType="withEffect">
                                  <p:stCondLst>
                                    <p:cond delay="146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0" dur="12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11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2" presetID="10" presetClass="exit" presetSubtype="0" accel="15000" decel="15000" fill="hold" grpId="2" nodeType="withEffect">
                                  <p:stCondLst>
                                    <p:cond delay="149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3" dur="12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11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0" presetClass="exit" presetSubtype="0" accel="15000" decel="15000" fill="hold" grpId="2" nodeType="withEffect">
                                  <p:stCondLst>
                                    <p:cond delay="152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6" dur="12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11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8" presetID="10" presetClass="exit" presetSubtype="0" accel="15000" decel="15000" fill="hold" grpId="2" nodeType="withEffect">
                                  <p:stCondLst>
                                    <p:cond delay="155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9" dur="12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11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1" presetID="10" presetClass="exit" presetSubtype="0" accel="15000" decel="15000" fill="hold" grpId="2" nodeType="withEffect">
                                  <p:stCondLst>
                                    <p:cond delay="15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2" dur="12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11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2" grpId="0" animBg="1"/>
      <p:bldP spid="12" grpId="1" animBg="1"/>
      <p:bldP spid="12" grpId="2" animBg="1"/>
      <p:bldP spid="15" grpId="0" animBg="1"/>
      <p:bldP spid="16" grpId="0" animBg="1"/>
      <p:bldP spid="17" grpId="0" animBg="1"/>
      <p:bldP spid="19" grpId="0" animBg="1"/>
      <p:bldP spid="19" grpId="1" animBg="1"/>
      <p:bldP spid="19" grpId="2" animBg="1"/>
      <p:bldP spid="22" grpId="0" animBg="1"/>
      <p:bldP spid="23" grpId="0" animBg="1"/>
      <p:bldP spid="24" grpId="0" animBg="1"/>
      <p:bldP spid="26" grpId="0" animBg="1"/>
      <p:bldP spid="26" grpId="1" animBg="1"/>
      <p:bldP spid="26" grpId="2" animBg="1"/>
      <p:bldP spid="29" grpId="0" animBg="1"/>
      <p:bldP spid="30" grpId="0" animBg="1"/>
      <p:bldP spid="31" grpId="0" animBg="1"/>
      <p:bldP spid="33" grpId="0" animBg="1"/>
      <p:bldP spid="33" grpId="1" animBg="1"/>
      <p:bldP spid="33" grpId="2" animBg="1"/>
      <p:bldP spid="36" grpId="0" animBg="1"/>
      <p:bldP spid="37" grpId="0" animBg="1"/>
      <p:bldP spid="38" grpId="0" animBg="1"/>
      <p:bldP spid="40" grpId="0" animBg="1"/>
      <p:bldP spid="40" grpId="1" animBg="1"/>
      <p:bldP spid="40" grpId="2" animBg="1"/>
      <p:bldP spid="43" grpId="0" animBg="1"/>
      <p:bldP spid="44" grpId="0" animBg="1"/>
      <p:bldP spid="45" grpId="0" animBg="1"/>
      <p:bldP spid="47" grpId="0" animBg="1"/>
      <p:bldP spid="47" grpId="1" animBg="1"/>
      <p:bldP spid="47" grpId="2" animBg="1"/>
      <p:bldP spid="50" grpId="0" animBg="1"/>
      <p:bldP spid="51" grpId="0" animBg="1"/>
      <p:bldP spid="52" grpId="0" animBg="1"/>
      <p:bldP spid="54" grpId="0" animBg="1"/>
      <p:bldP spid="54" grpId="1" animBg="1"/>
      <p:bldP spid="54" grpId="2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9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603504" y="320040"/>
            <a:ext cx="8412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8F5EE"/>
                </a:solidFill>
                <a:latin typeface="Liberation Sans"/>
              </a:defRPr>
            </a:pPr>
            <a:r>
              <a:t>03 / WHAT MATTERS</a:t>
            </a:r>
          </a:p>
        </p:txBody>
      </p:sp>
      <p:sp>
        <p:nvSpPr>
          <p:cNvPr id="3" name="Scene counter"/>
          <p:cNvSpPr txBox="1"/>
          <p:nvPr/>
        </p:nvSpPr>
        <p:spPr>
          <a:xfrm>
            <a:off x="10789920" y="283464"/>
            <a:ext cx="77724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8F5EE"/>
                </a:solidFill>
                <a:latin typeface="Liberation Sans"/>
              </a:defRPr>
            </a:pPr>
            <a:r>
              <a:t>#05</a:t>
            </a:r>
          </a:p>
        </p:txBody>
      </p:sp>
      <p:sp>
        <p:nvSpPr>
          <p:cNvPr id="4" name="Progress track"/>
          <p:cNvSpPr/>
          <p:nvPr/>
        </p:nvSpPr>
        <p:spPr>
          <a:xfrm>
            <a:off x="594360" y="6487668"/>
            <a:ext cx="10972800" cy="13716"/>
          </a:xfrm>
          <a:prstGeom prst="rect">
            <a:avLst/>
          </a:prstGeom>
          <a:solidFill>
            <a:srgbClr val="FF6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rogress position"/>
          <p:cNvSpPr/>
          <p:nvPr/>
        </p:nvSpPr>
        <p:spPr>
          <a:xfrm>
            <a:off x="594360" y="6487668"/>
            <a:ext cx="5486400" cy="36576"/>
          </a:xfrm>
          <a:prstGeom prst="rect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unning footer"/>
          <p:cNvSpPr txBox="1"/>
          <p:nvPr/>
        </p:nvSpPr>
        <p:spPr>
          <a:xfrm>
            <a:off x="594360" y="6565392"/>
            <a:ext cx="731520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8F5EE"/>
                </a:solidFill>
                <a:latin typeface="Liberation Sans"/>
              </a:defRPr>
            </a:pPr>
            <a:r>
              <a:t>NCKH  /  ENSEMBLE IDS  /  UNSW-NB15</a:t>
            </a:r>
          </a:p>
        </p:txBody>
      </p:sp>
      <p:pic>
        <p:nvPicPr>
          <p:cNvPr id="7" name="Picture 6" descr="Logo_PTIT_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9960" y="658368"/>
            <a:ext cx="438912" cy="438912"/>
          </a:xfrm>
          <a:prstGeom prst="rect">
            <a:avLst/>
          </a:prstGeom>
        </p:spPr>
      </p:pic>
      <p:sp>
        <p:nvSpPr>
          <p:cNvPr id="8" name="Hero title"/>
          <p:cNvSpPr txBox="1"/>
          <p:nvPr/>
        </p:nvSpPr>
        <p:spPr>
          <a:xfrm>
            <a:off x="640080" y="914400"/>
            <a:ext cx="9601200" cy="1773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5900" b="1">
                <a:solidFill>
                  <a:srgbClr val="F8F5EE"/>
                </a:solidFill>
                <a:latin typeface="Liberation Sans"/>
              </a:defRPr>
            </a:pPr>
            <a:r>
              <a:t>ĐÚNG NHIỀU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5900" b="1">
                <a:solidFill>
                  <a:srgbClr val="F8F5EE"/>
                </a:solidFill>
                <a:latin typeface="Liberation Sans"/>
              </a:defRPr>
            </a:pPr>
            <a:r>
              <a:t>CHƯA ĐỦ.</a:t>
            </a:r>
          </a:p>
        </p:txBody>
      </p:sp>
      <p:sp>
        <p:nvSpPr>
          <p:cNvPr id="9" name="Shape"/>
          <p:cNvSpPr/>
          <p:nvPr/>
        </p:nvSpPr>
        <p:spPr>
          <a:xfrm>
            <a:off x="658368" y="3108960"/>
            <a:ext cx="5184648" cy="1572768"/>
          </a:xfrm>
          <a:prstGeom prst="roundRect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"/>
          <p:cNvSpPr txBox="1"/>
          <p:nvPr/>
        </p:nvSpPr>
        <p:spPr>
          <a:xfrm>
            <a:off x="914400" y="3319272"/>
            <a:ext cx="466344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14192A"/>
                </a:solidFill>
                <a:latin typeface="Liberation Sans"/>
              </a:defRPr>
            </a:pPr>
            <a:r>
              <a:t>FP  /  FALSE POSITIVE</a:t>
            </a:r>
          </a:p>
        </p:txBody>
      </p:sp>
      <p:sp>
        <p:nvSpPr>
          <p:cNvPr id="11" name="Text"/>
          <p:cNvSpPr txBox="1"/>
          <p:nvPr/>
        </p:nvSpPr>
        <p:spPr>
          <a:xfrm>
            <a:off x="914400" y="3895344"/>
            <a:ext cx="46177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4192A"/>
                </a:solidFill>
                <a:latin typeface="Liberation Sans"/>
              </a:defRPr>
            </a:pPr>
            <a:r>
              <a:t>BÌNH THƯỜNG → TẤN CÔNG</a:t>
            </a:r>
          </a:p>
        </p:txBody>
      </p:sp>
      <p:sp>
        <p:nvSpPr>
          <p:cNvPr id="12" name="Shape"/>
          <p:cNvSpPr/>
          <p:nvPr/>
        </p:nvSpPr>
        <p:spPr>
          <a:xfrm>
            <a:off x="6035040" y="3108960"/>
            <a:ext cx="5294376" cy="1572768"/>
          </a:xfrm>
          <a:prstGeom prst="roundRect">
            <a:avLst/>
          </a:prstGeom>
          <a:solidFill>
            <a:srgbClr val="FF6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6263640" y="3319272"/>
            <a:ext cx="484632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14192A"/>
                </a:solidFill>
                <a:latin typeface="Liberation Sans"/>
              </a:defRPr>
            </a:pPr>
            <a:r>
              <a:t>FN  /  FALSE NEGATIVE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6263640" y="3895344"/>
            <a:ext cx="4736592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4192A"/>
                </a:solidFill>
                <a:latin typeface="Liberation Sans"/>
              </a:defRPr>
            </a:pPr>
            <a:r>
              <a:t>TẤN CÔNG → BÌNH THƯỜNG</a:t>
            </a:r>
          </a:p>
        </p:txBody>
      </p:sp>
      <p:sp>
        <p:nvSpPr>
          <p:cNvPr id="15" name="Text"/>
          <p:cNvSpPr txBox="1"/>
          <p:nvPr/>
        </p:nvSpPr>
        <p:spPr>
          <a:xfrm>
            <a:off x="868680" y="516636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F8F5EE"/>
                </a:solidFill>
                <a:latin typeface="Liberation Sans"/>
              </a:defRPr>
            </a:pPr>
            <a:r>
              <a:t>MACRO-F1     ·     MCC     ·     FPR     ·     FNR</a:t>
            </a:r>
          </a:p>
        </p:txBody>
      </p:sp>
      <p:sp>
        <p:nvSpPr>
          <p:cNvPr id="16" name="Animated marker 5-0"/>
          <p:cNvSpPr/>
          <p:nvPr/>
        </p:nvSpPr>
        <p:spPr>
          <a:xfrm>
            <a:off x="9418320" y="5925312"/>
            <a:ext cx="73152" cy="73152"/>
          </a:xfrm>
          <a:prstGeom prst="ellipse">
            <a:avLst/>
          </a:prstGeom>
          <a:solidFill>
            <a:srgbClr val="FF6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Animated marker 5-1"/>
          <p:cNvSpPr/>
          <p:nvPr/>
        </p:nvSpPr>
        <p:spPr>
          <a:xfrm>
            <a:off x="9710928" y="5925312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nimated marker 5-2"/>
          <p:cNvSpPr/>
          <p:nvPr/>
        </p:nvSpPr>
        <p:spPr>
          <a:xfrm>
            <a:off x="10003536" y="5925312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nimated marker 5-3"/>
          <p:cNvSpPr/>
          <p:nvPr/>
        </p:nvSpPr>
        <p:spPr>
          <a:xfrm>
            <a:off x="10296144" y="5925312"/>
            <a:ext cx="73152" cy="73152"/>
          </a:xfrm>
          <a:prstGeom prst="ellipse">
            <a:avLst/>
          </a:prstGeom>
          <a:solidFill>
            <a:srgbClr val="FF6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Animated marker 5-4"/>
          <p:cNvSpPr/>
          <p:nvPr/>
        </p:nvSpPr>
        <p:spPr>
          <a:xfrm>
            <a:off x="10588752" y="5925312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Animated marker 5-5"/>
          <p:cNvSpPr/>
          <p:nvPr/>
        </p:nvSpPr>
        <p:spPr>
          <a:xfrm>
            <a:off x="10881360" y="5925312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nimated marker 5-6"/>
          <p:cNvSpPr/>
          <p:nvPr/>
        </p:nvSpPr>
        <p:spPr>
          <a:xfrm>
            <a:off x="11173968" y="5925312"/>
            <a:ext cx="73152" cy="73152"/>
          </a:xfrm>
          <a:prstGeom prst="ellipse">
            <a:avLst/>
          </a:prstGeom>
          <a:solidFill>
            <a:srgbClr val="FF6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Animated marker 5-7"/>
          <p:cNvSpPr/>
          <p:nvPr/>
        </p:nvSpPr>
        <p:spPr>
          <a:xfrm>
            <a:off x="9418320" y="6181344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Animated marker 5-8"/>
          <p:cNvSpPr/>
          <p:nvPr/>
        </p:nvSpPr>
        <p:spPr>
          <a:xfrm>
            <a:off x="9710928" y="6181344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Animated marker 5-9"/>
          <p:cNvSpPr/>
          <p:nvPr/>
        </p:nvSpPr>
        <p:spPr>
          <a:xfrm>
            <a:off x="10003536" y="6181344"/>
            <a:ext cx="73152" cy="73152"/>
          </a:xfrm>
          <a:prstGeom prst="ellipse">
            <a:avLst/>
          </a:prstGeom>
          <a:solidFill>
            <a:srgbClr val="FF6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Animated marker 5-10"/>
          <p:cNvSpPr/>
          <p:nvPr/>
        </p:nvSpPr>
        <p:spPr>
          <a:xfrm>
            <a:off x="10296144" y="6181344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Animated marker 5-11"/>
          <p:cNvSpPr/>
          <p:nvPr/>
        </p:nvSpPr>
        <p:spPr>
          <a:xfrm>
            <a:off x="10588752" y="6181344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Animated marker 5-12"/>
          <p:cNvSpPr/>
          <p:nvPr/>
        </p:nvSpPr>
        <p:spPr>
          <a:xfrm>
            <a:off x="10881360" y="6181344"/>
            <a:ext cx="73152" cy="73152"/>
          </a:xfrm>
          <a:prstGeom prst="ellipse">
            <a:avLst/>
          </a:prstGeom>
          <a:solidFill>
            <a:srgbClr val="FF6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Animated marker 5-13"/>
          <p:cNvSpPr/>
          <p:nvPr/>
        </p:nvSpPr>
        <p:spPr>
          <a:xfrm>
            <a:off x="11173968" y="6181344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med" advClick="1">
    <p:fade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accel="15000" decel="1500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accel="15000" decel="1500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accel="15000" decel="1500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accel="15000" decel="1500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accel="15000" decel="1500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accel="15000" decel="15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accel="15000" decel="1500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accel="15000" decel="15000" fill="hold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accel="15000" decel="1500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8" accel="15000" decel="15000" fill="hold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accel="15000" decel="15000" fill="hold" grpId="0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accel="15000" decel="15000" fill="hold" grpId="0" nodeType="with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accel="15000" decel="1500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accel="15000" decel="1500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0" presetClass="entr" presetSubtype="0" repeatCount="6000" accel="15000" decel="15000" fill="hold" grpId="1" nodeType="withEffect">
                                  <p:stCondLst>
                                    <p:cond delay="312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0.33000001 0.14000000 E" pathEditMode="relative">
                                      <p:cBhvr from="" to="">
                                        <p:cTn id="49" dur="2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0" presetID="10" presetClass="entr" presetSubtype="0" accel="15000" decel="15000" fill="hold" grpId="0" nodeType="withEffect">
                                  <p:stCondLst>
                                    <p:cond delay="35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0" presetClass="entr" presetSubtype="0" repeatCount="6000" accel="15000" decel="15000" fill="hold" grpId="1" nodeType="withEffect">
                                  <p:stCondLst>
                                    <p:cond delay="36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0.33000001 -0.02000000 E" pathEditMode="relative">
                                      <p:cBhvr from="" to="">
                                        <p:cTn id="55" dur="2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6" presetID="10" presetClass="entr" presetSubtype="0" accel="15000" decel="1500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0" presetClass="entr" presetSubtype="0" repeatCount="6000" accel="15000" decel="15000" fill="hold" grpId="1" nodeType="withEffect">
                                  <p:stCondLst>
                                    <p:cond delay="412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0.33000001 -0.18000000 E" pathEditMode="relative">
                                      <p:cBhvr from="" to="">
                                        <p:cTn id="61" dur="2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2" presetID="22" presetClass="entr" presetSubtype="8" accel="15000" decel="15000" fill="hold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8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accel="15000" decel="1500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accel="15000" decel="1500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1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0" presetClass="entr" presetSubtype="0" repeatCount="5000" accel="15000" decel="15000" fill="hold" grpId="1" nodeType="withEffect">
                                  <p:stCondLst>
                                    <p:cond delay="712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0.15750000 0.00000000 E" pathEditMode="relative">
                                      <p:cBhvr from="" to="">
                                        <p:cTn id="73" dur="2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4" presetID="10" presetClass="exit" presetSubtype="0" accel="15000" decel="15000" fill="hold" grpId="2" nodeType="withEffect">
                                  <p:stCondLst>
                                    <p:cond delay="151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5" dur="1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11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0" presetClass="exit" presetSubtype="0" accel="15000" decel="15000" fill="hold" grpId="2" nodeType="withEffect">
                                  <p:stCondLst>
                                    <p:cond delay="156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8" dur="1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11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0" presetClass="exit" presetSubtype="0" accel="15000" decel="15000" fill="hold" grpId="2" nodeType="withEffect">
                                  <p:stCondLst>
                                    <p:cond delay="161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1" dur="1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11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0" presetClass="exit" presetSubtype="0" accel="15000" decel="15000" fill="hold" grpId="2" nodeType="withEffect">
                                  <p:stCondLst>
                                    <p:cond delay="171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4" dur="1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11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/>
      <p:bldP spid="10" grpId="0"/>
      <p:bldP spid="11" grpId="0" animBg="1"/>
      <p:bldP spid="11" grpId="1" animBg="1"/>
      <p:bldP spid="11" grpId="2" animBg="1"/>
      <p:bldP spid="12" grpId="0" animBg="1"/>
      <p:bldP spid="13" grpId="0"/>
      <p:bldP spid="15" grpId="0"/>
      <p:bldP spid="16" grpId="0" animBg="1"/>
      <p:bldP spid="16" grpId="1" animBg="1"/>
      <p:bldP spid="16" grpId="2" animBg="1"/>
      <p:bldP spid="17" grpId="0" animBg="1"/>
      <p:bldP spid="18" grpId="0"/>
      <p:bldP spid="20" grpId="0"/>
      <p:bldP spid="21" grpId="0" animBg="1"/>
      <p:bldP spid="21" grpId="1" animBg="1"/>
      <p:bldP spid="21" grpId="2" animBg="1"/>
      <p:bldP spid="22" grpId="0" animBg="1"/>
      <p:bldP spid="25" grpId="0"/>
      <p:bldP spid="26" grpId="0" animBg="1"/>
      <p:bldP spid="26" grpId="1" animBg="1"/>
      <p:bldP spid="26" grpId="2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6A5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603504" y="320040"/>
            <a:ext cx="8412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14192A"/>
                </a:solidFill>
                <a:latin typeface="Liberation Sans"/>
              </a:defRPr>
            </a:pPr>
            <a:r>
              <a:t>04 / OFFICIAL TEST · 82.332 MẪU</a:t>
            </a:r>
          </a:p>
        </p:txBody>
      </p:sp>
      <p:sp>
        <p:nvSpPr>
          <p:cNvPr id="3" name="Scene counter"/>
          <p:cNvSpPr txBox="1"/>
          <p:nvPr/>
        </p:nvSpPr>
        <p:spPr>
          <a:xfrm>
            <a:off x="10789920" y="283464"/>
            <a:ext cx="77724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4192A"/>
                </a:solidFill>
                <a:latin typeface="Liberation Sans"/>
              </a:defRPr>
            </a:pPr>
            <a:r>
              <a:t>#06</a:t>
            </a:r>
          </a:p>
        </p:txBody>
      </p:sp>
      <p:sp>
        <p:nvSpPr>
          <p:cNvPr id="4" name="Progress track"/>
          <p:cNvSpPr/>
          <p:nvPr/>
        </p:nvSpPr>
        <p:spPr>
          <a:xfrm>
            <a:off x="594360" y="6487668"/>
            <a:ext cx="10972800" cy="13716"/>
          </a:xfrm>
          <a:prstGeom prst="rect">
            <a:avLst/>
          </a:prstGeom>
          <a:solidFill>
            <a:srgbClr val="E626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rogress position"/>
          <p:cNvSpPr/>
          <p:nvPr/>
        </p:nvSpPr>
        <p:spPr>
          <a:xfrm>
            <a:off x="594360" y="6487668"/>
            <a:ext cx="6583680" cy="36576"/>
          </a:xfrm>
          <a:prstGeom prst="rect">
            <a:avLst/>
          </a:prstGeom>
          <a:solidFill>
            <a:srgbClr val="E626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unning footer"/>
          <p:cNvSpPr txBox="1"/>
          <p:nvPr/>
        </p:nvSpPr>
        <p:spPr>
          <a:xfrm>
            <a:off x="594360" y="6565392"/>
            <a:ext cx="731520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4192A"/>
                </a:solidFill>
                <a:latin typeface="Liberation Sans"/>
              </a:defRPr>
            </a:pPr>
            <a:r>
              <a:t>NCKH  /  ENSEMBLE IDS  /  UNSW-NB15</a:t>
            </a:r>
          </a:p>
        </p:txBody>
      </p:sp>
      <p:pic>
        <p:nvPicPr>
          <p:cNvPr id="7" name="Picture 6" descr="Logo_PTIT_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9960" y="658368"/>
            <a:ext cx="438912" cy="438912"/>
          </a:xfrm>
          <a:prstGeom prst="rect">
            <a:avLst/>
          </a:prstGeom>
        </p:spPr>
      </p:pic>
      <p:sp>
        <p:nvSpPr>
          <p:cNvPr id="8" name="Hero title"/>
          <p:cNvSpPr txBox="1"/>
          <p:nvPr/>
        </p:nvSpPr>
        <p:spPr>
          <a:xfrm>
            <a:off x="585216" y="740664"/>
            <a:ext cx="10698480" cy="1920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6300" b="1">
                <a:solidFill>
                  <a:srgbClr val="14192A"/>
                </a:solidFill>
                <a:latin typeface="Liberation Sans"/>
              </a:defRPr>
            </a:pPr>
            <a:r>
              <a:t>GIẢM 142 FP.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6300" b="1">
                <a:solidFill>
                  <a:srgbClr val="14192A"/>
                </a:solidFill>
                <a:latin typeface="Liberation Sans"/>
              </a:defRPr>
            </a:pPr>
            <a:r>
              <a:t>TĂNG 118 FN.</a:t>
            </a:r>
          </a:p>
        </p:txBody>
      </p:sp>
      <p:sp>
        <p:nvSpPr>
          <p:cNvPr id="9" name="Shape"/>
          <p:cNvSpPr/>
          <p:nvPr/>
        </p:nvSpPr>
        <p:spPr>
          <a:xfrm>
            <a:off x="640080" y="3136392"/>
            <a:ext cx="5120640" cy="1920240"/>
          </a:xfrm>
          <a:prstGeom prst="roundRect">
            <a:avLst/>
          </a:prstGeom>
          <a:solidFill>
            <a:srgbClr val="141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duction FP"/>
          <p:cNvSpPr txBox="1"/>
          <p:nvPr/>
        </p:nvSpPr>
        <p:spPr>
          <a:xfrm>
            <a:off x="960120" y="3337560"/>
            <a:ext cx="429768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7600" b="1">
                <a:solidFill>
                  <a:srgbClr val="1EC4D2"/>
                </a:solidFill>
                <a:latin typeface="Liberation Sans"/>
              </a:defRPr>
            </a:pPr>
            <a:r>
              <a:t>−142</a:t>
            </a:r>
          </a:p>
        </p:txBody>
      </p:sp>
      <p:sp>
        <p:nvSpPr>
          <p:cNvPr id="11" name="Text"/>
          <p:cNvSpPr txBox="1"/>
          <p:nvPr/>
        </p:nvSpPr>
        <p:spPr>
          <a:xfrm>
            <a:off x="987552" y="434340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F8F5EE"/>
                </a:solidFill>
                <a:latin typeface="Liberation Sans"/>
              </a:defRPr>
            </a:pPr>
            <a:r>
              <a:t>FALSE POSITIVE</a:t>
            </a:r>
          </a:p>
        </p:txBody>
      </p:sp>
      <p:sp>
        <p:nvSpPr>
          <p:cNvPr id="12" name="Shape"/>
          <p:cNvSpPr/>
          <p:nvPr/>
        </p:nvSpPr>
        <p:spPr>
          <a:xfrm>
            <a:off x="6035040" y="3136392"/>
            <a:ext cx="5440680" cy="1920240"/>
          </a:xfrm>
          <a:prstGeom prst="roundRect">
            <a:avLst/>
          </a:prstGeom>
          <a:solidFill>
            <a:srgbClr val="F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ncrease FN"/>
          <p:cNvSpPr txBox="1"/>
          <p:nvPr/>
        </p:nvSpPr>
        <p:spPr>
          <a:xfrm>
            <a:off x="6409944" y="3337560"/>
            <a:ext cx="438912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7600" b="1">
                <a:solidFill>
                  <a:srgbClr val="E62629"/>
                </a:solidFill>
                <a:latin typeface="Liberation Sans"/>
              </a:defRPr>
            </a:pPr>
            <a:r>
              <a:t>+118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6446520" y="434340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14192A"/>
                </a:solidFill>
                <a:latin typeface="Liberation Sans"/>
              </a:defRPr>
            </a:pPr>
            <a:r>
              <a:t>FALSE NEGATIVE</a:t>
            </a:r>
          </a:p>
        </p:txBody>
      </p:sp>
      <p:sp>
        <p:nvSpPr>
          <p:cNvPr id="15" name="Text"/>
          <p:cNvSpPr txBox="1"/>
          <p:nvPr/>
        </p:nvSpPr>
        <p:spPr>
          <a:xfrm>
            <a:off x="722376" y="5330952"/>
            <a:ext cx="10789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4192A"/>
                </a:solidFill>
                <a:latin typeface="Liberation Sans"/>
              </a:defRPr>
            </a:pPr>
            <a:r>
              <a:t>Macro-F1    RF42 0,863343    /    Stacking42 0,863840</a:t>
            </a:r>
          </a:p>
        </p:txBody>
      </p:sp>
      <p:sp>
        <p:nvSpPr>
          <p:cNvPr id="16" name="Text"/>
          <p:cNvSpPr txBox="1"/>
          <p:nvPr/>
        </p:nvSpPr>
        <p:spPr>
          <a:xfrm>
            <a:off x="722376" y="58247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4192A"/>
                </a:solidFill>
                <a:latin typeface="Liberation Sans"/>
              </a:defRPr>
            </a:pPr>
            <a:r>
              <a:t>CI hiệu số chứa 0  •  Không đủ bằng chứng Stacking vượt trội</a:t>
            </a:r>
          </a:p>
        </p:txBody>
      </p:sp>
      <p:sp>
        <p:nvSpPr>
          <p:cNvPr id="17" name="Animated marker 6-0"/>
          <p:cNvSpPr/>
          <p:nvPr/>
        </p:nvSpPr>
        <p:spPr>
          <a:xfrm>
            <a:off x="9418320" y="5925312"/>
            <a:ext cx="73152" cy="73152"/>
          </a:xfrm>
          <a:prstGeom prst="ellipse">
            <a:avLst/>
          </a:prstGeom>
          <a:solidFill>
            <a:srgbClr val="FF6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nimated marker 6-1"/>
          <p:cNvSpPr/>
          <p:nvPr/>
        </p:nvSpPr>
        <p:spPr>
          <a:xfrm>
            <a:off x="9710928" y="5925312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nimated marker 6-2"/>
          <p:cNvSpPr/>
          <p:nvPr/>
        </p:nvSpPr>
        <p:spPr>
          <a:xfrm>
            <a:off x="10003536" y="5925312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Animated marker 6-3"/>
          <p:cNvSpPr/>
          <p:nvPr/>
        </p:nvSpPr>
        <p:spPr>
          <a:xfrm>
            <a:off x="10296144" y="5925312"/>
            <a:ext cx="73152" cy="73152"/>
          </a:xfrm>
          <a:prstGeom prst="ellipse">
            <a:avLst/>
          </a:prstGeom>
          <a:solidFill>
            <a:srgbClr val="FF6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Animated marker 6-4"/>
          <p:cNvSpPr/>
          <p:nvPr/>
        </p:nvSpPr>
        <p:spPr>
          <a:xfrm>
            <a:off x="10588752" y="5925312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nimated marker 6-5"/>
          <p:cNvSpPr/>
          <p:nvPr/>
        </p:nvSpPr>
        <p:spPr>
          <a:xfrm>
            <a:off x="10881360" y="5925312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Animated marker 6-6"/>
          <p:cNvSpPr/>
          <p:nvPr/>
        </p:nvSpPr>
        <p:spPr>
          <a:xfrm>
            <a:off x="11173968" y="5925312"/>
            <a:ext cx="73152" cy="73152"/>
          </a:xfrm>
          <a:prstGeom prst="ellipse">
            <a:avLst/>
          </a:prstGeom>
          <a:solidFill>
            <a:srgbClr val="FF6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Animated marker 6-7"/>
          <p:cNvSpPr/>
          <p:nvPr/>
        </p:nvSpPr>
        <p:spPr>
          <a:xfrm>
            <a:off x="9418320" y="6181344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Animated marker 6-8"/>
          <p:cNvSpPr/>
          <p:nvPr/>
        </p:nvSpPr>
        <p:spPr>
          <a:xfrm>
            <a:off x="9710928" y="6181344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Animated marker 6-9"/>
          <p:cNvSpPr/>
          <p:nvPr/>
        </p:nvSpPr>
        <p:spPr>
          <a:xfrm>
            <a:off x="10003536" y="6181344"/>
            <a:ext cx="73152" cy="73152"/>
          </a:xfrm>
          <a:prstGeom prst="ellipse">
            <a:avLst/>
          </a:prstGeom>
          <a:solidFill>
            <a:srgbClr val="FF6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Animated marker 6-10"/>
          <p:cNvSpPr/>
          <p:nvPr/>
        </p:nvSpPr>
        <p:spPr>
          <a:xfrm>
            <a:off x="10296144" y="6181344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Animated marker 6-11"/>
          <p:cNvSpPr/>
          <p:nvPr/>
        </p:nvSpPr>
        <p:spPr>
          <a:xfrm>
            <a:off x="10588752" y="6181344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Animated marker 6-12"/>
          <p:cNvSpPr/>
          <p:nvPr/>
        </p:nvSpPr>
        <p:spPr>
          <a:xfrm>
            <a:off x="10881360" y="6181344"/>
            <a:ext cx="73152" cy="73152"/>
          </a:xfrm>
          <a:prstGeom prst="ellipse">
            <a:avLst/>
          </a:prstGeom>
          <a:solidFill>
            <a:srgbClr val="FF6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Animated marker 6-13"/>
          <p:cNvSpPr/>
          <p:nvPr/>
        </p:nvSpPr>
        <p:spPr>
          <a:xfrm>
            <a:off x="11173968" y="6181344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med" advClick="1">
    <p:fade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accel="15000" decel="1500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9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9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2" presetClass="entr" presetSubtype="8" accel="15000" decel="1500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1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accel="15000" decel="1500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22" presetClass="entr" presetSubtype="8" accel="15000" decel="1500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1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accel="15000" decel="1500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accel="15000" decel="1500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0" presetClass="entr" presetSubtype="0" repeatCount="3000" accel="15000" decel="15000" fill="hold" grpId="1" nodeType="withEffect">
                                  <p:stCondLst>
                                    <p:cond delay="101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0.52875001 0.00000000 E" pathEditMode="relative">
                                      <p:cBhvr from="" to="">
                                        <p:cTn id="26" dur="2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7" presetID="10" presetClass="entr" presetSubtype="0" accel="15000" decel="15000" fill="hold" grpId="0" nodeType="withEffect">
                                  <p:stCondLst>
                                    <p:cond delay="12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0" presetClass="entr" presetSubtype="0" repeatCount="3000" accel="15000" decel="15000" fill="hold" grpId="1" nodeType="withEffect">
                                  <p:stCondLst>
                                    <p:cond delay="121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0.52875001 0.00000000 E" pathEditMode="relative">
                                      <p:cBhvr from="" to="">
                                        <p:cTn id="32" dur="2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3" presetID="10" presetClass="exit" presetSubtype="0" accel="15000" decel="15000" fill="hold" grpId="2" nodeType="withEffect">
                                  <p:stCondLst>
                                    <p:cond delay="161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1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11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xit" presetSubtype="0" accel="15000" decel="15000" fill="hold" grpId="2" nodeType="withEffect">
                                  <p:stCondLst>
                                    <p:cond delay="181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1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11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 animBg="1"/>
      <p:bldP spid="10" grpId="0"/>
      <p:bldP spid="12" grpId="0" animBg="1"/>
      <p:bldP spid="13" grpId="0"/>
      <p:bldP spid="17" grpId="0" animBg="1"/>
      <p:bldP spid="17" grpId="1" animBg="1"/>
      <p:bldP spid="17" grpId="2" animBg="1"/>
      <p:bldP spid="18" grpId="0" animBg="1"/>
      <p:bldP spid="18" grpId="1" animBg="1"/>
      <p:bldP spid="18" grpId="2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603504" y="320040"/>
            <a:ext cx="8412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14192A"/>
                </a:solidFill>
                <a:latin typeface="Liberation Sans"/>
              </a:defRPr>
            </a:pPr>
            <a:r>
              <a:t>05 / WHY P21?</a:t>
            </a:r>
          </a:p>
        </p:txBody>
      </p:sp>
      <p:sp>
        <p:nvSpPr>
          <p:cNvPr id="3" name="Scene counter"/>
          <p:cNvSpPr txBox="1"/>
          <p:nvPr/>
        </p:nvSpPr>
        <p:spPr>
          <a:xfrm>
            <a:off x="10789920" y="283464"/>
            <a:ext cx="77724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4192A"/>
                </a:solidFill>
                <a:latin typeface="Liberation Sans"/>
              </a:defRPr>
            </a:pPr>
            <a:r>
              <a:t>#07</a:t>
            </a:r>
          </a:p>
        </p:txBody>
      </p:sp>
      <p:sp>
        <p:nvSpPr>
          <p:cNvPr id="4" name="Progress track"/>
          <p:cNvSpPr/>
          <p:nvPr/>
        </p:nvSpPr>
        <p:spPr>
          <a:xfrm>
            <a:off x="594360" y="6487668"/>
            <a:ext cx="10972800" cy="13716"/>
          </a:xfrm>
          <a:prstGeom prst="rect">
            <a:avLst/>
          </a:prstGeom>
          <a:solidFill>
            <a:srgbClr val="E626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rogress position"/>
          <p:cNvSpPr/>
          <p:nvPr/>
        </p:nvSpPr>
        <p:spPr>
          <a:xfrm>
            <a:off x="594360" y="6487668"/>
            <a:ext cx="7680960" cy="36576"/>
          </a:xfrm>
          <a:prstGeom prst="rect">
            <a:avLst/>
          </a:prstGeom>
          <a:solidFill>
            <a:srgbClr val="E626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unning footer"/>
          <p:cNvSpPr txBox="1"/>
          <p:nvPr/>
        </p:nvSpPr>
        <p:spPr>
          <a:xfrm>
            <a:off x="594360" y="6565392"/>
            <a:ext cx="731520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4192A"/>
                </a:solidFill>
                <a:latin typeface="Liberation Sans"/>
              </a:defRPr>
            </a:pPr>
            <a:r>
              <a:t>NCKH  /  ENSEMBLE IDS  /  UNSW-NB15</a:t>
            </a:r>
          </a:p>
        </p:txBody>
      </p:sp>
      <p:pic>
        <p:nvPicPr>
          <p:cNvPr id="7" name="Picture 6" descr="Logo_PTIT_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9960" y="658368"/>
            <a:ext cx="438912" cy="438912"/>
          </a:xfrm>
          <a:prstGeom prst="rect">
            <a:avLst/>
          </a:prstGeom>
        </p:spPr>
      </p:pic>
      <p:sp>
        <p:nvSpPr>
          <p:cNvPr id="8" name="Hero title"/>
          <p:cNvSpPr txBox="1"/>
          <p:nvPr/>
        </p:nvSpPr>
        <p:spPr>
          <a:xfrm>
            <a:off x="621792" y="731520"/>
            <a:ext cx="1060704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5500" b="1">
                <a:solidFill>
                  <a:srgbClr val="14192A"/>
                </a:solidFill>
                <a:latin typeface="Liberation Sans"/>
              </a:defRPr>
            </a:pPr>
            <a:r>
              <a:t>ĐỐI CHỨNG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5500" b="1">
                <a:solidFill>
                  <a:srgbClr val="14192A"/>
                </a:solidFill>
                <a:latin typeface="Liberation Sans"/>
              </a:defRPr>
            </a:pPr>
            <a:r>
              <a:t>CÔNG BẰNG HƠN.</a:t>
            </a:r>
          </a:p>
        </p:txBody>
      </p:sp>
      <p:sp>
        <p:nvSpPr>
          <p:cNvPr id="9" name="Text"/>
          <p:cNvSpPr txBox="1"/>
          <p:nvPr/>
        </p:nvSpPr>
        <p:spPr>
          <a:xfrm>
            <a:off x="667512" y="2697480"/>
            <a:ext cx="10698480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E62629"/>
                </a:solidFill>
                <a:latin typeface="Liberation Sans"/>
              </a:defRPr>
            </a:pPr>
            <a:r>
              <a:t>TRAIN-ONLY · POST-HOC · KHÔNG PHẢI 5 TEST ĐỘC LẬP</a:t>
            </a:r>
          </a:p>
        </p:txBody>
      </p:sp>
      <p:sp>
        <p:nvSpPr>
          <p:cNvPr id="10" name="Seed 1"/>
          <p:cNvSpPr/>
          <p:nvPr/>
        </p:nvSpPr>
        <p:spPr>
          <a:xfrm>
            <a:off x="1005840" y="3794760"/>
            <a:ext cx="1005840" cy="1005840"/>
          </a:xfrm>
          <a:prstGeom prst="ellipse">
            <a:avLst/>
          </a:prstGeom>
          <a:solidFill>
            <a:srgbClr val="141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Seed label 1"/>
          <p:cNvSpPr txBox="1"/>
          <p:nvPr/>
        </p:nvSpPr>
        <p:spPr>
          <a:xfrm>
            <a:off x="1170432" y="3986784"/>
            <a:ext cx="685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3100" b="1">
                <a:solidFill>
                  <a:srgbClr val="F8F5EE"/>
                </a:solidFill>
                <a:latin typeface="Liberation Sans"/>
              </a:defRPr>
            </a:pPr>
            <a:r>
              <a:t>01</a:t>
            </a:r>
          </a:p>
        </p:txBody>
      </p:sp>
      <p:sp>
        <p:nvSpPr>
          <p:cNvPr id="12" name="Text"/>
          <p:cNvSpPr txBox="1"/>
          <p:nvPr/>
        </p:nvSpPr>
        <p:spPr>
          <a:xfrm>
            <a:off x="1225296" y="4901184"/>
            <a:ext cx="59436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255E9E"/>
                </a:solidFill>
                <a:latin typeface="Liberation Sans"/>
              </a:defRPr>
            </a:pPr>
            <a:r>
              <a:t>FIT</a:t>
            </a:r>
          </a:p>
        </p:txBody>
      </p:sp>
      <p:sp>
        <p:nvSpPr>
          <p:cNvPr id="13" name="Seed 2"/>
          <p:cNvSpPr/>
          <p:nvPr/>
        </p:nvSpPr>
        <p:spPr>
          <a:xfrm>
            <a:off x="3154680" y="3794760"/>
            <a:ext cx="1005840" cy="1005840"/>
          </a:xfrm>
          <a:prstGeom prst="ellipse">
            <a:avLst/>
          </a:prstGeom>
          <a:solidFill>
            <a:srgbClr val="141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Seed label 2"/>
          <p:cNvSpPr txBox="1"/>
          <p:nvPr/>
        </p:nvSpPr>
        <p:spPr>
          <a:xfrm>
            <a:off x="3319272" y="3986784"/>
            <a:ext cx="685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3100" b="1">
                <a:solidFill>
                  <a:srgbClr val="F8F5EE"/>
                </a:solidFill>
                <a:latin typeface="Liberation Sans"/>
              </a:defRPr>
            </a:pPr>
            <a:r>
              <a:t>02</a:t>
            </a:r>
          </a:p>
        </p:txBody>
      </p:sp>
      <p:sp>
        <p:nvSpPr>
          <p:cNvPr id="15" name="Text"/>
          <p:cNvSpPr txBox="1"/>
          <p:nvPr/>
        </p:nvSpPr>
        <p:spPr>
          <a:xfrm>
            <a:off x="3374136" y="4901184"/>
            <a:ext cx="59436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255E9E"/>
                </a:solidFill>
                <a:latin typeface="Liberation Sans"/>
              </a:defRPr>
            </a:pPr>
            <a:r>
              <a:t>FIT</a:t>
            </a:r>
          </a:p>
        </p:txBody>
      </p:sp>
      <p:sp>
        <p:nvSpPr>
          <p:cNvPr id="16" name="Seed 3"/>
          <p:cNvSpPr/>
          <p:nvPr/>
        </p:nvSpPr>
        <p:spPr>
          <a:xfrm>
            <a:off x="5303520" y="3794760"/>
            <a:ext cx="1005840" cy="1005840"/>
          </a:xfrm>
          <a:prstGeom prst="ellipse">
            <a:avLst/>
          </a:prstGeom>
          <a:solidFill>
            <a:srgbClr val="141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Seed label 3"/>
          <p:cNvSpPr txBox="1"/>
          <p:nvPr/>
        </p:nvSpPr>
        <p:spPr>
          <a:xfrm>
            <a:off x="5468112" y="3986784"/>
            <a:ext cx="685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3100" b="1">
                <a:solidFill>
                  <a:srgbClr val="F8F5EE"/>
                </a:solidFill>
                <a:latin typeface="Liberation Sans"/>
              </a:defRPr>
            </a:pPr>
            <a:r>
              <a:t>03</a:t>
            </a:r>
          </a:p>
        </p:txBody>
      </p:sp>
      <p:sp>
        <p:nvSpPr>
          <p:cNvPr id="18" name="Text"/>
          <p:cNvSpPr txBox="1"/>
          <p:nvPr/>
        </p:nvSpPr>
        <p:spPr>
          <a:xfrm>
            <a:off x="5522976" y="4901184"/>
            <a:ext cx="59436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255E9E"/>
                </a:solidFill>
                <a:latin typeface="Liberation Sans"/>
              </a:defRPr>
            </a:pPr>
            <a:r>
              <a:t>FIT</a:t>
            </a:r>
          </a:p>
        </p:txBody>
      </p:sp>
      <p:sp>
        <p:nvSpPr>
          <p:cNvPr id="19" name="Seed 4"/>
          <p:cNvSpPr/>
          <p:nvPr/>
        </p:nvSpPr>
        <p:spPr>
          <a:xfrm>
            <a:off x="7452360" y="3794760"/>
            <a:ext cx="1005840" cy="1005840"/>
          </a:xfrm>
          <a:prstGeom prst="ellipse">
            <a:avLst/>
          </a:prstGeom>
          <a:solidFill>
            <a:srgbClr val="141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Seed label 4"/>
          <p:cNvSpPr txBox="1"/>
          <p:nvPr/>
        </p:nvSpPr>
        <p:spPr>
          <a:xfrm>
            <a:off x="7616952" y="3986784"/>
            <a:ext cx="685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3100" b="1">
                <a:solidFill>
                  <a:srgbClr val="F8F5EE"/>
                </a:solidFill>
                <a:latin typeface="Liberation Sans"/>
              </a:defRPr>
            </a:pPr>
            <a:r>
              <a:t>04</a:t>
            </a:r>
          </a:p>
        </p:txBody>
      </p:sp>
      <p:sp>
        <p:nvSpPr>
          <p:cNvPr id="21" name="Text"/>
          <p:cNvSpPr txBox="1"/>
          <p:nvPr/>
        </p:nvSpPr>
        <p:spPr>
          <a:xfrm>
            <a:off x="7671816" y="4901184"/>
            <a:ext cx="59436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255E9E"/>
                </a:solidFill>
                <a:latin typeface="Liberation Sans"/>
              </a:defRPr>
            </a:pPr>
            <a:r>
              <a:t>FIT</a:t>
            </a:r>
          </a:p>
        </p:txBody>
      </p:sp>
      <p:sp>
        <p:nvSpPr>
          <p:cNvPr id="22" name="Seed 5"/>
          <p:cNvSpPr/>
          <p:nvPr/>
        </p:nvSpPr>
        <p:spPr>
          <a:xfrm>
            <a:off x="9601200" y="3794760"/>
            <a:ext cx="1005840" cy="1005840"/>
          </a:xfrm>
          <a:prstGeom prst="ellipse">
            <a:avLst/>
          </a:prstGeom>
          <a:solidFill>
            <a:srgbClr val="141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Seed label 5"/>
          <p:cNvSpPr txBox="1"/>
          <p:nvPr/>
        </p:nvSpPr>
        <p:spPr>
          <a:xfrm>
            <a:off x="9765792" y="3986784"/>
            <a:ext cx="685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3100" b="1">
                <a:solidFill>
                  <a:srgbClr val="F8F5EE"/>
                </a:solidFill>
                <a:latin typeface="Liberation Sans"/>
              </a:defRPr>
            </a:pPr>
            <a:r>
              <a:t>05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9820656" y="4901184"/>
            <a:ext cx="59436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255E9E"/>
                </a:solidFill>
                <a:latin typeface="Liberation Sans"/>
              </a:defRPr>
            </a:pPr>
            <a:r>
              <a:t>FIT</a:t>
            </a:r>
          </a:p>
        </p:txBody>
      </p:sp>
      <p:cxnSp>
        <p:nvCxnSpPr>
          <p:cNvPr id="25" name="Connector"/>
          <p:cNvCxnSpPr/>
          <p:nvPr/>
        </p:nvCxnSpPr>
        <p:spPr>
          <a:xfrm>
            <a:off x="1399032" y="5504688"/>
            <a:ext cx="9189720" cy="0"/>
          </a:xfrm>
          <a:prstGeom prst="line">
            <a:avLst/>
          </a:prstGeom>
          <a:ln w="50800">
            <a:solidFill>
              <a:srgbClr val="FF6A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Shape"/>
          <p:cNvSpPr/>
          <p:nvPr/>
        </p:nvSpPr>
        <p:spPr>
          <a:xfrm>
            <a:off x="3218688" y="5614416"/>
            <a:ext cx="5486400" cy="475488"/>
          </a:xfrm>
          <a:prstGeom prst="roundRect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"/>
          <p:cNvSpPr txBox="1"/>
          <p:nvPr/>
        </p:nvSpPr>
        <p:spPr>
          <a:xfrm>
            <a:off x="3419856" y="5696712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14192A"/>
                </a:solidFill>
                <a:latin typeface="Liberation Sans"/>
              </a:defRPr>
            </a:pPr>
            <a:r>
              <a:t>35.069 DÒNG VALIDATION CHUNG</a:t>
            </a:r>
          </a:p>
        </p:txBody>
      </p:sp>
      <p:sp>
        <p:nvSpPr>
          <p:cNvPr id="28" name="Animated marker 7-0"/>
          <p:cNvSpPr/>
          <p:nvPr/>
        </p:nvSpPr>
        <p:spPr>
          <a:xfrm>
            <a:off x="9418320" y="5925312"/>
            <a:ext cx="73152" cy="73152"/>
          </a:xfrm>
          <a:prstGeom prst="ellipse">
            <a:avLst/>
          </a:prstGeom>
          <a:solidFill>
            <a:srgbClr val="FF6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Animated marker 7-1"/>
          <p:cNvSpPr/>
          <p:nvPr/>
        </p:nvSpPr>
        <p:spPr>
          <a:xfrm>
            <a:off x="9710928" y="5925312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Animated marker 7-2"/>
          <p:cNvSpPr/>
          <p:nvPr/>
        </p:nvSpPr>
        <p:spPr>
          <a:xfrm>
            <a:off x="10003536" y="5925312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Animated marker 7-3"/>
          <p:cNvSpPr/>
          <p:nvPr/>
        </p:nvSpPr>
        <p:spPr>
          <a:xfrm>
            <a:off x="10296144" y="5925312"/>
            <a:ext cx="73152" cy="73152"/>
          </a:xfrm>
          <a:prstGeom prst="ellipse">
            <a:avLst/>
          </a:prstGeom>
          <a:solidFill>
            <a:srgbClr val="FF6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Animated marker 7-4"/>
          <p:cNvSpPr/>
          <p:nvPr/>
        </p:nvSpPr>
        <p:spPr>
          <a:xfrm>
            <a:off x="10588752" y="5925312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Animated marker 7-5"/>
          <p:cNvSpPr/>
          <p:nvPr/>
        </p:nvSpPr>
        <p:spPr>
          <a:xfrm>
            <a:off x="10881360" y="5925312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Animated marker 7-6"/>
          <p:cNvSpPr/>
          <p:nvPr/>
        </p:nvSpPr>
        <p:spPr>
          <a:xfrm>
            <a:off x="11173968" y="5925312"/>
            <a:ext cx="73152" cy="73152"/>
          </a:xfrm>
          <a:prstGeom prst="ellipse">
            <a:avLst/>
          </a:prstGeom>
          <a:solidFill>
            <a:srgbClr val="FF6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Animated marker 7-7"/>
          <p:cNvSpPr/>
          <p:nvPr/>
        </p:nvSpPr>
        <p:spPr>
          <a:xfrm>
            <a:off x="9418320" y="6181344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Animated marker 7-8"/>
          <p:cNvSpPr/>
          <p:nvPr/>
        </p:nvSpPr>
        <p:spPr>
          <a:xfrm>
            <a:off x="9710928" y="6181344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Animated marker 7-9"/>
          <p:cNvSpPr/>
          <p:nvPr/>
        </p:nvSpPr>
        <p:spPr>
          <a:xfrm>
            <a:off x="10003536" y="6181344"/>
            <a:ext cx="73152" cy="73152"/>
          </a:xfrm>
          <a:prstGeom prst="ellipse">
            <a:avLst/>
          </a:prstGeom>
          <a:solidFill>
            <a:srgbClr val="FF6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Animated marker 7-10"/>
          <p:cNvSpPr/>
          <p:nvPr/>
        </p:nvSpPr>
        <p:spPr>
          <a:xfrm>
            <a:off x="10296144" y="6181344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Animated marker 7-11"/>
          <p:cNvSpPr/>
          <p:nvPr/>
        </p:nvSpPr>
        <p:spPr>
          <a:xfrm>
            <a:off x="10588752" y="6181344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Animated marker 7-12"/>
          <p:cNvSpPr/>
          <p:nvPr/>
        </p:nvSpPr>
        <p:spPr>
          <a:xfrm>
            <a:off x="10881360" y="6181344"/>
            <a:ext cx="73152" cy="73152"/>
          </a:xfrm>
          <a:prstGeom prst="ellipse">
            <a:avLst/>
          </a:prstGeom>
          <a:solidFill>
            <a:srgbClr val="FF6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Animated marker 7-13"/>
          <p:cNvSpPr/>
          <p:nvPr/>
        </p:nvSpPr>
        <p:spPr>
          <a:xfrm>
            <a:off x="11173968" y="6181344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med" advClick="1">
    <p:fade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accel="15000" decel="15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accel="15000" decel="15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accel="15000" decel="15000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accel="15000" decel="1500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accel="15000" decel="1500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accel="15000" decel="1500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accel="15000" decel="15000" fill="hold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accel="15000" decel="1500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accel="15000" decel="1500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accel="15000" decel="1500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accel="15000" decel="15000" fill="hold" grpId="0" nodeType="with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accel="15000" decel="15000" fill="hold" grpId="0" nodeType="withEffect">
                                  <p:stCondLst>
                                    <p:cond delay="315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0" presetClass="entr" presetSubtype="0" accel="15000" decel="15000" fill="hold" grpId="1" nodeType="withEffect">
                                  <p:stCondLst>
                                    <p:cond delay="322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0.09750000 0.12266667 E" pathEditMode="relative">
                                      <p:cBhvr from="" to="">
                                        <p:cTn id="43" dur="12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4" presetID="10" presetClass="entr" presetSubtype="0" accel="15000" decel="15000" fill="hold" grpId="0" nodeType="withEffect">
                                  <p:stCondLst>
                                    <p:cond delay="33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2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accel="15000" decel="15000" fill="hold" grpId="0" nodeType="withEffect">
                                  <p:stCondLst>
                                    <p:cond delay="34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2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accel="15000" decel="15000" fill="hold" grpId="0" nodeType="withEffect">
                                  <p:stCondLst>
                                    <p:cond delay="36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8" accel="15000" decel="15000" fill="hold" nodeType="withEffect">
                                  <p:stCondLst>
                                    <p:cond delay="44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xit" presetSubtype="0" accel="15000" decel="15000" fill="hold" grpId="2" nodeType="withEffect">
                                  <p:stCondLst>
                                    <p:cond delay="44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" dur="1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119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0" presetClass="entr" presetSubtype="0" accel="15000" decel="15000" fill="hold" grpId="0" nodeType="withEffect">
                                  <p:stCondLst>
                                    <p:cond delay="45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accel="15000" decel="1500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2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0" presetClass="entr" presetSubtype="0" repeatCount="6000" accel="15000" decel="15000" autoRev="1" fill="hold" grpId="1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Scale>
                                      <p:cBhvr>
                                        <p:cTn id="67" dur="12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</p:cBhvr>
                                      <p:from x="100000" y="100000"/>
                                      <p:to x="111000" y="111000"/>
                                    </p:animScale>
                                  </p:childTnLst>
                                </p:cTn>
                              </p:par>
                              <p:par>
                                <p:cTn id="68" presetID="10" presetClass="entr" presetSubtype="0" accel="15000" decel="15000" fill="hold" grpId="0" nodeType="withEffect">
                                  <p:stCondLst>
                                    <p:cond delay="51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1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accel="15000" decel="15000" fill="hold" grpId="0" nodeType="withEffect">
                                  <p:stCondLst>
                                    <p:cond delay="515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2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0" presetClass="entr" presetSubtype="0" accel="15000" decel="15000" fill="hold" grpId="1" nodeType="withEffect">
                                  <p:stCondLst>
                                    <p:cond delay="522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0.09750000 0.06266667 E" pathEditMode="relative">
                                      <p:cBhvr from="" to="">
                                        <p:cTn id="76" dur="12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7" presetID="10" presetClass="entr" presetSubtype="0" accel="15000" decel="15000" fill="hold" grpId="0" nodeType="withEffect">
                                  <p:stCondLst>
                                    <p:cond delay="53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2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accel="15000" decel="15000" fill="hold" grpId="0" nodeType="withEffect">
                                  <p:stCondLst>
                                    <p:cond delay="54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2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accel="15000" decel="15000" fill="hold" grpId="0" nodeType="withEffect">
                                  <p:stCondLst>
                                    <p:cond delay="56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2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22" presetClass="entr" presetSubtype="8" accel="15000" decel="15000" fill="hold" nodeType="withEffect">
                                  <p:stCondLst>
                                    <p:cond delay="640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8" dur="6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xit" presetSubtype="0" accel="15000" decel="15000" fill="hold" grpId="2" nodeType="withEffect">
                                  <p:stCondLst>
                                    <p:cond delay="64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0" dur="1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11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" presetID="10" presetClass="entr" presetSubtype="0" accel="15000" decel="15000" fill="hold" grpId="0" nodeType="withEffect">
                                  <p:stCondLst>
                                    <p:cond delay="65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accel="15000" decel="1500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2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accel="15000" decel="15000" fill="hold" grpId="0" nodeType="withEffect">
                                  <p:stCondLst>
                                    <p:cond delay="710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12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accel="15000" decel="15000" fill="hold" grpId="0" nodeType="withEffect">
                                  <p:stCondLst>
                                    <p:cond delay="715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2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0" presetClass="entr" presetSubtype="0" accel="15000" decel="15000" fill="hold" grpId="1" nodeType="withEffect">
                                  <p:stCondLst>
                                    <p:cond delay="722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0.09750000 0.00266667 E" pathEditMode="relative">
                                      <p:cBhvr from="" to="">
                                        <p:cTn id="106" dur="12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7" presetID="10" presetClass="entr" presetSubtype="0" accel="15000" decel="15000" fill="hold" grpId="0" nodeType="withEffect">
                                  <p:stCondLst>
                                    <p:cond delay="73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2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accel="15000" decel="15000" fill="hold" grpId="0" nodeType="withEffect">
                                  <p:stCondLst>
                                    <p:cond delay="745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2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accel="15000" decel="15000" fill="hold" grpId="0" nodeType="withEffect">
                                  <p:stCondLst>
                                    <p:cond delay="76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2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22" presetClass="entr" presetSubtype="8" accel="15000" decel="15000" fill="hold" nodeType="withEffect">
                                  <p:stCondLst>
                                    <p:cond delay="840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8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xit" presetSubtype="0" accel="15000" decel="15000" fill="hold" grpId="2" nodeType="withEffect">
                                  <p:stCondLst>
                                    <p:cond delay="84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0" dur="12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11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2" presetID="10" presetClass="entr" presetSubtype="0" accel="15000" decel="15000" fill="hold" grpId="0" nodeType="withEffect">
                                  <p:stCondLst>
                                    <p:cond delay="850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accel="15000" decel="1500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2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accel="15000" decel="15000" fill="hold" grpId="0" nodeType="withEffect">
                                  <p:stCondLst>
                                    <p:cond delay="910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1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accel="15000" decel="15000" fill="hold" grpId="0" nodeType="withEffect">
                                  <p:stCondLst>
                                    <p:cond delay="915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2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0" presetClass="entr" presetSubtype="0" accel="15000" decel="15000" fill="hold" grpId="1" nodeType="withEffect">
                                  <p:stCondLst>
                                    <p:cond delay="922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0.09750000 -0.05733333 E" pathEditMode="relative">
                                      <p:cBhvr from="" to="">
                                        <p:cTn id="136" dur="12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7" presetID="10" presetClass="entr" presetSubtype="0" accel="15000" decel="15000" fill="hold" grpId="0" nodeType="withEffect">
                                  <p:stCondLst>
                                    <p:cond delay="930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2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accel="15000" decel="15000" fill="hold" grpId="0" nodeType="withEffect">
                                  <p:stCondLst>
                                    <p:cond delay="945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2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accel="15000" decel="15000" fill="hold" grpId="0" nodeType="withEffect">
                                  <p:stCondLst>
                                    <p:cond delay="960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2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22" presetClass="entr" presetSubtype="8" accel="15000" decel="15000" fill="hold" nodeType="withEffect">
                                  <p:stCondLst>
                                    <p:cond delay="1040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8" dur="6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xit" presetSubtype="0" accel="15000" decel="15000" fill="hold" grpId="2" nodeType="withEffect">
                                  <p:stCondLst>
                                    <p:cond delay="104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0" dur="1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11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2" presetID="10" presetClass="entr" presetSubtype="0" accel="15000" decel="15000" fill="hold" grpId="0" nodeType="withEffect">
                                  <p:stCondLst>
                                    <p:cond delay="1110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12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0" presetClass="entr" presetSubtype="0" accel="15000" decel="15000" fill="hold" grpId="1" nodeType="withEffect">
                                  <p:stCondLst>
                                    <p:cond delay="1122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0.09750000 -0.11733333 E" pathEditMode="relative">
                                      <p:cBhvr from="" to="">
                                        <p:cTn id="157" dur="12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8" presetID="10" presetClass="exit" presetSubtype="0" accel="15000" decel="15000" fill="hold" grpId="2" nodeType="withEffect">
                                  <p:stCondLst>
                                    <p:cond delay="124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9" dur="12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11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8" grpId="1" animBg="1"/>
      <p:bldP spid="18" grpId="2" animBg="1"/>
      <p:bldP spid="19" grpId="0"/>
      <p:bldP spid="20" grpId="0" animBg="1"/>
      <p:bldP spid="21" grpId="0" animBg="1"/>
      <p:bldP spid="22" grpId="0" animBg="1"/>
      <p:bldP spid="23" grpId="0" animBg="1"/>
      <p:bldP spid="24" grpId="0" animBg="1"/>
      <p:bldP spid="26" grpId="0" animBg="1"/>
      <p:bldP spid="26" grpId="1" animBg="1"/>
      <p:bldP spid="26" grpId="2" animBg="1"/>
      <p:bldP spid="27" grpId="0"/>
      <p:bldP spid="28" grpId="0" animBg="1"/>
      <p:bldP spid="29" grpId="0" animBg="1"/>
      <p:bldP spid="30" grpId="0" animBg="1"/>
      <p:bldP spid="31" grpId="0" animBg="1"/>
      <p:bldP spid="32" grpId="0" animBg="1"/>
      <p:bldP spid="34" grpId="0" animBg="1"/>
      <p:bldP spid="34" grpId="1" animBg="1"/>
      <p:bldP spid="34" grpId="2" animBg="1"/>
      <p:bldP spid="35" grpId="0"/>
      <p:bldP spid="36" grpId="0" animBg="1"/>
      <p:bldP spid="37" grpId="0" animBg="1"/>
      <p:bldP spid="38" grpId="0" animBg="1"/>
      <p:bldP spid="39" grpId="0" animBg="1"/>
      <p:bldP spid="40" grpId="0" animBg="1"/>
      <p:bldP spid="42" grpId="0" animBg="1"/>
      <p:bldP spid="42" grpId="1" animBg="1"/>
      <p:bldP spid="42" grpId="2" animBg="1"/>
      <p:bldP spid="43" grpId="0"/>
      <p:bldP spid="44" grpId="0" animBg="1"/>
      <p:bldP spid="45" grpId="0" animBg="1"/>
      <p:bldP spid="46" grpId="0" animBg="1"/>
      <p:bldP spid="47" grpId="0" animBg="1"/>
      <p:bldP spid="48" grpId="0" animBg="1"/>
      <p:bldP spid="50" grpId="0" animBg="1"/>
      <p:bldP spid="50" grpId="1" animBg="1"/>
      <p:bldP spid="50" grpId="2" animBg="1"/>
      <p:bldP spid="51" grpId="0" animBg="1"/>
      <p:bldP spid="51" grpId="1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603504" y="320040"/>
            <a:ext cx="8412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14192A"/>
                </a:solidFill>
                <a:latin typeface="Liberation Sans"/>
              </a:defRPr>
            </a:pPr>
            <a:r>
              <a:t>06 / CONTROLLED EVIDENCE</a:t>
            </a:r>
          </a:p>
        </p:txBody>
      </p:sp>
      <p:sp>
        <p:nvSpPr>
          <p:cNvPr id="3" name="Scene counter"/>
          <p:cNvSpPr txBox="1"/>
          <p:nvPr/>
        </p:nvSpPr>
        <p:spPr>
          <a:xfrm>
            <a:off x="10789920" y="283464"/>
            <a:ext cx="77724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4192A"/>
                </a:solidFill>
                <a:latin typeface="Liberation Sans"/>
              </a:defRPr>
            </a:pPr>
            <a:r>
              <a:t>#08</a:t>
            </a:r>
          </a:p>
        </p:txBody>
      </p:sp>
      <p:sp>
        <p:nvSpPr>
          <p:cNvPr id="4" name="Progress track"/>
          <p:cNvSpPr/>
          <p:nvPr/>
        </p:nvSpPr>
        <p:spPr>
          <a:xfrm>
            <a:off x="594360" y="6487668"/>
            <a:ext cx="10972800" cy="13716"/>
          </a:xfrm>
          <a:prstGeom prst="rect">
            <a:avLst/>
          </a:prstGeom>
          <a:solidFill>
            <a:srgbClr val="E626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rogress position"/>
          <p:cNvSpPr/>
          <p:nvPr/>
        </p:nvSpPr>
        <p:spPr>
          <a:xfrm>
            <a:off x="594360" y="6487668"/>
            <a:ext cx="8778240" cy="36576"/>
          </a:xfrm>
          <a:prstGeom prst="rect">
            <a:avLst/>
          </a:prstGeom>
          <a:solidFill>
            <a:srgbClr val="E626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unning footer"/>
          <p:cNvSpPr txBox="1"/>
          <p:nvPr/>
        </p:nvSpPr>
        <p:spPr>
          <a:xfrm>
            <a:off x="594360" y="6565392"/>
            <a:ext cx="731520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4192A"/>
                </a:solidFill>
                <a:latin typeface="Liberation Sans"/>
              </a:defRPr>
            </a:pPr>
            <a:r>
              <a:t>NCKH  /  ENSEMBLE IDS  /  UNSW-NB15</a:t>
            </a:r>
          </a:p>
        </p:txBody>
      </p:sp>
      <p:pic>
        <p:nvPicPr>
          <p:cNvPr id="7" name="Picture 6" descr="Logo_PTIT_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9960" y="658368"/>
            <a:ext cx="438912" cy="438912"/>
          </a:xfrm>
          <a:prstGeom prst="rect">
            <a:avLst/>
          </a:prstGeom>
        </p:spPr>
      </p:pic>
      <p:sp>
        <p:nvSpPr>
          <p:cNvPr id="8" name="Hero title"/>
          <p:cNvSpPr txBox="1"/>
          <p:nvPr/>
        </p:nvSpPr>
        <p:spPr>
          <a:xfrm>
            <a:off x="585216" y="694944"/>
            <a:ext cx="1060704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5100" b="1">
                <a:solidFill>
                  <a:srgbClr val="14192A"/>
                </a:solidFill>
                <a:latin typeface="Liberation Sans"/>
              </a:defRPr>
            </a:pPr>
            <a:r>
              <a:t>CHẤT LƯỢNG.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5100" b="1">
                <a:solidFill>
                  <a:srgbClr val="14192A"/>
                </a:solidFill>
                <a:latin typeface="Liberation Sans"/>
              </a:defRPr>
            </a:pPr>
            <a:r>
              <a:t>CHI PHÍ. SAI SỐ.</a:t>
            </a:r>
          </a:p>
        </p:txBody>
      </p:sp>
      <p:sp>
        <p:nvSpPr>
          <p:cNvPr id="9" name="Shape"/>
          <p:cNvSpPr/>
          <p:nvPr/>
        </p:nvSpPr>
        <p:spPr>
          <a:xfrm>
            <a:off x="658368" y="2926080"/>
            <a:ext cx="3675887" cy="1298448"/>
          </a:xfrm>
          <a:prstGeom prst="roundRect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"/>
          <p:cNvSpPr txBox="1"/>
          <p:nvPr/>
        </p:nvSpPr>
        <p:spPr>
          <a:xfrm>
            <a:off x="841247" y="309067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14192A"/>
                </a:solidFill>
                <a:latin typeface="Liberation Sans"/>
              </a:defRPr>
            </a:pPr>
            <a:r>
              <a:t>RF42-LITE</a:t>
            </a:r>
          </a:p>
        </p:txBody>
      </p:sp>
      <p:sp>
        <p:nvSpPr>
          <p:cNvPr id="11" name="Text"/>
          <p:cNvSpPr txBox="1"/>
          <p:nvPr/>
        </p:nvSpPr>
        <p:spPr>
          <a:xfrm>
            <a:off x="813816" y="3547872"/>
            <a:ext cx="338328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3500" b="1">
                <a:solidFill>
                  <a:srgbClr val="14192A"/>
                </a:solidFill>
                <a:latin typeface="Liberation Sans"/>
              </a:defRPr>
            </a:pPr>
            <a:r>
              <a:t>0,945220</a:t>
            </a:r>
          </a:p>
        </p:txBody>
      </p:sp>
      <p:sp>
        <p:nvSpPr>
          <p:cNvPr id="12" name="Shape"/>
          <p:cNvSpPr/>
          <p:nvPr/>
        </p:nvSpPr>
        <p:spPr>
          <a:xfrm>
            <a:off x="4517136" y="2926080"/>
            <a:ext cx="3675887" cy="1298448"/>
          </a:xfrm>
          <a:prstGeom prst="roundRect">
            <a:avLst/>
          </a:prstGeom>
          <a:solidFill>
            <a:srgbClr val="867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4700016" y="309067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14192A"/>
                </a:solidFill>
                <a:latin typeface="Liberation Sans"/>
              </a:defRPr>
            </a:pPr>
            <a:r>
              <a:t>STACKING-LITE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4672583" y="3547872"/>
            <a:ext cx="338328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3500" b="1">
                <a:solidFill>
                  <a:srgbClr val="14192A"/>
                </a:solidFill>
                <a:latin typeface="Liberation Sans"/>
              </a:defRPr>
            </a:pPr>
            <a:r>
              <a:t>0,944731</a:t>
            </a:r>
          </a:p>
        </p:txBody>
      </p:sp>
      <p:sp>
        <p:nvSpPr>
          <p:cNvPr id="15" name="Shape"/>
          <p:cNvSpPr/>
          <p:nvPr/>
        </p:nvSpPr>
        <p:spPr>
          <a:xfrm>
            <a:off x="8375904" y="2926080"/>
            <a:ext cx="3675887" cy="1298448"/>
          </a:xfrm>
          <a:prstGeom prst="roundRect">
            <a:avLst/>
          </a:prstGeom>
          <a:solidFill>
            <a:srgbClr val="FF6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"/>
          <p:cNvSpPr txBox="1"/>
          <p:nvPr/>
        </p:nvSpPr>
        <p:spPr>
          <a:xfrm>
            <a:off x="8558784" y="309067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14192A"/>
                </a:solidFill>
                <a:latin typeface="Liberation Sans"/>
              </a:defRPr>
            </a:pPr>
            <a:r>
              <a:t>RF17-LITE</a:t>
            </a:r>
          </a:p>
        </p:txBody>
      </p:sp>
      <p:sp>
        <p:nvSpPr>
          <p:cNvPr id="17" name="Text"/>
          <p:cNvSpPr txBox="1"/>
          <p:nvPr/>
        </p:nvSpPr>
        <p:spPr>
          <a:xfrm>
            <a:off x="8531352" y="3547872"/>
            <a:ext cx="338328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3500" b="1">
                <a:solidFill>
                  <a:srgbClr val="14192A"/>
                </a:solidFill>
                <a:latin typeface="Liberation Sans"/>
              </a:defRPr>
            </a:pPr>
            <a:r>
              <a:t>0,936751</a:t>
            </a:r>
          </a:p>
        </p:txBody>
      </p:sp>
      <p:sp>
        <p:nvSpPr>
          <p:cNvPr id="18" name="Shape"/>
          <p:cNvSpPr/>
          <p:nvPr/>
        </p:nvSpPr>
        <p:spPr>
          <a:xfrm>
            <a:off x="676656" y="4736592"/>
            <a:ext cx="6839712" cy="1170432"/>
          </a:xfrm>
          <a:prstGeom prst="roundRect">
            <a:avLst/>
          </a:prstGeom>
          <a:solidFill>
            <a:srgbClr val="141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32688" y="4910328"/>
            <a:ext cx="59436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F8F5EE"/>
                </a:solidFill>
                <a:latin typeface="Liberation Sans"/>
              </a:defRPr>
            </a:pPr>
            <a:r>
              <a:t>SELECTOR + RF17 FIT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914400" y="5276088"/>
            <a:ext cx="5989320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C7F877"/>
                </a:solidFill>
                <a:latin typeface="Liberation Sans"/>
              </a:defRPr>
            </a:pPr>
            <a:r>
              <a:t>309,850s   &gt;   RF42 FIT 241,119s</a:t>
            </a:r>
          </a:p>
        </p:txBody>
      </p:sp>
      <p:sp>
        <p:nvSpPr>
          <p:cNvPr id="21" name="Shape"/>
          <p:cNvSpPr/>
          <p:nvPr/>
        </p:nvSpPr>
        <p:spPr>
          <a:xfrm>
            <a:off x="7735824" y="4736592"/>
            <a:ext cx="3712463" cy="1170432"/>
          </a:xfrm>
          <a:prstGeom prst="roundRect">
            <a:avLst/>
          </a:prstGeom>
          <a:solidFill>
            <a:srgbClr val="E8EA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"/>
          <p:cNvSpPr txBox="1"/>
          <p:nvPr/>
        </p:nvSpPr>
        <p:spPr>
          <a:xfrm>
            <a:off x="7955279" y="4882896"/>
            <a:ext cx="328269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E62629"/>
                </a:solidFill>
                <a:latin typeface="Liberation Sans"/>
              </a:defRPr>
            </a:pPr>
            <a:r>
              <a:t>BALANCING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7946136" y="5248656"/>
            <a:ext cx="3191256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14192A"/>
                </a:solidFill>
                <a:latin typeface="Liberation Sans"/>
              </a:defRPr>
            </a:pPr>
            <a:r>
              <a:t>FPR ↓    FNR ↑</a:t>
            </a:r>
          </a:p>
        </p:txBody>
      </p:sp>
      <p:sp>
        <p:nvSpPr>
          <p:cNvPr id="24" name="Animated marker 8-0"/>
          <p:cNvSpPr/>
          <p:nvPr/>
        </p:nvSpPr>
        <p:spPr>
          <a:xfrm>
            <a:off x="9418320" y="5925312"/>
            <a:ext cx="73152" cy="73152"/>
          </a:xfrm>
          <a:prstGeom prst="ellipse">
            <a:avLst/>
          </a:prstGeom>
          <a:solidFill>
            <a:srgbClr val="FF6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Animated marker 8-1"/>
          <p:cNvSpPr/>
          <p:nvPr/>
        </p:nvSpPr>
        <p:spPr>
          <a:xfrm>
            <a:off x="9710928" y="5925312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Animated marker 8-2"/>
          <p:cNvSpPr/>
          <p:nvPr/>
        </p:nvSpPr>
        <p:spPr>
          <a:xfrm>
            <a:off x="10003536" y="5925312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Animated marker 8-3"/>
          <p:cNvSpPr/>
          <p:nvPr/>
        </p:nvSpPr>
        <p:spPr>
          <a:xfrm>
            <a:off x="10296144" y="5925312"/>
            <a:ext cx="73152" cy="73152"/>
          </a:xfrm>
          <a:prstGeom prst="ellipse">
            <a:avLst/>
          </a:prstGeom>
          <a:solidFill>
            <a:srgbClr val="FF6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Animated marker 8-4"/>
          <p:cNvSpPr/>
          <p:nvPr/>
        </p:nvSpPr>
        <p:spPr>
          <a:xfrm>
            <a:off x="10588752" y="5925312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Animated marker 8-5"/>
          <p:cNvSpPr/>
          <p:nvPr/>
        </p:nvSpPr>
        <p:spPr>
          <a:xfrm>
            <a:off x="10881360" y="5925312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Animated marker 8-6"/>
          <p:cNvSpPr/>
          <p:nvPr/>
        </p:nvSpPr>
        <p:spPr>
          <a:xfrm>
            <a:off x="11173968" y="5925312"/>
            <a:ext cx="73152" cy="73152"/>
          </a:xfrm>
          <a:prstGeom prst="ellipse">
            <a:avLst/>
          </a:prstGeom>
          <a:solidFill>
            <a:srgbClr val="FF6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Animated marker 8-7"/>
          <p:cNvSpPr/>
          <p:nvPr/>
        </p:nvSpPr>
        <p:spPr>
          <a:xfrm>
            <a:off x="9418320" y="6181344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Animated marker 8-8"/>
          <p:cNvSpPr/>
          <p:nvPr/>
        </p:nvSpPr>
        <p:spPr>
          <a:xfrm>
            <a:off x="9710928" y="6181344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Animated marker 8-9"/>
          <p:cNvSpPr/>
          <p:nvPr/>
        </p:nvSpPr>
        <p:spPr>
          <a:xfrm>
            <a:off x="10003536" y="6181344"/>
            <a:ext cx="73152" cy="73152"/>
          </a:xfrm>
          <a:prstGeom prst="ellipse">
            <a:avLst/>
          </a:prstGeom>
          <a:solidFill>
            <a:srgbClr val="FF6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Animated marker 8-10"/>
          <p:cNvSpPr/>
          <p:nvPr/>
        </p:nvSpPr>
        <p:spPr>
          <a:xfrm>
            <a:off x="10296144" y="6181344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Animated marker 8-11"/>
          <p:cNvSpPr/>
          <p:nvPr/>
        </p:nvSpPr>
        <p:spPr>
          <a:xfrm>
            <a:off x="10588752" y="6181344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Animated marker 8-12"/>
          <p:cNvSpPr/>
          <p:nvPr/>
        </p:nvSpPr>
        <p:spPr>
          <a:xfrm>
            <a:off x="10881360" y="6181344"/>
            <a:ext cx="73152" cy="73152"/>
          </a:xfrm>
          <a:prstGeom prst="ellipse">
            <a:avLst/>
          </a:prstGeom>
          <a:solidFill>
            <a:srgbClr val="FF6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Animated marker 8-13"/>
          <p:cNvSpPr/>
          <p:nvPr/>
        </p:nvSpPr>
        <p:spPr>
          <a:xfrm>
            <a:off x="11173968" y="6181344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med" advClick="1">
    <p:fade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accel="15000" decel="15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accel="15000" decel="1500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accel="15000" decel="15000" fill="hold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1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accel="15000" decel="1500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0" presetClass="entr" presetSubtype="0" accel="15000" decel="15000" fill="hold" grpId="1" nodeType="withEffect">
                                  <p:stCondLst>
                                    <p:cond delay="51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-0.16809813 -0.14543213 E" pathEditMode="relative">
                                      <p:cBhvr from="" to="">
                                        <p:cTn id="19" dur="17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10" presetClass="entr" presetSubtype="0" accel="15000" decel="1500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accel="15000" decel="15000" fill="hold" grpId="0" nodeType="withEffect">
                                  <p:stCondLst>
                                    <p:cond delay="64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xit" presetSubtype="0" accel="15000" decel="15000" fill="hold" grpId="2" nodeType="withEffect">
                                  <p:stCondLst>
                                    <p:cond delay="68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1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11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22" presetClass="entr" presetSubtype="8" accel="15000" decel="15000" fill="hold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accel="15000" decel="1500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0" presetClass="entr" presetSubtype="0" accel="15000" decel="15000" fill="hold" grpId="1" nodeType="withEffect">
                                  <p:stCondLst>
                                    <p:cond delay="101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-0.11734782 -0.09500547 E" pathEditMode="relative">
                                      <p:cBhvr from="" to="">
                                        <p:cTn id="37" dur="17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8" presetID="10" presetClass="entr" presetSubtype="0" accel="15000" decel="15000" fill="hold" grpId="0" nodeType="withEffect">
                                  <p:stCondLst>
                                    <p:cond delay="110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accel="15000" decel="15000" fill="hold" grpId="0" nodeType="withEffect">
                                  <p:stCondLst>
                                    <p:cond delay="114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xit" presetSubtype="0" accel="15000" decel="15000" fill="hold" grpId="2" nodeType="withEffect">
                                  <p:stCondLst>
                                    <p:cond delay="118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1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11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/>
      <p:bldP spid="20" grpId="0" animBg="1"/>
      <p:bldP spid="20" grpId="1" animBg="1"/>
      <p:bldP spid="20" grpId="2" animBg="1"/>
      <p:bldP spid="21" grpId="0" animBg="1"/>
      <p:bldP spid="22" grpId="0"/>
      <p:bldP spid="24" grpId="0" animBg="1"/>
      <p:bldP spid="24" grpId="1" animBg="1"/>
      <p:bldP spid="24" grpId="2" animBg="1"/>
      <p:bldP spid="25" grpId="0" animBg="1"/>
      <p:bldP spid="26" grpId="0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9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603504" y="320040"/>
            <a:ext cx="8412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8F5EE"/>
                </a:solidFill>
                <a:latin typeface="Liberation Sans"/>
              </a:defRPr>
            </a:pPr>
            <a:r>
              <a:t>07 / CONCLUSION</a:t>
            </a:r>
          </a:p>
        </p:txBody>
      </p:sp>
      <p:sp>
        <p:nvSpPr>
          <p:cNvPr id="3" name="Scene counter"/>
          <p:cNvSpPr txBox="1"/>
          <p:nvPr/>
        </p:nvSpPr>
        <p:spPr>
          <a:xfrm>
            <a:off x="10789920" y="283464"/>
            <a:ext cx="77724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8F5EE"/>
                </a:solidFill>
                <a:latin typeface="Liberation Sans"/>
              </a:defRPr>
            </a:pPr>
            <a:r>
              <a:t>#09</a:t>
            </a:r>
          </a:p>
        </p:txBody>
      </p:sp>
      <p:sp>
        <p:nvSpPr>
          <p:cNvPr id="4" name="Progress track"/>
          <p:cNvSpPr/>
          <p:nvPr/>
        </p:nvSpPr>
        <p:spPr>
          <a:xfrm>
            <a:off x="594360" y="6487668"/>
            <a:ext cx="10972800" cy="13716"/>
          </a:xfrm>
          <a:prstGeom prst="rect">
            <a:avLst/>
          </a:prstGeom>
          <a:solidFill>
            <a:srgbClr val="FF6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rogress position"/>
          <p:cNvSpPr/>
          <p:nvPr/>
        </p:nvSpPr>
        <p:spPr>
          <a:xfrm>
            <a:off x="594360" y="6487668"/>
            <a:ext cx="9875520" cy="36576"/>
          </a:xfrm>
          <a:prstGeom prst="rect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unning footer"/>
          <p:cNvSpPr txBox="1"/>
          <p:nvPr/>
        </p:nvSpPr>
        <p:spPr>
          <a:xfrm>
            <a:off x="594360" y="6565392"/>
            <a:ext cx="731520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8F5EE"/>
                </a:solidFill>
                <a:latin typeface="Liberation Sans"/>
              </a:defRPr>
            </a:pPr>
            <a:r>
              <a:t>NCKH  /  ENSEMBLE IDS  /  UNSW-NB15</a:t>
            </a:r>
          </a:p>
        </p:txBody>
      </p:sp>
      <p:pic>
        <p:nvPicPr>
          <p:cNvPr id="7" name="Picture 6" descr="Logo_PTIT_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9960" y="658368"/>
            <a:ext cx="438912" cy="438912"/>
          </a:xfrm>
          <a:prstGeom prst="rect">
            <a:avLst/>
          </a:prstGeom>
        </p:spPr>
      </p:pic>
      <p:sp>
        <p:nvSpPr>
          <p:cNvPr id="8" name="Shape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Hero title"/>
          <p:cNvSpPr txBox="1"/>
          <p:nvPr/>
        </p:nvSpPr>
        <p:spPr>
          <a:xfrm>
            <a:off x="594360" y="950976"/>
            <a:ext cx="10881360" cy="2331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5300" b="1">
                <a:solidFill>
                  <a:srgbClr val="F8F5EE"/>
                </a:solidFill>
                <a:latin typeface="Liberation Sans"/>
              </a:defRPr>
            </a:pPr>
            <a:r>
              <a:t>KHÔNG CÓ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5300" b="1">
                <a:solidFill>
                  <a:srgbClr val="F8F5EE"/>
                </a:solidFill>
                <a:latin typeface="Liberation Sans"/>
              </a:defRPr>
            </a:pPr>
            <a:r>
              <a:t>MÔ HÌNH TỐT NHẤT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5300" b="1">
                <a:solidFill>
                  <a:srgbClr val="F8F5EE"/>
                </a:solidFill>
                <a:latin typeface="Liberation Sans"/>
              </a:defRPr>
            </a:pPr>
            <a:r>
              <a:t>CHO MỌI LỖI.</a:t>
            </a:r>
          </a:p>
        </p:txBody>
      </p:sp>
      <p:cxnSp>
        <p:nvCxnSpPr>
          <p:cNvPr id="10" name="Connector"/>
          <p:cNvCxnSpPr/>
          <p:nvPr/>
        </p:nvCxnSpPr>
        <p:spPr>
          <a:xfrm>
            <a:off x="658368" y="4050791"/>
            <a:ext cx="10680192" cy="0"/>
          </a:xfrm>
          <a:prstGeom prst="line">
            <a:avLst/>
          </a:prstGeom>
          <a:ln w="50800">
            <a:solidFill>
              <a:srgbClr val="FF6A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"/>
          <p:cNvSpPr txBox="1"/>
          <p:nvPr/>
        </p:nvSpPr>
        <p:spPr>
          <a:xfrm>
            <a:off x="731520" y="4599432"/>
            <a:ext cx="356616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8F5EE"/>
                </a:solidFill>
                <a:latin typeface="Liberation Sans"/>
              </a:defRPr>
            </a:pPr>
            <a:r>
              <a:t>MÔ HÌNH ĐƠN</a:t>
            </a:r>
          </a:p>
        </p:txBody>
      </p:sp>
      <p:sp>
        <p:nvSpPr>
          <p:cNvPr id="12" name="Text"/>
          <p:cNvSpPr txBox="1"/>
          <p:nvPr/>
        </p:nvSpPr>
        <p:spPr>
          <a:xfrm>
            <a:off x="4517136" y="4599432"/>
            <a:ext cx="356616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1EC4D2"/>
                </a:solidFill>
                <a:latin typeface="Liberation Sans"/>
              </a:defRPr>
            </a:pPr>
            <a:r>
              <a:t>CƠ CHẾ ENSEMBLE</a:t>
            </a:r>
          </a:p>
        </p:txBody>
      </p:sp>
      <p:sp>
        <p:nvSpPr>
          <p:cNvPr id="13" name="Text"/>
          <p:cNvSpPr txBox="1"/>
          <p:nvPr/>
        </p:nvSpPr>
        <p:spPr>
          <a:xfrm>
            <a:off x="8302752" y="4599432"/>
            <a:ext cx="356616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8F5EE"/>
                </a:solidFill>
                <a:latin typeface="Liberation Sans"/>
              </a:defRPr>
            </a:pPr>
            <a:r>
              <a:t>CHI PHÍ LỖI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768096" y="5660136"/>
            <a:ext cx="106070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C5CBD5"/>
                </a:solidFill>
                <a:latin typeface="Liberation Sans"/>
              </a:defRPr>
            </a:pPr>
            <a:r>
              <a:t>Đối chứng có kiểm soát • Công khai giới hạn</a:t>
            </a:r>
          </a:p>
        </p:txBody>
      </p:sp>
      <p:sp>
        <p:nvSpPr>
          <p:cNvPr id="15" name="Animated marker 9-0"/>
          <p:cNvSpPr/>
          <p:nvPr/>
        </p:nvSpPr>
        <p:spPr>
          <a:xfrm>
            <a:off x="9418320" y="5925312"/>
            <a:ext cx="73152" cy="73152"/>
          </a:xfrm>
          <a:prstGeom prst="ellipse">
            <a:avLst/>
          </a:prstGeom>
          <a:solidFill>
            <a:srgbClr val="FF6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nimated marker 9-1"/>
          <p:cNvSpPr/>
          <p:nvPr/>
        </p:nvSpPr>
        <p:spPr>
          <a:xfrm>
            <a:off x="9710928" y="5925312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Animated marker 9-2"/>
          <p:cNvSpPr/>
          <p:nvPr/>
        </p:nvSpPr>
        <p:spPr>
          <a:xfrm>
            <a:off x="10003536" y="5925312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nimated marker 9-3"/>
          <p:cNvSpPr/>
          <p:nvPr/>
        </p:nvSpPr>
        <p:spPr>
          <a:xfrm>
            <a:off x="10296144" y="5925312"/>
            <a:ext cx="73152" cy="73152"/>
          </a:xfrm>
          <a:prstGeom prst="ellipse">
            <a:avLst/>
          </a:prstGeom>
          <a:solidFill>
            <a:srgbClr val="FF6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nimated marker 9-4"/>
          <p:cNvSpPr/>
          <p:nvPr/>
        </p:nvSpPr>
        <p:spPr>
          <a:xfrm>
            <a:off x="10588752" y="5925312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Animated marker 9-5"/>
          <p:cNvSpPr/>
          <p:nvPr/>
        </p:nvSpPr>
        <p:spPr>
          <a:xfrm>
            <a:off x="10881360" y="5925312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Animated marker 9-6"/>
          <p:cNvSpPr/>
          <p:nvPr/>
        </p:nvSpPr>
        <p:spPr>
          <a:xfrm>
            <a:off x="11173968" y="5925312"/>
            <a:ext cx="73152" cy="73152"/>
          </a:xfrm>
          <a:prstGeom prst="ellipse">
            <a:avLst/>
          </a:prstGeom>
          <a:solidFill>
            <a:srgbClr val="FF6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nimated marker 9-7"/>
          <p:cNvSpPr/>
          <p:nvPr/>
        </p:nvSpPr>
        <p:spPr>
          <a:xfrm>
            <a:off x="9418320" y="6181344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Animated marker 9-8"/>
          <p:cNvSpPr/>
          <p:nvPr/>
        </p:nvSpPr>
        <p:spPr>
          <a:xfrm>
            <a:off x="9710928" y="6181344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Animated marker 9-9"/>
          <p:cNvSpPr/>
          <p:nvPr/>
        </p:nvSpPr>
        <p:spPr>
          <a:xfrm>
            <a:off x="10003536" y="6181344"/>
            <a:ext cx="73152" cy="73152"/>
          </a:xfrm>
          <a:prstGeom prst="ellipse">
            <a:avLst/>
          </a:prstGeom>
          <a:solidFill>
            <a:srgbClr val="FF6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Animated marker 9-10"/>
          <p:cNvSpPr/>
          <p:nvPr/>
        </p:nvSpPr>
        <p:spPr>
          <a:xfrm>
            <a:off x="10296144" y="6181344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Animated marker 9-11"/>
          <p:cNvSpPr/>
          <p:nvPr/>
        </p:nvSpPr>
        <p:spPr>
          <a:xfrm>
            <a:off x="10588752" y="6181344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Animated marker 9-12"/>
          <p:cNvSpPr/>
          <p:nvPr/>
        </p:nvSpPr>
        <p:spPr>
          <a:xfrm>
            <a:off x="10881360" y="6181344"/>
            <a:ext cx="73152" cy="73152"/>
          </a:xfrm>
          <a:prstGeom prst="ellipse">
            <a:avLst/>
          </a:prstGeom>
          <a:solidFill>
            <a:srgbClr val="FF6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Animated marker 9-13"/>
          <p:cNvSpPr/>
          <p:nvPr/>
        </p:nvSpPr>
        <p:spPr>
          <a:xfrm>
            <a:off x="11173968" y="6181344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med" advClick="1">
    <p:fade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accel="15000" decel="1500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accel="15000" decel="1500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0" presetClass="entr" presetSubtype="0" repeatCount="5000" accel="15000" decel="15000" fill="hold" grpId="1" nodeType="withEffect">
                                  <p:stCondLst>
                                    <p:cond delay="312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0.25500001 0.00000000 E" pathEditMode="relative">
                                      <p:cBhvr from="" to="">
                                        <p:cTn id="13" dur="2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10" presetClass="entr" presetSubtype="0" accel="15000" decel="15000" fill="hold" grpId="0" nodeType="withEffect">
                                  <p:stCondLst>
                                    <p:cond delay="53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0" presetClass="entr" presetSubtype="0" repeatCount="5000" accel="15000" decel="15000" fill="hold" grpId="1" nodeType="withEffect">
                                  <p:stCondLst>
                                    <p:cond delay="54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0.25500001 0.00000000 E" pathEditMode="relative">
                                      <p:cBhvr from="" to="">
                                        <p:cTn id="19" dur="2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22" presetClass="entr" presetSubtype="8" accel="15000" decel="1500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accel="15000" decel="15000" fill="hold" grpId="0" nodeType="withEffect">
                                  <p:stCondLst>
                                    <p:cond delay="76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0" presetClass="entr" presetSubtype="0" repeatCount="5000" accel="15000" decel="15000" fill="hold" grpId="1" nodeType="withEffect">
                                  <p:stCondLst>
                                    <p:cond delay="77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0.25500001 0.00000000 E" pathEditMode="relative">
                                      <p:cBhvr from="" to="">
                                        <p:cTn id="28" dur="2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9" presetID="22" presetClass="entr" presetSubtype="8" accel="15000" decel="1500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xit" presetSubtype="0" accel="15000" decel="15000" fill="hold" grpId="2" nodeType="withEffect">
                                  <p:stCondLst>
                                    <p:cond delay="131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" dur="1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11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0" presetClass="entr" presetSubtype="0" accel="15000" decel="15000" fill="hold" grpId="0" nodeType="withEffect">
                                  <p:stCondLst>
                                    <p:cond delay="15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xit" presetSubtype="0" accel="15000" decel="15000" fill="hold" grpId="2" nodeType="withEffect">
                                  <p:stCondLst>
                                    <p:cond delay="154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1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11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0" presetClass="exit" presetSubtype="0" accel="15000" decel="15000" fill="hold" grpId="2" nodeType="withEffect">
                                  <p:stCondLst>
                                    <p:cond delay="177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" dur="1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11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9" grpId="0"/>
      <p:bldP spid="10" grpId="0" animBg="1"/>
      <p:bldP spid="10" grpId="1" animBg="1"/>
      <p:bldP spid="10" grpId="2" animBg="1"/>
      <p:bldP spid="11" grpId="0" animBg="1"/>
      <p:bldP spid="11" grpId="1" animBg="1"/>
      <p:bldP spid="11" grpId="2" animBg="1"/>
      <p:bldP spid="12" grpId="0" animBg="1"/>
      <p:bldP spid="12" grpId="1" animBg="1"/>
      <p:bldP spid="12" grpId="2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603504" y="320040"/>
            <a:ext cx="8412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14192A"/>
                </a:solidFill>
                <a:latin typeface="Liberation Sans"/>
              </a:defRPr>
            </a:pPr>
            <a:r>
              <a:t>08 / NEXT STEP</a:t>
            </a:r>
          </a:p>
        </p:txBody>
      </p:sp>
      <p:sp>
        <p:nvSpPr>
          <p:cNvPr id="3" name="Scene counter"/>
          <p:cNvSpPr txBox="1"/>
          <p:nvPr/>
        </p:nvSpPr>
        <p:spPr>
          <a:xfrm>
            <a:off x="10789920" y="283464"/>
            <a:ext cx="77724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4192A"/>
                </a:solidFill>
                <a:latin typeface="Liberation Sans"/>
              </a:defRPr>
            </a:pPr>
            <a:r>
              <a:t>#10</a:t>
            </a:r>
          </a:p>
        </p:txBody>
      </p:sp>
      <p:sp>
        <p:nvSpPr>
          <p:cNvPr id="4" name="Progress track"/>
          <p:cNvSpPr/>
          <p:nvPr/>
        </p:nvSpPr>
        <p:spPr>
          <a:xfrm>
            <a:off x="594360" y="6487668"/>
            <a:ext cx="10972800" cy="13716"/>
          </a:xfrm>
          <a:prstGeom prst="rect">
            <a:avLst/>
          </a:prstGeom>
          <a:solidFill>
            <a:srgbClr val="E626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rogress position"/>
          <p:cNvSpPr/>
          <p:nvPr/>
        </p:nvSpPr>
        <p:spPr>
          <a:xfrm>
            <a:off x="594360" y="6487668"/>
            <a:ext cx="10972800" cy="36576"/>
          </a:xfrm>
          <a:prstGeom prst="rect">
            <a:avLst/>
          </a:prstGeom>
          <a:solidFill>
            <a:srgbClr val="E626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unning footer"/>
          <p:cNvSpPr txBox="1"/>
          <p:nvPr/>
        </p:nvSpPr>
        <p:spPr>
          <a:xfrm>
            <a:off x="594360" y="6565392"/>
            <a:ext cx="731520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4192A"/>
                </a:solidFill>
                <a:latin typeface="Liberation Sans"/>
              </a:defRPr>
            </a:pPr>
            <a:r>
              <a:t>NCKH  /  ENSEMBLE IDS  /  UNSW-NB15</a:t>
            </a:r>
          </a:p>
        </p:txBody>
      </p:sp>
      <p:pic>
        <p:nvPicPr>
          <p:cNvPr id="7" name="Picture 6" descr="Logo_PTIT_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9960" y="658368"/>
            <a:ext cx="438912" cy="438912"/>
          </a:xfrm>
          <a:prstGeom prst="rect">
            <a:avLst/>
          </a:prstGeom>
        </p:spPr>
      </p:pic>
      <p:pic>
        <p:nvPicPr>
          <p:cNvPr id="8" name="Picture 7" descr="Logo_PTIT_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960120"/>
            <a:ext cx="1444752" cy="1444752"/>
          </a:xfrm>
          <a:prstGeom prst="rect">
            <a:avLst/>
          </a:prstGeom>
        </p:spPr>
      </p:pic>
      <p:sp>
        <p:nvSpPr>
          <p:cNvPr id="9" name="Hero title"/>
          <p:cNvSpPr txBox="1"/>
          <p:nvPr/>
        </p:nvSpPr>
        <p:spPr>
          <a:xfrm>
            <a:off x="2468880" y="1920240"/>
            <a:ext cx="9052560" cy="2148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6600" b="1">
                <a:solidFill>
                  <a:srgbClr val="14192A"/>
                </a:solidFill>
                <a:latin typeface="Liberation Sans"/>
              </a:defRPr>
            </a:pPr>
            <a:r>
              <a:t>XIN CẢM ƠN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6600" b="1">
                <a:solidFill>
                  <a:srgbClr val="14192A"/>
                </a:solidFill>
                <a:latin typeface="Liberation Sans"/>
              </a:defRPr>
            </a:pPr>
            <a:r>
              <a:t>QUÝ THẦY CÔ.</a:t>
            </a:r>
          </a:p>
        </p:txBody>
      </p:sp>
      <p:sp>
        <p:nvSpPr>
          <p:cNvPr id="10" name="Shape"/>
          <p:cNvSpPr/>
          <p:nvPr/>
        </p:nvSpPr>
        <p:spPr>
          <a:xfrm>
            <a:off x="2496312" y="4261104"/>
            <a:ext cx="7891272" cy="65836"/>
          </a:xfrm>
          <a:prstGeom prst="rect">
            <a:avLst/>
          </a:prstGeom>
          <a:solidFill>
            <a:srgbClr val="E626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514600" y="4700016"/>
            <a:ext cx="83667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255E9E"/>
                </a:solidFill>
                <a:latin typeface="Liberation Sans"/>
              </a:defRPr>
            </a:pPr>
            <a:r>
              <a:t>BƯỚC TIẾP: DỮ LIỆU MỚI  ·  THEO THỜI GIAN/PHIÊN  ·  CHI PHÍ SOC</a:t>
            </a:r>
          </a:p>
        </p:txBody>
      </p:sp>
      <p:sp>
        <p:nvSpPr>
          <p:cNvPr id="12" name="Text"/>
          <p:cNvSpPr txBox="1"/>
          <p:nvPr/>
        </p:nvSpPr>
        <p:spPr>
          <a:xfrm>
            <a:off x="2532888" y="5751576"/>
            <a:ext cx="67665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4192A"/>
                </a:solidFill>
                <a:latin typeface="Liberation Sans"/>
              </a:defRPr>
            </a:pPr>
            <a:r>
              <a:t>GVHD: TS. LÊ NGỌC HIẾU</a:t>
            </a:r>
          </a:p>
        </p:txBody>
      </p:sp>
      <p:sp>
        <p:nvSpPr>
          <p:cNvPr id="13" name="Animated marker 10-0"/>
          <p:cNvSpPr/>
          <p:nvPr/>
        </p:nvSpPr>
        <p:spPr>
          <a:xfrm>
            <a:off x="9418320" y="5925312"/>
            <a:ext cx="73152" cy="73152"/>
          </a:xfrm>
          <a:prstGeom prst="ellipse">
            <a:avLst/>
          </a:prstGeom>
          <a:solidFill>
            <a:srgbClr val="FF6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Animated marker 10-1"/>
          <p:cNvSpPr/>
          <p:nvPr/>
        </p:nvSpPr>
        <p:spPr>
          <a:xfrm>
            <a:off x="9710928" y="5925312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Animated marker 10-2"/>
          <p:cNvSpPr/>
          <p:nvPr/>
        </p:nvSpPr>
        <p:spPr>
          <a:xfrm>
            <a:off x="10003536" y="5925312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nimated marker 10-3"/>
          <p:cNvSpPr/>
          <p:nvPr/>
        </p:nvSpPr>
        <p:spPr>
          <a:xfrm>
            <a:off x="10296144" y="5925312"/>
            <a:ext cx="73152" cy="73152"/>
          </a:xfrm>
          <a:prstGeom prst="ellipse">
            <a:avLst/>
          </a:prstGeom>
          <a:solidFill>
            <a:srgbClr val="FF6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Animated marker 10-4"/>
          <p:cNvSpPr/>
          <p:nvPr/>
        </p:nvSpPr>
        <p:spPr>
          <a:xfrm>
            <a:off x="10588752" y="5925312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nimated marker 10-5"/>
          <p:cNvSpPr/>
          <p:nvPr/>
        </p:nvSpPr>
        <p:spPr>
          <a:xfrm>
            <a:off x="10881360" y="5925312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nimated marker 10-6"/>
          <p:cNvSpPr/>
          <p:nvPr/>
        </p:nvSpPr>
        <p:spPr>
          <a:xfrm>
            <a:off x="11173968" y="5925312"/>
            <a:ext cx="73152" cy="73152"/>
          </a:xfrm>
          <a:prstGeom prst="ellipse">
            <a:avLst/>
          </a:prstGeom>
          <a:solidFill>
            <a:srgbClr val="FF6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Animated marker 10-7"/>
          <p:cNvSpPr/>
          <p:nvPr/>
        </p:nvSpPr>
        <p:spPr>
          <a:xfrm>
            <a:off x="9418320" y="6181344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Animated marker 10-8"/>
          <p:cNvSpPr/>
          <p:nvPr/>
        </p:nvSpPr>
        <p:spPr>
          <a:xfrm>
            <a:off x="9710928" y="6181344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nimated marker 10-9"/>
          <p:cNvSpPr/>
          <p:nvPr/>
        </p:nvSpPr>
        <p:spPr>
          <a:xfrm>
            <a:off x="10003536" y="6181344"/>
            <a:ext cx="73152" cy="73152"/>
          </a:xfrm>
          <a:prstGeom prst="ellipse">
            <a:avLst/>
          </a:prstGeom>
          <a:solidFill>
            <a:srgbClr val="FF6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Animated marker 10-10"/>
          <p:cNvSpPr/>
          <p:nvPr/>
        </p:nvSpPr>
        <p:spPr>
          <a:xfrm>
            <a:off x="10296144" y="6181344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Animated marker 10-11"/>
          <p:cNvSpPr/>
          <p:nvPr/>
        </p:nvSpPr>
        <p:spPr>
          <a:xfrm>
            <a:off x="10588752" y="6181344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Animated marker 10-12"/>
          <p:cNvSpPr/>
          <p:nvPr/>
        </p:nvSpPr>
        <p:spPr>
          <a:xfrm>
            <a:off x="10881360" y="6181344"/>
            <a:ext cx="73152" cy="73152"/>
          </a:xfrm>
          <a:prstGeom prst="ellipse">
            <a:avLst/>
          </a:prstGeom>
          <a:solidFill>
            <a:srgbClr val="FF6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Animated marker 10-13"/>
          <p:cNvSpPr/>
          <p:nvPr/>
        </p:nvSpPr>
        <p:spPr>
          <a:xfrm>
            <a:off x="11173968" y="6181344"/>
            <a:ext cx="73152" cy="73152"/>
          </a:xfrm>
          <a:prstGeom prst="ellipse">
            <a:avLst/>
          </a:prstGeom>
          <a:solidFill>
            <a:srgbClr val="1E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med" advClick="1">
    <p:fade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accel="15000" decel="1500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accel="15000" decel="1500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accel="15000" decel="15000" fill="hold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accel="15000" decel="1500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8" accel="15000" decel="15000" fill="hold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accel="15000" decel="15000" fill="hold" nodeType="withEffect">
                                  <p:stCondLst>
                                    <p:cond delay="49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accel="15000" decel="15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accel="15000" decel="15000" fill="hold" nodeType="withEffect">
                                  <p:stCondLst>
                                    <p:cond delay="57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accel="15000" decel="1500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8" accel="15000" decel="15000" fill="hold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accel="15000" decel="1500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8" accel="15000" decel="15000" fill="hold" nodeType="withEffect">
                                  <p:stCondLst>
                                    <p:cond delay="73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accel="15000" decel="1500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8" accel="15000" decel="15000" fill="hold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8" accel="15000" decel="15000" fill="hold" nodeType="withEffect">
                                  <p:stCondLst>
                                    <p:cond delay="89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accel="15000" decel="1500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8" accel="15000" decel="15000" fill="hold" nodeType="withEffect">
                                  <p:stCondLst>
                                    <p:cond delay="97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0" presetClass="entr" presetSubtype="0" repeatCount="3000" accel="15000" decel="15000" autoRev="1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Scale>
                                      <p:cBhvr>
                                        <p:cTn id="58" dur="18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</p:cBhvr>
                                      <p:from x="100000" y="100000"/>
                                      <p:to x="125000" y="125000"/>
                                    </p:animScale>
                                  </p:childTnLst>
                                </p:cTn>
                              </p:par>
                              <p:par>
                                <p:cTn id="59" presetID="10" presetClass="entr" presetSubtype="0" accel="15000" decel="15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2" presetClass="entr" presetSubtype="8" accel="15000" decel="15000" fill="hold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accel="15000" decel="1500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22" presetClass="entr" presetSubtype="8" accel="15000" decel="15000" fill="hold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0" presetClass="entr" presetSubtype="0" repeatCount="3000" accel="15000" decel="15000" autoRev="1" fill="hold" grpId="1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Scale>
                                      <p:cBhvr>
                                        <p:cTn id="73" dur="18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  <p:from x="100000" y="100000"/>
                                      <p:to x="125000" y="125000"/>
                                    </p:animScale>
                                  </p:childTnLst>
                                </p:cTn>
                              </p:par>
                              <p:par>
                                <p:cTn id="74" presetID="10" presetClass="entr" presetSubtype="0" accel="15000" decel="1500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22" presetClass="entr" presetSubtype="8" accel="15000" decel="15000" fill="hold" nodeType="withEffect">
                                  <p:stCondLst>
                                    <p:cond delay="121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0" presetClass="entr" presetSubtype="0" repeatCount="3000" accel="15000" decel="15000" autoRev="1" fill="hold" grpId="1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Scale>
                                      <p:cBhvr>
                                        <p:cTn id="82" dur="18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</p:cBhvr>
                                      <p:from x="100000" y="100000"/>
                                      <p:to x="125000" y="125000"/>
                                    </p:animScale>
                                  </p:childTnLst>
                                </p:cTn>
                              </p:par>
                              <p:par>
                                <p:cTn id="83" presetID="10" presetClass="entr" presetSubtype="0" accel="15000" decel="1500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0" presetClass="entr" presetSubtype="0" repeatCount="3000" accel="15000" decel="15000" autoRev="1" fill="hold" grpId="1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Scale>
                                      <p:cBhvr>
                                        <p:cTn id="88" dur="18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</p:cBhvr>
                                      <p:from x="100000" y="100000"/>
                                      <p:to x="125000" y="125000"/>
                                    </p:animScale>
                                  </p:childTnLst>
                                </p:cTn>
                              </p:par>
                              <p:par>
                                <p:cTn id="89" presetID="0" presetClass="entr" presetSubtype="0" repeatCount="3000" accel="15000" decel="15000" autoRev="1" fill="hold" grpId="1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Scale>
                                      <p:cBhvr>
                                        <p:cTn id="91" dur="18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</p:cBhvr>
                                      <p:from x="100000" y="100000"/>
                                      <p:to x="125000" y="125000"/>
                                    </p:animScale>
                                  </p:childTnLst>
                                </p:cTn>
                              </p:par>
                              <p:par>
                                <p:cTn id="92" presetID="10" presetClass="entr" presetSubtype="0" accel="15000" decel="1500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1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accel="15000" decel="1500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1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accel="15000" decel="1500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1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accel="15000" decel="1500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1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0" presetClass="entr" presetSubtype="0" repeatCount="3000" accel="15000" decel="15000" autoRev="1" fill="hold" grpId="1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Scale>
                                      <p:cBhvr>
                                        <p:cTn id="106" dur="18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</p:cBhvr>
                                      <p:from x="100000" y="100000"/>
                                      <p:to x="125000" y="125000"/>
                                    </p:animScale>
                                  </p:childTnLst>
                                </p:cTn>
                              </p:par>
                              <p:par>
                                <p:cTn id="107" presetID="0" presetClass="entr" presetSubtype="0" repeatCount="7000" accel="15000" decel="15000" fill="hold" grpId="1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0.06750000 -0.16000000 E" pathEditMode="relative">
                                      <p:cBhvr from="" to="">
                                        <p:cTn id="109" dur="2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0" presetID="0" presetClass="entr" presetSubtype="0" repeatCount="7000" accel="15000" decel="15000" fill="hold" grpId="1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0.19500000 -0.02666667 E" pathEditMode="relative">
                                      <p:cBhvr from="" to="">
                                        <p:cTn id="112" dur="2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3" presetID="0" presetClass="entr" presetSubtype="0" repeatCount="7000" accel="15000" decel="15000" fill="hold" grpId="1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0.14250000 -0.13333333 E" pathEditMode="relative">
                                      <p:cBhvr from="" to="">
                                        <p:cTn id="115" dur="2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6" presetID="0" presetClass="entr" presetSubtype="0" repeatCount="7000" accel="15000" decel="15000" fill="hold" grpId="1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0.07500000 -0.20000000 E" pathEditMode="relative">
                                      <p:cBhvr from="" to="">
                                        <p:cTn id="118" dur="2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9" presetID="0" presetClass="entr" presetSubtype="0" repeatCount="3000" accel="15000" decel="15000" autoRev="1" fill="hold" grpId="1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Scale>
                                      <p:cBhvr>
                                        <p:cTn id="121" dur="18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</p:cBhvr>
                                      <p:from x="100000" y="100000"/>
                                      <p:to x="125000" y="125000"/>
                                    </p:animScale>
                                  </p:childTnLst>
                                </p:cTn>
                              </p:par>
                              <p:par>
                                <p:cTn id="122" presetID="0" presetClass="entr" presetSubtype="0" repeatCount="3000" accel="15000" decel="15000" autoRev="1" fill="hold" grpId="1" nodeType="with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Scale>
                                      <p:cBhvr>
                                        <p:cTn id="124" dur="18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  <p:from x="100000" y="100000"/>
                                      <p:to x="125000" y="125000"/>
                                    </p:animScale>
                                  </p:childTnLst>
                                </p:cTn>
                              </p:par>
                              <p:par>
                                <p:cTn id="125" presetID="0" presetClass="entr" presetSubtype="0" repeatCount="3000" accel="15000" decel="15000" autoRev="1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Scale>
                                      <p:cBhvr>
                                        <p:cTn id="127" dur="18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</p:cBhvr>
                                      <p:from x="100000" y="100000"/>
                                      <p:to x="125000" y="125000"/>
                                    </p:animScale>
                                  </p:childTnLst>
                                </p:cTn>
                              </p:par>
                              <p:par>
                                <p:cTn id="128" presetID="10" presetClass="entr" presetSubtype="0" accel="15000" decel="15000" fill="hold" grpId="0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1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accel="15000" decel="15000" fill="hold" grpId="0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1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accel="15000" decel="15000" fill="hold" grpId="0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1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0" presetClass="entr" presetSubtype="0" repeatCount="3000" accel="15000" decel="15000" autoRev="1" fill="hold" grpId="1" nodeType="withEffect">
                                  <p:stCondLst>
                                    <p:cond delay="235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Scale>
                                      <p:cBhvr>
                                        <p:cTn id="139" dur="18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</p:cBhvr>
                                      <p:from x="100000" y="100000"/>
                                      <p:to x="125000" y="125000"/>
                                    </p:animScale>
                                  </p:childTnLst>
                                </p:cTn>
                              </p:par>
                              <p:par>
                                <p:cTn id="140" presetID="0" presetClass="entr" presetSubtype="0" repeatCount="7000" accel="15000" decel="15000" fill="hold" grpId="1" nodeType="withEffect">
                                  <p:stCondLst>
                                    <p:cond delay="237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0.09750000 0.22666667 E" pathEditMode="relative">
                                      <p:cBhvr from="" to="">
                                        <p:cTn id="142" dur="2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3" presetID="0" presetClass="entr" presetSubtype="0" repeatCount="7000" accel="15000" decel="15000" fill="hold" grpId="1" nodeType="withEffect">
                                  <p:stCondLst>
                                    <p:cond delay="237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0.15000000 -0.05333333 E" pathEditMode="relative">
                                      <p:cBhvr from="" to="">
                                        <p:cTn id="145" dur="2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6" presetID="0" presetClass="entr" presetSubtype="0" repeatCount="7000" accel="15000" decel="15000" fill="hold" grpId="1" nodeType="withEffect">
                                  <p:stCondLst>
                                    <p:cond delay="237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0.18000000 0.13333333 E" pathEditMode="relative">
                                      <p:cBhvr from="" to="">
                                        <p:cTn id="148" dur="2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9" presetID="0" presetClass="entr" presetSubtype="0" repeatCount="3000" accel="15000" decel="15000" autoRev="1" fill="hold" grpId="1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Scale>
                                      <p:cBhvr>
                                        <p:cTn id="151" dur="18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</p:cBhvr>
                                      <p:from x="100000" y="100000"/>
                                      <p:to x="125000" y="125000"/>
                                    </p:animScale>
                                  </p:childTnLst>
                                </p:cTn>
                              </p:par>
                              <p:par>
                                <p:cTn id="152" presetID="10" presetClass="entr" presetSubtype="0" accel="15000" decel="15000" fill="hold" grpId="0" nodeType="with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1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accel="15000" decel="15000" fill="hold" grpId="0" nodeType="with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1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accel="15000" decel="15000" fill="hold" grpId="0" nodeType="with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1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0" presetClass="entr" presetSubtype="0" repeatCount="7000" accel="15000" decel="15000" fill="hold" grpId="1" nodeType="withEffect">
                                  <p:stCondLst>
                                    <p:cond delay="292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0.13500000 0.12000000 E" pathEditMode="relative">
                                      <p:cBhvr from="" to="">
                                        <p:cTn id="163" dur="2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4" presetID="0" presetClass="entr" presetSubtype="0" repeatCount="7000" accel="15000" decel="15000" fill="hold" grpId="1" nodeType="withEffect">
                                  <p:stCondLst>
                                    <p:cond delay="292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0.17250000 -0.14666667 E" pathEditMode="relative">
                                      <p:cBhvr from="" to="">
                                        <p:cTn id="166" dur="2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7" presetID="0" presetClass="entr" presetSubtype="0" repeatCount="7000" accel="15000" decel="15000" fill="hold" grpId="1" nodeType="withEffect">
                                  <p:stCondLst>
                                    <p:cond delay="292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0.18000000 0.10666667 E" pathEditMode="relative">
                                      <p:cBhvr from="" to="">
                                        <p:cTn id="169" dur="2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0" presetID="10" presetClass="entr" presetSubtype="0" accel="15000" decel="15000" fill="hold" grpId="0" nodeType="withEffect">
                                  <p:stCondLst>
                                    <p:cond delay="335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1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10" presetClass="entr" presetSubtype="0" accel="15000" decel="15000" fill="hold" grpId="0" nodeType="withEffect">
                                  <p:stCondLst>
                                    <p:cond delay="335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1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10" presetClass="entr" presetSubtype="0" accel="15000" decel="15000" fill="hold" grpId="0" nodeType="withEffect">
                                  <p:stCondLst>
                                    <p:cond delay="335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1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9" presetID="0" presetClass="entr" presetSubtype="0" repeatCount="7000" accel="15000" decel="15000" fill="hold" grpId="1" nodeType="withEffect">
                                  <p:stCondLst>
                                    <p:cond delay="347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0.10500000 -0.26666667 E" pathEditMode="relative">
                                      <p:cBhvr from="" to="">
                                        <p:cTn id="181" dur="2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2" presetID="0" presetClass="entr" presetSubtype="0" repeatCount="7000" accel="15000" decel="15000" fill="hold" grpId="1" nodeType="withEffect">
                                  <p:stCondLst>
                                    <p:cond delay="347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0.11250000 0.14666667 E" pathEditMode="relative">
                                      <p:cBhvr from="" to="">
                                        <p:cTn id="184" dur="2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5" presetID="0" presetClass="entr" presetSubtype="0" repeatCount="7000" accel="15000" decel="15000" fill="hold" grpId="1" nodeType="withEffect">
                                  <p:stCondLst>
                                    <p:cond delay="347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0.14250000 -0.16000000 E" pathEditMode="relative">
                                      <p:cBhvr from="" to="">
                                        <p:cTn id="187" dur="2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8" presetID="10" presetClass="entr" presetSubtype="0" accel="15000" decel="1500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1" presetID="10" presetClass="entr" presetSubtype="0" accel="15000" decel="1500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4" presetID="10" presetClass="exit" presetSubtype="0" accel="15000" decel="15000" fill="hold" grpId="2" nodeType="withEffect">
                                  <p:stCondLst>
                                    <p:cond delay="165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5" dur="1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11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7" presetID="10" presetClass="exit" presetSubtype="0" accel="15000" decel="15000" fill="hold" grpId="2" nodeType="withEffect">
                                  <p:stCondLst>
                                    <p:cond delay="165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8" dur="1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11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0" presetID="10" presetClass="exit" presetSubtype="0" accel="15000" decel="15000" fill="hold" grpId="2" nodeType="withEffect">
                                  <p:stCondLst>
                                    <p:cond delay="165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1" dur="1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11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3" presetID="10" presetClass="exit" presetSubtype="0" accel="15000" decel="15000" fill="hold" grpId="2" nodeType="withEffect">
                                  <p:stCondLst>
                                    <p:cond delay="165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4" dur="1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11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6" presetID="10" presetClass="exit" presetSubtype="0" accel="15000" decel="15000" fill="hold" grpId="2" nodeType="withEffect">
                                  <p:stCondLst>
                                    <p:cond delay="170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7" dur="1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11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9" presetID="10" presetClass="exit" presetSubtype="0" accel="15000" decel="15000" fill="hold" grpId="2" nodeType="withEffect">
                                  <p:stCondLst>
                                    <p:cond delay="170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0" dur="1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11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2" presetID="10" presetClass="exit" presetSubtype="0" accel="15000" decel="15000" fill="hold" grpId="2" nodeType="withEffect">
                                  <p:stCondLst>
                                    <p:cond delay="170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3" dur="1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11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5" presetID="10" presetClass="exit" presetSubtype="0" accel="15000" decel="15000" fill="hold" grpId="2" nodeType="withEffect">
                                  <p:stCondLst>
                                    <p:cond delay="176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6" dur="1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11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8" presetID="10" presetClass="exit" presetSubtype="0" accel="15000" decel="15000" fill="hold" grpId="2" nodeType="withEffect">
                                  <p:stCondLst>
                                    <p:cond delay="176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9" dur="1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11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1" presetID="10" presetClass="exit" presetSubtype="0" accel="15000" decel="15000" fill="hold" grpId="2" nodeType="withEffect">
                                  <p:stCondLst>
                                    <p:cond delay="176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2" dur="1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11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4" presetID="10" presetClass="exit" presetSubtype="0" accel="15000" decel="15000" fill="hold" grpId="2" nodeType="withEffect">
                                  <p:stCondLst>
                                    <p:cond delay="181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5" dur="1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11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7" presetID="10" presetClass="exit" presetSubtype="0" accel="15000" decel="15000" fill="hold" grpId="2" nodeType="withEffect">
                                  <p:stCondLst>
                                    <p:cond delay="181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8" dur="1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11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0" presetID="10" presetClass="exit" presetSubtype="0" accel="15000" decel="15000" fill="hold" grpId="2" nodeType="withEffect">
                                  <p:stCondLst>
                                    <p:cond delay="181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1" dur="1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11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19" grpId="1" animBg="1"/>
      <p:bldP spid="20" grpId="0" animBg="1"/>
      <p:bldP spid="20" grpId="1" animBg="1"/>
      <p:bldP spid="21" grpId="0" animBg="1"/>
      <p:bldP spid="21" grpId="1" animBg="1"/>
      <p:bldP spid="22" grpId="0" animBg="1"/>
      <p:bldP spid="22" grpId="1" animBg="1"/>
      <p:bldP spid="23" grpId="0" animBg="1"/>
      <p:bldP spid="23" grpId="1" animBg="1"/>
      <p:bldP spid="24" grpId="0" animBg="1"/>
      <p:bldP spid="24" grpId="1" animBg="1"/>
      <p:bldP spid="25" grpId="0" animBg="1"/>
      <p:bldP spid="25" grpId="1" animBg="1"/>
      <p:bldP spid="26" grpId="0" animBg="1"/>
      <p:bldP spid="26" grpId="1" animBg="1"/>
      <p:bldP spid="27" grpId="0" animBg="1"/>
      <p:bldP spid="27" grpId="1" animBg="1"/>
      <p:bldP spid="28" grpId="0" animBg="1"/>
      <p:bldP spid="28" grpId="1" animBg="1"/>
      <p:bldP spid="29" grpId="0" animBg="1"/>
      <p:bldP spid="29" grpId="1" animBg="1"/>
      <p:bldP spid="30" grpId="0" animBg="1"/>
      <p:bldP spid="30" grpId="1" animBg="1"/>
      <p:bldP spid="30" grpId="2" animBg="1"/>
      <p:bldP spid="31" grpId="0" animBg="1"/>
      <p:bldP spid="31" grpId="1" animBg="1"/>
      <p:bldP spid="31" grpId="2" animBg="1"/>
      <p:bldP spid="32" grpId="0" animBg="1"/>
      <p:bldP spid="32" grpId="1" animBg="1"/>
      <p:bldP spid="32" grpId="2" animBg="1"/>
      <p:bldP spid="33" grpId="0" animBg="1"/>
      <p:bldP spid="33" grpId="1" animBg="1"/>
      <p:bldP spid="33" grpId="2" animBg="1"/>
      <p:bldP spid="34" grpId="0" animBg="1"/>
      <p:bldP spid="34" grpId="1" animBg="1"/>
      <p:bldP spid="34" grpId="2" animBg="1"/>
      <p:bldP spid="35" grpId="0" animBg="1"/>
      <p:bldP spid="35" grpId="1" animBg="1"/>
      <p:bldP spid="35" grpId="2" animBg="1"/>
      <p:bldP spid="36" grpId="0" animBg="1"/>
      <p:bldP spid="36" grpId="1" animBg="1"/>
      <p:bldP spid="36" grpId="2" animBg="1"/>
      <p:bldP spid="37" grpId="0" animBg="1"/>
      <p:bldP spid="37" grpId="1" animBg="1"/>
      <p:bldP spid="37" grpId="2" animBg="1"/>
      <p:bldP spid="38" grpId="0" animBg="1"/>
      <p:bldP spid="38" grpId="1" animBg="1"/>
      <p:bldP spid="38" grpId="2" animBg="1"/>
      <p:bldP spid="39" grpId="0" animBg="1"/>
      <p:bldP spid="39" grpId="1" animBg="1"/>
      <p:bldP spid="39" grpId="2" animBg="1"/>
      <p:bldP spid="40" grpId="0" animBg="1"/>
      <p:bldP spid="40" grpId="1" animBg="1"/>
      <p:bldP spid="40" grpId="2" animBg="1"/>
      <p:bldP spid="41" grpId="0" animBg="1"/>
      <p:bldP spid="41" grpId="1" animBg="1"/>
      <p:bldP spid="41" grpId="2" animBg="1"/>
      <p:bldP spid="42" grpId="0" animBg="1"/>
      <p:bldP spid="42" grpId="1" animBg="1"/>
      <p:bldP spid="42" grpId="2" animBg="1"/>
      <p:bldP spid="43" grpId="0"/>
      <p:bldP spid="44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