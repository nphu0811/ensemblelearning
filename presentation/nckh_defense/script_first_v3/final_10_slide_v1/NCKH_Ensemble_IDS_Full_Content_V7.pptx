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HỌC VIỆN CÔNG NGHỆ BƯU CHÍNH VIỄN THÔNG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#01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498763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sp>
        <p:nvSpPr>
          <p:cNvPr id="7" name="PTIT red margin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"/>
          <p:cNvCxnSpPr/>
          <p:nvPr/>
        </p:nvCxnSpPr>
        <p:spPr>
          <a:xfrm>
            <a:off x="182880" y="3657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"/>
          <p:cNvCxnSpPr/>
          <p:nvPr/>
        </p:nvCxnSpPr>
        <p:spPr>
          <a:xfrm>
            <a:off x="182880" y="77724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"/>
          <p:cNvCxnSpPr/>
          <p:nvPr/>
        </p:nvCxnSpPr>
        <p:spPr>
          <a:xfrm>
            <a:off x="182880" y="118872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"/>
          <p:cNvCxnSpPr/>
          <p:nvPr/>
        </p:nvCxnSpPr>
        <p:spPr>
          <a:xfrm>
            <a:off x="182880" y="160020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"/>
          <p:cNvCxnSpPr/>
          <p:nvPr/>
        </p:nvCxnSpPr>
        <p:spPr>
          <a:xfrm>
            <a:off x="182880" y="201168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"/>
          <p:cNvCxnSpPr/>
          <p:nvPr/>
        </p:nvCxnSpPr>
        <p:spPr>
          <a:xfrm>
            <a:off x="182880" y="24231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"/>
          <p:cNvCxnSpPr/>
          <p:nvPr/>
        </p:nvCxnSpPr>
        <p:spPr>
          <a:xfrm>
            <a:off x="182880" y="283464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"/>
          <p:cNvCxnSpPr/>
          <p:nvPr/>
        </p:nvCxnSpPr>
        <p:spPr>
          <a:xfrm>
            <a:off x="182880" y="324612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"/>
          <p:cNvCxnSpPr/>
          <p:nvPr/>
        </p:nvCxnSpPr>
        <p:spPr>
          <a:xfrm>
            <a:off x="182880" y="365760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"/>
          <p:cNvCxnSpPr/>
          <p:nvPr/>
        </p:nvCxnSpPr>
        <p:spPr>
          <a:xfrm>
            <a:off x="182880" y="406908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"/>
          <p:cNvCxnSpPr/>
          <p:nvPr/>
        </p:nvCxnSpPr>
        <p:spPr>
          <a:xfrm>
            <a:off x="182880" y="44805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"/>
          <p:cNvCxnSpPr/>
          <p:nvPr/>
        </p:nvCxnSpPr>
        <p:spPr>
          <a:xfrm>
            <a:off x="182880" y="489204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"/>
          <p:cNvCxnSpPr/>
          <p:nvPr/>
        </p:nvCxnSpPr>
        <p:spPr>
          <a:xfrm>
            <a:off x="182880" y="530352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"/>
          <p:cNvCxnSpPr/>
          <p:nvPr/>
        </p:nvCxnSpPr>
        <p:spPr>
          <a:xfrm>
            <a:off x="182880" y="571500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"/>
          <p:cNvCxnSpPr/>
          <p:nvPr/>
        </p:nvCxnSpPr>
        <p:spPr>
          <a:xfrm>
            <a:off x="182880" y="612648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"/>
          <p:cNvCxnSpPr/>
          <p:nvPr/>
        </p:nvCxnSpPr>
        <p:spPr>
          <a:xfrm>
            <a:off x="182880" y="65379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438912"/>
            <a:ext cx="777240" cy="777240"/>
          </a:xfrm>
          <a:prstGeom prst="rect">
            <a:avLst/>
          </a:prstGeom>
        </p:spPr>
      </p:pic>
      <p:sp>
        <p:nvSpPr>
          <p:cNvPr id="25" name="White PTIT monogram"/>
          <p:cNvSpPr txBox="1"/>
          <p:nvPr/>
        </p:nvSpPr>
        <p:spPr>
          <a:xfrm>
            <a:off x="411480" y="320040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8F5EE"/>
                </a:solidFill>
                <a:latin typeface="Liberation Sans"/>
              </a:defRPr>
            </a:pPr>
            <a:r>
              <a:t>PTIT</a:t>
            </a:r>
          </a:p>
        </p:txBody>
      </p:sp>
      <p:sp>
        <p:nvSpPr>
          <p:cNvPr id="26" name="Academy header"/>
          <p:cNvSpPr txBox="1"/>
          <p:nvPr/>
        </p:nvSpPr>
        <p:spPr>
          <a:xfrm>
            <a:off x="2834640" y="694944"/>
            <a:ext cx="8869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62629"/>
                </a:solidFill>
                <a:latin typeface="Liberation Sans"/>
              </a:defRPr>
            </a:pPr>
            <a:r>
              <a:t>PTIT / HỌC VIỆN CÔNG NGHỆ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62629"/>
                </a:solidFill>
                <a:latin typeface="Liberation Sans"/>
              </a:defRPr>
            </a:pPr>
            <a:r>
              <a:t>BƯU CHÍNH VIỄN THÔNG</a:t>
            </a:r>
          </a:p>
        </p:txBody>
      </p:sp>
      <p:sp>
        <p:nvSpPr>
          <p:cNvPr id="27" name="Research hero"/>
          <p:cNvSpPr txBox="1"/>
          <p:nvPr/>
        </p:nvSpPr>
        <p:spPr>
          <a:xfrm>
            <a:off x="2743200" y="1764792"/>
            <a:ext cx="8869680" cy="2880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700" b="1">
                <a:solidFill>
                  <a:srgbClr val="14192A"/>
                </a:solidFill>
                <a:latin typeface="Liberation Sans"/>
              </a:defRPr>
            </a:pPr>
            <a:r>
              <a:t>ENSEMBLE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700" b="1">
                <a:solidFill>
                  <a:srgbClr val="14192A"/>
                </a:solidFill>
                <a:latin typeface="Liberation Sans"/>
              </a:defRPr>
            </a:pPr>
            <a:r>
              <a:t>LEARNING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700" b="1">
                <a:solidFill>
                  <a:srgbClr val="14192A"/>
                </a:solidFill>
                <a:latin typeface="Liberation Sans"/>
              </a:defRPr>
            </a:pPr>
            <a:r>
              <a:t>/ NETWORK IDS</a:t>
            </a:r>
          </a:p>
        </p:txBody>
      </p:sp>
      <p:sp>
        <p:nvSpPr>
          <p:cNvPr id="28" name="Shape"/>
          <p:cNvSpPr/>
          <p:nvPr/>
        </p:nvSpPr>
        <p:spPr>
          <a:xfrm>
            <a:off x="2770632" y="4837176"/>
            <a:ext cx="6995160" cy="45720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fficial topic"/>
          <p:cNvSpPr txBox="1"/>
          <p:nvPr/>
        </p:nvSpPr>
        <p:spPr>
          <a:xfrm>
            <a:off x="2770632" y="5102352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192A"/>
                </a:solidFill>
                <a:latin typeface="Liberation Sans"/>
              </a:defRPr>
            </a:pPr>
            <a:r>
              <a:t>Nghiên cứu Ensemble Learning cho bài toán phát hiện xâm nhập mạng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779776" y="58247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78195"/>
                </a:solidFill>
                <a:latin typeface="Liberation Sans"/>
              </a:defRPr>
            </a:pPr>
            <a:r>
              <a:t>GVHD  TS. LÊ NGỌC HIẾU   •   LỚP E23CQCE01-N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2779776" y="6144768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4192A"/>
                </a:solidFill>
                <a:latin typeface="Liberation Sans"/>
              </a:defRPr>
            </a:pPr>
            <a:r>
              <a:t>Dương Ngọc Phú · Phạm Thế Vỹ · Vũ Văn Kiên · Lê Hoàng Nguyên Quân</a:t>
            </a:r>
          </a:p>
        </p:txBody>
      </p:sp>
      <p:sp>
        <p:nvSpPr>
          <p:cNvPr id="32" name="Animated marker 1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nimated marker 1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nimated marker 1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nimated marker 1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nimated marker 1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nimated marker 1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nimated marker 1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nimated marker 1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CÂU HỎI NGHIÊN CỨU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#02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997527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Shape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ro title"/>
          <p:cNvSpPr txBox="1"/>
          <p:nvPr/>
        </p:nvSpPr>
        <p:spPr>
          <a:xfrm>
            <a:off x="658368" y="1536192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F8F5EE"/>
                </a:solidFill>
                <a:latin typeface="Liberation Sans"/>
              </a:defRPr>
            </a:pPr>
            <a:r>
              <a:t>ÍT CẢNH BÁO.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F8F5EE"/>
                </a:solidFill>
                <a:latin typeface="Liberation Sans"/>
              </a:defRPr>
            </a:pPr>
            <a:r>
              <a:t>AN TOÀN HƠN?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49808" y="4754880"/>
            <a:ext cx="97840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EC4D2"/>
                </a:solidFill>
                <a:latin typeface="Liberation Sans"/>
              </a:defRPr>
            </a:pPr>
            <a:r>
              <a:t>Giảm báo động giả có đồng nghĩa giảm tấn công bị bỏ sót?</a:t>
            </a:r>
          </a:p>
        </p:txBody>
      </p:sp>
      <p:sp>
        <p:nvSpPr>
          <p:cNvPr id="11" name="Open question circle"/>
          <p:cNvSpPr/>
          <p:nvPr/>
        </p:nvSpPr>
        <p:spPr>
          <a:xfrm>
            <a:off x="9601200" y="2176272"/>
            <a:ext cx="1600200" cy="1600200"/>
          </a:xfrm>
          <a:prstGeom prst="ellipse">
            <a:avLst/>
          </a:prstGeom>
          <a:noFill/>
          <a:ln w="20320">
            <a:solidFill>
              <a:srgbClr val="1E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uestion mark"/>
          <p:cNvSpPr txBox="1"/>
          <p:nvPr/>
        </p:nvSpPr>
        <p:spPr>
          <a:xfrm>
            <a:off x="9948672" y="2404872"/>
            <a:ext cx="914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100" b="1">
                <a:solidFill>
                  <a:srgbClr val="C7F877"/>
                </a:solidFill>
                <a:latin typeface="Liberation Sans"/>
              </a:defRPr>
            </a:pPr>
            <a:r>
              <a:t>?</a:t>
            </a:r>
          </a:p>
        </p:txBody>
      </p:sp>
      <p:cxnSp>
        <p:nvCxnSpPr>
          <p:cNvPr id="13" name="Connector"/>
          <p:cNvCxnSpPr/>
          <p:nvPr/>
        </p:nvCxnSpPr>
        <p:spPr>
          <a:xfrm>
            <a:off x="822960" y="5687568"/>
            <a:ext cx="45720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"/>
          <p:cNvCxnSpPr/>
          <p:nvPr/>
        </p:nvCxnSpPr>
        <p:spPr>
          <a:xfrm>
            <a:off x="1033272" y="5687568"/>
            <a:ext cx="54864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"/>
          <p:cNvCxnSpPr/>
          <p:nvPr/>
        </p:nvCxnSpPr>
        <p:spPr>
          <a:xfrm>
            <a:off x="1243584" y="5687568"/>
            <a:ext cx="64008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"/>
          <p:cNvCxnSpPr/>
          <p:nvPr/>
        </p:nvCxnSpPr>
        <p:spPr>
          <a:xfrm>
            <a:off x="1453896" y="5687568"/>
            <a:ext cx="73152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"/>
          <p:cNvCxnSpPr/>
          <p:nvPr/>
        </p:nvCxnSpPr>
        <p:spPr>
          <a:xfrm>
            <a:off x="1664208" y="5687568"/>
            <a:ext cx="82296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"/>
          <p:cNvCxnSpPr/>
          <p:nvPr/>
        </p:nvCxnSpPr>
        <p:spPr>
          <a:xfrm>
            <a:off x="1874520" y="5687568"/>
            <a:ext cx="91440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"/>
          <p:cNvCxnSpPr/>
          <p:nvPr/>
        </p:nvCxnSpPr>
        <p:spPr>
          <a:xfrm>
            <a:off x="2084832" y="5687568"/>
            <a:ext cx="100583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"/>
          <p:cNvCxnSpPr/>
          <p:nvPr/>
        </p:nvCxnSpPr>
        <p:spPr>
          <a:xfrm>
            <a:off x="2295144" y="5687568"/>
            <a:ext cx="109728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nimated marker 2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2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2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2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2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2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2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2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2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2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2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2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2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2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01 / PROBLEM &amp; DATA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#03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149629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94360" y="804672"/>
            <a:ext cx="9784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4192A"/>
                </a:solidFill>
                <a:latin typeface="Liberation Sans"/>
              </a:defRPr>
            </a:pPr>
            <a:r>
              <a:t>MỘT BỘ DỮ LIỆU.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4192A"/>
                </a:solidFill>
                <a:latin typeface="Liberation Sans"/>
              </a:defRPr>
            </a:pPr>
            <a:r>
              <a:t>HAI NHÃN.</a:t>
            </a:r>
          </a:p>
        </p:txBody>
      </p:sp>
      <p:sp>
        <p:nvSpPr>
          <p:cNvPr id="9" name="TRAIN number"/>
          <p:cNvSpPr txBox="1"/>
          <p:nvPr/>
        </p:nvSpPr>
        <p:spPr>
          <a:xfrm>
            <a:off x="685800" y="2862072"/>
            <a:ext cx="548640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600" b="1">
                <a:solidFill>
                  <a:srgbClr val="E62629"/>
                </a:solidFill>
                <a:latin typeface="Liberation Sans"/>
              </a:defRPr>
            </a:pPr>
            <a:r>
              <a:t>175.341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04088" y="4050791"/>
            <a:ext cx="42062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78195"/>
                </a:solidFill>
                <a:latin typeface="Liberation Sans"/>
              </a:defRPr>
            </a:pPr>
            <a:r>
              <a:t>TRAIN / official</a:t>
            </a:r>
          </a:p>
        </p:txBody>
      </p:sp>
      <p:sp>
        <p:nvSpPr>
          <p:cNvPr id="11" name="TEST number"/>
          <p:cNvSpPr txBox="1"/>
          <p:nvPr/>
        </p:nvSpPr>
        <p:spPr>
          <a:xfrm>
            <a:off x="6400800" y="2862072"/>
            <a:ext cx="530352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14192A"/>
                </a:solidFill>
                <a:latin typeface="Liberation Sans"/>
              </a:defRPr>
            </a:pPr>
            <a:r>
              <a:t>82.332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419088" y="4050791"/>
            <a:ext cx="42062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78195"/>
                </a:solidFill>
                <a:latin typeface="Liberation Sans"/>
              </a:defRPr>
            </a:pPr>
            <a:r>
              <a:t>TEST / official</a:t>
            </a:r>
          </a:p>
        </p:txBody>
      </p:sp>
      <p:cxnSp>
        <p:nvCxnSpPr>
          <p:cNvPr id="13" name="Connector"/>
          <p:cNvCxnSpPr/>
          <p:nvPr/>
        </p:nvCxnSpPr>
        <p:spPr>
          <a:xfrm>
            <a:off x="6044184" y="2834640"/>
            <a:ext cx="0" cy="1810512"/>
          </a:xfrm>
          <a:prstGeom prst="line">
            <a:avLst/>
          </a:prstGeom>
          <a:ln w="2540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hape"/>
          <p:cNvSpPr/>
          <p:nvPr/>
        </p:nvSpPr>
        <p:spPr>
          <a:xfrm>
            <a:off x="676656" y="5047488"/>
            <a:ext cx="2880360" cy="56692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859536" y="5148072"/>
            <a:ext cx="257860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8F5EE"/>
                </a:solidFill>
                <a:latin typeface="Liberation Sans"/>
              </a:defRPr>
            </a:pPr>
            <a:r>
              <a:t>42 PREDICTORS</a:t>
            </a:r>
          </a:p>
        </p:txBody>
      </p:sp>
      <p:sp>
        <p:nvSpPr>
          <p:cNvPr id="16" name="Shape"/>
          <p:cNvSpPr/>
          <p:nvPr/>
        </p:nvSpPr>
        <p:spPr>
          <a:xfrm>
            <a:off x="3767328" y="5047488"/>
            <a:ext cx="2971800" cy="56692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3959352" y="5148072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192A"/>
                </a:solidFill>
                <a:latin typeface="Liberation Sans"/>
              </a:defRPr>
            </a:pPr>
            <a:r>
              <a:t>NORMAL / 0</a:t>
            </a:r>
          </a:p>
        </p:txBody>
      </p:sp>
      <p:sp>
        <p:nvSpPr>
          <p:cNvPr id="18" name="Shape"/>
          <p:cNvSpPr/>
          <p:nvPr/>
        </p:nvSpPr>
        <p:spPr>
          <a:xfrm>
            <a:off x="6940296" y="5047488"/>
            <a:ext cx="2926080" cy="56692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7159752" y="5148072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192A"/>
                </a:solidFill>
                <a:latin typeface="Liberation Sans"/>
              </a:defRPr>
            </a:pPr>
            <a:r>
              <a:t>ATTACK / 1</a:t>
            </a:r>
          </a:p>
        </p:txBody>
      </p:sp>
      <p:sp>
        <p:nvSpPr>
          <p:cNvPr id="20" name="Animated marker 3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3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3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3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3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3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3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3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3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3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3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3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3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3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02 / DATA QUALITY AUDIT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#04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1995054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KIỂM TRA DỮ LIỆU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TRƯỚC HUẤN LUYỆN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Audit: tính hợp lệ, trùng lặp và tính nhất quán của nhãn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NULL / INF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RÀ SOÁT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Kiểm tra thiếu, vô hạn, kiểu dữ liệu và miền giá trị.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DUPLICATES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ĐỐI CHIẾU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Kiểm tra trùng vector và xung đột nhãn.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NO BLANKET DELETE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BẢO TOÀN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Không xóa toàn bộ các dòng chỉ vì cùng giá trị predictor.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Audit tìm vấn đề dữ liệu; không tự động coi mọi vector trùng là lỗi.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Chương 2, mục 2.3–2.5; src/data/audit_unsw-nb15.py</a:t>
            </a:r>
          </a:p>
        </p:txBody>
      </p:sp>
      <p:sp>
        <p:nvSpPr>
          <p:cNvPr id="25" name="Animated marker 4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4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4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4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4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4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4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4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4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4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4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4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4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4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02 / EDA &amp; CLASS DISTRIBUTION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#05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2493818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HIỂU PHÂN BỐ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TRƯỚC KHI FIT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EDA mô tả mức lệch nhãn và các nhóm Attack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TRAIN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8F5EE"/>
                </a:solidFill>
                <a:latin typeface="Liberation Sans"/>
              </a:defRPr>
            </a:pPr>
            <a:r>
              <a:t>56.000 / 119.341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Normal / Attack. Attack chiếm 68,06% TRAIN.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TEST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4192A"/>
                </a:solidFill>
                <a:latin typeface="Liberation Sans"/>
              </a:defRPr>
            </a:pPr>
            <a:r>
              <a:t>37.000 / 45.332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Normal / Attack. TEST chỉ phục vụ đánh giá cuối.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ATTACK FAMILIES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9 NHÓM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Các họ Attack rất khác nhau về số lượng; không dùng làm predictor.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Attack là lớp đông ở TRAIN; không được mặc định Attack là thiểu số.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Bảng 2.1, Hình 2.1, mục 2.2; src/data/eda_unsw-nb15.py</a:t>
            </a:r>
          </a:p>
        </p:txBody>
      </p:sp>
      <p:sp>
        <p:nvSpPr>
          <p:cNvPr id="25" name="Animated marker 5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5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5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5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5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5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5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5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5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5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5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5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5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5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02 / OVERLAP &amp; LEAKAGE RISKS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#06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2992581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8F5EE"/>
                </a:solidFill>
                <a:latin typeface="Liberation Sans"/>
              </a:defRPr>
            </a:pPr>
            <a:r>
              <a:t>VECTOR TRÙNG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8F5EE"/>
                </a:solidFill>
                <a:latin typeface="Liberation Sans"/>
              </a:defRPr>
            </a:pPr>
            <a:r>
              <a:t>KHÔNG PHẢI TEST MỚI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C4D2"/>
                </a:solidFill>
                <a:latin typeface="Liberation Sans"/>
              </a:defRPr>
            </a:pPr>
            <a:r>
              <a:t>Kiểm tra trùng lặp chính xác trên 42 predictor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EXACT OVERLAP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8.541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Dòng TEST có vector giống ít nhất một vector TRAIN.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86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NOVEL-VECTOR VIEW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73.791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Dòng TEST còn lại sau loại exact-overlap để phân tích độ nhạy.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LIMIT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4192A"/>
                </a:solidFill>
                <a:latin typeface="Liberation Sans"/>
              </a:defRPr>
            </a:pPr>
            <a:r>
              <a:t>KHÔNG ĐỘC LẬP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Không chứng minh độc lập theo session, host hay thời gian.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5EE"/>
                </a:solidFill>
                <a:latin typeface="Liberation Sans"/>
              </a:defRPr>
            </a:pPr>
            <a:r>
              <a:t>Đây là subset của official TEST, không phải một benchmark độc lập.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5CBD5"/>
                </a:solidFill>
                <a:latin typeface="Liberation Sans"/>
              </a:defRPr>
            </a:pPr>
            <a:r>
              <a:t>PDF V7: mục 2.5, Bảng 2.3; src/data/audit_unsw-nb15_overlap.py</a:t>
            </a:r>
          </a:p>
        </p:txBody>
      </p:sp>
      <p:sp>
        <p:nvSpPr>
          <p:cNvPr id="25" name="Animated marker 6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6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6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6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6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6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6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6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6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6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6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6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6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6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02 / FEATURE ENGINEERING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#07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3491345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TIỀN XỬ LÝ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TRONG PIPELINE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Fit biến đổi trên TRAIN hoặc fold FIT — không học từ TEST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INPUT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42 BIẾN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Loại id, label, attack_cat khỏi X của bài toán nhị phân.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CATEGORICAL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ONE-HOT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proto, service, state; handle_unknown=ignore.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NUMERIC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4192A"/>
                </a:solidFill>
                <a:latin typeface="Liberation Sans"/>
              </a:defRPr>
            </a:pPr>
            <a:r>
              <a:t>THEO MÔ HÌNH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LR chuẩn hóa; RF và DT có nhánh passthrough phù hợp.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Đặt encoder/scaler trong pipeline để học đúng trên dữ liệu fit.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mục 3.1–3.2; run_unsw_phase9_final_holdout.py, build_preprocessor()</a:t>
            </a:r>
          </a:p>
        </p:txBody>
      </p:sp>
      <p:sp>
        <p:nvSpPr>
          <p:cNvPr id="25" name="Animated marker 7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7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7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7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7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7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7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7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7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7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7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7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7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7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03 / FEATURE SELECTION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#08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3990109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TỪ 42 XUỐNG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17 ĐẶC TRƯNG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Filter, embedded và đánh giá độ ổn định — không chỉ nhìn điểm số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FILTER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MI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Mutual Information và loại bớt dư thừa tương quan.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EMBEDDED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L1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Logistic Regression regularization để xếp hạng biến.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TREE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EXTRATREES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Tổng hợp thứ hạng qua seed; đối chiếu RFECV riêng.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Stable17 lịch sử chọn trước CV: có nguy cơ selection optimism; P21 làm FIT-only.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mục 3.2, 4.8.2; select_unsw_features_stage1/2.py</a:t>
            </a:r>
          </a:p>
        </p:txBody>
      </p:sp>
      <p:sp>
        <p:nvSpPr>
          <p:cNvPr id="25" name="Animated marker 8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8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8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8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8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8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8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8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8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8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8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8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8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8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02 / HOW WE TESTED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#09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4488872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48640" y="850392"/>
            <a:ext cx="87782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4192A"/>
                </a:solidFill>
                <a:latin typeface="Liberation Sans"/>
              </a:defRPr>
            </a:pPr>
            <a:r>
              <a:t>TỪ FLOW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4192A"/>
                </a:solidFill>
                <a:latin typeface="Liberation Sans"/>
              </a:defRPr>
            </a:pPr>
            <a:r>
              <a:t>ĐẾN QUYẾT ĐỊNH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12648" y="2487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78195"/>
                </a:solidFill>
                <a:latin typeface="Liberation Sans"/>
              </a:defRPr>
            </a:pPr>
            <a:r>
              <a:t>FIT: OOF ở tầng kết hợp  /  INFERENCE: mô hình đã huấn luyện</a:t>
            </a:r>
          </a:p>
        </p:txBody>
      </p:sp>
      <p:cxnSp>
        <p:nvCxnSpPr>
          <p:cNvPr id="10" name="Flow connection 1"/>
          <p:cNvCxnSpPr/>
          <p:nvPr/>
        </p:nvCxnSpPr>
        <p:spPr>
          <a:xfrm>
            <a:off x="2075688" y="3886200"/>
            <a:ext cx="914400" cy="0"/>
          </a:xfrm>
          <a:prstGeom prst="line">
            <a:avLst/>
          </a:prstGeom>
          <a:ln w="50800">
            <a:solidFill>
              <a:srgbClr val="1E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 connection 2"/>
          <p:cNvCxnSpPr/>
          <p:nvPr/>
        </p:nvCxnSpPr>
        <p:spPr>
          <a:xfrm>
            <a:off x="4672584" y="3886200"/>
            <a:ext cx="1371599" cy="0"/>
          </a:xfrm>
          <a:prstGeom prst="line">
            <a:avLst/>
          </a:prstGeom>
          <a:ln w="50800">
            <a:solidFill>
              <a:srgbClr val="1E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low connection 3"/>
          <p:cNvCxnSpPr/>
          <p:nvPr/>
        </p:nvCxnSpPr>
        <p:spPr>
          <a:xfrm>
            <a:off x="7927847" y="3886200"/>
            <a:ext cx="1609345" cy="0"/>
          </a:xfrm>
          <a:prstGeom prst="line">
            <a:avLst/>
          </a:prstGeom>
          <a:ln w="5080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cientific flow ring 0"/>
          <p:cNvSpPr/>
          <p:nvPr/>
        </p:nvSpPr>
        <p:spPr>
          <a:xfrm>
            <a:off x="832104" y="3319272"/>
            <a:ext cx="1133856" cy="1133856"/>
          </a:xfrm>
          <a:prstGeom prst="ellipse">
            <a:avLst/>
          </a:prstGeom>
          <a:noFill/>
          <a:ln w="20320">
            <a:solidFill>
              <a:srgbClr val="1E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cientific flow inner 0"/>
          <p:cNvSpPr/>
          <p:nvPr/>
        </p:nvSpPr>
        <p:spPr>
          <a:xfrm>
            <a:off x="928481" y="3415649"/>
            <a:ext cx="941100" cy="94110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cientific stage 0"/>
          <p:cNvSpPr txBox="1"/>
          <p:nvPr/>
        </p:nvSpPr>
        <p:spPr>
          <a:xfrm>
            <a:off x="923544" y="3648090"/>
            <a:ext cx="95097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5EE"/>
                </a:solidFill>
                <a:latin typeface="Liberation Sans"/>
              </a:defRPr>
            </a:pPr>
            <a:r>
              <a:t>FLOW</a:t>
            </a:r>
          </a:p>
        </p:txBody>
      </p:sp>
      <p:sp>
        <p:nvSpPr>
          <p:cNvPr id="16" name="Scientific flow ring 1"/>
          <p:cNvSpPr/>
          <p:nvPr/>
        </p:nvSpPr>
        <p:spPr>
          <a:xfrm>
            <a:off x="3099816" y="3154680"/>
            <a:ext cx="1463040" cy="1463040"/>
          </a:xfrm>
          <a:prstGeom prst="ellipse">
            <a:avLst/>
          </a:prstGeom>
          <a:noFill/>
          <a:ln w="20320">
            <a:solidFill>
              <a:srgbClr val="25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cientific flow inner 1"/>
          <p:cNvSpPr/>
          <p:nvPr/>
        </p:nvSpPr>
        <p:spPr>
          <a:xfrm>
            <a:off x="3224174" y="3279038"/>
            <a:ext cx="1214323" cy="1214323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cientific stage 1"/>
          <p:cNvSpPr txBox="1"/>
          <p:nvPr/>
        </p:nvSpPr>
        <p:spPr>
          <a:xfrm>
            <a:off x="3191256" y="3578961"/>
            <a:ext cx="12801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FEATURE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VECTOR</a:t>
            </a:r>
          </a:p>
        </p:txBody>
      </p:sp>
      <p:sp>
        <p:nvSpPr>
          <p:cNvPr id="19" name="Scientific flow ring 2"/>
          <p:cNvSpPr/>
          <p:nvPr/>
        </p:nvSpPr>
        <p:spPr>
          <a:xfrm>
            <a:off x="6153912" y="3054096"/>
            <a:ext cx="1664208" cy="1664208"/>
          </a:xfrm>
          <a:prstGeom prst="ellipse">
            <a:avLst/>
          </a:prstGeom>
          <a:noFill/>
          <a:ln w="20320">
            <a:solidFill>
              <a:srgbClr val="1E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cientific flow inner 2"/>
          <p:cNvSpPr/>
          <p:nvPr/>
        </p:nvSpPr>
        <p:spPr>
          <a:xfrm>
            <a:off x="6295369" y="3195553"/>
            <a:ext cx="1381292" cy="1381292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cientific stage 2"/>
          <p:cNvSpPr txBox="1"/>
          <p:nvPr/>
        </p:nvSpPr>
        <p:spPr>
          <a:xfrm>
            <a:off x="6245351" y="3536716"/>
            <a:ext cx="148132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LEARNERS</a:t>
            </a:r>
          </a:p>
        </p:txBody>
      </p:sp>
      <p:sp>
        <p:nvSpPr>
          <p:cNvPr id="22" name="Scientific flow ring 3"/>
          <p:cNvSpPr/>
          <p:nvPr/>
        </p:nvSpPr>
        <p:spPr>
          <a:xfrm>
            <a:off x="9646920" y="3200400"/>
            <a:ext cx="1371600" cy="1371600"/>
          </a:xfrm>
          <a:prstGeom prst="ellipse">
            <a:avLst/>
          </a:prstGeom>
          <a:noFill/>
          <a:ln w="20320">
            <a:solidFill>
              <a:srgbClr val="E6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cientific flow inner 3"/>
          <p:cNvSpPr/>
          <p:nvPr/>
        </p:nvSpPr>
        <p:spPr>
          <a:xfrm>
            <a:off x="9763506" y="3316986"/>
            <a:ext cx="1138428" cy="1138428"/>
          </a:xfrm>
          <a:prstGeom prst="ellipse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cientific stage 3"/>
          <p:cNvSpPr txBox="1"/>
          <p:nvPr/>
        </p:nvSpPr>
        <p:spPr>
          <a:xfrm>
            <a:off x="9738360" y="3598164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5EE"/>
                </a:solidFill>
                <a:latin typeface="Liberation Sans"/>
              </a:defRPr>
            </a:pPr>
            <a:r>
              <a:t>NORMAL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5EE"/>
                </a:solidFill>
                <a:latin typeface="Liberation Sans"/>
              </a:defRPr>
            </a:pPr>
            <a:r>
              <a:t>/ ATTACK</a:t>
            </a:r>
          </a:p>
        </p:txBody>
      </p:sp>
      <p:sp>
        <p:nvSpPr>
          <p:cNvPr id="25" name="Editable learner node"/>
          <p:cNvSpPr/>
          <p:nvPr/>
        </p:nvSpPr>
        <p:spPr>
          <a:xfrm>
            <a:off x="6163056" y="4910328"/>
            <a:ext cx="384048" cy="384048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arner abbreviation"/>
          <p:cNvSpPr txBox="1"/>
          <p:nvPr/>
        </p:nvSpPr>
        <p:spPr>
          <a:xfrm>
            <a:off x="6199632" y="49834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4192A"/>
                </a:solidFill>
                <a:latin typeface="Liberation Sans"/>
              </a:defRPr>
            </a:pPr>
            <a:r>
              <a:t>LR</a:t>
            </a:r>
          </a:p>
        </p:txBody>
      </p:sp>
      <p:cxnSp>
        <p:nvCxnSpPr>
          <p:cNvPr id="27" name="Connector"/>
          <p:cNvCxnSpPr/>
          <p:nvPr/>
        </p:nvCxnSpPr>
        <p:spPr>
          <a:xfrm flipV="1">
            <a:off x="6345936" y="4791456"/>
            <a:ext cx="640080" cy="91440"/>
          </a:xfrm>
          <a:prstGeom prst="line">
            <a:avLst/>
          </a:prstGeom>
          <a:ln w="10795">
            <a:solidFill>
              <a:srgbClr val="778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learner node"/>
          <p:cNvSpPr/>
          <p:nvPr/>
        </p:nvSpPr>
        <p:spPr>
          <a:xfrm>
            <a:off x="6986016" y="4910328"/>
            <a:ext cx="384048" cy="384048"/>
          </a:xfrm>
          <a:prstGeom prst="ellipse">
            <a:avLst/>
          </a:prstGeom>
          <a:solidFill>
            <a:srgbClr val="86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arner abbreviation"/>
          <p:cNvSpPr txBox="1"/>
          <p:nvPr/>
        </p:nvSpPr>
        <p:spPr>
          <a:xfrm>
            <a:off x="7022592" y="49834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4192A"/>
                </a:solidFill>
                <a:latin typeface="Liberation Sans"/>
              </a:defRPr>
            </a:pPr>
            <a:r>
              <a:t>DT</a:t>
            </a:r>
          </a:p>
        </p:txBody>
      </p:sp>
      <p:cxnSp>
        <p:nvCxnSpPr>
          <p:cNvPr id="30" name="Connector"/>
          <p:cNvCxnSpPr/>
          <p:nvPr/>
        </p:nvCxnSpPr>
        <p:spPr>
          <a:xfrm flipH="1" flipV="1">
            <a:off x="6986016" y="4791456"/>
            <a:ext cx="182880" cy="91440"/>
          </a:xfrm>
          <a:prstGeom prst="line">
            <a:avLst/>
          </a:prstGeom>
          <a:ln w="10795">
            <a:solidFill>
              <a:srgbClr val="778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itable learner node"/>
          <p:cNvSpPr/>
          <p:nvPr/>
        </p:nvSpPr>
        <p:spPr>
          <a:xfrm>
            <a:off x="7808976" y="4910328"/>
            <a:ext cx="384048" cy="384048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arner abbreviation"/>
          <p:cNvSpPr txBox="1"/>
          <p:nvPr/>
        </p:nvSpPr>
        <p:spPr>
          <a:xfrm>
            <a:off x="7845552" y="49834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4192A"/>
                </a:solidFill>
                <a:latin typeface="Liberation Sans"/>
              </a:defRPr>
            </a:pPr>
            <a:r>
              <a:t>RF</a:t>
            </a:r>
          </a:p>
        </p:txBody>
      </p:sp>
      <p:cxnSp>
        <p:nvCxnSpPr>
          <p:cNvPr id="33" name="Connector"/>
          <p:cNvCxnSpPr/>
          <p:nvPr/>
        </p:nvCxnSpPr>
        <p:spPr>
          <a:xfrm flipH="1" flipV="1">
            <a:off x="6986016" y="4791456"/>
            <a:ext cx="1005840" cy="91440"/>
          </a:xfrm>
          <a:prstGeom prst="line">
            <a:avLst/>
          </a:prstGeom>
          <a:ln w="10795">
            <a:solidFill>
              <a:srgbClr val="778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OF label"/>
          <p:cNvSpPr/>
          <p:nvPr/>
        </p:nvSpPr>
        <p:spPr>
          <a:xfrm>
            <a:off x="5961888" y="5532120"/>
            <a:ext cx="3017520" cy="457200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6126480" y="559612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OOF → META LEARNER (LR)</a:t>
            </a:r>
          </a:p>
        </p:txBody>
      </p:sp>
      <p:sp>
        <p:nvSpPr>
          <p:cNvPr id="36" name="Editable flow particle"/>
          <p:cNvSpPr/>
          <p:nvPr/>
        </p:nvSpPr>
        <p:spPr>
          <a:xfrm>
            <a:off x="2395728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flow particle"/>
          <p:cNvSpPr/>
          <p:nvPr/>
        </p:nvSpPr>
        <p:spPr>
          <a:xfrm>
            <a:off x="2587752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flow particle"/>
          <p:cNvSpPr/>
          <p:nvPr/>
        </p:nvSpPr>
        <p:spPr>
          <a:xfrm>
            <a:off x="2779776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flow particle"/>
          <p:cNvSpPr/>
          <p:nvPr/>
        </p:nvSpPr>
        <p:spPr>
          <a:xfrm>
            <a:off x="2971800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flow particle"/>
          <p:cNvSpPr/>
          <p:nvPr/>
        </p:nvSpPr>
        <p:spPr>
          <a:xfrm>
            <a:off x="3163824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flow particle"/>
          <p:cNvSpPr/>
          <p:nvPr/>
        </p:nvSpPr>
        <p:spPr>
          <a:xfrm>
            <a:off x="3355848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flow particle"/>
          <p:cNvSpPr/>
          <p:nvPr/>
        </p:nvSpPr>
        <p:spPr>
          <a:xfrm>
            <a:off x="3547872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flow particle"/>
          <p:cNvSpPr/>
          <p:nvPr/>
        </p:nvSpPr>
        <p:spPr>
          <a:xfrm>
            <a:off x="3739896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flow particle"/>
          <p:cNvSpPr/>
          <p:nvPr/>
        </p:nvSpPr>
        <p:spPr>
          <a:xfrm>
            <a:off x="3931920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flow particle"/>
          <p:cNvSpPr/>
          <p:nvPr/>
        </p:nvSpPr>
        <p:spPr>
          <a:xfrm>
            <a:off x="4123944" y="3044952"/>
            <a:ext cx="68580" cy="6858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nimated marker 9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nimated marker 9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nimated marker 9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nimated marker 9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nimated marker 9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nimated marker 9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nimated marker 9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nimated marker 9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nimated marker 9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nimated marker 9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nimated marker 9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nimated marker 9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nimated marker 9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nimated marker 9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03 / BASELINE &amp; ENSEMBLE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#10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4987636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8F5EE"/>
                </a:solidFill>
                <a:latin typeface="Liberation Sans"/>
              </a:defRPr>
            </a:pPr>
            <a:r>
              <a:t>ĐỐI CHỨNG MẠNH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8F5EE"/>
                </a:solidFill>
                <a:latin typeface="Liberation Sans"/>
              </a:defRPr>
            </a:pPr>
            <a:r>
              <a:t>TRƯỚC KHI KẾT HỢP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C4D2"/>
                </a:solidFill>
                <a:latin typeface="Liberation Sans"/>
              </a:defRPr>
            </a:pPr>
            <a:r>
              <a:t>LR · DT · RF · Voting · Stacking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LINEAR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LR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Logistic Regression: mốc tuyến tính, dùng scaling.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86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TREE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DT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Decision Tree: quy tắc phi tuyến, dễ quan sát.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BAGGING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RF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Random Forest vốn đã là ensemble; baseline RF42.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5EE"/>
                </a:solidFill>
                <a:latin typeface="Liberation Sans"/>
              </a:defRPr>
            </a:pPr>
            <a:r>
              <a:t>Voting/AdaBoost khảo sát ở development; final TEST dùng RF42, RF17, Stacking42.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5CBD5"/>
                </a:solidFill>
                <a:latin typeface="Liberation Sans"/>
              </a:defRPr>
            </a:pPr>
            <a:r>
              <a:t>PDF V7: mục 3.3–3.4, 4.7; run_unsw_baseline_development.py</a:t>
            </a:r>
          </a:p>
        </p:txBody>
      </p:sp>
      <p:sp>
        <p:nvSpPr>
          <p:cNvPr id="25" name="Animated marker 10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0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0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0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0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0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0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0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0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0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0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0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0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0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03 / CROSS VALIDATION &amp; OOF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#11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548640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OOF GIÚP TẦNG META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HỌC ĐÚNG PHẠM VI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Phân biệt phát triển mô hình, tuning và TEST cuối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DEVELOPMENT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3-FOLD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Outer StratifiedKFold; seed 42.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STACKING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META LR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Base LR / DT / RF tạo OOF từ inner 3-fold; seed 137.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FINAL TEST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0,5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Đóng băng cấu hình và ngưỡng trước official TEST.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OOF giảm học từ dự đoán in-sample; không làm toàn pipeline fully-nested.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mục 3.4, Bảng 3.1, mục 4.7; run_unsw_ensemble_phase7_2.py</a:t>
            </a:r>
          </a:p>
        </p:txBody>
      </p:sp>
      <p:sp>
        <p:nvSpPr>
          <p:cNvPr id="25" name="Animated marker 11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1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1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1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1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1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1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1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1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1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1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1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1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1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03 / WHAT MATTERS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#12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5985163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40080" y="914400"/>
            <a:ext cx="9601200" cy="1773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8F5EE"/>
                </a:solidFill>
                <a:latin typeface="Liberation Sans"/>
              </a:defRPr>
            </a:pPr>
            <a:r>
              <a:t>ĐÚNG NHIỀU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8F5EE"/>
                </a:solidFill>
                <a:latin typeface="Liberation Sans"/>
              </a:defRPr>
            </a:pPr>
            <a:r>
              <a:t>CHƯA ĐỦ.</a:t>
            </a:r>
          </a:p>
        </p:txBody>
      </p:sp>
      <p:sp>
        <p:nvSpPr>
          <p:cNvPr id="9" name="Shape"/>
          <p:cNvSpPr/>
          <p:nvPr/>
        </p:nvSpPr>
        <p:spPr>
          <a:xfrm>
            <a:off x="658368" y="3108960"/>
            <a:ext cx="5184648" cy="157276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914400" y="331927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FP  /  FALSE POSITIVE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14400" y="3895344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BÌNH THƯỜNG → TẤN CÔNG</a:t>
            </a:r>
          </a:p>
        </p:txBody>
      </p:sp>
      <p:sp>
        <p:nvSpPr>
          <p:cNvPr id="12" name="Shape"/>
          <p:cNvSpPr/>
          <p:nvPr/>
        </p:nvSpPr>
        <p:spPr>
          <a:xfrm>
            <a:off x="6035040" y="3108960"/>
            <a:ext cx="5294376" cy="157276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6263640" y="3319272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FN  /  FALSE NEGATIVE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63640" y="3895344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TẤN CÔNG → BÌNH THƯỜNG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68680" y="51663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8F5EE"/>
                </a:solidFill>
                <a:latin typeface="Liberation Sans"/>
              </a:defRPr>
            </a:pPr>
            <a:r>
              <a:t>MACRO-F1     ·     MCC     ·     FPR     ·     FNR</a:t>
            </a:r>
          </a:p>
        </p:txBody>
      </p:sp>
      <p:sp>
        <p:nvSpPr>
          <p:cNvPr id="16" name="Animated marker 12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ated marker 12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12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12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12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12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12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12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12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12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2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2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2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2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A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04 / OFFICIAL TEST · 82.332 MẪU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#13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6483927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85216" y="740664"/>
            <a:ext cx="1069848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300" b="1">
                <a:solidFill>
                  <a:srgbClr val="14192A"/>
                </a:solidFill>
                <a:latin typeface="Liberation Sans"/>
              </a:defRPr>
            </a:pPr>
            <a:r>
              <a:t>GIẢM 142 FP.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300" b="1">
                <a:solidFill>
                  <a:srgbClr val="14192A"/>
                </a:solidFill>
                <a:latin typeface="Liberation Sans"/>
              </a:defRPr>
            </a:pPr>
            <a:r>
              <a:t>TĂNG 118 FN.</a:t>
            </a:r>
          </a:p>
        </p:txBody>
      </p:sp>
      <p:sp>
        <p:nvSpPr>
          <p:cNvPr id="9" name="Shape"/>
          <p:cNvSpPr/>
          <p:nvPr/>
        </p:nvSpPr>
        <p:spPr>
          <a:xfrm>
            <a:off x="640080" y="3136392"/>
            <a:ext cx="5120640" cy="1920240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duction FP"/>
          <p:cNvSpPr txBox="1"/>
          <p:nvPr/>
        </p:nvSpPr>
        <p:spPr>
          <a:xfrm>
            <a:off x="960120" y="3337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1EC4D2"/>
                </a:solidFill>
                <a:latin typeface="Liberation Sans"/>
              </a:defRPr>
            </a:pPr>
            <a:r>
              <a:t>−142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87552" y="43434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5EE"/>
                </a:solidFill>
                <a:latin typeface="Liberation Sans"/>
              </a:defRPr>
            </a:pPr>
            <a:r>
              <a:t>FALSE POSITIVE</a:t>
            </a:r>
          </a:p>
        </p:txBody>
      </p:sp>
      <p:sp>
        <p:nvSpPr>
          <p:cNvPr id="12" name="Shape"/>
          <p:cNvSpPr/>
          <p:nvPr/>
        </p:nvSpPr>
        <p:spPr>
          <a:xfrm>
            <a:off x="6035040" y="3136392"/>
            <a:ext cx="5440680" cy="1920240"/>
          </a:xfrm>
          <a:prstGeom prst="round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crease FN"/>
          <p:cNvSpPr txBox="1"/>
          <p:nvPr/>
        </p:nvSpPr>
        <p:spPr>
          <a:xfrm>
            <a:off x="6409944" y="333756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E62629"/>
                </a:solidFill>
                <a:latin typeface="Liberation Sans"/>
              </a:defRPr>
            </a:pPr>
            <a:r>
              <a:t>+118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446520" y="43434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FALSE NEGATIVE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22376" y="533095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192A"/>
                </a:solidFill>
                <a:latin typeface="Liberation Sans"/>
              </a:defRPr>
            </a:pPr>
            <a:r>
              <a:t>Macro-F1    RF42 0,863343    /    Stacking42 0,863840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22376" y="58247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CI hiệu số chứa 0  •  Không đủ bằng chứng Stacking vượt trội</a:t>
            </a:r>
          </a:p>
        </p:txBody>
      </p:sp>
      <p:sp>
        <p:nvSpPr>
          <p:cNvPr id="17" name="Animated marker 13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13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13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13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13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13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13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13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13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3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3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3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3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3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04 / STATISTICAL EVIDENCE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#14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698269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CHÊNH LỆCH NHỎ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CẦN KIỂM ĐỊNH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Stacking42 − RF42 trên cùng official TEST lịch sử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Δ MACRO-F1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+0,000497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Chỉ nhỉnh hơn rất ít trên 82.332 dòng TEST.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BOOTSTRAP 95%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CHỨA 0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CI [−0,000312; +0,001309] qua 10.000 lần lấy mẫu cặp.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MCNEMAR / HOLM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0,468377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p sau chỉnh Holm cho tính đúng/sai tổng thể.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Chưa chứng minh Stacking vượt trội; cũng KHÔNG chứng minh hai mô hình tương đương.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Bảng 4.2, mục 4.3; run_unsw_phase10_statistics.py</a:t>
            </a:r>
          </a:p>
        </p:txBody>
      </p:sp>
      <p:sp>
        <p:nvSpPr>
          <p:cNvPr id="25" name="Animated marker 14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4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4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4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4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4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4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4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4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4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4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4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4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4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04 / ATTACK FAMILY ERROR ANALYSIS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#15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7481454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FN KHÔNG PHÂN BỔ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ĐỒNG ĐỀU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Phân nhóm Attack chỉ sau dự đoán nhị phân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FUZZERS / 6.062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621 → 754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FN: RF42 → Stacking42; Stacking bỏ sót nhiều hơn.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GENERIC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57 → 14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FN: RF42 → Stacking42; Stacking bỏ sót ít hơn.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POST-HOC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ATTACK_CAT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Chỉ dùng để mô tả lỗi, không làm predictor.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Đánh đổi giữa các họ tấn công khác nhau; chưa thể suy ra năng lực đa lớp.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mục 4.5, Bảng 4.4–4.5; phase14_step1_error_transitions.py</a:t>
            </a:r>
          </a:p>
        </p:txBody>
      </p:sp>
      <p:sp>
        <p:nvSpPr>
          <p:cNvPr id="25" name="Animated marker 15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5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5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5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5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5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5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5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5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5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5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5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5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5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05 / WHY P21?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#16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7980218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3152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500" b="1">
                <a:solidFill>
                  <a:srgbClr val="14192A"/>
                </a:solidFill>
                <a:latin typeface="Liberation Sans"/>
              </a:defRPr>
            </a:pPr>
            <a:r>
              <a:t>ĐỐI CHỨNG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0" b="1">
                <a:solidFill>
                  <a:srgbClr val="14192A"/>
                </a:solidFill>
                <a:latin typeface="Liberation Sans"/>
              </a:defRPr>
            </a:pPr>
            <a:r>
              <a:t>CÔNG BẰNG HƠN.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67512" y="2697480"/>
            <a:ext cx="106984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62629"/>
                </a:solidFill>
                <a:latin typeface="Liberation Sans"/>
              </a:defRPr>
            </a:pPr>
            <a:r>
              <a:t>TRAIN-ONLY · POST-HOC · KHÔNG PHẢI 5 TEST ĐỘC LẬP</a:t>
            </a:r>
          </a:p>
        </p:txBody>
      </p:sp>
      <p:sp>
        <p:nvSpPr>
          <p:cNvPr id="10" name="Seed 1"/>
          <p:cNvSpPr/>
          <p:nvPr/>
        </p:nvSpPr>
        <p:spPr>
          <a:xfrm>
            <a:off x="100584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ed label 1"/>
          <p:cNvSpPr txBox="1"/>
          <p:nvPr/>
        </p:nvSpPr>
        <p:spPr>
          <a:xfrm>
            <a:off x="117043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2529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13" name="Seed 2"/>
          <p:cNvSpPr/>
          <p:nvPr/>
        </p:nvSpPr>
        <p:spPr>
          <a:xfrm>
            <a:off x="315468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ed label 2"/>
          <p:cNvSpPr txBox="1"/>
          <p:nvPr/>
        </p:nvSpPr>
        <p:spPr>
          <a:xfrm>
            <a:off x="331927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37413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16" name="Seed 3"/>
          <p:cNvSpPr/>
          <p:nvPr/>
        </p:nvSpPr>
        <p:spPr>
          <a:xfrm>
            <a:off x="530352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ed label 3"/>
          <p:cNvSpPr txBox="1"/>
          <p:nvPr/>
        </p:nvSpPr>
        <p:spPr>
          <a:xfrm>
            <a:off x="546811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52297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19" name="Seed 4"/>
          <p:cNvSpPr/>
          <p:nvPr/>
        </p:nvSpPr>
        <p:spPr>
          <a:xfrm>
            <a:off x="745236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ed label 4"/>
          <p:cNvSpPr txBox="1"/>
          <p:nvPr/>
        </p:nvSpPr>
        <p:spPr>
          <a:xfrm>
            <a:off x="761695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67181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22" name="Seed 5"/>
          <p:cNvSpPr/>
          <p:nvPr/>
        </p:nvSpPr>
        <p:spPr>
          <a:xfrm>
            <a:off x="960120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ed label 5"/>
          <p:cNvSpPr txBox="1"/>
          <p:nvPr/>
        </p:nvSpPr>
        <p:spPr>
          <a:xfrm>
            <a:off x="976579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982065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cxnSp>
        <p:nvCxnSpPr>
          <p:cNvPr id="25" name="Connector"/>
          <p:cNvCxnSpPr/>
          <p:nvPr/>
        </p:nvCxnSpPr>
        <p:spPr>
          <a:xfrm>
            <a:off x="1399032" y="5504688"/>
            <a:ext cx="9189720" cy="0"/>
          </a:xfrm>
          <a:prstGeom prst="line">
            <a:avLst/>
          </a:prstGeom>
          <a:ln w="508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"/>
          <p:cNvSpPr/>
          <p:nvPr/>
        </p:nvSpPr>
        <p:spPr>
          <a:xfrm>
            <a:off x="3218688" y="5614416"/>
            <a:ext cx="5486400" cy="4754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3419856" y="569671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35.069 DÒNG VALIDATION CHUNG</a:t>
            </a:r>
          </a:p>
        </p:txBody>
      </p:sp>
      <p:sp>
        <p:nvSpPr>
          <p:cNvPr id="28" name="Animated marker 16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6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6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6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6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6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6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6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6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6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6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nimated marker 16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nimated marker 16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nimated marker 16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04 / P21 FIVE CONTROLLED ARMS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#17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8478981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NĂM CẤU HÌNH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TRÊN CÙNG VALIDATION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P21: 5 seed × 60.000 FIT / seed · chung 35.069 validation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A0 / A1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RF42 / RF17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A1 chọn 17 biến trong FIT; RF hyperparameter matched.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A2 / A3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BAL / OVER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Class weighting và oversampling Normal chỉ ở FIT.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A4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STACK LITE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Base LR / DT / RF + meta LR, grouped inner CV.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Cùng validation TRAIN-derived, không phải năm TEST ngoài độc lập.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mục 3.6, Bảng 3.2; p21_science_worker.py, p21_science_core.py</a:t>
            </a:r>
          </a:p>
        </p:txBody>
      </p:sp>
      <p:sp>
        <p:nvSpPr>
          <p:cNvPr id="25" name="Animated marker 17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7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7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7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7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7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7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7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7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7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7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7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7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7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06 / CONTROLLED EVIDENCE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#18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8977745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85216" y="694944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4192A"/>
                </a:solidFill>
                <a:latin typeface="Liberation Sans"/>
              </a:defRPr>
            </a:pPr>
            <a:r>
              <a:t>CHẤT LƯỢNG.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4192A"/>
                </a:solidFill>
                <a:latin typeface="Liberation Sans"/>
              </a:defRPr>
            </a:pPr>
            <a:r>
              <a:t>CHI PHÍ. SAI SỐ.</a:t>
            </a:r>
          </a:p>
        </p:txBody>
      </p:sp>
      <p:sp>
        <p:nvSpPr>
          <p:cNvPr id="9" name="Shape"/>
          <p:cNvSpPr/>
          <p:nvPr/>
        </p:nvSpPr>
        <p:spPr>
          <a:xfrm>
            <a:off x="658368" y="2926080"/>
            <a:ext cx="3675887" cy="129844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841247" y="3090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RF42-LITE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13816" y="354787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4192A"/>
                </a:solidFill>
                <a:latin typeface="Liberation Sans"/>
              </a:defRPr>
            </a:pPr>
            <a:r>
              <a:t>0,945220</a:t>
            </a:r>
          </a:p>
        </p:txBody>
      </p:sp>
      <p:sp>
        <p:nvSpPr>
          <p:cNvPr id="12" name="Shape"/>
          <p:cNvSpPr/>
          <p:nvPr/>
        </p:nvSpPr>
        <p:spPr>
          <a:xfrm>
            <a:off x="4517136" y="2926080"/>
            <a:ext cx="3675887" cy="1298448"/>
          </a:xfrm>
          <a:prstGeom prst="roundRect">
            <a:avLst/>
          </a:prstGeom>
          <a:solidFill>
            <a:srgbClr val="86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4700016" y="3090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STACKING-LITE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72583" y="354787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4192A"/>
                </a:solidFill>
                <a:latin typeface="Liberation Sans"/>
              </a:defRPr>
            </a:pPr>
            <a:r>
              <a:t>0,944731</a:t>
            </a:r>
          </a:p>
        </p:txBody>
      </p:sp>
      <p:sp>
        <p:nvSpPr>
          <p:cNvPr id="15" name="Shape"/>
          <p:cNvSpPr/>
          <p:nvPr/>
        </p:nvSpPr>
        <p:spPr>
          <a:xfrm>
            <a:off x="8375904" y="2926080"/>
            <a:ext cx="3675887" cy="129844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8558784" y="3090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RF17-LITE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531352" y="354787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4192A"/>
                </a:solidFill>
                <a:latin typeface="Liberation Sans"/>
              </a:defRPr>
            </a:pPr>
            <a:r>
              <a:t>0,936751</a:t>
            </a:r>
          </a:p>
        </p:txBody>
      </p:sp>
      <p:sp>
        <p:nvSpPr>
          <p:cNvPr id="18" name="Shape"/>
          <p:cNvSpPr/>
          <p:nvPr/>
        </p:nvSpPr>
        <p:spPr>
          <a:xfrm>
            <a:off x="676656" y="4736592"/>
            <a:ext cx="6839712" cy="1170432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32688" y="4910328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5EE"/>
                </a:solidFill>
                <a:latin typeface="Liberation Sans"/>
              </a:defRPr>
            </a:pPr>
            <a:r>
              <a:t>SELECTOR + RF17 FIT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14400" y="5276088"/>
            <a:ext cx="5989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7F877"/>
                </a:solidFill>
                <a:latin typeface="Liberation Sans"/>
              </a:defRPr>
            </a:pPr>
            <a:r>
              <a:t>309,850s   &gt;   RF42 FIT 241,119s</a:t>
            </a:r>
          </a:p>
        </p:txBody>
      </p:sp>
      <p:sp>
        <p:nvSpPr>
          <p:cNvPr id="21" name="Shape"/>
          <p:cNvSpPr/>
          <p:nvPr/>
        </p:nvSpPr>
        <p:spPr>
          <a:xfrm>
            <a:off x="7735824" y="4736592"/>
            <a:ext cx="3712463" cy="1170432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7955279" y="4882896"/>
            <a:ext cx="32826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2629"/>
                </a:solidFill>
                <a:latin typeface="Liberation Sans"/>
              </a:defRPr>
            </a:pPr>
            <a:r>
              <a:t>BALANCING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7946136" y="5248656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FPR ↓    FNR ↑</a:t>
            </a:r>
          </a:p>
        </p:txBody>
      </p:sp>
      <p:sp>
        <p:nvSpPr>
          <p:cNvPr id="24" name="Animated marker 18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18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8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8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8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8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8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8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8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8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8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8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8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8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04 / IMBALANCE ABLATION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#19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9476509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8F5EE"/>
                </a:solidFill>
                <a:latin typeface="Liberation Sans"/>
              </a:defRPr>
            </a:pPr>
            <a:r>
              <a:t>GIẢM FPR NHƯNG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8F5EE"/>
                </a:solidFill>
                <a:latin typeface="Liberation Sans"/>
              </a:defRPr>
            </a:pPr>
            <a:r>
              <a:t>TĂNG FNR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C4D2"/>
                </a:solidFill>
                <a:latin typeface="Liberation Sans"/>
              </a:defRPr>
            </a:pPr>
            <a:r>
              <a:t>So sánh P21 A2/A3 với RF42-Lite A0 · đơn vị điểm phần trăm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CLASS WEIGHT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−3,1643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FPR giảm; đồng thời FNR tăng 1,7881 điểm.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86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OVERSAMPLING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−2,2089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FPR giảm; đồng thời FNR tăng 1,1680 điểm.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LƯU Ý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NORMAL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Normal mới là minority trong TRAIN; không mặc định giúp Attack.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5EE"/>
                </a:solidFill>
                <a:latin typeface="Liberation Sans"/>
              </a:defRPr>
            </a:pPr>
            <a:r>
              <a:t>Cân bằng lớp có đánh đổi; đánh giá đồng thời cảnh báo giả và bỏ sót.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5CBD5"/>
                </a:solidFill>
                <a:latin typeface="Liberation Sans"/>
              </a:defRPr>
            </a:pPr>
            <a:r>
              <a:t>PDF V7: Bảng 4.9, mục 4.9.4; p21_rq5_sampling.py</a:t>
            </a:r>
          </a:p>
        </p:txBody>
      </p:sp>
      <p:sp>
        <p:nvSpPr>
          <p:cNvPr id="25" name="Animated marker 19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9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19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19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19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19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19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9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9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9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9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9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9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9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05 / COST-AWARE DECISION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#20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9975272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58952"/>
            <a:ext cx="10927080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CHỌN MÔ HÌNH THEO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4192A"/>
                </a:solidFill>
                <a:latin typeface="Liberation Sans"/>
              </a:defRPr>
            </a:pPr>
            <a:r>
              <a:t>CHI PHÍ HAI LOẠI LỖI</a:t>
            </a:r>
          </a:p>
        </p:txBody>
      </p:sp>
      <p:sp>
        <p:nvSpPr>
          <p:cNvPr id="9" name="Section takeaway"/>
          <p:cNvSpPr txBox="1"/>
          <p:nvPr/>
        </p:nvSpPr>
        <p:spPr>
          <a:xfrm>
            <a:off x="667512" y="2340864"/>
            <a:ext cx="108996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5E9E"/>
                </a:solidFill>
                <a:latin typeface="Liberation Sans"/>
              </a:defRPr>
            </a:pPr>
            <a:r>
              <a:t>Một phân tích giả định — chưa có chi phí SOC thực tế</a:t>
            </a:r>
          </a:p>
        </p:txBody>
      </p:sp>
      <p:sp>
        <p:nvSpPr>
          <p:cNvPr id="10" name="Content evidence card"/>
          <p:cNvSpPr/>
          <p:nvPr/>
        </p:nvSpPr>
        <p:spPr>
          <a:xfrm>
            <a:off x="658368" y="2944368"/>
            <a:ext cx="3523488" cy="230428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yebrow"/>
          <p:cNvSpPr txBox="1"/>
          <p:nvPr/>
        </p:nvSpPr>
        <p:spPr>
          <a:xfrm>
            <a:off x="859536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Liberation Sans"/>
              </a:defRPr>
            </a:pPr>
            <a:r>
              <a:t>LOSS</a:t>
            </a:r>
          </a:p>
        </p:txBody>
      </p:sp>
      <p:sp>
        <p:nvSpPr>
          <p:cNvPr id="12" name="Card key evidence"/>
          <p:cNvSpPr txBox="1"/>
          <p:nvPr/>
        </p:nvSpPr>
        <p:spPr>
          <a:xfrm>
            <a:off x="859536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5EE"/>
                </a:solidFill>
                <a:latin typeface="Liberation Sans"/>
              </a:defRPr>
            </a:pPr>
            <a:r>
              <a:t>FP + r×FN</a:t>
            </a:r>
          </a:p>
        </p:txBody>
      </p:sp>
      <p:sp>
        <p:nvSpPr>
          <p:cNvPr id="13" name="Card scientific detail"/>
          <p:cNvSpPr txBox="1"/>
          <p:nvPr/>
        </p:nvSpPr>
        <p:spPr>
          <a:xfrm>
            <a:off x="859536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8F5EE"/>
                </a:solidFill>
                <a:latin typeface="Liberation Sans"/>
              </a:defRPr>
            </a:pPr>
            <a:r>
              <a:t>r biểu diễn chi phí FN tương đối so với FP.</a:t>
            </a:r>
          </a:p>
        </p:txBody>
      </p:sp>
      <p:sp>
        <p:nvSpPr>
          <p:cNvPr id="14" name="Content evidence card"/>
          <p:cNvSpPr/>
          <p:nvPr/>
        </p:nvSpPr>
        <p:spPr>
          <a:xfrm>
            <a:off x="4337304" y="2944368"/>
            <a:ext cx="3523488" cy="2304288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eyebrow"/>
          <p:cNvSpPr txBox="1"/>
          <p:nvPr/>
        </p:nvSpPr>
        <p:spPr>
          <a:xfrm>
            <a:off x="4538472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HÒA VỐN</a:t>
            </a:r>
          </a:p>
        </p:txBody>
      </p:sp>
      <p:sp>
        <p:nvSpPr>
          <p:cNvPr id="16" name="Card key evidence"/>
          <p:cNvSpPr txBox="1"/>
          <p:nvPr/>
        </p:nvSpPr>
        <p:spPr>
          <a:xfrm>
            <a:off x="4538472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r = 1,2034</a:t>
            </a:r>
          </a:p>
        </p:txBody>
      </p:sp>
      <p:sp>
        <p:nvSpPr>
          <p:cNvPr id="17" name="Card scientific detail"/>
          <p:cNvSpPr txBox="1"/>
          <p:nvPr/>
        </p:nvSpPr>
        <p:spPr>
          <a:xfrm>
            <a:off x="4538472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Từ chênh lệch Stacking−RF: −142 + 118r.</a:t>
            </a:r>
          </a:p>
        </p:txBody>
      </p:sp>
      <p:sp>
        <p:nvSpPr>
          <p:cNvPr id="18" name="Content evidence card"/>
          <p:cNvSpPr/>
          <p:nvPr/>
        </p:nvSpPr>
        <p:spPr>
          <a:xfrm>
            <a:off x="8016240" y="2944368"/>
            <a:ext cx="3523488" cy="23042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eyebrow"/>
          <p:cNvSpPr txBox="1"/>
          <p:nvPr/>
        </p:nvSpPr>
        <p:spPr>
          <a:xfrm>
            <a:off x="8217408" y="3108960"/>
            <a:ext cx="31211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192A"/>
                </a:solidFill>
                <a:latin typeface="Liberation Sans"/>
              </a:defRPr>
            </a:pPr>
            <a:r>
              <a:t>KHI r &gt; 1,2034</a:t>
            </a:r>
          </a:p>
        </p:txBody>
      </p:sp>
      <p:sp>
        <p:nvSpPr>
          <p:cNvPr id="20" name="Card key evidence"/>
          <p:cNvSpPr txBox="1"/>
          <p:nvPr/>
        </p:nvSpPr>
        <p:spPr>
          <a:xfrm>
            <a:off x="8217408" y="3502152"/>
            <a:ext cx="31211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192A"/>
                </a:solidFill>
                <a:latin typeface="Liberation Sans"/>
              </a:defRPr>
            </a:pPr>
            <a:r>
              <a:t>RF42</a:t>
            </a:r>
          </a:p>
        </p:txBody>
      </p:sp>
      <p:sp>
        <p:nvSpPr>
          <p:cNvPr id="21" name="Card scientific detail"/>
          <p:cNvSpPr txBox="1"/>
          <p:nvPr/>
        </p:nvSpPr>
        <p:spPr>
          <a:xfrm>
            <a:off x="8217408" y="4123944"/>
            <a:ext cx="3121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Tổn thất thấp hơn Stacking42 cho cặp dự đoán cố định.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76656" y="5458968"/>
            <a:ext cx="10771632" cy="0"/>
          </a:xfrm>
          <a:prstGeom prst="line">
            <a:avLst/>
          </a:prstGeom>
          <a:ln w="35560">
            <a:solidFill>
              <a:srgbClr val="E62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vidence interpretation"/>
          <p:cNvSpPr txBox="1"/>
          <p:nvPr/>
        </p:nvSpPr>
        <p:spPr>
          <a:xfrm>
            <a:off x="694944" y="5559552"/>
            <a:ext cx="874166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192A"/>
                </a:solidFill>
                <a:latin typeface="Liberation Sans"/>
              </a:defRPr>
            </a:pPr>
            <a:r>
              <a:t>Ngưỡng là giả định vận hành; không thay thế thử nghiệm chi phí thực tế.</a:t>
            </a:r>
          </a:p>
        </p:txBody>
      </p:sp>
      <p:sp>
        <p:nvSpPr>
          <p:cNvPr id="24" name="Report source"/>
          <p:cNvSpPr txBox="1"/>
          <p:nvPr/>
        </p:nvSpPr>
        <p:spPr>
          <a:xfrm>
            <a:off x="704088" y="62087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195"/>
                </a:solidFill>
                <a:latin typeface="Liberation Sans"/>
              </a:defRPr>
            </a:pPr>
            <a:r>
              <a:t>PDF V7: Chương 5, mục 5.1, Bảng 5.2</a:t>
            </a:r>
          </a:p>
        </p:txBody>
      </p:sp>
      <p:sp>
        <p:nvSpPr>
          <p:cNvPr id="25" name="Animated marker 20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20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20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20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20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20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20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20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20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20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20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20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20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20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07 / CONCLUSION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#21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10474036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Shape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ro title"/>
          <p:cNvSpPr txBox="1"/>
          <p:nvPr/>
        </p:nvSpPr>
        <p:spPr>
          <a:xfrm>
            <a:off x="594360" y="950976"/>
            <a:ext cx="10881360" cy="2331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F8F5EE"/>
                </a:solidFill>
                <a:latin typeface="Liberation Sans"/>
              </a:defRPr>
            </a:pPr>
            <a:r>
              <a:t>KHÔNG CÓ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F8F5EE"/>
                </a:solidFill>
                <a:latin typeface="Liberation Sans"/>
              </a:defRPr>
            </a:pPr>
            <a:r>
              <a:t>MÔ HÌNH TỐT NHẤT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F8F5EE"/>
                </a:solidFill>
                <a:latin typeface="Liberation Sans"/>
              </a:defRPr>
            </a:pPr>
            <a:r>
              <a:t>CHO MỌI LỖI.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658368" y="4050791"/>
            <a:ext cx="10680192" cy="0"/>
          </a:xfrm>
          <a:prstGeom prst="line">
            <a:avLst/>
          </a:prstGeom>
          <a:ln w="508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"/>
          <p:cNvSpPr txBox="1"/>
          <p:nvPr/>
        </p:nvSpPr>
        <p:spPr>
          <a:xfrm>
            <a:off x="731520" y="4599432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5EE"/>
                </a:solidFill>
                <a:latin typeface="Liberation Sans"/>
              </a:defRPr>
            </a:pPr>
            <a:r>
              <a:t>MÔ HÌNH ĐƠN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17136" y="4599432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C4D2"/>
                </a:solidFill>
                <a:latin typeface="Liberation Sans"/>
              </a:defRPr>
            </a:pPr>
            <a:r>
              <a:t>CƠ CHẾ ENSEMBLE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302752" y="4599432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5EE"/>
                </a:solidFill>
                <a:latin typeface="Liberation Sans"/>
              </a:defRPr>
            </a:pPr>
            <a:r>
              <a:t>CHI PHÍ LỖI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68096" y="5660136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CBD5"/>
                </a:solidFill>
                <a:latin typeface="Liberation Sans"/>
              </a:defRPr>
            </a:pPr>
            <a:r>
              <a:t>Đối chứng có kiểm soát • Công khai giới hạn</a:t>
            </a:r>
          </a:p>
        </p:txBody>
      </p:sp>
      <p:sp>
        <p:nvSpPr>
          <p:cNvPr id="15" name="Animated marker 21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ated marker 21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ated marker 21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21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21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21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21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21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21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21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21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21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21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21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08 / NEXT STEP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#22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1097280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pic>
        <p:nvPicPr>
          <p:cNvPr id="8" name="Picture 7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444752" cy="1444752"/>
          </a:xfrm>
          <a:prstGeom prst="rect">
            <a:avLst/>
          </a:prstGeom>
        </p:spPr>
      </p:pic>
      <p:sp>
        <p:nvSpPr>
          <p:cNvPr id="9" name="Hero title"/>
          <p:cNvSpPr txBox="1"/>
          <p:nvPr/>
        </p:nvSpPr>
        <p:spPr>
          <a:xfrm>
            <a:off x="2468880" y="1920240"/>
            <a:ext cx="9052560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4192A"/>
                </a:solidFill>
                <a:latin typeface="Liberation Sans"/>
              </a:defRPr>
            </a:pPr>
            <a:r>
              <a:t>XIN CẢM ƠN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4192A"/>
                </a:solidFill>
                <a:latin typeface="Liberation Sans"/>
              </a:defRPr>
            </a:pPr>
            <a:r>
              <a:t>QUÝ THẦY CÔ.</a:t>
            </a:r>
          </a:p>
        </p:txBody>
      </p:sp>
      <p:sp>
        <p:nvSpPr>
          <p:cNvPr id="10" name="Shape"/>
          <p:cNvSpPr/>
          <p:nvPr/>
        </p:nvSpPr>
        <p:spPr>
          <a:xfrm>
            <a:off x="2496312" y="4261104"/>
            <a:ext cx="7891272" cy="6583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514600" y="4700016"/>
            <a:ext cx="8366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BƯỚC TIẾP: DỮ LIỆU MỚI  ·  THEO THỜI GIAN/PHIÊN  ·  CHI PHÍ SOC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532888" y="5751576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GVHD: TS. LÊ NGỌC HIẾU</a:t>
            </a:r>
          </a:p>
        </p:txBody>
      </p:sp>
      <p:sp>
        <p:nvSpPr>
          <p:cNvPr id="13" name="Animated marker 22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nimated marker 22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nimated marker 22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ated marker 22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ated marker 22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22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22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22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22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22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22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22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22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22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