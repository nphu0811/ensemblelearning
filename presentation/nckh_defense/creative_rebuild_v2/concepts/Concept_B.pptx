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14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Cảnh1 |9giây</a:t>
            </a:r>
          </a:p>
          <a:p>
            <a:endParaRPr/>
          </a:p>
          <a:p>
            <a:r>
              <a:t>Nguồn:Sơ đồ vector minh họa traffic; không phải mạng đã triển khai hoặc trace đo được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8F5EE"/>
                </a:solidFill>
                <a:latin typeface="Consolas"/>
              </a:defRPr>
            </a:pPr>
            <a:r>
              <a:t>CONCEPT B / KINETIC CYBER SYSTEMS</a:t>
            </a:r>
          </a:p>
        </p:txBody>
      </p:sp>
      <p:sp>
        <p:nvSpPr>
          <p:cNvPr id="3" name="text-2"/>
          <p:cNvSpPr txBox="1"/>
          <p:nvPr/>
        </p:nvSpPr>
        <p:spPr>
          <a:xfrm>
            <a:off x="10972800" y="25603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300" b="0">
                <a:solidFill>
                  <a:srgbClr val="F8F5E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F8F5EE"/>
                </a:solidFill>
                <a:latin typeface="Aptos"/>
              </a:defRPr>
            </a:pPr>
            <a:r>
              <a:t>Sơ đồ vector minh họa traffic; không phải mạng đã triển khai hoặc trace đo được</a:t>
            </a:r>
          </a:p>
        </p:txBody>
      </p:sp>
      <p:sp>
        <p:nvSpPr>
          <p:cNvPr id="5" name="hero-title"/>
          <p:cNvSpPr txBox="1"/>
          <p:nvPr/>
        </p:nvSpPr>
        <p:spPr>
          <a:xfrm>
            <a:off x="548640" y="914400"/>
            <a:ext cx="7863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5500" b="1">
                <a:solidFill>
                  <a:srgbClr val="F8F5EE"/>
                </a:solidFill>
                <a:latin typeface="Arial"/>
              </a:defRPr>
            </a:pPr>
            <a:r>
              <a:t>MỘT FLOW.</a:t>
            </a:r>
          </a:p>
          <a:p>
            <a:pPr>
              <a:spcAft>
                <a:spcPts val="0"/>
              </a:spcAft>
              <a:defRPr sz="5500" b="1">
                <a:solidFill>
                  <a:srgbClr val="F8F5EE"/>
                </a:solidFill>
                <a:latin typeface="Arial"/>
              </a:defRPr>
            </a:pPr>
            <a:r>
              <a:t>NHIỀU QUYẾT ĐỊNH.</a:t>
            </a:r>
          </a:p>
        </p:txBody>
      </p:sp>
      <p:cxnSp>
        <p:nvCxnSpPr>
          <p:cNvPr id="6" name="line-5"/>
          <p:cNvCxnSpPr/>
          <p:nvPr/>
        </p:nvCxnSpPr>
        <p:spPr>
          <a:xfrm flipV="1">
            <a:off x="914400" y="3108960"/>
            <a:ext cx="1463040" cy="640079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-6"/>
          <p:cNvCxnSpPr/>
          <p:nvPr/>
        </p:nvCxnSpPr>
        <p:spPr>
          <a:xfrm>
            <a:off x="914400" y="3749039"/>
            <a:ext cx="1645920" cy="1097281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hape-7"/>
          <p:cNvSpPr/>
          <p:nvPr/>
        </p:nvSpPr>
        <p:spPr>
          <a:xfrm>
            <a:off x="731520" y="3566159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line-8"/>
          <p:cNvCxnSpPr/>
          <p:nvPr/>
        </p:nvCxnSpPr>
        <p:spPr>
          <a:xfrm>
            <a:off x="2377440" y="3108960"/>
            <a:ext cx="182880" cy="173736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ne-9"/>
          <p:cNvCxnSpPr/>
          <p:nvPr/>
        </p:nvCxnSpPr>
        <p:spPr>
          <a:xfrm>
            <a:off x="2377440" y="3108960"/>
            <a:ext cx="2103120" cy="100584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hape-10"/>
          <p:cNvSpPr/>
          <p:nvPr/>
        </p:nvSpPr>
        <p:spPr>
          <a:xfrm>
            <a:off x="2194560" y="2926079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line-11"/>
          <p:cNvCxnSpPr/>
          <p:nvPr/>
        </p:nvCxnSpPr>
        <p:spPr>
          <a:xfrm flipV="1">
            <a:off x="2560320" y="4114800"/>
            <a:ext cx="1920240" cy="73152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ne-12"/>
          <p:cNvCxnSpPr/>
          <p:nvPr/>
        </p:nvCxnSpPr>
        <p:spPr>
          <a:xfrm flipV="1">
            <a:off x="2560320" y="3291840"/>
            <a:ext cx="4206240" cy="155448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hape-13"/>
          <p:cNvSpPr/>
          <p:nvPr/>
        </p:nvSpPr>
        <p:spPr>
          <a:xfrm>
            <a:off x="2377439" y="4663440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line-14"/>
          <p:cNvCxnSpPr/>
          <p:nvPr/>
        </p:nvCxnSpPr>
        <p:spPr>
          <a:xfrm flipV="1">
            <a:off x="4480560" y="3291840"/>
            <a:ext cx="2286000" cy="82296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-15"/>
          <p:cNvCxnSpPr/>
          <p:nvPr/>
        </p:nvCxnSpPr>
        <p:spPr>
          <a:xfrm>
            <a:off x="4480560" y="4114800"/>
            <a:ext cx="2560320" cy="82296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hape-16"/>
          <p:cNvSpPr/>
          <p:nvPr/>
        </p:nvSpPr>
        <p:spPr>
          <a:xfrm>
            <a:off x="4297680" y="3931920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line-17"/>
          <p:cNvCxnSpPr/>
          <p:nvPr/>
        </p:nvCxnSpPr>
        <p:spPr>
          <a:xfrm>
            <a:off x="6766560" y="3291840"/>
            <a:ext cx="274320" cy="164592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ne-18"/>
          <p:cNvCxnSpPr/>
          <p:nvPr/>
        </p:nvCxnSpPr>
        <p:spPr>
          <a:xfrm>
            <a:off x="6766560" y="3291840"/>
            <a:ext cx="2743200" cy="82296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hape-19"/>
          <p:cNvSpPr/>
          <p:nvPr/>
        </p:nvSpPr>
        <p:spPr>
          <a:xfrm>
            <a:off x="6583680" y="3108960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line-20"/>
          <p:cNvCxnSpPr/>
          <p:nvPr/>
        </p:nvCxnSpPr>
        <p:spPr>
          <a:xfrm flipV="1">
            <a:off x="7040880" y="4114800"/>
            <a:ext cx="2468880" cy="82296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-21"/>
          <p:cNvCxnSpPr/>
          <p:nvPr/>
        </p:nvCxnSpPr>
        <p:spPr>
          <a:xfrm flipV="1">
            <a:off x="7040880" y="3017520"/>
            <a:ext cx="3931920" cy="192024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hape-22"/>
          <p:cNvSpPr/>
          <p:nvPr/>
        </p:nvSpPr>
        <p:spPr>
          <a:xfrm>
            <a:off x="6858000" y="4754880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line-23"/>
          <p:cNvCxnSpPr/>
          <p:nvPr/>
        </p:nvCxnSpPr>
        <p:spPr>
          <a:xfrm flipV="1">
            <a:off x="9509760" y="3017520"/>
            <a:ext cx="1463040" cy="1097280"/>
          </a:xfrm>
          <a:prstGeom prst="line">
            <a:avLst/>
          </a:prstGeom>
          <a:ln w="21590">
            <a:solidFill>
              <a:srgbClr val="4C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hape-24"/>
          <p:cNvSpPr/>
          <p:nvPr/>
        </p:nvSpPr>
        <p:spPr>
          <a:xfrm>
            <a:off x="9326880" y="3931920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hape-25"/>
          <p:cNvSpPr/>
          <p:nvPr/>
        </p:nvSpPr>
        <p:spPr>
          <a:xfrm>
            <a:off x="10789920" y="2834639"/>
            <a:ext cx="365760" cy="365760"/>
          </a:xfrm>
          <a:prstGeom prst="ellipse">
            <a:avLst/>
          </a:prstGeom>
          <a:noFill/>
          <a:ln w="19050">
            <a:solidFill>
              <a:srgbClr val="24C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hape-26"/>
          <p:cNvSpPr/>
          <p:nvPr/>
        </p:nvSpPr>
        <p:spPr>
          <a:xfrm>
            <a:off x="864108" y="3698748"/>
            <a:ext cx="100584" cy="100584"/>
          </a:xfrm>
          <a:prstGeom prst="ellipse">
            <a:avLst/>
          </a:prstGeom>
          <a:solidFill>
            <a:srgbClr val="24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hape-27"/>
          <p:cNvSpPr/>
          <p:nvPr/>
        </p:nvSpPr>
        <p:spPr>
          <a:xfrm>
            <a:off x="2327148" y="3058668"/>
            <a:ext cx="100584" cy="100584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hape-28"/>
          <p:cNvSpPr/>
          <p:nvPr/>
        </p:nvSpPr>
        <p:spPr>
          <a:xfrm>
            <a:off x="2510027" y="4796028"/>
            <a:ext cx="100584" cy="100584"/>
          </a:xfrm>
          <a:prstGeom prst="ellipse">
            <a:avLst/>
          </a:prstGeom>
          <a:solidFill>
            <a:srgbClr val="24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shape-29"/>
          <p:cNvSpPr/>
          <p:nvPr/>
        </p:nvSpPr>
        <p:spPr>
          <a:xfrm>
            <a:off x="4430268" y="4064508"/>
            <a:ext cx="100584" cy="100584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hape-30"/>
          <p:cNvSpPr/>
          <p:nvPr/>
        </p:nvSpPr>
        <p:spPr>
          <a:xfrm>
            <a:off x="6716268" y="3241548"/>
            <a:ext cx="100584" cy="100584"/>
          </a:xfrm>
          <a:prstGeom prst="ellipse">
            <a:avLst/>
          </a:prstGeom>
          <a:solidFill>
            <a:srgbClr val="24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hape-31"/>
          <p:cNvSpPr/>
          <p:nvPr/>
        </p:nvSpPr>
        <p:spPr>
          <a:xfrm>
            <a:off x="6990588" y="4887468"/>
            <a:ext cx="100584" cy="100584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hape-32"/>
          <p:cNvSpPr/>
          <p:nvPr/>
        </p:nvSpPr>
        <p:spPr>
          <a:xfrm>
            <a:off x="9459468" y="4064508"/>
            <a:ext cx="100584" cy="100584"/>
          </a:xfrm>
          <a:prstGeom prst="ellipse">
            <a:avLst/>
          </a:prstGeom>
          <a:solidFill>
            <a:srgbClr val="24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hape-33"/>
          <p:cNvSpPr/>
          <p:nvPr/>
        </p:nvSpPr>
        <p:spPr>
          <a:xfrm>
            <a:off x="864108" y="3698748"/>
            <a:ext cx="100584" cy="100584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34"/>
          <p:cNvSpPr txBox="1"/>
          <p:nvPr/>
        </p:nvSpPr>
        <p:spPr>
          <a:xfrm>
            <a:off x="594360" y="5532120"/>
            <a:ext cx="10881360" cy="744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F8F5EE"/>
                </a:solidFill>
                <a:latin typeface="Aptos"/>
              </a:defRPr>
            </a:pPr>
            <a:r>
              <a:t>Luồng dữ liệu đi qua mô hình,</a:t>
            </a:r>
          </a:p>
          <a:p>
            <a:pPr>
              <a:spcAft>
                <a:spcPts val="0"/>
              </a:spcAft>
              <a:defRPr sz="2400" b="0">
                <a:solidFill>
                  <a:srgbClr val="F8F5EE"/>
                </a:solidFill>
                <a:latin typeface="Aptos"/>
              </a:defRPr>
            </a:pPr>
            <a:r>
              <a:t>không đi qua một ảnh minh họa.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accel="15000" decel="1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accel="15000" decel="1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5000" decel="1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accel="15000" decel="15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accel="15000" decel="15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5000" decel="15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accel="15000" decel="1500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accel="15000" decel="1500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15000" decel="15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accel="15000" decel="15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accel="15000" decel="15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15000" decel="15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accel="15000" decel="1500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accel="15000" decel="1500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15000" decel="15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accel="15000" decel="15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accel="15000" decel="15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entr" presetSubtype="0" repeatCount="2000" accel="15000" decel="15000" autoRev="1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8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2" presetClass="entr" presetSubtype="8" accel="15000" decel="1500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15000" decel="15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0" presetClass="entr" presetSubtype="0" repeatCount="2000" accel="15000" decel="1500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7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10" presetClass="entr" presetSubtype="0" accel="15000" decel="15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15000" decel="1500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0" presetClass="entr" presetSubtype="0" repeatCount="2000" accel="15000" decel="15000" autoRev="1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9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0" presetClass="entr" presetSubtype="0" repeatCount="2000" accel="15000" decel="15000" fill="hold" grpId="1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2000000 -0.09333333 E" pathEditMode="relative">
                                      <p:cBhvr from="" to="">
                                        <p:cTn id="82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entr" presetSubtype="0" repeatCount="2000" accel="15000" decel="15000" autoRev="1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5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10" presetClass="entr" presetSubtype="0" accel="15000" decel="15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0" presetClass="entr" presetSubtype="0" repeatCount="2000" accel="15000" decel="1500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1500000 0.25333333 E" pathEditMode="relative">
                                      <p:cBhvr from="" to="">
                                        <p:cTn id="91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entr" presetSubtype="0" repeatCount="2000" accel="15000" decel="15000" autoRev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4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0" presetClass="entr" presetSubtype="0" repeatCount="2000" accel="15000" decel="15000" autoRev="1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7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entr" presetSubtype="0" repeatCount="2000" accel="15000" decel="15000" fill="hold" grpId="1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5750000 -0.10666667 E" pathEditMode="relative">
                                      <p:cBhvr from="" to="">
                                        <p:cTn id="103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entr" presetSubtype="0" repeatCount="2000" accel="15000" decel="15000" autoRev="1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6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10" presetClass="entr" presetSubtype="0" accel="15000" decel="1500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0" presetClass="entr" presetSubtype="0" repeatCount="2000" accel="15000" decel="15000" autoRev="1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2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0" presetClass="entr" presetSubtype="0" repeatCount="2000" accel="15000" decel="15000" fill="hold" grpId="1" nodeType="withEffect">
                                  <p:stCondLst>
                                    <p:cond delay="217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8750000 -0.12000000 E" pathEditMode="relative">
                                      <p:cBhvr from="" to="">
                                        <p:cTn id="115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10" presetClass="entr" presetSubtype="0" accel="15000" decel="15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0" presetClass="entr" presetSubtype="0" repeatCount="2000" accel="15000" decel="1500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2250000 0.24000000 E" pathEditMode="relative">
                                      <p:cBhvr from="" to="">
                                        <p:cTn id="121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10" presetClass="entr" presetSubtype="0" accel="15000" decel="1500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0" presetClass="entr" presetSubtype="0" repeatCount="2000" accel="15000" decel="15000" fill="hold" grpId="1" nodeType="withEffect">
                                  <p:stCondLst>
                                    <p:cond delay="28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0250001 -0.12000000 E" pathEditMode="relative">
                                      <p:cBhvr from="" to="">
                                        <p:cTn id="12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ntr" presetSubtype="0" accel="15000" decel="1500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0" presetClass="entr" presetSubtype="0" repeatCount="2000" accel="15000" decel="15000" fill="hold" grpId="1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2000000 -0.16000000 E" pathEditMode="relative">
                                      <p:cBhvr from="" to="">
                                        <p:cTn id="133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0" presetClass="entr" presetSubtype="0" accel="15000" decel="15000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0" presetClass="entr" presetSubtype="0" repeatCount="2000" accel="15000" decel="15000" fill="hold" grpId="1" nodeType="withEffect">
                                  <p:stCondLst>
                                    <p:cond delay="35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2000000 -0.09333333 E" pathEditMode="relative">
                                      <p:cBhvr from="" to="">
                                        <p:cTn id="139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xit" presetSubtype="0" accel="15000" decel="15000" fill="hold" grpId="2" nodeType="withEffect">
                                  <p:stCondLst>
                                    <p:cond delay="4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accel="15000" decel="15000" fill="hold" grpId="2" nodeType="withEffect">
                                  <p:stCondLst>
                                    <p:cond delay="5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accel="15000" decel="15000" fill="hold" grpId="2" nodeType="withEffect">
                                  <p:stCondLst>
                                    <p:cond delay="5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accel="15000" decel="15000" fill="hold" grpId="2" nodeType="withEffect">
                                  <p:stCondLst>
                                    <p:cond delay="5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accel="15000" decel="15000" fill="hold" grpId="2" nodeType="withEffect">
                                  <p:stCondLst>
                                    <p:cond delay="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accel="15000" decel="15000" fill="hold" grpId="2" nodeType="withEffect">
                                  <p:stCondLst>
                                    <p:cond delay="6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accel="15000" decel="15000" fill="hold" grpId="2" nodeType="withEffect">
                                  <p:stCondLst>
                                    <p:cond delay="6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accel="15000" decel="15000" fill="hold" grpId="2" nodeType="withEffect">
                                  <p:stCondLst>
                                    <p:cond delay="7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20" grpId="0" animBg="1"/>
      <p:bldP spid="20" grpId="1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2026-10-19T05:46:49Z</dcterms:modified>
  <cp:category/>
</cp:coreProperties>
</file>